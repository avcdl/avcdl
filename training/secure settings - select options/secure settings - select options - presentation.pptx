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24"/>
  </p:notesMasterIdLst>
  <p:sldIdLst>
    <p:sldId id="256" r:id="rId4"/>
    <p:sldId id="306" r:id="rId5"/>
    <p:sldId id="643" r:id="rId6"/>
    <p:sldId id="607" r:id="rId7"/>
    <p:sldId id="637" r:id="rId8"/>
    <p:sldId id="640" r:id="rId9"/>
    <p:sldId id="587" r:id="rId10"/>
    <p:sldId id="599" r:id="rId11"/>
    <p:sldId id="663" r:id="rId12"/>
    <p:sldId id="658" r:id="rId13"/>
    <p:sldId id="660" r:id="rId14"/>
    <p:sldId id="661" r:id="rId15"/>
    <p:sldId id="603" r:id="rId16"/>
    <p:sldId id="488" r:id="rId17"/>
    <p:sldId id="604" r:id="rId18"/>
    <p:sldId id="343" r:id="rId19"/>
    <p:sldId id="606" r:id="rId20"/>
    <p:sldId id="461" r:id="rId21"/>
    <p:sldId id="420" r:id="rId22"/>
    <p:sldId id="368" r:id="rId23"/>
  </p:sldIdLst>
  <p:sldSz cx="12188825" cy="6858000"/>
  <p:notesSz cx="6858000" cy="9144000"/>
  <p:embeddedFontLst>
    <p:embeddedFont>
      <p:font typeface="Roboto" panose="02000000000000000000" pitchFamily="2" charset="0"/>
      <p:regular r:id="rId25"/>
      <p:bold r:id="rId26"/>
      <p:italic r:id="rId27"/>
      <p:boldItalic r:id="rId28"/>
    </p:embeddedFont>
    <p:embeddedFont>
      <p:font typeface="Roboto Medium" panose="020F0502020204030204"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8194"/>
    <a:srgbClr val="FFFAB2"/>
    <a:srgbClr val="A7E3B3"/>
    <a:srgbClr val="CCFFCC"/>
    <a:srgbClr val="4DE354"/>
    <a:srgbClr val="FFFFFF"/>
    <a:srgbClr val="FFC161"/>
    <a:srgbClr val="FFE6CC"/>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737"/>
    <p:restoredTop sz="67728"/>
  </p:normalViewPr>
  <p:slideViewPr>
    <p:cSldViewPr snapToGrid="0">
      <p:cViewPr varScale="1">
        <p:scale>
          <a:sx n="130" d="100"/>
          <a:sy n="130" d="100"/>
        </p:scale>
        <p:origin x="384" y="176"/>
      </p:cViewPr>
      <p:guideLst>
        <p:guide orient="horz" pos="2160"/>
        <p:guide pos="3839"/>
        <p:guide orient="horz" pos="3945"/>
      </p:guideLst>
    </p:cSldViewPr>
  </p:slid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2.fntdata"/><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32" Type="http://schemas.openxmlformats.org/officeDocument/2006/relationships/font" Target="fonts/font8.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7.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the </a:t>
            </a:r>
            <a:r>
              <a:rPr lang="en" sz="1400" b="1" dirty="0"/>
              <a:t>Secure Settings – Option Selection </a:t>
            </a:r>
            <a:r>
              <a:rPr lang="en" sz="1400" b="0" dirty="0"/>
              <a:t>activity</a:t>
            </a:r>
            <a:r>
              <a:rPr lang="en-US" sz="1400" b="0" i="0" dirty="0">
                <a:solidFill>
                  <a:srgbClr val="000000"/>
                </a:solidFill>
                <a:effectLst/>
                <a:latin typeface="Calibri" panose="020F0502020204030204" pitchFamily="34" charset="0"/>
                <a:cs typeface="Calibri" panose="020F0502020204030204" pitchFamily="34" charset="0"/>
              </a:rPr>
              <a:t>.</a:t>
            </a:r>
            <a:endParaRPr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t>
            </a:r>
            <a:r>
              <a:rPr lang="en-US" sz="1400" b="1" dirty="0">
                <a:latin typeface="Calibri" panose="020F0502020204030204" pitchFamily="34" charset="0"/>
                <a:cs typeface="Calibri" panose="020F0502020204030204" pitchFamily="34" charset="0"/>
              </a:rPr>
              <a:t>AVCDL Overview </a:t>
            </a:r>
            <a:r>
              <a:rPr lang="en-US" sz="1400" dirty="0">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Apply Secure Design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 Overview</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 – Identify Options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 – Categorize Options</a:t>
            </a: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the </a:t>
            </a:r>
            <a:r>
              <a:rPr lang="en-US" sz="1400" b="1" dirty="0">
                <a:latin typeface="Calibri" panose="020F0502020204030204" pitchFamily="34" charset="0"/>
                <a:cs typeface="Calibri" panose="020F0502020204030204" pitchFamily="34" charset="0"/>
              </a:rPr>
              <a:t>Secure Settings – Option Selection</a:t>
            </a:r>
            <a:r>
              <a:rPr lang="en-US" sz="1400" dirty="0">
                <a:latin typeface="Calibri" panose="020F0502020204030204" pitchFamily="34" charset="0"/>
                <a:cs typeface="Calibri" panose="020F0502020204030204" pitchFamily="34" charset="0"/>
              </a:rPr>
              <a:t> activity.</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5322BDB-CB5D-0C03-0555-46EED654BB1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D268CDA-6677-C4D0-88C5-17F47F7C5F4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28EE4E46-E858-EFBB-5F74-DE25C05283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Before getting into option selection, let's briefly review where it fits, in the overall secure settings process.</a:t>
            </a:r>
          </a:p>
        </p:txBody>
      </p:sp>
    </p:spTree>
    <p:extLst>
      <p:ext uri="{BB962C8B-B14F-4D97-AF65-F5344CB8AC3E}">
        <p14:creationId xmlns:p14="http://schemas.microsoft.com/office/powerpoint/2010/main" val="507866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Here's the secure settings process which we previously covered in the Secure Settings Overview.</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focus for this training is going to be on the third activity, that of option selection.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9987C0B-F244-033E-9AF2-7B06566965E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52F3E5E-E291-AF33-85C4-E174B8DF89A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E5DFBE6-D102-45F1-9011-12DED4B37A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Here's the secure settings process which we previously covered in the Secure Settings Overview.</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Our focus for this training is going to be on the third activity, that of option selection.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146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A81901D-29BF-2FE0-56C1-A75839F3490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C990A66-F118-07F7-B5DE-DD42E479AC3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CA8DA5A-2CBE-879F-6500-EB52EC3D5C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Within the option selection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security SME and the development SME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take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categorized tool security options document from the option categorization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the element documentation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select the security options appropriate to the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creating an element-specific tool security options document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generating a security options qualification report.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374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8FD66C0-793C-F9A4-A606-EDD3A393E0E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14B8548-806F-0E39-C5B0-26B8B85FB94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F0F8DC3E-D083-751D-859F-34874F8B36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work our way through an example of selecting the tool’s cybersecurity-relevant options appropriate to a specific element.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We'll be using the </a:t>
            </a:r>
            <a:r>
              <a:rPr lang="en-US" sz="1100" dirty="0">
                <a:solidFill>
                  <a:srgbClr val="1D1C1D"/>
                </a:solidFill>
                <a:effectLst/>
                <a:latin typeface="Calibri" panose="020F0502020204030204" pitchFamily="34" charset="0"/>
                <a:cs typeface="Calibri" panose="020F0502020204030204" pitchFamily="34" charset="0"/>
              </a:rPr>
              <a:t>categorized tool security options </a:t>
            </a:r>
            <a:r>
              <a:rPr lang="en-US" dirty="0"/>
              <a:t>document created in option categorization activity as input and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applying the AVCDL element-specific tool cybersecurity options template which is described in the tertiary document that goes along with this training.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here that this is just one mechanism for documenting this information.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 are any number of ways this information could be documented.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an ideal world, you'd use a database to store this information.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Introducing the cybersecurity-relevant options to the element-level greatly increases the number of variants which need to be tracked.</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373113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B6CD35C-2507-7B50-9613-F89B1FAF7E3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8CEC82C-E4BD-8F9A-B732-804E6296E6F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F4EDA26-A262-7E7D-F125-FE7229595D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We'll begin by taking information from the categorized tool security options document and populating our instantiation of the template for the example that we're going to 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tool name is GCC,</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version is 10.2,</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platform is Linux.</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here's the tool URL.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we'll provide the remainder of the information.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have the element name,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element scope,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vendor name, and in this case, it was developed in-house.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come down a bit to the cybersecurity engineer.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a reminder, this may or may not be the same as in the categorization activity.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also have the development SME.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always, we have the date of modification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the revision number.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2553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CA8EC04-3046-C78B-11CE-E56A190617DE}"/>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95EBD20-E6DC-CE93-AB43-844AC4E66B1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59488A2E-19F8-BDD0-492F-D14C817863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Our references are going to include the relevant references from the previous activities because, since we're involving the development SME, it's useful to have these as available if there’s an issue with a decision that's been made in this activity.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We'll directly reference the example tool cybersecurity options document, in this case, version 2 of that document, as shown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259902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47CB729-C131-DB85-BB32-EA732ED29E6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27BB4CB-8BCA-E6FD-7709-2C34CFE280A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E37ADFAD-251D-B8FD-0AB6-60A0980B98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the options, we'll bring across the option ID and the option.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can refer back to the other document if we need to get into more detail, but this is the only information that we need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each of option, the development SME and the cybersecurity SME will discuss whether or not it should be included the build.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Where it's determined that an option will be excluded, a justification should be provided.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this case, for GCC-04, we have that we're excluding it because it's in the “may do” category.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discussed previously we're not going include options categorized as “may do.”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GCC-06, we're excluding it because the check of zero-length bounds is considered to not be relevant to this element because it uses no zero-length arrays.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some general reasons to exclude an option.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element source is not modifiable, so we just can't take up the switch because it will, cause warnings which cannot be addressed.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option is not applicable to the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see this here with GCC-06.</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option might consume too much time for the build process.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something very tool specific and will be addressed in the specific tooling trainings.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finally, the option is experimental and so should not be used in production builds.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of concern to tools which are involved in code generation.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85590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73726B5-170E-D339-F298-484A7FDA52C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E390BFD-26E7-CA2E-5B22-144D243B66F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07F83C0-BD59-7031-5B88-158D3D615D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final step is going to be the generation of the security options qualifications report.</a:t>
            </a:r>
          </a:p>
        </p:txBody>
      </p:sp>
    </p:spTree>
    <p:extLst>
      <p:ext uri="{BB962C8B-B14F-4D97-AF65-F5344CB8AC3E}">
        <p14:creationId xmlns:p14="http://schemas.microsoft.com/office/powerpoint/2010/main" val="24986408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402A8017-CD3E-7126-2FF7-5FB2EDD6BE2E}"/>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6833351-646A-2207-69AD-5C664C528CD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B15B3ACE-D50F-56B5-086C-1C33890915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why again are we doing this human-readable report?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First, it's the document of record.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the thing that shows why we made certain decisions.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cybersecurity realm, it doesn't matter what you do right.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What matters is that when you decide to not do something that’s cybersecurity-relevant, that you have an appropriate justification.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 justification needs to be documented and this report is that document of record.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going to be stored away so that if it's ever needed, we can review when the decision was made, who did it, and why.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second point is that this is material that needs to track with the rest of the element documentation.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it needs to be filed so that when you look at the element in its totality, you can say, this is the history of this element, and this is why we made certain decisions about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we need to change those decisions, we’ll have the pertinent information all in one place.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015231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With that, we've covered all the particulars of option selection.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And now let's look at a summary.</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we go through this activity, it's important to involve the elements development SME.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Remember that it's not the place of cybersecurity to be making decisions for development.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present them with the information that shows what the cybersecurity options are, and what the rationale behind having each is and then development makes the final call as to which of these options they will put in place.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want to select the element-appropriate tool options.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again, we're going to work in conjunction with the development SME.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need to provide justification where it's appropriate.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do you need to justify things?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you're excluding them.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one of the reasons that we record the names of the development and cybersecurity SMEs.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we want to create that human-readable report so that we have traceability.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28F27A6-95D0-8BD3-DD17-CD0D4A4F1FF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52F5154-86A2-702B-FF05-17F9B520AAE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66F3774-A91B-199C-AA24-BBC1027CA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materials that were used to cover this example are in the location shown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important to note that the workbook includes all the sheets covered in this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19421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a:t>
            </a:r>
            <a:r>
              <a:rPr lang="en-US" sz="1400" b="1" dirty="0">
                <a:latin typeface="Calibri" panose="020F0502020204030204" pitchFamily="34" charset="0"/>
                <a:cs typeface="Calibri" panose="020F0502020204030204" pitchFamily="34" charset="0"/>
              </a:rPr>
              <a:t>Secure Settings – Select Options Procedure </a:t>
            </a:r>
            <a:r>
              <a:rPr lang="en-US" sz="1400" dirty="0">
                <a:latin typeface="Calibri" panose="020F0502020204030204" pitchFamily="34" charset="0"/>
                <a:cs typeface="Calibri" panose="020F0502020204030204" pitchFamily="34" charset="0"/>
              </a:rPr>
              <a:t>tertiary document is available in the </a:t>
            </a:r>
            <a:r>
              <a:rPr lang="en-US" sz="1400" b="1" dirty="0">
                <a:latin typeface="Calibri" panose="020F0502020204030204" pitchFamily="34" charset="0"/>
                <a:cs typeface="Calibri" panose="020F0502020204030204" pitchFamily="34" charset="0"/>
              </a:rPr>
              <a:t>AVCDL GitHub </a:t>
            </a:r>
            <a:r>
              <a:rPr lang="en-US" sz="1400" dirty="0">
                <a:latin typeface="Calibri" panose="020F0502020204030204" pitchFamily="34" charset="0"/>
                <a:cs typeface="Calibri" panose="020F0502020204030204" pitchFamily="34" charset="0"/>
              </a:rPr>
              <a:t>repository.</a:t>
            </a:r>
          </a:p>
        </p:txBody>
      </p:sp>
    </p:spTree>
    <p:extLst>
      <p:ext uri="{BB962C8B-B14F-4D97-AF65-F5344CB8AC3E}">
        <p14:creationId xmlns:p14="http://schemas.microsoft.com/office/powerpoint/2010/main" val="35780262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b="1" dirty="0">
                <a:effectLst/>
                <a:latin typeface="Calibri" panose="020F0502020204030204" pitchFamily="34" charset="0"/>
                <a:ea typeface="Calibri" panose="020F0502020204030204" pitchFamily="34" charset="0"/>
                <a:cs typeface="Calibri" panose="020F0502020204030204" pitchFamily="34" charset="0"/>
              </a:rPr>
              <a:t>AVCDL</a:t>
            </a:r>
            <a:r>
              <a:rPr lang="en-US" sz="1400" dirty="0">
                <a:effectLst/>
                <a:latin typeface="Calibri" panose="020F0502020204030204" pitchFamily="34" charset="0"/>
                <a:ea typeface="Calibri" panose="020F0502020204030204" pitchFamily="34" charset="0"/>
                <a:cs typeface="Calibri" panose="020F0502020204030204" pitchFamily="34" charset="0"/>
              </a:rPr>
              <a:t> materials, both in source and distribution forms, are available on our </a:t>
            </a:r>
            <a:r>
              <a:rPr lang="en-US" sz="1400" b="1" dirty="0">
                <a:effectLst/>
                <a:latin typeface="Calibri" panose="020F0502020204030204" pitchFamily="34" charset="0"/>
                <a:ea typeface="Calibri" panose="020F0502020204030204" pitchFamily="34" charset="0"/>
                <a:cs typeface="Calibri" panose="020F0502020204030204" pitchFamily="34" charset="0"/>
              </a:rPr>
              <a:t>GitHub</a:t>
            </a:r>
            <a:r>
              <a:rPr lang="en-US" sz="1400" dirty="0">
                <a:effectLst/>
                <a:latin typeface="Calibri" panose="020F0502020204030204" pitchFamily="34" charset="0"/>
                <a:ea typeface="Calibri" panose="020F0502020204030204" pitchFamily="34" charset="0"/>
                <a:cs typeface="Calibri" panose="020F0502020204030204" pitchFamily="34" charset="0"/>
              </a:rPr>
              <a:t>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t>
            </a:r>
            <a:r>
              <a:rPr lang="en-US" b="1" dirty="0"/>
              <a:t>AVCDL</a:t>
            </a:r>
            <a:r>
              <a:rPr lang="en-US" dirty="0"/>
              <a:t>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t>
            </a:r>
            <a:r>
              <a:rPr lang="en-US" b="1" dirty="0"/>
              <a:t>AVCDL</a:t>
            </a:r>
            <a:r>
              <a:rPr lang="en-US" dirty="0"/>
              <a:t> materials except for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if you’ve completed the other trainings covering the </a:t>
            </a:r>
            <a:r>
              <a:rPr lang="en-US" sz="1400" b="1" dirty="0"/>
              <a:t>Secure Settings </a:t>
            </a:r>
            <a:r>
              <a:rPr lang="en-US" sz="1400" dirty="0"/>
              <a:t>process activities,  you can proceed to the other training at this level, </a:t>
            </a:r>
            <a:r>
              <a:rPr lang="en-US" sz="1400" b="1" dirty="0"/>
              <a:t>Secure Design Review</a:t>
            </a:r>
            <a:r>
              <a:rPr lang="en-US" sz="1400" b="0" dirty="0"/>
              <a:t>.</a:t>
            </a:r>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endParaRPr lang="en-US" sz="1400" dirty="0"/>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t>Additionally, if you’ve completed </a:t>
            </a:r>
            <a:r>
              <a:rPr lang="en-US" sz="1400" b="1" dirty="0"/>
              <a:t>Threat Prioritization</a:t>
            </a:r>
            <a:r>
              <a:rPr lang="en-US" sz="1400" dirty="0"/>
              <a:t> you can also proceed to</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Attack Surface Analysis</a:t>
            </a:r>
          </a:p>
          <a:p>
            <a:pPr marL="285750" marR="0" indent="-285750" algn="just">
              <a:spcBef>
                <a:spcPts val="0"/>
              </a:spcBef>
              <a:spcAft>
                <a:spcPts val="1200"/>
              </a:spcAft>
            </a:pPr>
            <a:r>
              <a:rPr lang="en-US" sz="1400" b="1" dirty="0"/>
              <a:t>Threat Modeling</a:t>
            </a:r>
          </a:p>
          <a:p>
            <a:pPr marL="285750" marR="0" indent="-285750" algn="just">
              <a:spcBef>
                <a:spcPts val="0"/>
              </a:spcBef>
              <a:spcAft>
                <a:spcPts val="1200"/>
              </a:spcAft>
            </a:pPr>
            <a:r>
              <a:rPr lang="en-US" sz="1400" b="1" dirty="0"/>
              <a:t>Penetration Testing</a:t>
            </a:r>
            <a:endParaRPr lang="en-US" sz="1400" dirty="0"/>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Vulnerability Identification</a:t>
            </a:r>
          </a:p>
          <a:p>
            <a:pPr marL="285750" marR="0" indent="-285750" algn="just">
              <a:spcBef>
                <a:spcPts val="0"/>
              </a:spcBef>
              <a:spcAft>
                <a:spcPts val="1200"/>
              </a:spcAft>
            </a:pPr>
            <a:endParaRPr lang="en-US" sz="1400" dirty="0"/>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t>Additionally, you can proceed to either</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Code Reuse</a:t>
            </a:r>
          </a:p>
          <a:p>
            <a:pPr marL="285750" marR="0" indent="-285750" algn="just">
              <a:spcBef>
                <a:spcPts val="0"/>
              </a:spcBef>
              <a:spcAft>
                <a:spcPts val="1200"/>
              </a:spcAft>
            </a:pPr>
            <a:endParaRPr lang="en-US" sz="1400" b="1" dirty="0"/>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t>or</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Secure Coding</a:t>
            </a:r>
          </a:p>
        </p:txBody>
      </p:sp>
    </p:spTree>
    <p:extLst>
      <p:ext uri="{BB962C8B-B14F-4D97-AF65-F5344CB8AC3E}">
        <p14:creationId xmlns:p14="http://schemas.microsoft.com/office/powerpoint/2010/main" val="37017396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t>
            </a:r>
            <a:r>
              <a:rPr lang="en-US" sz="1400" b="1" dirty="0">
                <a:solidFill>
                  <a:srgbClr val="1D1C1D"/>
                </a:solidFill>
                <a:effectLst/>
                <a:latin typeface="Calibri" panose="020F0502020204030204" pitchFamily="34" charset="0"/>
                <a:cs typeface="Calibri" panose="020F0502020204030204" pitchFamily="34" charset="0"/>
              </a:rPr>
              <a:t>AVCDL GitHub </a:t>
            </a:r>
            <a:r>
              <a:rPr lang="en-US" sz="1400" dirty="0">
                <a:solidFill>
                  <a:srgbClr val="1D1C1D"/>
                </a:solidFill>
                <a:effectLst/>
                <a:latin typeface="Calibri" panose="020F0502020204030204" pitchFamily="34" charset="0"/>
                <a:cs typeface="Calibri" panose="020F0502020204030204" pitchFamily="34" charset="0"/>
              </a:rPr>
              <a:t>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1036064" cy="3227235"/>
          </a:xfrm>
          <a:prstGeom prst="rect">
            <a:avLst/>
          </a:prstGeom>
          <a:noFill/>
          <a:ln>
            <a:noFill/>
          </a:ln>
        </p:spPr>
        <p:txBody>
          <a:bodyPr spcFirstLastPara="1" wrap="square" lIns="0" tIns="0" rIns="0" bIns="0" anchor="ctr" anchorCtr="0">
            <a:noAutofit/>
          </a:bodyPr>
          <a:lstStyle/>
          <a:p>
            <a:pPr>
              <a:lnSpc>
                <a:spcPct val="100000"/>
              </a:lnSpc>
            </a:pPr>
            <a:r>
              <a:rPr lang="en" sz="5400" dirty="0"/>
              <a:t>Secure Settings – Select Options</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2</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2025-09-29</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
        <p:nvSpPr>
          <p:cNvPr id="6" name="Rectangle 5">
            <a:extLst>
              <a:ext uri="{FF2B5EF4-FFF2-40B4-BE49-F238E27FC236}">
                <a16:creationId xmlns:a16="http://schemas.microsoft.com/office/drawing/2014/main" id="{045111EE-15D1-8720-B72C-39CD744DB3C5}"/>
              </a:ext>
            </a:extLst>
          </p:cNvPr>
          <p:cNvSpPr/>
          <p:nvPr/>
        </p:nvSpPr>
        <p:spPr>
          <a:xfrm>
            <a:off x="9899855" y="139594"/>
            <a:ext cx="2169184" cy="276999"/>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AVCDL-Implementation-3.1.3</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39DA21B-89EB-986D-847D-4B42780BEBB3}"/>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DFF19A58-92B6-1DFA-4D72-000891004779}"/>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Introduction</a:t>
            </a:r>
            <a:endParaRPr sz="6600" dirty="0"/>
          </a:p>
        </p:txBody>
      </p:sp>
    </p:spTree>
    <p:extLst>
      <p:ext uri="{BB962C8B-B14F-4D97-AF65-F5344CB8AC3E}">
        <p14:creationId xmlns:p14="http://schemas.microsoft.com/office/powerpoint/2010/main" val="2845624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a:extLst>
              <a:ext uri="{FF2B5EF4-FFF2-40B4-BE49-F238E27FC236}">
                <a16:creationId xmlns:a16="http://schemas.microsoft.com/office/drawing/2014/main" id="{081917B5-D38D-75C7-4D31-0A25C42D16F1}"/>
              </a:ext>
            </a:extLst>
          </p:cNvPr>
          <p:cNvPicPr>
            <a:picLocks noChangeAspect="1"/>
          </p:cNvPicPr>
          <p:nvPr/>
        </p:nvPicPr>
        <p:blipFill>
          <a:blip r:embed="rId3"/>
          <a:srcRect/>
          <a:stretch/>
        </p:blipFill>
        <p:spPr>
          <a:xfrm>
            <a:off x="274866" y="1543690"/>
            <a:ext cx="11639090" cy="3770619"/>
          </a:xfrm>
          <a:prstGeom prst="rect">
            <a:avLst/>
          </a:prstGeom>
        </p:spPr>
      </p:pic>
    </p:spTree>
    <p:extLst>
      <p:ext uri="{BB962C8B-B14F-4D97-AF65-F5344CB8AC3E}">
        <p14:creationId xmlns:p14="http://schemas.microsoft.com/office/powerpoint/2010/main" val="4278405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4B2164A-295A-0288-9D11-2D1D1B6D7A8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D94A942-BE23-903F-07CE-8F6B095AC710}"/>
              </a:ext>
            </a:extLst>
          </p:cNvPr>
          <p:cNvPicPr>
            <a:picLocks noChangeAspect="1"/>
          </p:cNvPicPr>
          <p:nvPr/>
        </p:nvPicPr>
        <p:blipFill>
          <a:blip r:embed="rId3">
            <a:alphaModFix amt="10000"/>
          </a:blip>
          <a:srcRect/>
          <a:stretch/>
        </p:blipFill>
        <p:spPr>
          <a:xfrm>
            <a:off x="274866" y="1543690"/>
            <a:ext cx="11639090" cy="3770619"/>
          </a:xfrm>
          <a:prstGeom prst="rect">
            <a:avLst/>
          </a:prstGeom>
        </p:spPr>
      </p:pic>
      <p:sp>
        <p:nvSpPr>
          <p:cNvPr id="1199" name="Google Shape;1199;p156">
            <a:extLst>
              <a:ext uri="{FF2B5EF4-FFF2-40B4-BE49-F238E27FC236}">
                <a16:creationId xmlns:a16="http://schemas.microsoft.com/office/drawing/2014/main" id="{A978AB51-0A05-7CED-E08D-2D4FDCD3DA7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5" name="Picture 4" descr="A diagram of security options&#10;&#10;AI-generated content may be incorrect.">
            <a:extLst>
              <a:ext uri="{FF2B5EF4-FFF2-40B4-BE49-F238E27FC236}">
                <a16:creationId xmlns:a16="http://schemas.microsoft.com/office/drawing/2014/main" id="{AF8D00A3-316F-22A2-E1C0-A09A4272B176}"/>
              </a:ext>
            </a:extLst>
          </p:cNvPr>
          <p:cNvPicPr>
            <a:picLocks noChangeAspect="1"/>
          </p:cNvPicPr>
          <p:nvPr/>
        </p:nvPicPr>
        <p:blipFill>
          <a:blip r:embed="rId4"/>
          <a:stretch>
            <a:fillRect/>
          </a:stretch>
        </p:blipFill>
        <p:spPr>
          <a:xfrm>
            <a:off x="4880833" y="1543689"/>
            <a:ext cx="4031433" cy="3770619"/>
          </a:xfrm>
          <a:prstGeom prst="rect">
            <a:avLst/>
          </a:prstGeom>
        </p:spPr>
      </p:pic>
    </p:spTree>
    <p:extLst>
      <p:ext uri="{BB962C8B-B14F-4D97-AF65-F5344CB8AC3E}">
        <p14:creationId xmlns:p14="http://schemas.microsoft.com/office/powerpoint/2010/main" val="3273970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0580769-23E8-EBAD-DBED-BE0153CC0020}"/>
            </a:ext>
          </a:extLst>
        </p:cNvPr>
        <p:cNvGrpSpPr/>
        <p:nvPr/>
      </p:nvGrpSpPr>
      <p:grpSpPr>
        <a:xfrm>
          <a:off x="0" y="0"/>
          <a:ext cx="0" cy="0"/>
          <a:chOff x="0" y="0"/>
          <a:chExt cx="0" cy="0"/>
        </a:xfrm>
      </p:grpSpPr>
      <p:pic>
        <p:nvPicPr>
          <p:cNvPr id="2" name="Picture 1" descr="A diagram of security options&#10;&#10;AI-generated content may be incorrect.">
            <a:extLst>
              <a:ext uri="{FF2B5EF4-FFF2-40B4-BE49-F238E27FC236}">
                <a16:creationId xmlns:a16="http://schemas.microsoft.com/office/drawing/2014/main" id="{812A65CD-F66C-C3E6-2AB6-A00BE77ABCA9}"/>
              </a:ext>
            </a:extLst>
          </p:cNvPr>
          <p:cNvPicPr>
            <a:picLocks noChangeAspect="1"/>
          </p:cNvPicPr>
          <p:nvPr/>
        </p:nvPicPr>
        <p:blipFill>
          <a:blip r:embed="rId3"/>
          <a:stretch>
            <a:fillRect/>
          </a:stretch>
        </p:blipFill>
        <p:spPr>
          <a:xfrm>
            <a:off x="3241079" y="985083"/>
            <a:ext cx="5706665" cy="5337472"/>
          </a:xfrm>
          <a:prstGeom prst="rect">
            <a:avLst/>
          </a:prstGeom>
        </p:spPr>
      </p:pic>
      <p:sp>
        <p:nvSpPr>
          <p:cNvPr id="1199" name="Google Shape;1199;p156">
            <a:extLst>
              <a:ext uri="{FF2B5EF4-FFF2-40B4-BE49-F238E27FC236}">
                <a16:creationId xmlns:a16="http://schemas.microsoft.com/office/drawing/2014/main" id="{F2E758C0-EE8E-BCA6-A63C-D6F8021B399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Select Options Activity</a:t>
            </a:r>
            <a:endParaRPr dirty="0"/>
          </a:p>
        </p:txBody>
      </p:sp>
    </p:spTree>
    <p:extLst>
      <p:ext uri="{BB962C8B-B14F-4D97-AF65-F5344CB8AC3E}">
        <p14:creationId xmlns:p14="http://schemas.microsoft.com/office/powerpoint/2010/main" val="2458096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CE16632-1C39-0DC1-D9F8-0DE9EDB81312}"/>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DCDC6A0-9D6B-4CEF-EBEC-C10E50A6ACCF}"/>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Example</a:t>
            </a:r>
            <a:endParaRPr sz="6600" dirty="0"/>
          </a:p>
        </p:txBody>
      </p:sp>
    </p:spTree>
    <p:extLst>
      <p:ext uri="{BB962C8B-B14F-4D97-AF65-F5344CB8AC3E}">
        <p14:creationId xmlns:p14="http://schemas.microsoft.com/office/powerpoint/2010/main" val="125398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C174DC1-3B34-550B-143F-3D26F356EDD2}"/>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483570F4-3372-30A1-DB0B-CD6F018E3935}"/>
              </a:ext>
            </a:extLst>
          </p:cNvPr>
          <p:cNvPicPr>
            <a:picLocks noChangeAspect="1"/>
          </p:cNvPicPr>
          <p:nvPr/>
        </p:nvPicPr>
        <p:blipFill>
          <a:blip r:embed="rId3"/>
          <a:stretch>
            <a:fillRect/>
          </a:stretch>
        </p:blipFill>
        <p:spPr>
          <a:xfrm>
            <a:off x="2208212" y="985083"/>
            <a:ext cx="7772400" cy="5681299"/>
          </a:xfrm>
          <a:prstGeom prst="rect">
            <a:avLst/>
          </a:prstGeom>
        </p:spPr>
      </p:pic>
      <p:sp>
        <p:nvSpPr>
          <p:cNvPr id="1199" name="Google Shape;1199;p156">
            <a:extLst>
              <a:ext uri="{FF2B5EF4-FFF2-40B4-BE49-F238E27FC236}">
                <a16:creationId xmlns:a16="http://schemas.microsoft.com/office/drawing/2014/main" id="{D71AA15C-BE75-DD93-033B-C38B9C34F9D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Cover Sheet</a:t>
            </a:r>
            <a:endParaRPr dirty="0"/>
          </a:p>
        </p:txBody>
      </p:sp>
    </p:spTree>
    <p:extLst>
      <p:ext uri="{BB962C8B-B14F-4D97-AF65-F5344CB8AC3E}">
        <p14:creationId xmlns:p14="http://schemas.microsoft.com/office/powerpoint/2010/main" val="3821437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9B7E442-DE6B-9F26-344B-E09DDC7F509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272D88F-7E6A-E7B7-BAEF-8AFED6A85821}"/>
              </a:ext>
            </a:extLst>
          </p:cNvPr>
          <p:cNvPicPr>
            <a:picLocks noChangeAspect="1"/>
          </p:cNvPicPr>
          <p:nvPr/>
        </p:nvPicPr>
        <p:blipFill>
          <a:blip r:embed="rId3"/>
          <a:stretch>
            <a:fillRect/>
          </a:stretch>
        </p:blipFill>
        <p:spPr>
          <a:xfrm>
            <a:off x="128316" y="1635832"/>
            <a:ext cx="11932192" cy="1047432"/>
          </a:xfrm>
          <a:prstGeom prst="rect">
            <a:avLst/>
          </a:prstGeom>
        </p:spPr>
      </p:pic>
      <p:sp>
        <p:nvSpPr>
          <p:cNvPr id="1199" name="Google Shape;1199;p156">
            <a:extLst>
              <a:ext uri="{FF2B5EF4-FFF2-40B4-BE49-F238E27FC236}">
                <a16:creationId xmlns:a16="http://schemas.microsoft.com/office/drawing/2014/main" id="{9D01CEA4-095F-9C74-BAD6-15FDD1D77734}"/>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Tree>
    <p:extLst>
      <p:ext uri="{BB962C8B-B14F-4D97-AF65-F5344CB8AC3E}">
        <p14:creationId xmlns:p14="http://schemas.microsoft.com/office/powerpoint/2010/main" val="2205867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DBC7B380-EAEC-D784-431C-4A577CF5010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3927CFCF-5D81-793A-D673-A5DA994D73C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Options</a:t>
            </a:r>
            <a:endParaRPr dirty="0"/>
          </a:p>
        </p:txBody>
      </p:sp>
      <p:pic>
        <p:nvPicPr>
          <p:cNvPr id="3" name="Picture 2" descr="A screenshot of a computer&#10;&#10;AI-generated content may be incorrect.">
            <a:extLst>
              <a:ext uri="{FF2B5EF4-FFF2-40B4-BE49-F238E27FC236}">
                <a16:creationId xmlns:a16="http://schemas.microsoft.com/office/drawing/2014/main" id="{A8F633AC-665D-4F89-CDE6-8E95B587849A}"/>
              </a:ext>
            </a:extLst>
          </p:cNvPr>
          <p:cNvPicPr>
            <a:picLocks noChangeAspect="1"/>
          </p:cNvPicPr>
          <p:nvPr/>
        </p:nvPicPr>
        <p:blipFill>
          <a:blip r:embed="rId3"/>
          <a:stretch>
            <a:fillRect/>
          </a:stretch>
        </p:blipFill>
        <p:spPr>
          <a:xfrm>
            <a:off x="2728092" y="1516025"/>
            <a:ext cx="6732639" cy="1436433"/>
          </a:xfrm>
          <a:prstGeom prst="rect">
            <a:avLst/>
          </a:prstGeom>
        </p:spPr>
      </p:pic>
      <p:sp>
        <p:nvSpPr>
          <p:cNvPr id="4" name="TextBox 3">
            <a:extLst>
              <a:ext uri="{FF2B5EF4-FFF2-40B4-BE49-F238E27FC236}">
                <a16:creationId xmlns:a16="http://schemas.microsoft.com/office/drawing/2014/main" id="{65DCCED7-AE93-0AB6-6346-0BFBCD7AE22C}"/>
              </a:ext>
            </a:extLst>
          </p:cNvPr>
          <p:cNvSpPr txBox="1"/>
          <p:nvPr/>
        </p:nvSpPr>
        <p:spPr>
          <a:xfrm>
            <a:off x="2728092" y="3809679"/>
            <a:ext cx="6358151" cy="2277547"/>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Element source not modifiable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Option not applicable to the element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Option use consumes excessive time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Option is experimental</a:t>
            </a:r>
          </a:p>
        </p:txBody>
      </p:sp>
    </p:spTree>
    <p:extLst>
      <p:ext uri="{BB962C8B-B14F-4D97-AF65-F5344CB8AC3E}">
        <p14:creationId xmlns:p14="http://schemas.microsoft.com/office/powerpoint/2010/main" val="4268131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6CA0A7DB-EC05-6FB1-2968-49AE22B15DD5}"/>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8EA808AE-0DA8-5569-B891-11F6872462C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Report</a:t>
            </a:r>
            <a:endParaRPr sz="6600" dirty="0"/>
          </a:p>
        </p:txBody>
      </p:sp>
    </p:spTree>
    <p:extLst>
      <p:ext uri="{BB962C8B-B14F-4D97-AF65-F5344CB8AC3E}">
        <p14:creationId xmlns:p14="http://schemas.microsoft.com/office/powerpoint/2010/main" val="401440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8331145A-2C8C-2FF2-6796-49C5DFF77DBB}"/>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213DABD-B0E7-30CC-9A8C-EB8A2A19B39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Human-readable Report</a:t>
            </a:r>
            <a:endParaRPr dirty="0"/>
          </a:p>
        </p:txBody>
      </p:sp>
      <p:sp>
        <p:nvSpPr>
          <p:cNvPr id="2" name="TextBox 1">
            <a:extLst>
              <a:ext uri="{FF2B5EF4-FFF2-40B4-BE49-F238E27FC236}">
                <a16:creationId xmlns:a16="http://schemas.microsoft.com/office/drawing/2014/main" id="{0D78E0D8-D78D-E80B-06F6-68EEE26FDE57}"/>
              </a:ext>
            </a:extLst>
          </p:cNvPr>
          <p:cNvSpPr txBox="1"/>
          <p:nvPr/>
        </p:nvSpPr>
        <p:spPr>
          <a:xfrm>
            <a:off x="455618" y="1437554"/>
            <a:ext cx="6156172"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Document of record</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Tracks with element documentation</a:t>
            </a:r>
          </a:p>
        </p:txBody>
      </p:sp>
    </p:spTree>
    <p:extLst>
      <p:ext uri="{BB962C8B-B14F-4D97-AF65-F5344CB8AC3E}">
        <p14:creationId xmlns:p14="http://schemas.microsoft.com/office/powerpoint/2010/main" val="4180849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6766917" cy="2277547"/>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Involve the element’s development SME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Select element-appropriate tool options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Provide justification where appropriate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Create a human-readable report</a:t>
            </a:r>
          </a:p>
        </p:txBody>
      </p:sp>
    </p:spTree>
    <p:extLst>
      <p:ext uri="{BB962C8B-B14F-4D97-AF65-F5344CB8AC3E}">
        <p14:creationId xmlns:p14="http://schemas.microsoft.com/office/powerpoint/2010/main" val="170359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725C29D-255F-E78F-7B10-51B1795D53F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E6AE96E7-F515-5B95-8C3A-153509652AE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Example Materials</a:t>
            </a:r>
            <a:endParaRPr dirty="0"/>
          </a:p>
        </p:txBody>
      </p:sp>
      <p:sp>
        <p:nvSpPr>
          <p:cNvPr id="6" name="TextBox 5">
            <a:extLst>
              <a:ext uri="{FF2B5EF4-FFF2-40B4-BE49-F238E27FC236}">
                <a16:creationId xmlns:a16="http://schemas.microsoft.com/office/drawing/2014/main" id="{5E6414D1-0FD5-FC5C-C853-B8F340BA038D}"/>
              </a:ext>
            </a:extLst>
          </p:cNvPr>
          <p:cNvSpPr txBox="1"/>
          <p:nvPr/>
        </p:nvSpPr>
        <p:spPr>
          <a:xfrm>
            <a:off x="455618" y="1309403"/>
            <a:ext cx="10695602" cy="400110"/>
          </a:xfrm>
          <a:prstGeom prst="rect">
            <a:avLst/>
          </a:prstGeom>
          <a:noFill/>
        </p:spPr>
        <p:txBody>
          <a:bodyPr wrap="square">
            <a:spAutoFit/>
          </a:bodyPr>
          <a:lstStyle/>
          <a:p>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&lt;AVCDL&gt;/source/reference_documents/working_material/secure settings/</a:t>
            </a:r>
          </a:p>
        </p:txBody>
      </p:sp>
    </p:spTree>
    <p:extLst>
      <p:ext uri="{BB962C8B-B14F-4D97-AF65-F5344CB8AC3E}">
        <p14:creationId xmlns:p14="http://schemas.microsoft.com/office/powerpoint/2010/main" val="969977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11" name="Picture 10">
            <a:extLst>
              <a:ext uri="{FF2B5EF4-FFF2-40B4-BE49-F238E27FC236}">
                <a16:creationId xmlns:a16="http://schemas.microsoft.com/office/drawing/2014/main" id="{9AF391E0-343E-BC1F-91F6-B2E02B18B081}"/>
              </a:ext>
            </a:extLst>
          </p:cNvPr>
          <p:cNvPicPr>
            <a:picLocks noChangeAspect="1"/>
          </p:cNvPicPr>
          <p:nvPr/>
        </p:nvPicPr>
        <p:blipFill>
          <a:blip r:embed="rId3"/>
          <a:srcRect/>
          <a:stretch/>
        </p:blipFill>
        <p:spPr>
          <a:xfrm>
            <a:off x="4056310" y="1239500"/>
            <a:ext cx="4076199" cy="5283369"/>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2A2ADBF-13F1-8937-91E4-97FBA4F83BB0}"/>
              </a:ext>
            </a:extLst>
          </p:cNvPr>
          <p:cNvPicPr>
            <a:picLocks noChangeAspect="1"/>
          </p:cNvPicPr>
          <p:nvPr/>
        </p:nvPicPr>
        <p:blipFill>
          <a:blip r:embed="rId3"/>
          <a:stretch>
            <a:fillRect/>
          </a:stretch>
        </p:blipFill>
        <p:spPr>
          <a:xfrm>
            <a:off x="1573706" y="985083"/>
            <a:ext cx="9041411"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24875B67-DABD-EC7D-D876-FF0A75BC967B}"/>
              </a:ext>
            </a:extLst>
          </p:cNvPr>
          <p:cNvPicPr>
            <a:picLocks noChangeAspect="1"/>
          </p:cNvPicPr>
          <p:nvPr/>
        </p:nvPicPr>
        <p:blipFill>
          <a:blip r:embed="rId3"/>
          <a:stretch>
            <a:fillRect/>
          </a:stretch>
        </p:blipFill>
        <p:spPr>
          <a:xfrm>
            <a:off x="1658351" y="985083"/>
            <a:ext cx="8483870" cy="5783298"/>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6" y="1146448"/>
            <a:ext cx="11431584" cy="261610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Document (AVCDL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Identify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Categorize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Select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AVCDL element-specific tool cybersecurity options template (AVCDL template)</a:t>
            </a:r>
          </a:p>
        </p:txBody>
      </p:sp>
    </p:spTree>
    <p:extLst>
      <p:ext uri="{BB962C8B-B14F-4D97-AF65-F5344CB8AC3E}">
        <p14:creationId xmlns:p14="http://schemas.microsoft.com/office/powerpoint/2010/main" val="255740004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367092</TotalTime>
  <Words>1729</Words>
  <Application>Microsoft Macintosh PowerPoint</Application>
  <PresentationFormat>Custom</PresentationFormat>
  <Paragraphs>312</Paragraphs>
  <Slides>20</Slides>
  <Notes>20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20</vt:i4>
      </vt:variant>
    </vt:vector>
  </HeadingPairs>
  <TitlesOfParts>
    <vt:vector size="28" baseType="lpstr">
      <vt:lpstr>Courier New</vt:lpstr>
      <vt:lpstr>Arial</vt:lpstr>
      <vt:lpstr>Roboto Medium</vt:lpstr>
      <vt:lpstr>Roboto</vt:lpstr>
      <vt:lpstr>Calibri</vt:lpstr>
      <vt:lpstr>Simple Light</vt:lpstr>
      <vt:lpstr>Motional Masters</vt:lpstr>
      <vt:lpstr>Motional Masters</vt:lpstr>
      <vt:lpstr>Secure Settings – Select Options</vt:lpstr>
      <vt:lpstr>Training Path</vt:lpstr>
      <vt:lpstr>Introduction</vt:lpstr>
      <vt:lpstr>Secure Settings Process</vt:lpstr>
      <vt:lpstr>Secure Settings Process</vt:lpstr>
      <vt:lpstr>Select Options Activity</vt:lpstr>
      <vt:lpstr>Example</vt:lpstr>
      <vt:lpstr>Cover Sheet</vt:lpstr>
      <vt:lpstr>References</vt:lpstr>
      <vt:lpstr>Options</vt:lpstr>
      <vt:lpstr>Report</vt:lpstr>
      <vt:lpstr>Human-readable Report</vt:lpstr>
      <vt:lpstr>Recap</vt:lpstr>
      <vt:lpstr>Summary</vt:lpstr>
      <vt:lpstr>Example Materials</vt:lpstr>
      <vt:lpstr>Further Reading</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Settings - Select Options (training)</dc:title>
  <dc:subject>cybersecurity settings - select options</dc:subject>
  <dc:creator>Charles Wilson</dc:creator>
  <cp:keywords>cybersecurity settings</cp:keywords>
  <dc:description>This work was created by Torc Robotics and is licensed under the Creative Commons Attribution-Share Alike (CC BY-SA-4.0) License.
https://creativecommons.org/licenses/by/4.0/legalcode 
</dc:description>
  <cp:lastModifiedBy>Charles Wilson</cp:lastModifiedBy>
  <cp:revision>608</cp:revision>
  <cp:lastPrinted>2025-07-24T18:37:57Z</cp:lastPrinted>
  <dcterms:modified xsi:type="dcterms:W3CDTF">2025-10-03T14:06:47Z</dcterms:modified>
  <cp:category/>
</cp:coreProperties>
</file>