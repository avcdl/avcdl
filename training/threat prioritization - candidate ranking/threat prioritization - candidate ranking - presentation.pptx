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4" r:id="rId1"/>
  </p:sldMasterIdLst>
  <p:notesMasterIdLst>
    <p:notesMasterId r:id="rId31"/>
  </p:notesMasterIdLst>
  <p:sldIdLst>
    <p:sldId id="256" r:id="rId2"/>
    <p:sldId id="674" r:id="rId3"/>
    <p:sldId id="648" r:id="rId4"/>
    <p:sldId id="308" r:id="rId5"/>
    <p:sldId id="682" r:id="rId6"/>
    <p:sldId id="477" r:id="rId7"/>
    <p:sldId id="484" r:id="rId8"/>
    <p:sldId id="688" r:id="rId9"/>
    <p:sldId id="683" r:id="rId10"/>
    <p:sldId id="689" r:id="rId11"/>
    <p:sldId id="680" r:id="rId12"/>
    <p:sldId id="686" r:id="rId13"/>
    <p:sldId id="684" r:id="rId14"/>
    <p:sldId id="685" r:id="rId15"/>
    <p:sldId id="690" r:id="rId16"/>
    <p:sldId id="691" r:id="rId17"/>
    <p:sldId id="692" r:id="rId18"/>
    <p:sldId id="624" r:id="rId19"/>
    <p:sldId id="577" r:id="rId20"/>
    <p:sldId id="622" r:id="rId21"/>
    <p:sldId id="687" r:id="rId22"/>
    <p:sldId id="603" r:id="rId23"/>
    <p:sldId id="488" r:id="rId24"/>
    <p:sldId id="614" r:id="rId25"/>
    <p:sldId id="343" r:id="rId26"/>
    <p:sldId id="606" r:id="rId27"/>
    <p:sldId id="676" r:id="rId28"/>
    <p:sldId id="675" r:id="rId29"/>
    <p:sldId id="368" r:id="rId30"/>
  </p:sldIdLst>
  <p:sldSz cx="12188825" cy="6858000"/>
  <p:notesSz cx="6858000" cy="9144000"/>
  <p:embeddedFontLst>
    <p:embeddedFont>
      <p:font typeface="Roboto" panose="02000000000000000000" pitchFamily="2" charset="0"/>
      <p:regular r:id="rId32"/>
      <p:bold r:id="rId33"/>
      <p:italic r:id="rId34"/>
      <p:boldItalic r:id="rId35"/>
    </p:embeddedFont>
    <p:embeddedFont>
      <p:font typeface="Roboto Medium" panose="02000000000000000000" pitchFamily="2"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E1F5"/>
    <a:srgbClr val="4DE354"/>
    <a:srgbClr val="CCFFCC"/>
    <a:srgbClr val="FFFAB2"/>
    <a:srgbClr val="FFFFFF"/>
    <a:srgbClr val="FFC161"/>
    <a:srgbClr val="FFE6CC"/>
    <a:srgbClr val="A7E3B3"/>
    <a:srgbClr val="E38194"/>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10"/>
    <p:restoredTop sz="73062"/>
  </p:normalViewPr>
  <p:slideViewPr>
    <p:cSldViewPr snapToGrid="0">
      <p:cViewPr varScale="1">
        <p:scale>
          <a:sx n="167" d="100"/>
          <a:sy n="167" d="100"/>
        </p:scale>
        <p:origin x="176" y="184"/>
      </p:cViewPr>
      <p:guideLst>
        <p:guide orient="horz" pos="2160"/>
        <p:guide pos="3839"/>
        <p:guide orient="horz" pos="3945"/>
      </p:guideLst>
    </p:cSldViewPr>
  </p:slideViewPr>
  <p:notesTextViewPr>
    <p:cViewPr>
      <p:scale>
        <a:sx n="1" d="1"/>
        <a:sy n="1" d="1"/>
      </p:scale>
      <p:origin x="0" y="0"/>
    </p:cViewPr>
  </p:notesTextViewPr>
  <p:sorterViewPr>
    <p:cViewPr>
      <p:scale>
        <a:sx n="134" d="100"/>
        <a:sy n="13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Threat Prioritization Candidate Ranking </a:t>
            </a:r>
            <a:r>
              <a:rPr lang="en-US"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AVCDL Overview training.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Threat Prioritization Overview training.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covers the Threat Prioritization - Candidate Ranking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threat candidate ranking, let's briefly review where it fits in the overall threat prioritization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threat prioritization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Threat Prioritization Overview </a:t>
            </a:r>
            <a:r>
              <a:rPr lang="en-US" sz="1400"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will be on the first activity, that of threat candidate ranking.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440A541-D7EC-C517-693E-4487DF4F2D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9B0DB2E-946B-119C-309D-06A93949FC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44D5C51-EDDA-5660-AE57-6D8C49EBD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threat prioritization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Threat Prioritization Overview </a:t>
            </a:r>
            <a:r>
              <a:rPr lang="en-US" sz="1400" strike="sng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will be on the first activity, that of threat candidate ranking.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632999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In the threat candidate ranking activity,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security SME takes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triage threat candidates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conducts a ranking on them, producing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list of ranked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Any candidates which are determined to be invalid are dismissed, and their source tracker is updated accordingly.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Threat candidate ranking entails evaluating each threat candidate and determining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its likelihood.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Additionally,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worst case scenario is provided for each.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Let's start by considering what a likelihood is.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99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talk about likelihood, we're referring to whether or not an event is going to occur.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context of cybersecurity threats, this is whether the threat can be realized.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talk about likelihood rubrics, we're referring to the method used to determine what that likelihood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actual mechanism varies greatly.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Probably the most well-known likelihood rubric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common vulnerability scoring system (CVSS).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rubric focuses on defects in the construction of the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rubric is seen all over the place.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Most notably, when a cybersecurity incident is reported, a CVSS score will be assigned to it.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score is given a lot of weight when it comes to how we perceive the identified threat.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two related scoring systems that we should consider.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common configuration scoring system (CCSS).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rubric focuses on the mechanisms that are used to configure a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Whereas CVSS looks at the system and says, “this wasn't built right,” CCSS looks at the system and says, “the system is built right, but the way that you have configured it makes it subject to exploit.”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an example, let’s consider a system using cryptography.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implement cryptography incorrectly, that will be reflected in the CVSS score.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implement cryptography correctly, but configure it improperly, that will be reflected in the CCSS score.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Improperly configured cryptography includes things like using the null password, or having a system which allows variable strength encryption, but uses a very weak version when a stronger one is available.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other related scoring system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common misuse scoring system (CMSS).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you have a correctly implemented system which is configured properly, but it's being applied in a way which is not its intended use case, and because of that, it allows a threat actor to take advantage of the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classic example is an email application which allows embedded HTML content. 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three rubrics are all very similar in the way in which they make their determinations.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all compute a numeric score and an associated quantized rating.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different approach is that used in a rubric developed by NIST and documented 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SP 800-30, specifically in tables G 2 through 5,</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rubric uses a much more simplified mechanism to make it’s determinations.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works entirely in a quantized rating space.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understand these differences, let's dig into likelihood quantization.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2880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54D24E3-50EE-473F-999A-C11C5BA78A5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29B2F4C-2847-9752-30C4-60B8EDE2E0A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60C0A8F2-EE68-762F-9FB0-64B03A03E7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let's consider what information the rubrics give us.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and its related rubrics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generate a score.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score has a value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between 0 and 10 in increments of 0.1.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Contrary to popular belief, this score is not a scaled probability.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stack rank score.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review the CVSS documentation, you'll see how the score is generated.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part is where quantization comes into play.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Quantization is simply the mapping of high-resolution information to a lower-resolution representation.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CVSS, most of the time we tend not to focus on the score but rather on the quantization of the score.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calls its quantization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rating.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quantization values used by CVSS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medium</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critical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can see here how these correspond to ranges of the score.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some domains will have a requirement for how they wish to have the likelihood quantized.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case of the automotive domain, specifically when dealing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ISO/SAE 21434, quantizations are specified as,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medium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no particular numeric ranges are specified for these.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here, we're just mapping them directly onto the CVSS specified ranges.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consider the NIST SP 800-30 rubric</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also has 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score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rating, but it's built slightly differently.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Rather than deriving a rating from the score, 800-30 provides rating values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provides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associated ranges (between 0 and 100) for each, as we can see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create a domain mapping from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ISO/SAE 21434 to 800-30 as follows: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map</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very low, to include both the very low and 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low, medium, and high to moderate, high, and very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order to aid process automation, we're going to augment these values to include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quantization value of none representing a score of zero, because in practice you want to be able to determine whether or not a value has actually been set.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as you can see, the quantizations used by CVSS and 800-30 are very different.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rating ranges for CVSS are biased toward the lower end of the scale, like a chi-square distribution, whereas with the 800-30, it looks more like a normal distribution, biased toward the middle of the scale.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this, they can’t be compared apples-to-apples.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something that you need to deal with within a supply chain or even within an organization, where multiple rubrics are being used.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mentioned earlier, within incident response, we tend to be dealing with CVSS scores.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in other activities, such as attack surface analysis and threat modeling, an organization may be using the 800-30 rubric.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Since these quantizations don't equate, if you have an incident response issue that comes in that impacts something that has also been threat modeled, you need to take extra care in handling the quantized ratings being passed around.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dig a bit deeper into 800-30, because unlike CVSS where you just take the threat candidate and score it, with 800-30, there's a bit more involved.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2148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NIST 800-30 likelihood rubric specifies the ranges for quantization, but in practice, it doesn't actually use that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operates exclusively in the quantized space.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how this rubric is applied.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start by listing the quantization values.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They’ll be in reverse order because that's what 800-30 does.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high</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three distinct applications of these.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two deal with the threat itself but differ by the source of the threat.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of these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likelihood of initiation.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Can the threat be realized by an adversary?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criterion for each value is as follows: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high means that it's almost certain</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 means that it's highly likely</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 means that it's somewhat likely</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 means that it's unlikely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 means that it's highly unlikely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this may seem like a subjective measurement, and it absolutely 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an organization you need to agree upon what these mean in practice.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when we're performing a threat ranking using 800-30 and are considering an adversarial approach, it's important to document why a particular rating is chosen.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other side,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likelihood of occurrence.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non-adversarial in nature.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threat is not attack-related, but rather one arising intrinsically.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have something that we can measure or at least estimate.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high is more than 100 times a year</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 is between 10 and 100 times a year</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 is between 1 and 10 times a year</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 is more than once every 10 years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 is less than once every 10 years.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have a much more concrete way to determine what the likelihood should be.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would think that between these two scenarios, that we have everything covered, but 800-30 brings in a third element, an estimation of whether there will be an adverse impact.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the severity of the impact, but rather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likelihood of any adverse impact.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that we use descriptions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almost certain</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highly likely</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somewhat likely</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unlikely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highly unlikely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which are the same as those used for the adversarial initiation scenario.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interesting.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three components, but what do we do with them?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look at that next.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218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F9769C-34E5-AA8E-1291-3489A65CE68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DEB3E1-8C59-9F33-817C-8B5025632F8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66FD915C-3FC9-325F-6FBF-B65A7D750C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800-30 does that's interesting, is create an overall likelihood.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does this by taking one of the first two components that we talked about,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either the likelihood of initiation or of occurrence, depending on whether you're talking about an adversarial or non-adversarial scenario, and it composes that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likelihood that there'll be an adverse impact.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visualize that as we see here.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All one does is to take the likelihood of initiation or occurrence value from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left side, the likelihood of adverse impact value from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top, and then find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 they intersect.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overall likelihood of the threat.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provides us a more expressive likelihood, even though we're using a coarse-grained rubric to make that determination.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1476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9E31F3F-4D19-223F-7955-37A682D4CAC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AE3B33A-E73A-17ED-38A8-9AC0144F348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8AA8E3C-7CA4-B872-94C5-A54796F14D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Now let's work our way through an example to illustrate how threat candidate ranking is performed.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We're going to use the triage output from a threat modeling exercise.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Additionally, we're going to apply both a CVSS-based approach and an SP 800-30 one, so that we can compare and contrast them.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62170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6116EAB-FF8D-AD66-4BBA-66E85DC0131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93ED1DE-DEE1-80DA-F095-8DC7B837021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688AEE67-55FF-85F1-E930-05450F4F6C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completing any instantiated AVCDL template, we're going to start out, aside from filling in the cover sheet, by providing our reference documents that we're going to be using.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CVSS case, we're going to always have these two references, one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CVSS itself, and because we're going to also look at domain quantization, we're going to include a reference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ISO/SAE 21434.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NIST SP 800-30, we're going to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NIST 800-30 documentation reference.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using two different templates here because the one we use for CVSS is based on the general template and will require tailoring, whereas the one for SP 800-30 is specific to that rubric and has a whole bunch of stuff that has been hardcoded in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start with CVSS. 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412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E963E16-1899-1B99-55A7-8EDA1074EFD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84100D6-BDFD-C10F-024C-22CED89DAB0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0D8555B-C8D4-6AA5-3751-378C40351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Before we can use any rubric that generates a score in the way that CVSS does, we need to create a mapping in the workbook from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rubric score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quantization values.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CVSS that's fairly simple, and we show that here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rubric quantization.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mentioned, we're including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none and that entry is provided in the template.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provide the minimum value for each of the quantization ranges.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what we're seeing here in this table.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low starts slightly above zero</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medium starts at 4</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high starts at 7</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critical starts at 9</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will happen in the ranking sheet is that when a value is entered for the CVSS score, the corresponding quantized value will be automatically populated.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we're going to do the same exercise for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domain quantization.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you can see here, the only distinction is that the labels are different.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3272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894E7B7-8A4A-0792-CB32-914FEC3EC57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639DB32-A9B3-5AAB-B3FC-FB3169795B9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9AF3906-A85D-F65E-004B-D89E423850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for illustration purposes, we can see how the quantization mapping will take place in the ranking sheet.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enter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value for the rubric, the sheet automatically populates the two quantization columns, one corresponding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rubric and the other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domain, if one is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also see that if no value is entered, then conveniently the rubric and domain values map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 none.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516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EBD06E5-34F8-1C8C-E4CD-0D6C60D1CD1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0E2EA61-9B53-3711-AD6A-1603878982B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A344F31-3E66-21C0-9992-F48448B309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SP 800-30’s quantization, let's again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score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rating where we show the ranges.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we're dealing in a rubric that works off its quantization, what we've done is provide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mapping for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quantization minimum value and label in the template itself.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provided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set of values needed to calculate the overall likelihood.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nice thing about this is you don't need to do any work if you're going to use the 800-30 rubric, the template takes care of all of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4062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C4899BA-99D6-9B96-4C3F-E8F68EDE723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2F238B1-7E3D-3529-480C-34DD12EDA3C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FF330C4-4312-C3FD-0CDF-055B20DC1E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here's a sample of what the SP 800-30 quantization looks like for various values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initiation / occurrence,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adverse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 can see the light blue showing 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overall likelihood.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example, if we have an initiation or occurrence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very high and an adverse impact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low, the overall impact will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moderate.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is exactly what we see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4754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6E324E6-5D09-5014-5171-07360C5D340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15571FC-3260-7141-17A7-32401973FD8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58B103F-A4D6-3CAF-2BBF-D48AB8421B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07861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5D9994C-C857-5914-0722-6C284EE4B28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D2AAD56-67A0-2FCD-91E9-2677E4221DB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E5B7C-0988-470D-3920-5A98C3293C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turn our attention to the system we'll use for this example, and in fact, as our example throughout the various AVCDL activities we explore.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intended to be able to be used in any domain, be quickly grasped, and not be overly complicated.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right, you'll see that we have an interactor.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an administrator using two modalities to interact with the system, a web browser and a terminal.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left, in the system of interest, we have a web server and a console interface that the administrator is interacting with.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are communicating with a core service.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core service and console interface have configuration and application data.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system has multiple processes, read-only and read-write data stores, and multiple types of data flows.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all practical purposes, this system contains everything needed to examine a wide variety of cybersecurity concepts and activities.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we're going to do is look at the outcome of a threat modeling activity applied to this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details of the threat modeling process aren’t important to our discussions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will, however, need to cover a few aspects to motivate how we got the input we’ll be using for the threat candidate ranking activity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6714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6F7E7AC-FE8F-420B-C383-98CDE8D4CF1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7CCD41B-C5A8-EBC6-0B46-581D7F72B5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5450CBB-1E8E-F434-A216-54995C8C86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To accomplish the threat modeling activity, the example system was translated into a series of data flow diagrams, DFDs.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is one of them.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What it allows us to do is give detail and context to the data flows, processes, data stores, and boundaries that comprise the system.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 analysis focuses on data transiting trust boundaries,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shown here as red dashed lines.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Now let's look at the outcome of the threat model activity, the triage information.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endParaRPr lang="en-US" sz="1400" dirty="0">
              <a:cs typeface="Calibri" panose="020F0502020204030204" pitchFamily="34" charset="0"/>
            </a:endParaRPr>
          </a:p>
        </p:txBody>
      </p:sp>
    </p:spTree>
    <p:extLst>
      <p:ext uri="{BB962C8B-B14F-4D97-AF65-F5344CB8AC3E}">
        <p14:creationId xmlns:p14="http://schemas.microsoft.com/office/powerpoint/2010/main" val="20319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4BFA610-8FE2-FC19-2CC1-15C16E09D3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E3466F4-FDDC-16F9-B825-A872AEC8B3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48F5650-E453-3ACE-1574-0F34A9ACA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threat modeling analysis indicated that issues existed around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sub-section of the DFD, involving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core service,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web server,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web browser,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data flows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cross the machine and core service boundaries.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analysis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ten issues, documenting their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data flow</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requirement ID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issue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notes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Those issues were then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triaged.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Four of the identified issues were determined to either be non-issues or insufficiencies in the model.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remained was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six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take these six and rank them using our likelihood rubrics.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377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65E4150-29AB-3AC9-2DD2-61D312397D1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8E1A625-F6F8-52BE-CD90-49EC5486F15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2676E76-BF45-BBE2-EF4A-85D2CB35FD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Starting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CVSS, we transfer the applicable information from the threat modeling triage activity to the ranking sheet of the workbook.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includes: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threat candidate’s ID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its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element that it's focused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example, the elements we're talking about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two specific data paths, both of which traverse a machine boundary.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 provide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worst case scenario for each threat candidate.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gives the threat context for the next activity, which is threat candidate risking.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 this because the element can be fairly deep within the overall system.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Then, for each of the threat candidates, we apply the rubric.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CVSS rubric asks a series of questions.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responses to which are encoded 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human-readable metadata string.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included for traceability.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allows others to see exactly what was fed into the rubric.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 take this string and run it through a CVSS vector decoder to get an explanation of its components.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record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value generated by the rubric, which in this case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10.0 for all of the threat candidates.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this is done, those values are translated by the workbook and populate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quantized value for the rubric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mapped quantized value for the domain.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the values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critical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high respectively.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Pretty straightforward.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notes are recorded, when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Turning now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SP 800-30, we start out transferring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same basic information for the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worst case scenario is then provided.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rubric metadata is pre-populated to non-applicable and is included in the workbook for consistency.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this example, we use an adversarial analysis, so here were dealing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likelihood of initiation.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all cases the likelihood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very high.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turn out to be pretty bad issues.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determine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likelihood of adverse impact, we can see that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varies widely.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800-30 workbook will auto-populate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overall likelihood, which as we see has values of either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high or very high.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the CVSS workbook,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notes field is provided.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Regardless of whether we had used only CVSS with its quantized value of critical and domain quantization of high or 800-30 with its overall likelihood of high and very high, the outcome is pretty much the same.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just that with the SP 800-30 we have a bit more nuance.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07706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threat prioritization process’ threat candidate ranking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performing threat candidate ranking,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select an appropriate likelihood rubric.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Keep in mind the impact that using more than one rubric within the overall system can have.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set up the quantization mapping if that's appropriate.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Unlike with the SP 800-30 template, which provides the necessary mapping, when using CVSS or another numeric-based rubric, you'll need to tailor the template.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choose a quantization-based rubric, you can take the 800-30 template and adjust it accordingly.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provide a worst case scenario.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greatly simplifies the work that has to be done downstream of the ranking activity.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calculate the likelihood.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Assuming you've done the setup for the quantization, the quantized values will take care of themselves.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used to cover this example are in the location shown here.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this includes the two ranking workbooks, as well as all of the threat modeling materials referenced.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Threat Prioritization – Candidate Ranking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Threat Prioritization </a:t>
            </a:r>
            <a:r>
              <a:rPr lang="en-US" sz="1400" dirty="0"/>
              <a:t>process activities,  you can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Additionally, if you’ve completed </a:t>
            </a:r>
            <a:r>
              <a:rPr lang="en-US" sz="1400" b="1" dirty="0"/>
              <a:t>Secure Coding </a:t>
            </a:r>
            <a:r>
              <a:rPr lang="en-US" sz="1400" dirty="0"/>
              <a:t>and it’s prerequisites, you can proceed to</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883812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p15:clr>
            <a:srgbClr val="FA7B17"/>
          </p15:clr>
        </p15:guide>
        <p15:guide id="2" pos="5615">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5059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C" userDrawn="1">
  <p:cSld name="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269555" y="6212114"/>
            <a:ext cx="946384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extLst>
      <p:ext uri="{BB962C8B-B14F-4D97-AF65-F5344CB8AC3E}">
        <p14:creationId xmlns:p14="http://schemas.microsoft.com/office/powerpoint/2010/main" val="1035808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3173401"/>
      </p:ext>
    </p:extLst>
  </p:cSld>
  <p:clrMap bg1="lt1" tx1="dk1" bg2="dk2" tx2="lt2" accent1="accent1" accent2="accent2" accent3="accent3" accent4="accent4" accent5="accent5" accent6="accent6" hlink="hlink" folHlink="folHlink"/>
  <p:sldLayoutIdLst>
    <p:sldLayoutId id="2147483795" r:id="rId1"/>
    <p:sldLayoutId id="2147483796" r:id="rId2"/>
    <p:sldLayoutId id="2147483797" r:id="rId3"/>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pos="287">
          <p15:clr>
            <a:srgbClr val="F26B43"/>
          </p15:clr>
        </p15:guide>
        <p15:guide id="4" orient="horz" pos="288">
          <p15:clr>
            <a:srgbClr val="F26B43"/>
          </p15:clr>
        </p15:guide>
        <p15:guide id="5" orient="horz" pos="4032">
          <p15:clr>
            <a:srgbClr val="F26B43"/>
          </p15:clr>
        </p15:guide>
        <p15:guide id="6" pos="7391">
          <p15:clr>
            <a:srgbClr val="F26B43"/>
          </p15:clr>
        </p15:guide>
        <p15:guide id="7" orient="horz" pos="3888">
          <p15:clr>
            <a:srgbClr val="F26B43"/>
          </p15:clr>
        </p15:guide>
        <p15:guide id="8" orient="horz" pos="4176">
          <p15:clr>
            <a:srgbClr val="F26B43"/>
          </p15:clr>
        </p15:guide>
        <p15:guide id="9" orient="horz" pos="37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www.first.org/cvss/" TargetMode="External"/><Relationship Id="rId7" Type="http://schemas.openxmlformats.org/officeDocument/2006/relationships/hyperlink" Target="https://nvlpubs.nist.gov/nistpubs/Legacy/SP/nistspecialpublication800-30r1.pdf"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www.iso.org/standard/70918.html" TargetMode="External"/><Relationship Id="rId5" Type="http://schemas.openxmlformats.org/officeDocument/2006/relationships/hyperlink" Target="https://tsapps.nist.gov/publication/get_pdf.cfm?pub_id=910230" TargetMode="External"/><Relationship Id="rId4" Type="http://schemas.openxmlformats.org/officeDocument/2006/relationships/hyperlink" Target="https://nvlpubs.nist.gov/nistpubs/legacy/ir/nistir7502.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Prioritization –</a:t>
            </a:r>
            <a:br>
              <a:rPr lang="en" sz="5400" dirty="0"/>
            </a:br>
            <a:r>
              <a:rPr lang="en" sz="5400" dirty="0"/>
              <a:t>Candidate Ranking</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2026-07-10</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A883CDB7-CE2B-7EA1-6C94-8ECC474734EA}"/>
              </a:ext>
            </a:extLst>
          </p:cNvPr>
          <p:cNvSpPr/>
          <p:nvPr/>
        </p:nvSpPr>
        <p:spPr>
          <a:xfrm>
            <a:off x="10202822" y="139594"/>
            <a:ext cx="186621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AVCDL-Foundation-9.1.1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Workflow</a:t>
            </a:r>
            <a:endParaRPr dirty="0"/>
          </a:p>
        </p:txBody>
      </p:sp>
      <p:pic>
        <p:nvPicPr>
          <p:cNvPr id="4" name="Picture 3">
            <a:extLst>
              <a:ext uri="{FF2B5EF4-FFF2-40B4-BE49-F238E27FC236}">
                <a16:creationId xmlns:a16="http://schemas.microsoft.com/office/drawing/2014/main" id="{06D5297C-03CA-BA6D-C8DA-9024375FD8D4}"/>
              </a:ext>
            </a:extLst>
          </p:cNvPr>
          <p:cNvPicPr>
            <a:picLocks noChangeAspect="1"/>
          </p:cNvPicPr>
          <p:nvPr/>
        </p:nvPicPr>
        <p:blipFill>
          <a:blip r:embed="rId3"/>
          <a:srcRect/>
          <a:stretch/>
        </p:blipFill>
        <p:spPr>
          <a:xfrm>
            <a:off x="449481" y="1383992"/>
            <a:ext cx="11271697" cy="4635090"/>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CA74A19-D021-6AC4-D569-4213DE0AE5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288A4D-C8F5-9EFA-7DC0-3549DBBE052B}"/>
              </a:ext>
            </a:extLst>
          </p:cNvPr>
          <p:cNvPicPr>
            <a:picLocks noChangeAspect="1"/>
          </p:cNvPicPr>
          <p:nvPr/>
        </p:nvPicPr>
        <p:blipFill>
          <a:blip r:embed="rId3">
            <a:alphaModFix amt="10000"/>
          </a:blip>
          <a:srcRect/>
          <a:stretch/>
        </p:blipFill>
        <p:spPr>
          <a:xfrm>
            <a:off x="449481" y="1383992"/>
            <a:ext cx="11271697" cy="4635090"/>
          </a:xfrm>
          <a:prstGeom prst="rect">
            <a:avLst/>
          </a:prstGeom>
        </p:spPr>
      </p:pic>
      <p:pic>
        <p:nvPicPr>
          <p:cNvPr id="2" name="Picture 1">
            <a:extLst>
              <a:ext uri="{FF2B5EF4-FFF2-40B4-BE49-F238E27FC236}">
                <a16:creationId xmlns:a16="http://schemas.microsoft.com/office/drawing/2014/main" id="{720167BD-593E-E05E-46D8-FB3B7A3B3178}"/>
              </a:ext>
            </a:extLst>
          </p:cNvPr>
          <p:cNvPicPr>
            <a:picLocks noChangeAspect="1"/>
          </p:cNvPicPr>
          <p:nvPr/>
        </p:nvPicPr>
        <p:blipFill>
          <a:blip r:embed="rId4"/>
          <a:srcRect/>
          <a:stretch/>
        </p:blipFill>
        <p:spPr>
          <a:xfrm>
            <a:off x="447769" y="1383991"/>
            <a:ext cx="4323013" cy="4639333"/>
          </a:xfrm>
          <a:prstGeom prst="rect">
            <a:avLst/>
          </a:prstGeom>
        </p:spPr>
      </p:pic>
      <p:sp>
        <p:nvSpPr>
          <p:cNvPr id="1199" name="Google Shape;1199;p156">
            <a:extLst>
              <a:ext uri="{FF2B5EF4-FFF2-40B4-BE49-F238E27FC236}">
                <a16:creationId xmlns:a16="http://schemas.microsoft.com/office/drawing/2014/main" id="{57A67043-977D-334F-478C-52B2D3677DE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Workflow</a:t>
            </a:r>
            <a:endParaRPr dirty="0"/>
          </a:p>
        </p:txBody>
      </p:sp>
      <p:pic>
        <p:nvPicPr>
          <p:cNvPr id="3" name="Picture 2">
            <a:extLst>
              <a:ext uri="{FF2B5EF4-FFF2-40B4-BE49-F238E27FC236}">
                <a16:creationId xmlns:a16="http://schemas.microsoft.com/office/drawing/2014/main" id="{DE71F096-A5B4-7C29-AE13-2EA21927DFF0}"/>
              </a:ext>
            </a:extLst>
          </p:cNvPr>
          <p:cNvPicPr>
            <a:picLocks noChangeAspect="1"/>
          </p:cNvPicPr>
          <p:nvPr/>
        </p:nvPicPr>
        <p:blipFill>
          <a:blip r:embed="rId3">
            <a:alphaModFix amt="10000"/>
          </a:blip>
          <a:srcRect/>
          <a:stretch/>
        </p:blipFill>
        <p:spPr>
          <a:xfrm>
            <a:off x="447769" y="1388234"/>
            <a:ext cx="11271697" cy="4635090"/>
          </a:xfrm>
          <a:prstGeom prst="rect">
            <a:avLst/>
          </a:prstGeom>
        </p:spPr>
      </p:pic>
    </p:spTree>
    <p:extLst>
      <p:ext uri="{BB962C8B-B14F-4D97-AF65-F5344CB8AC3E}">
        <p14:creationId xmlns:p14="http://schemas.microsoft.com/office/powerpoint/2010/main" val="61470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606434" y="1057266"/>
            <a:ext cx="4975955" cy="534005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Candidate Ranking Activity</a:t>
            </a:r>
            <a:endParaRPr dirty="0"/>
          </a:p>
        </p:txBody>
      </p:sp>
      <p:sp>
        <p:nvSpPr>
          <p:cNvPr id="2" name="TextBox 1">
            <a:extLst>
              <a:ext uri="{FF2B5EF4-FFF2-40B4-BE49-F238E27FC236}">
                <a16:creationId xmlns:a16="http://schemas.microsoft.com/office/drawing/2014/main" id="{1A7A2D90-4A8C-051B-7B14-022C90015EE1}"/>
              </a:ext>
            </a:extLst>
          </p:cNvPr>
          <p:cNvSpPr txBox="1"/>
          <p:nvPr/>
        </p:nvSpPr>
        <p:spPr>
          <a:xfrm>
            <a:off x="455618" y="2875002"/>
            <a:ext cx="2220801"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t>Likelihood</a:t>
            </a:r>
          </a:p>
          <a:p>
            <a:pPr marL="236538" indent="-236538">
              <a:spcAft>
                <a:spcPts val="1200"/>
              </a:spcAft>
              <a:buFont typeface="Arial" panose="020B0604020202020204" pitchFamily="34" charset="0"/>
              <a:buChar char="•"/>
            </a:pPr>
            <a:r>
              <a:rPr lang="en-US" sz="2800" dirty="0"/>
              <a:t>Worst case</a:t>
            </a:r>
          </a:p>
        </p:txBody>
      </p:sp>
    </p:spTree>
    <p:extLst>
      <p:ext uri="{BB962C8B-B14F-4D97-AF65-F5344CB8AC3E}">
        <p14:creationId xmlns:p14="http://schemas.microsoft.com/office/powerpoint/2010/main" val="3534932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Likelihood Rubrics</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741269"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b="1" dirty="0">
                <a:solidFill>
                  <a:srgbClr val="0070C0"/>
                </a:solidFill>
              </a:rPr>
              <a:t>C</a:t>
            </a:r>
            <a:r>
              <a:rPr lang="en-US" sz="2800" dirty="0"/>
              <a:t>ommon </a:t>
            </a:r>
            <a:r>
              <a:rPr lang="en-US" sz="2800" b="1" dirty="0">
                <a:solidFill>
                  <a:srgbClr val="0070C0"/>
                </a:solidFill>
              </a:rPr>
              <a:t>V</a:t>
            </a:r>
            <a:r>
              <a:rPr lang="en-US" sz="2800" dirty="0"/>
              <a:t>ulnerability </a:t>
            </a:r>
            <a:r>
              <a:rPr lang="en-US" sz="2800" b="1" dirty="0">
                <a:solidFill>
                  <a:srgbClr val="0070C0"/>
                </a:solidFill>
              </a:rPr>
              <a:t>S</a:t>
            </a:r>
            <a:r>
              <a:rPr lang="en-US" sz="2800" dirty="0"/>
              <a:t>coring </a:t>
            </a:r>
            <a:r>
              <a:rPr lang="en-US" sz="2800" b="1" dirty="0">
                <a:solidFill>
                  <a:srgbClr val="0070C0"/>
                </a:solidFill>
              </a:rPr>
              <a:t>S</a:t>
            </a:r>
            <a:r>
              <a:rPr lang="en-US" sz="2800" dirty="0"/>
              <a:t>ystem</a:t>
            </a:r>
            <a:endParaRPr lang="en-US" sz="2800" dirty="0">
              <a:solidFill>
                <a:srgbClr val="0070C0"/>
              </a:solidFill>
            </a:endParaRPr>
          </a:p>
          <a:p>
            <a:pPr marL="236538" indent="-236538">
              <a:spcAft>
                <a:spcPts val="1200"/>
              </a:spcAft>
              <a:buFont typeface="Arial" panose="020B0604020202020204" pitchFamily="34" charset="0"/>
              <a:buChar char="•"/>
            </a:pPr>
            <a:r>
              <a:rPr lang="en-US" sz="2800" b="1" dirty="0">
                <a:solidFill>
                  <a:srgbClr val="0070C0"/>
                </a:solidFill>
              </a:rPr>
              <a:t>C</a:t>
            </a:r>
            <a:r>
              <a:rPr lang="en-US" sz="2800" dirty="0"/>
              <a:t>ommon </a:t>
            </a:r>
            <a:r>
              <a:rPr lang="en-US" sz="2800" b="1" dirty="0">
                <a:solidFill>
                  <a:srgbClr val="0070C0"/>
                </a:solidFill>
              </a:rPr>
              <a:t>C</a:t>
            </a:r>
            <a:r>
              <a:rPr lang="en-US" sz="2800" dirty="0"/>
              <a:t>onfiguration </a:t>
            </a:r>
            <a:r>
              <a:rPr lang="en-US" sz="2800" b="1" dirty="0">
                <a:solidFill>
                  <a:srgbClr val="0070C0"/>
                </a:solidFill>
              </a:rPr>
              <a:t>S</a:t>
            </a:r>
            <a:r>
              <a:rPr lang="en-US" sz="2800" dirty="0"/>
              <a:t>coring </a:t>
            </a:r>
            <a:r>
              <a:rPr lang="en-US" sz="2800" b="1" dirty="0">
                <a:solidFill>
                  <a:srgbClr val="0070C0"/>
                </a:solidFill>
              </a:rPr>
              <a:t>S</a:t>
            </a:r>
            <a:r>
              <a:rPr lang="en-US" sz="2800" dirty="0"/>
              <a:t>ystem</a:t>
            </a:r>
          </a:p>
          <a:p>
            <a:pPr marL="236538" indent="-236538">
              <a:spcAft>
                <a:spcPts val="1200"/>
              </a:spcAft>
              <a:buFont typeface="Arial" panose="020B0604020202020204" pitchFamily="34" charset="0"/>
              <a:buChar char="•"/>
            </a:pPr>
            <a:r>
              <a:rPr lang="en-US" sz="2800" b="1" dirty="0">
                <a:solidFill>
                  <a:srgbClr val="0070C0"/>
                </a:solidFill>
              </a:rPr>
              <a:t>C</a:t>
            </a:r>
            <a:r>
              <a:rPr lang="en-US" sz="2800" dirty="0"/>
              <a:t>ommon </a:t>
            </a:r>
            <a:r>
              <a:rPr lang="en-US" sz="2800" b="1" dirty="0">
                <a:solidFill>
                  <a:srgbClr val="0070C0"/>
                </a:solidFill>
              </a:rPr>
              <a:t>M</a:t>
            </a:r>
            <a:r>
              <a:rPr lang="en-US" sz="2800" dirty="0"/>
              <a:t>isuse </a:t>
            </a:r>
            <a:r>
              <a:rPr lang="en-US" sz="2800" b="1" dirty="0">
                <a:solidFill>
                  <a:srgbClr val="0070C0"/>
                </a:solidFill>
              </a:rPr>
              <a:t>S</a:t>
            </a:r>
            <a:r>
              <a:rPr lang="en-US" sz="2800" dirty="0"/>
              <a:t>coring </a:t>
            </a:r>
            <a:r>
              <a:rPr lang="en-US" sz="2800" b="1" dirty="0">
                <a:solidFill>
                  <a:srgbClr val="0070C0"/>
                </a:solidFill>
              </a:rPr>
              <a:t>S</a:t>
            </a:r>
            <a:r>
              <a:rPr lang="en-US" sz="2800" dirty="0"/>
              <a:t>ystem</a:t>
            </a:r>
          </a:p>
          <a:p>
            <a:pPr marL="236538" indent="-236538">
              <a:spcAft>
                <a:spcPts val="1200"/>
              </a:spcAft>
              <a:buFont typeface="Arial" panose="020B0604020202020204" pitchFamily="34" charset="0"/>
              <a:buChar char="•"/>
            </a:pPr>
            <a:r>
              <a:rPr lang="en-US" sz="2800" dirty="0"/>
              <a:t>NIST SP 800-30 Tables G-2 through 5</a:t>
            </a:r>
          </a:p>
        </p:txBody>
      </p:sp>
    </p:spTree>
    <p:extLst>
      <p:ext uri="{BB962C8B-B14F-4D97-AF65-F5344CB8AC3E}">
        <p14:creationId xmlns:p14="http://schemas.microsoft.com/office/powerpoint/2010/main" val="1358122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4EC3A0C-B348-8A04-AC09-4DC7CF88606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4BE3AC2-AEDB-D014-F25B-41589AB0A4B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Likelihood Quantization</a:t>
            </a:r>
            <a:endParaRPr dirty="0"/>
          </a:p>
        </p:txBody>
      </p:sp>
      <p:pic>
        <p:nvPicPr>
          <p:cNvPr id="5" name="Picture 4">
            <a:extLst>
              <a:ext uri="{FF2B5EF4-FFF2-40B4-BE49-F238E27FC236}">
                <a16:creationId xmlns:a16="http://schemas.microsoft.com/office/drawing/2014/main" id="{F511698B-AB78-0998-1515-5F8518526947}"/>
              </a:ext>
            </a:extLst>
          </p:cNvPr>
          <p:cNvPicPr>
            <a:picLocks noChangeAspect="1"/>
          </p:cNvPicPr>
          <p:nvPr/>
        </p:nvPicPr>
        <p:blipFill>
          <a:blip r:embed="rId3"/>
          <a:stretch>
            <a:fillRect/>
          </a:stretch>
        </p:blipFill>
        <p:spPr>
          <a:xfrm>
            <a:off x="455495" y="1767925"/>
            <a:ext cx="11277833" cy="1661075"/>
          </a:xfrm>
          <a:prstGeom prst="rect">
            <a:avLst/>
          </a:prstGeom>
        </p:spPr>
      </p:pic>
      <p:pic>
        <p:nvPicPr>
          <p:cNvPr id="6" name="Picture 5">
            <a:extLst>
              <a:ext uri="{FF2B5EF4-FFF2-40B4-BE49-F238E27FC236}">
                <a16:creationId xmlns:a16="http://schemas.microsoft.com/office/drawing/2014/main" id="{F6288ECE-35DA-7707-B3B5-606AFFD14229}"/>
              </a:ext>
            </a:extLst>
          </p:cNvPr>
          <p:cNvPicPr>
            <a:picLocks noChangeAspect="1"/>
          </p:cNvPicPr>
          <p:nvPr/>
        </p:nvPicPr>
        <p:blipFill>
          <a:blip r:embed="rId4"/>
          <a:stretch>
            <a:fillRect/>
          </a:stretch>
        </p:blipFill>
        <p:spPr>
          <a:xfrm>
            <a:off x="455495" y="4012324"/>
            <a:ext cx="11277833" cy="1672004"/>
          </a:xfrm>
          <a:prstGeom prst="rect">
            <a:avLst/>
          </a:prstGeom>
        </p:spPr>
      </p:pic>
    </p:spTree>
    <p:extLst>
      <p:ext uri="{BB962C8B-B14F-4D97-AF65-F5344CB8AC3E}">
        <p14:creationId xmlns:p14="http://schemas.microsoft.com/office/powerpoint/2010/main" val="43862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800-30 Likelihood Descriptions</a:t>
            </a:r>
            <a:endParaRPr dirty="0"/>
          </a:p>
        </p:txBody>
      </p:sp>
      <p:pic>
        <p:nvPicPr>
          <p:cNvPr id="6" name="Picture 5">
            <a:extLst>
              <a:ext uri="{FF2B5EF4-FFF2-40B4-BE49-F238E27FC236}">
                <a16:creationId xmlns:a16="http://schemas.microsoft.com/office/drawing/2014/main" id="{6D164E34-7DAB-F738-868B-022781194762}"/>
              </a:ext>
            </a:extLst>
          </p:cNvPr>
          <p:cNvPicPr>
            <a:picLocks noChangeAspect="1"/>
          </p:cNvPicPr>
          <p:nvPr/>
        </p:nvPicPr>
        <p:blipFill>
          <a:blip r:embed="rId3"/>
          <a:stretch>
            <a:fillRect/>
          </a:stretch>
        </p:blipFill>
        <p:spPr>
          <a:xfrm>
            <a:off x="2208211" y="1800342"/>
            <a:ext cx="7772400" cy="3257313"/>
          </a:xfrm>
          <a:prstGeom prst="rect">
            <a:avLst/>
          </a:prstGeom>
        </p:spPr>
      </p:pic>
      <p:sp>
        <p:nvSpPr>
          <p:cNvPr id="7" name="Rectangle 6">
            <a:extLst>
              <a:ext uri="{FF2B5EF4-FFF2-40B4-BE49-F238E27FC236}">
                <a16:creationId xmlns:a16="http://schemas.microsoft.com/office/drawing/2014/main" id="{03A1D774-A08E-9590-A3AF-32DBE43761A7}"/>
              </a:ext>
            </a:extLst>
          </p:cNvPr>
          <p:cNvSpPr/>
          <p:nvPr/>
        </p:nvSpPr>
        <p:spPr>
          <a:xfrm>
            <a:off x="1866275" y="1424065"/>
            <a:ext cx="1633928" cy="8994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6901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0D36A1-E863-C149-7F97-E9932D4898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D9DDAD-FD30-EC97-CE6C-E93AC4CFE470}"/>
              </a:ext>
            </a:extLst>
          </p:cNvPr>
          <p:cNvPicPr>
            <a:picLocks noChangeAspect="1"/>
          </p:cNvPicPr>
          <p:nvPr/>
        </p:nvPicPr>
        <p:blipFill>
          <a:blip r:embed="rId3"/>
          <a:srcRect/>
          <a:stretch/>
        </p:blipFill>
        <p:spPr>
          <a:xfrm>
            <a:off x="2208211" y="1684173"/>
            <a:ext cx="7772400" cy="3489648"/>
          </a:xfrm>
          <a:prstGeom prst="rect">
            <a:avLst/>
          </a:prstGeom>
        </p:spPr>
      </p:pic>
      <p:sp>
        <p:nvSpPr>
          <p:cNvPr id="1199" name="Google Shape;1199;p156">
            <a:extLst>
              <a:ext uri="{FF2B5EF4-FFF2-40B4-BE49-F238E27FC236}">
                <a16:creationId xmlns:a16="http://schemas.microsoft.com/office/drawing/2014/main" id="{88522575-C114-5597-8A04-91C4D2CE6E6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800-30 Overall Likelihood</a:t>
            </a:r>
            <a:endParaRPr dirty="0"/>
          </a:p>
        </p:txBody>
      </p:sp>
      <p:sp>
        <p:nvSpPr>
          <p:cNvPr id="4" name="Rectangle 3">
            <a:extLst>
              <a:ext uri="{FF2B5EF4-FFF2-40B4-BE49-F238E27FC236}">
                <a16:creationId xmlns:a16="http://schemas.microsoft.com/office/drawing/2014/main" id="{105E9A5A-B5ED-A369-C100-EF60B176E0E1}"/>
              </a:ext>
            </a:extLst>
          </p:cNvPr>
          <p:cNvSpPr/>
          <p:nvPr/>
        </p:nvSpPr>
        <p:spPr>
          <a:xfrm>
            <a:off x="2528047" y="1913324"/>
            <a:ext cx="1467650" cy="7530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993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5B88358-72C7-8AD8-7247-865B380ED04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E91CF19-B022-0824-E4EF-E74F7564FF18}"/>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489101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47EDBC1-AB5D-9258-0391-A692B240254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8AC02860-4F3E-99A0-F62F-A6D75788050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 Documents</a:t>
            </a:r>
            <a:endParaRPr dirty="0"/>
          </a:p>
        </p:txBody>
      </p:sp>
      <p:pic>
        <p:nvPicPr>
          <p:cNvPr id="4" name="Picture 3">
            <a:extLst>
              <a:ext uri="{FF2B5EF4-FFF2-40B4-BE49-F238E27FC236}">
                <a16:creationId xmlns:a16="http://schemas.microsoft.com/office/drawing/2014/main" id="{3FDF697C-F670-6F2F-028D-323E096F75FA}"/>
              </a:ext>
            </a:extLst>
          </p:cNvPr>
          <p:cNvPicPr>
            <a:picLocks noChangeAspect="1"/>
          </p:cNvPicPr>
          <p:nvPr/>
        </p:nvPicPr>
        <p:blipFill>
          <a:blip r:embed="rId3"/>
          <a:stretch>
            <a:fillRect/>
          </a:stretch>
        </p:blipFill>
        <p:spPr>
          <a:xfrm>
            <a:off x="2208210" y="1875295"/>
            <a:ext cx="7772400" cy="1371599"/>
          </a:xfrm>
          <a:prstGeom prst="rect">
            <a:avLst/>
          </a:prstGeom>
        </p:spPr>
      </p:pic>
      <p:pic>
        <p:nvPicPr>
          <p:cNvPr id="6" name="Picture 5">
            <a:extLst>
              <a:ext uri="{FF2B5EF4-FFF2-40B4-BE49-F238E27FC236}">
                <a16:creationId xmlns:a16="http://schemas.microsoft.com/office/drawing/2014/main" id="{9CFC6963-3AA1-B993-C4F3-3047842303F6}"/>
              </a:ext>
            </a:extLst>
          </p:cNvPr>
          <p:cNvPicPr>
            <a:picLocks noChangeAspect="1"/>
          </p:cNvPicPr>
          <p:nvPr/>
        </p:nvPicPr>
        <p:blipFill>
          <a:blip r:embed="rId4"/>
          <a:stretch>
            <a:fillRect/>
          </a:stretch>
        </p:blipFill>
        <p:spPr>
          <a:xfrm>
            <a:off x="1943903" y="4137106"/>
            <a:ext cx="8301015" cy="1209487"/>
          </a:xfrm>
          <a:prstGeom prst="rect">
            <a:avLst/>
          </a:prstGeom>
        </p:spPr>
      </p:pic>
      <p:sp>
        <p:nvSpPr>
          <p:cNvPr id="9" name="Google Shape;1199;p156">
            <a:extLst>
              <a:ext uri="{FF2B5EF4-FFF2-40B4-BE49-F238E27FC236}">
                <a16:creationId xmlns:a16="http://schemas.microsoft.com/office/drawing/2014/main" id="{382FB2DB-58F8-58B4-45B3-11EE1038D420}"/>
              </a:ext>
            </a:extLst>
          </p:cNvPr>
          <p:cNvSpPr txBox="1">
            <a:spLocks/>
          </p:cNvSpPr>
          <p:nvPr/>
        </p:nvSpPr>
        <p:spPr>
          <a:xfrm rot="16200000">
            <a:off x="1290021" y="2328705"/>
            <a:ext cx="1371599"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CVSS</a:t>
            </a:r>
          </a:p>
        </p:txBody>
      </p:sp>
      <p:sp>
        <p:nvSpPr>
          <p:cNvPr id="10" name="Google Shape;1199;p156">
            <a:extLst>
              <a:ext uri="{FF2B5EF4-FFF2-40B4-BE49-F238E27FC236}">
                <a16:creationId xmlns:a16="http://schemas.microsoft.com/office/drawing/2014/main" id="{60142E4B-FCC1-EFB6-94CB-F4C3C5107427}"/>
              </a:ext>
            </a:extLst>
          </p:cNvPr>
          <p:cNvSpPr txBox="1">
            <a:spLocks/>
          </p:cNvSpPr>
          <p:nvPr/>
        </p:nvSpPr>
        <p:spPr>
          <a:xfrm rot="16200000">
            <a:off x="1138687" y="4509460"/>
            <a:ext cx="1209487"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800-30</a:t>
            </a:r>
          </a:p>
        </p:txBody>
      </p:sp>
    </p:spTree>
    <p:extLst>
      <p:ext uri="{BB962C8B-B14F-4D97-AF65-F5344CB8AC3E}">
        <p14:creationId xmlns:p14="http://schemas.microsoft.com/office/powerpoint/2010/main" val="138558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032475E-2069-88B9-B460-6CFE896407E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1A8BAB41-A7AE-E0DF-2C22-36F85AF15C4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CVSS Quantization Mapping</a:t>
            </a:r>
            <a:endParaRPr dirty="0"/>
          </a:p>
        </p:txBody>
      </p:sp>
      <p:pic>
        <p:nvPicPr>
          <p:cNvPr id="4" name="Picture 3">
            <a:extLst>
              <a:ext uri="{FF2B5EF4-FFF2-40B4-BE49-F238E27FC236}">
                <a16:creationId xmlns:a16="http://schemas.microsoft.com/office/drawing/2014/main" id="{4C2CAF42-C7FF-65B9-075F-EABD2BDD1235}"/>
              </a:ext>
            </a:extLst>
          </p:cNvPr>
          <p:cNvPicPr>
            <a:picLocks noChangeAspect="1"/>
          </p:cNvPicPr>
          <p:nvPr/>
        </p:nvPicPr>
        <p:blipFill>
          <a:blip r:embed="rId3"/>
          <a:stretch>
            <a:fillRect/>
          </a:stretch>
        </p:blipFill>
        <p:spPr>
          <a:xfrm>
            <a:off x="960045" y="3897006"/>
            <a:ext cx="4543671" cy="1674720"/>
          </a:xfrm>
          <a:prstGeom prst="rect">
            <a:avLst/>
          </a:prstGeom>
        </p:spPr>
      </p:pic>
      <p:pic>
        <p:nvPicPr>
          <p:cNvPr id="6" name="Picture 5">
            <a:extLst>
              <a:ext uri="{FF2B5EF4-FFF2-40B4-BE49-F238E27FC236}">
                <a16:creationId xmlns:a16="http://schemas.microsoft.com/office/drawing/2014/main" id="{8E2ECD96-78D2-38C7-8158-D2E867D8A3D5}"/>
              </a:ext>
            </a:extLst>
          </p:cNvPr>
          <p:cNvPicPr>
            <a:picLocks noChangeAspect="1"/>
          </p:cNvPicPr>
          <p:nvPr/>
        </p:nvPicPr>
        <p:blipFill>
          <a:blip r:embed="rId4"/>
          <a:stretch>
            <a:fillRect/>
          </a:stretch>
        </p:blipFill>
        <p:spPr>
          <a:xfrm>
            <a:off x="6685110" y="3875753"/>
            <a:ext cx="4648841" cy="1717225"/>
          </a:xfrm>
          <a:prstGeom prst="rect">
            <a:avLst/>
          </a:prstGeom>
        </p:spPr>
      </p:pic>
      <p:pic>
        <p:nvPicPr>
          <p:cNvPr id="11" name="Picture 10">
            <a:extLst>
              <a:ext uri="{FF2B5EF4-FFF2-40B4-BE49-F238E27FC236}">
                <a16:creationId xmlns:a16="http://schemas.microsoft.com/office/drawing/2014/main" id="{0FDD1080-7C78-2294-927B-C89BB60B48FC}"/>
              </a:ext>
            </a:extLst>
          </p:cNvPr>
          <p:cNvPicPr>
            <a:picLocks noChangeAspect="1"/>
          </p:cNvPicPr>
          <p:nvPr/>
        </p:nvPicPr>
        <p:blipFill>
          <a:blip r:embed="rId5"/>
          <a:stretch>
            <a:fillRect/>
          </a:stretch>
        </p:blipFill>
        <p:spPr>
          <a:xfrm>
            <a:off x="1469996" y="1598764"/>
            <a:ext cx="9248831" cy="1362230"/>
          </a:xfrm>
          <a:prstGeom prst="rect">
            <a:avLst/>
          </a:prstGeom>
        </p:spPr>
      </p:pic>
    </p:spTree>
    <p:extLst>
      <p:ext uri="{BB962C8B-B14F-4D97-AF65-F5344CB8AC3E}">
        <p14:creationId xmlns:p14="http://schemas.microsoft.com/office/powerpoint/2010/main" val="1208055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0F31202-B95B-964F-89F0-C2440F27A531}"/>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AFC7DA76-8D58-5797-F69B-8AA3CDCA32A2}"/>
              </a:ext>
            </a:extLst>
          </p:cNvPr>
          <p:cNvPicPr>
            <a:picLocks noChangeAspect="1"/>
          </p:cNvPicPr>
          <p:nvPr/>
        </p:nvPicPr>
        <p:blipFill>
          <a:blip r:embed="rId3"/>
          <a:stretch>
            <a:fillRect/>
          </a:stretch>
        </p:blipFill>
        <p:spPr>
          <a:xfrm>
            <a:off x="2484110" y="1346247"/>
            <a:ext cx="7220602" cy="3304589"/>
          </a:xfrm>
          <a:prstGeom prst="rect">
            <a:avLst/>
          </a:prstGeom>
        </p:spPr>
      </p:pic>
      <p:sp>
        <p:nvSpPr>
          <p:cNvPr id="1199" name="Google Shape;1199;p156">
            <a:extLst>
              <a:ext uri="{FF2B5EF4-FFF2-40B4-BE49-F238E27FC236}">
                <a16:creationId xmlns:a16="http://schemas.microsoft.com/office/drawing/2014/main" id="{023FAD92-EF71-6452-21BC-D60AC338461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CVSS Quantization Mapping Sample</a:t>
            </a:r>
            <a:endParaRPr dirty="0"/>
          </a:p>
        </p:txBody>
      </p:sp>
    </p:spTree>
    <p:extLst>
      <p:ext uri="{BB962C8B-B14F-4D97-AF65-F5344CB8AC3E}">
        <p14:creationId xmlns:p14="http://schemas.microsoft.com/office/powerpoint/2010/main" val="2326674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9A67477-046A-A967-E6BA-53598522B17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A3F653D-2723-864B-17AC-7CB6EDE62655}"/>
              </a:ext>
            </a:extLst>
          </p:cNvPr>
          <p:cNvPicPr>
            <a:picLocks noChangeAspect="1"/>
          </p:cNvPicPr>
          <p:nvPr/>
        </p:nvPicPr>
        <p:blipFill>
          <a:blip r:embed="rId3"/>
          <a:srcRect t="-3" b="33316"/>
          <a:stretch>
            <a:fillRect/>
          </a:stretch>
        </p:blipFill>
        <p:spPr>
          <a:xfrm>
            <a:off x="1469996" y="1601923"/>
            <a:ext cx="9248831" cy="914400"/>
          </a:xfrm>
          <a:prstGeom prst="rect">
            <a:avLst/>
          </a:prstGeom>
        </p:spPr>
      </p:pic>
      <p:sp>
        <p:nvSpPr>
          <p:cNvPr id="1199" name="Google Shape;1199;p156">
            <a:extLst>
              <a:ext uri="{FF2B5EF4-FFF2-40B4-BE49-F238E27FC236}">
                <a16:creationId xmlns:a16="http://schemas.microsoft.com/office/drawing/2014/main" id="{9F7921E3-9511-FE4F-F818-AC22E85F750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800-30 Quantization Mapping</a:t>
            </a:r>
            <a:endParaRPr dirty="0"/>
          </a:p>
        </p:txBody>
      </p:sp>
      <p:pic>
        <p:nvPicPr>
          <p:cNvPr id="5" name="Picture 4">
            <a:extLst>
              <a:ext uri="{FF2B5EF4-FFF2-40B4-BE49-F238E27FC236}">
                <a16:creationId xmlns:a16="http://schemas.microsoft.com/office/drawing/2014/main" id="{E7B6EC71-45A4-F8A3-C8AC-5E19E9A88168}"/>
              </a:ext>
            </a:extLst>
          </p:cNvPr>
          <p:cNvPicPr>
            <a:picLocks noChangeAspect="1"/>
          </p:cNvPicPr>
          <p:nvPr/>
        </p:nvPicPr>
        <p:blipFill>
          <a:blip r:embed="rId4"/>
          <a:stretch>
            <a:fillRect/>
          </a:stretch>
        </p:blipFill>
        <p:spPr>
          <a:xfrm>
            <a:off x="3154615" y="3897006"/>
            <a:ext cx="5879592" cy="1964464"/>
          </a:xfrm>
          <a:prstGeom prst="rect">
            <a:avLst/>
          </a:prstGeom>
        </p:spPr>
      </p:pic>
    </p:spTree>
    <p:extLst>
      <p:ext uri="{BB962C8B-B14F-4D97-AF65-F5344CB8AC3E}">
        <p14:creationId xmlns:p14="http://schemas.microsoft.com/office/powerpoint/2010/main" val="453275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3CE47EE-7D00-3118-4F71-5BB587F17829}"/>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7DAE695-A520-032C-B14E-51EE009D115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800-30 Quantization Mapping Sample</a:t>
            </a:r>
            <a:endParaRPr dirty="0"/>
          </a:p>
        </p:txBody>
      </p:sp>
      <p:pic>
        <p:nvPicPr>
          <p:cNvPr id="3" name="Picture 2">
            <a:extLst>
              <a:ext uri="{FF2B5EF4-FFF2-40B4-BE49-F238E27FC236}">
                <a16:creationId xmlns:a16="http://schemas.microsoft.com/office/drawing/2014/main" id="{79F0BFB8-3702-38F5-BBD2-878E4C79ABB0}"/>
              </a:ext>
            </a:extLst>
          </p:cNvPr>
          <p:cNvPicPr>
            <a:picLocks noChangeAspect="1"/>
          </p:cNvPicPr>
          <p:nvPr/>
        </p:nvPicPr>
        <p:blipFill>
          <a:blip r:embed="rId3"/>
          <a:srcRect/>
          <a:stretch/>
        </p:blipFill>
        <p:spPr>
          <a:xfrm>
            <a:off x="2560255" y="1352108"/>
            <a:ext cx="7068312" cy="3937483"/>
          </a:xfrm>
          <a:prstGeom prst="rect">
            <a:avLst/>
          </a:prstGeom>
        </p:spPr>
      </p:pic>
    </p:spTree>
    <p:extLst>
      <p:ext uri="{BB962C8B-B14F-4D97-AF65-F5344CB8AC3E}">
        <p14:creationId xmlns:p14="http://schemas.microsoft.com/office/powerpoint/2010/main" val="3603764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1073312-CCC7-8825-200E-53B4769A504A}"/>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D73AC36-28E0-C82C-7831-5942F33C88A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800-30 Quantization Mapping Sample </a:t>
            </a:r>
            <a:r>
              <a:rPr lang="en" dirty="0">
                <a:solidFill>
                  <a:srgbClr val="FF0000"/>
                </a:solidFill>
              </a:rPr>
              <a:t>(Overlay)</a:t>
            </a:r>
            <a:endParaRPr dirty="0">
              <a:solidFill>
                <a:srgbClr val="FF0000"/>
              </a:solidFill>
            </a:endParaRPr>
          </a:p>
        </p:txBody>
      </p:sp>
      <p:pic>
        <p:nvPicPr>
          <p:cNvPr id="6" name="Picture 5">
            <a:extLst>
              <a:ext uri="{FF2B5EF4-FFF2-40B4-BE49-F238E27FC236}">
                <a16:creationId xmlns:a16="http://schemas.microsoft.com/office/drawing/2014/main" id="{55BB5C74-1260-DC90-BA2F-70794C342DB3}"/>
              </a:ext>
            </a:extLst>
          </p:cNvPr>
          <p:cNvPicPr>
            <a:picLocks noChangeAspect="1"/>
          </p:cNvPicPr>
          <p:nvPr/>
        </p:nvPicPr>
        <p:blipFill>
          <a:blip r:embed="rId3"/>
          <a:srcRect/>
          <a:stretch/>
        </p:blipFill>
        <p:spPr>
          <a:xfrm>
            <a:off x="348042" y="4011513"/>
            <a:ext cx="5313835" cy="2385803"/>
          </a:xfrm>
          <a:prstGeom prst="rect">
            <a:avLst/>
          </a:prstGeom>
        </p:spPr>
      </p:pic>
    </p:spTree>
    <p:extLst>
      <p:ext uri="{BB962C8B-B14F-4D97-AF65-F5344CB8AC3E}">
        <p14:creationId xmlns:p14="http://schemas.microsoft.com/office/powerpoint/2010/main" val="1934281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D55EA73-628B-F214-F206-D771D407D4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A4B752-29BC-5B6B-201C-24017C8637F6}"/>
              </a:ext>
            </a:extLst>
          </p:cNvPr>
          <p:cNvPicPr>
            <a:picLocks noChangeAspect="1"/>
          </p:cNvPicPr>
          <p:nvPr/>
        </p:nvPicPr>
        <p:blipFill>
          <a:blip r:embed="rId3"/>
          <a:stretch>
            <a:fillRect/>
          </a:stretch>
        </p:blipFill>
        <p:spPr>
          <a:xfrm>
            <a:off x="4411456" y="575436"/>
            <a:ext cx="7101377" cy="5707127"/>
          </a:xfrm>
          <a:prstGeom prst="rect">
            <a:avLst/>
          </a:prstGeom>
        </p:spPr>
      </p:pic>
      <p:sp>
        <p:nvSpPr>
          <p:cNvPr id="1199" name="Google Shape;1199;p156">
            <a:extLst>
              <a:ext uri="{FF2B5EF4-FFF2-40B4-BE49-F238E27FC236}">
                <a16:creationId xmlns:a16="http://schemas.microsoft.com/office/drawing/2014/main" id="{523B1EBF-80BD-295B-0703-4CE7434B791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System</a:t>
            </a:r>
            <a:endParaRPr dirty="0"/>
          </a:p>
        </p:txBody>
      </p:sp>
    </p:spTree>
    <p:extLst>
      <p:ext uri="{BB962C8B-B14F-4D97-AF65-F5344CB8AC3E}">
        <p14:creationId xmlns:p14="http://schemas.microsoft.com/office/powerpoint/2010/main" val="551923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AA20FA8-A30F-7F69-A4D5-3767F9BE1D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23A384-25E4-C6FF-5ABF-E43AFEE84D87}"/>
              </a:ext>
            </a:extLst>
          </p:cNvPr>
          <p:cNvPicPr>
            <a:picLocks noChangeAspect="1"/>
          </p:cNvPicPr>
          <p:nvPr/>
        </p:nvPicPr>
        <p:blipFill>
          <a:blip r:embed="rId3"/>
          <a:stretch>
            <a:fillRect/>
          </a:stretch>
        </p:blipFill>
        <p:spPr>
          <a:xfrm>
            <a:off x="4504892" y="125576"/>
            <a:ext cx="6761691" cy="6156987"/>
          </a:xfrm>
          <a:prstGeom prst="rect">
            <a:avLst/>
          </a:prstGeom>
        </p:spPr>
      </p:pic>
      <p:sp>
        <p:nvSpPr>
          <p:cNvPr id="1199" name="Google Shape;1199;p156">
            <a:extLst>
              <a:ext uri="{FF2B5EF4-FFF2-40B4-BE49-F238E27FC236}">
                <a16:creationId xmlns:a16="http://schemas.microsoft.com/office/drawing/2014/main" id="{8C2C1E4F-DEFF-F5AF-2F5F-7F540AEC1D2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1 DFD</a:t>
            </a:r>
            <a:endParaRPr dirty="0"/>
          </a:p>
        </p:txBody>
      </p:sp>
    </p:spTree>
    <p:extLst>
      <p:ext uri="{BB962C8B-B14F-4D97-AF65-F5344CB8AC3E}">
        <p14:creationId xmlns:p14="http://schemas.microsoft.com/office/powerpoint/2010/main" val="257145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93FEC1-C25F-261A-B547-F68AEF82DAA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75A9E4B-15A4-82BA-A107-BD8D79BF716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Triage Information</a:t>
            </a:r>
            <a:endParaRPr dirty="0"/>
          </a:p>
        </p:txBody>
      </p:sp>
      <p:pic>
        <p:nvPicPr>
          <p:cNvPr id="7" name="Picture 6">
            <a:extLst>
              <a:ext uri="{FF2B5EF4-FFF2-40B4-BE49-F238E27FC236}">
                <a16:creationId xmlns:a16="http://schemas.microsoft.com/office/drawing/2014/main" id="{4D975143-73CA-F1C3-891B-EE38F2A64DF2}"/>
              </a:ext>
            </a:extLst>
          </p:cNvPr>
          <p:cNvPicPr>
            <a:picLocks noChangeAspect="1"/>
          </p:cNvPicPr>
          <p:nvPr/>
        </p:nvPicPr>
        <p:blipFill>
          <a:blip r:embed="rId3"/>
          <a:srcRect/>
          <a:stretch/>
        </p:blipFill>
        <p:spPr>
          <a:xfrm>
            <a:off x="455618" y="4095875"/>
            <a:ext cx="7291776" cy="2349437"/>
          </a:xfrm>
          <a:prstGeom prst="rect">
            <a:avLst/>
          </a:prstGeom>
        </p:spPr>
      </p:pic>
      <p:grpSp>
        <p:nvGrpSpPr>
          <p:cNvPr id="8" name="Group 7">
            <a:extLst>
              <a:ext uri="{FF2B5EF4-FFF2-40B4-BE49-F238E27FC236}">
                <a16:creationId xmlns:a16="http://schemas.microsoft.com/office/drawing/2014/main" id="{57831BA8-AF48-DD1B-B535-D051BC89BB2D}"/>
              </a:ext>
            </a:extLst>
          </p:cNvPr>
          <p:cNvGrpSpPr/>
          <p:nvPr/>
        </p:nvGrpSpPr>
        <p:grpSpPr>
          <a:xfrm>
            <a:off x="7892410" y="5581320"/>
            <a:ext cx="3840797" cy="631895"/>
            <a:chOff x="2731870" y="1328492"/>
            <a:chExt cx="6725084" cy="1106424"/>
          </a:xfrm>
        </p:grpSpPr>
        <p:pic>
          <p:nvPicPr>
            <p:cNvPr id="9" name="Picture 8" descr="A screenshot of a document&#10;&#10;AI-generated content may be incorrect.">
              <a:extLst>
                <a:ext uri="{FF2B5EF4-FFF2-40B4-BE49-F238E27FC236}">
                  <a16:creationId xmlns:a16="http://schemas.microsoft.com/office/drawing/2014/main" id="{03FBE883-EA15-6C1E-2760-8A6CBFD00D7E}"/>
                </a:ext>
              </a:extLst>
            </p:cNvPr>
            <p:cNvPicPr>
              <a:picLocks noChangeAspect="1"/>
            </p:cNvPicPr>
            <p:nvPr/>
          </p:nvPicPr>
          <p:blipFill>
            <a:blip r:embed="rId4"/>
            <a:srcRect t="3" b="94404"/>
            <a:stretch>
              <a:fillRect/>
            </a:stretch>
          </p:blipFill>
          <p:spPr>
            <a:xfrm>
              <a:off x="2731870" y="1328492"/>
              <a:ext cx="6725084" cy="283464"/>
            </a:xfrm>
            <a:prstGeom prst="rect">
              <a:avLst/>
            </a:prstGeom>
          </p:spPr>
        </p:pic>
        <p:pic>
          <p:nvPicPr>
            <p:cNvPr id="10" name="Picture 9" descr="A screenshot of a document&#10;&#10;AI-generated content may be incorrect.">
              <a:extLst>
                <a:ext uri="{FF2B5EF4-FFF2-40B4-BE49-F238E27FC236}">
                  <a16:creationId xmlns:a16="http://schemas.microsoft.com/office/drawing/2014/main" id="{E8A5D6FC-05FF-72B7-B25B-514A454E1981}"/>
                </a:ext>
              </a:extLst>
            </p:cNvPr>
            <p:cNvPicPr>
              <a:picLocks noChangeAspect="1"/>
            </p:cNvPicPr>
            <p:nvPr/>
          </p:nvPicPr>
          <p:blipFill>
            <a:blip r:embed="rId4"/>
            <a:srcRect t="84635" b="-869"/>
            <a:stretch>
              <a:fillRect/>
            </a:stretch>
          </p:blipFill>
          <p:spPr>
            <a:xfrm>
              <a:off x="2731870" y="1611956"/>
              <a:ext cx="6725084" cy="822960"/>
            </a:xfrm>
            <a:prstGeom prst="rect">
              <a:avLst/>
            </a:prstGeom>
          </p:spPr>
        </p:pic>
      </p:grpSp>
      <p:pic>
        <p:nvPicPr>
          <p:cNvPr id="13" name="Picture 12" descr="A close-up of a document&#10;&#10;AI-generated content may be incorrect.">
            <a:extLst>
              <a:ext uri="{FF2B5EF4-FFF2-40B4-BE49-F238E27FC236}">
                <a16:creationId xmlns:a16="http://schemas.microsoft.com/office/drawing/2014/main" id="{2C381240-00EA-A154-714B-0DC42DD564D8}"/>
              </a:ext>
            </a:extLst>
          </p:cNvPr>
          <p:cNvPicPr>
            <a:picLocks noChangeAspect="1"/>
          </p:cNvPicPr>
          <p:nvPr/>
        </p:nvPicPr>
        <p:blipFill>
          <a:blip r:embed="rId5"/>
          <a:stretch>
            <a:fillRect/>
          </a:stretch>
        </p:blipFill>
        <p:spPr>
          <a:xfrm>
            <a:off x="455618" y="1344367"/>
            <a:ext cx="6100763" cy="2378991"/>
          </a:xfrm>
          <a:prstGeom prst="rect">
            <a:avLst/>
          </a:prstGeom>
        </p:spPr>
      </p:pic>
      <p:pic>
        <p:nvPicPr>
          <p:cNvPr id="14" name="Picture 13" descr="A diagram of a web server&#10;&#10;AI-generated content may be incorrect.">
            <a:extLst>
              <a:ext uri="{FF2B5EF4-FFF2-40B4-BE49-F238E27FC236}">
                <a16:creationId xmlns:a16="http://schemas.microsoft.com/office/drawing/2014/main" id="{8DFC7E66-0663-F39C-6C22-E1F5B5079F4B}"/>
              </a:ext>
            </a:extLst>
          </p:cNvPr>
          <p:cNvPicPr>
            <a:picLocks noChangeAspect="1"/>
          </p:cNvPicPr>
          <p:nvPr/>
        </p:nvPicPr>
        <p:blipFill>
          <a:blip r:embed="rId6"/>
          <a:stretch>
            <a:fillRect/>
          </a:stretch>
        </p:blipFill>
        <p:spPr>
          <a:xfrm>
            <a:off x="6748915" y="1442660"/>
            <a:ext cx="4984292" cy="2482449"/>
          </a:xfrm>
          <a:prstGeom prst="rect">
            <a:avLst/>
          </a:prstGeom>
        </p:spPr>
      </p:pic>
    </p:spTree>
    <p:extLst>
      <p:ext uri="{BB962C8B-B14F-4D97-AF65-F5344CB8AC3E}">
        <p14:creationId xmlns:p14="http://schemas.microsoft.com/office/powerpoint/2010/main" val="2211026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1CE2720-1A75-FBCD-A967-22349572C69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76FCD29C-7076-0FDF-D535-7E4684F88D11}"/>
              </a:ext>
            </a:extLst>
          </p:cNvPr>
          <p:cNvSpPr txBox="1">
            <a:spLocks noGrp="1"/>
          </p:cNvSpPr>
          <p:nvPr>
            <p:ph type="title"/>
          </p:nvPr>
        </p:nvSpPr>
        <p:spPr>
          <a:xfrm>
            <a:off x="455494" y="468368"/>
            <a:ext cx="11277833" cy="524399"/>
          </a:xfrm>
          <a:prstGeom prst="rect">
            <a:avLst/>
          </a:prstGeom>
        </p:spPr>
        <p:txBody>
          <a:bodyPr spcFirstLastPara="1" wrap="square" lIns="0" tIns="0" rIns="0" bIns="0" anchor="ctr" anchorCtr="0">
            <a:noAutofit/>
          </a:bodyPr>
          <a:lstStyle/>
          <a:p>
            <a:pPr>
              <a:lnSpc>
                <a:spcPct val="100000"/>
              </a:lnSpc>
            </a:pPr>
            <a:r>
              <a:rPr lang="en" dirty="0"/>
              <a:t>Ranking</a:t>
            </a:r>
            <a:endParaRPr dirty="0"/>
          </a:p>
        </p:txBody>
      </p:sp>
      <p:pic>
        <p:nvPicPr>
          <p:cNvPr id="10" name="Picture 9">
            <a:extLst>
              <a:ext uri="{FF2B5EF4-FFF2-40B4-BE49-F238E27FC236}">
                <a16:creationId xmlns:a16="http://schemas.microsoft.com/office/drawing/2014/main" id="{D0A0C986-E783-398D-1A3F-AC3A3CE1482A}"/>
              </a:ext>
            </a:extLst>
          </p:cNvPr>
          <p:cNvPicPr>
            <a:picLocks noChangeAspect="1"/>
          </p:cNvPicPr>
          <p:nvPr/>
        </p:nvPicPr>
        <p:blipFill>
          <a:blip r:embed="rId3"/>
          <a:srcRect/>
          <a:stretch/>
        </p:blipFill>
        <p:spPr>
          <a:xfrm>
            <a:off x="2350618" y="3987506"/>
            <a:ext cx="7487584" cy="2263210"/>
          </a:xfrm>
          <a:prstGeom prst="rect">
            <a:avLst/>
          </a:prstGeom>
        </p:spPr>
      </p:pic>
      <p:sp>
        <p:nvSpPr>
          <p:cNvPr id="12" name="Google Shape;1199;p156">
            <a:extLst>
              <a:ext uri="{FF2B5EF4-FFF2-40B4-BE49-F238E27FC236}">
                <a16:creationId xmlns:a16="http://schemas.microsoft.com/office/drawing/2014/main" id="{5F7D2CF4-F02B-D242-CB0F-DD8946F5277C}"/>
              </a:ext>
            </a:extLst>
          </p:cNvPr>
          <p:cNvSpPr txBox="1">
            <a:spLocks/>
          </p:cNvSpPr>
          <p:nvPr/>
        </p:nvSpPr>
        <p:spPr>
          <a:xfrm rot="16200000">
            <a:off x="-779807" y="2257744"/>
            <a:ext cx="2263208"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CVSS</a:t>
            </a:r>
          </a:p>
        </p:txBody>
      </p:sp>
      <p:sp>
        <p:nvSpPr>
          <p:cNvPr id="13" name="Google Shape;1199;p156">
            <a:extLst>
              <a:ext uri="{FF2B5EF4-FFF2-40B4-BE49-F238E27FC236}">
                <a16:creationId xmlns:a16="http://schemas.microsoft.com/office/drawing/2014/main" id="{98013642-8710-F18A-6CAE-99FE979636C2}"/>
              </a:ext>
            </a:extLst>
          </p:cNvPr>
          <p:cNvSpPr txBox="1">
            <a:spLocks/>
          </p:cNvSpPr>
          <p:nvPr/>
        </p:nvSpPr>
        <p:spPr>
          <a:xfrm rot="16200000">
            <a:off x="986625" y="4886721"/>
            <a:ext cx="2263208"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800-30</a:t>
            </a:r>
          </a:p>
        </p:txBody>
      </p:sp>
      <p:pic>
        <p:nvPicPr>
          <p:cNvPr id="15" name="Picture 14">
            <a:extLst>
              <a:ext uri="{FF2B5EF4-FFF2-40B4-BE49-F238E27FC236}">
                <a16:creationId xmlns:a16="http://schemas.microsoft.com/office/drawing/2014/main" id="{1A017966-4810-B603-8CD2-20214C8AB6D5}"/>
              </a:ext>
            </a:extLst>
          </p:cNvPr>
          <p:cNvPicPr>
            <a:picLocks noChangeAspect="1"/>
          </p:cNvPicPr>
          <p:nvPr/>
        </p:nvPicPr>
        <p:blipFill>
          <a:blip r:embed="rId4"/>
          <a:stretch>
            <a:fillRect/>
          </a:stretch>
        </p:blipFill>
        <p:spPr>
          <a:xfrm>
            <a:off x="585892" y="1358529"/>
            <a:ext cx="11017035" cy="2263208"/>
          </a:xfrm>
          <a:prstGeom prst="rect">
            <a:avLst/>
          </a:prstGeom>
        </p:spPr>
      </p:pic>
    </p:spTree>
    <p:extLst>
      <p:ext uri="{BB962C8B-B14F-4D97-AF65-F5344CB8AC3E}">
        <p14:creationId xmlns:p14="http://schemas.microsoft.com/office/powerpoint/2010/main" val="889765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583901"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Select a likelihood rubric</a:t>
            </a:r>
          </a:p>
          <a:p>
            <a:pPr marL="236538" indent="-236538">
              <a:spcAft>
                <a:spcPts val="1200"/>
              </a:spcAft>
              <a:buFont typeface="Arial" panose="020B0604020202020204" pitchFamily="34" charset="0"/>
              <a:buChar char="•"/>
            </a:pPr>
            <a:r>
              <a:rPr lang="en-US" sz="2800" dirty="0">
                <a:solidFill>
                  <a:schemeClr val="tx1"/>
                </a:solidFill>
              </a:rPr>
              <a:t>Set up the quantization mapping</a:t>
            </a:r>
          </a:p>
          <a:p>
            <a:pPr marL="236538" indent="-236538">
              <a:spcAft>
                <a:spcPts val="1200"/>
              </a:spcAft>
              <a:buFont typeface="Arial" panose="020B0604020202020204" pitchFamily="34" charset="0"/>
              <a:buChar char="•"/>
            </a:pPr>
            <a:r>
              <a:rPr lang="en-US" sz="2800" dirty="0">
                <a:solidFill>
                  <a:schemeClr val="tx1"/>
                </a:solidFill>
              </a:rPr>
              <a:t>Provide a worst case scenario</a:t>
            </a:r>
          </a:p>
          <a:p>
            <a:pPr marL="236538" indent="-236538">
              <a:spcAft>
                <a:spcPts val="1200"/>
              </a:spcAft>
              <a:buFont typeface="Arial" panose="020B0604020202020204" pitchFamily="34" charset="0"/>
              <a:buChar char="•"/>
            </a:pPr>
            <a:r>
              <a:rPr lang="en-US" sz="2800" dirty="0">
                <a:solidFill>
                  <a:schemeClr val="tx1"/>
                </a:solidFill>
              </a:rPr>
              <a:t>Calculate the likelihood</a:t>
            </a:r>
          </a:p>
        </p:txBody>
      </p:sp>
    </p:spTree>
    <p:extLst>
      <p:ext uri="{BB962C8B-B14F-4D97-AF65-F5344CB8AC3E}">
        <p14:creationId xmlns:p14="http://schemas.microsoft.com/office/powerpoint/2010/main" val="170359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60306" y="1244679"/>
            <a:ext cx="4068206" cy="527300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563231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
            </a:r>
            <a:r>
              <a:rPr lang="en-US"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candidate ranking template </a:t>
            </a:r>
            <a:r>
              <a:rPr lang="en-US" dirty="0">
                <a:latin typeface="Roboto" panose="02000000000000000000" pitchFamily="2" charset="0"/>
                <a:ea typeface="Roboto" panose="02000000000000000000" pitchFamily="2" charset="0"/>
                <a:cs typeface="Courier New" panose="02070309020205020404" pitchFamily="49" charset="0"/>
              </a:rPr>
              <a:t>(AVCDL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candidate ranking (SP 800-30) template </a:t>
            </a:r>
            <a:r>
              <a:rPr lang="en-US" dirty="0">
                <a:latin typeface="Roboto" panose="02000000000000000000" pitchFamily="2" charset="0"/>
                <a:ea typeface="Roboto" panose="02000000000000000000" pitchFamily="2" charset="0"/>
                <a:cs typeface="Courier New" panose="02070309020205020404" pitchFamily="49" charset="0"/>
              </a:rPr>
              <a:t>(AVCDL template)</a:t>
            </a:r>
          </a:p>
          <a:p>
            <a:pPr marL="0" indent="0">
              <a:spcBef>
                <a:spcPts val="0"/>
              </a:spcBef>
            </a:pPr>
            <a:r>
              <a:rPr lang="en-US" b="1" dirty="0"/>
              <a:t>Common Vulnerability Scoring System</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https://www.first.org/cvss/</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dirty="0"/>
              <a:t>The Common Configuration Scoring System (CCSS): Metrics for Software Security Configuration Vulnerabilities</a:t>
            </a:r>
            <a:br>
              <a:rPr lang="en-US" sz="1400" dirty="0"/>
            </a:br>
            <a:r>
              <a:rPr lang="en-US" sz="1400" b="1" dirty="0">
                <a:latin typeface="Courier New" panose="02070309020205020404" pitchFamily="49" charset="0"/>
                <a:cs typeface="Courier New" panose="02070309020205020404" pitchFamily="49" charset="0"/>
                <a:hlinkClick r:id="rId4"/>
              </a:rPr>
              <a:t>https://nvlpubs.nist.gov/nistpubs/legacy/ir/nistir7502.pdf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The Common Misuse Scoring System (CMSS): Metrics for Software Feature Misuse Vulnerabilities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https://tsapps.nist.gov/publication/get_pdf.cfm?pub_id=910230</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dirty="0"/>
              <a:t>ISO/SAE 21434:2021 Road vehicles – Cybersecurity engineering	</a:t>
            </a:r>
            <a:br>
              <a:rPr lang="en-US" b="1" dirty="0"/>
            </a:br>
            <a:r>
              <a:rPr lang="en-US" sz="1400" b="1" dirty="0">
                <a:latin typeface="Courier New" panose="02070309020205020404" pitchFamily="49" charset="0"/>
                <a:cs typeface="Courier New" panose="02070309020205020404" pitchFamily="49" charset="0"/>
                <a:hlinkClick r:id="rId6"/>
              </a:rPr>
              <a:t>https://www.iso.org/standard/70918.html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NIST SP 800-30 r1 - Guide for Conducting Risk Assessments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https://nvlpubs.nist.gov/nistpubs/Legacy/SP/nistspecialpublication800-30r1.pdf</a:t>
            </a:r>
            <a:r>
              <a:rPr lang="en-US"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1_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297581</TotalTime>
  <Words>4531</Words>
  <Application>Microsoft Macintosh PowerPoint</Application>
  <PresentationFormat>Custom</PresentationFormat>
  <Paragraphs>1039</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Roboto</vt:lpstr>
      <vt:lpstr>Calibri</vt:lpstr>
      <vt:lpstr>Roboto Medium</vt:lpstr>
      <vt:lpstr>Courier New</vt:lpstr>
      <vt:lpstr>1_Motional Masters</vt:lpstr>
      <vt:lpstr>Threat Prioritization – Candidate Ranking</vt:lpstr>
      <vt:lpstr>Training Path</vt:lpstr>
      <vt:lpstr>Workflow</vt:lpstr>
      <vt:lpstr>Process Workflow</vt:lpstr>
      <vt:lpstr>Process Workflow</vt:lpstr>
      <vt:lpstr>Candidate Ranking Activity</vt:lpstr>
      <vt:lpstr>Likelihood Rubrics</vt:lpstr>
      <vt:lpstr>Likelihood Quantization</vt:lpstr>
      <vt:lpstr>800-30 Likelihood Descriptions</vt:lpstr>
      <vt:lpstr>800-30 Overall Likelihood</vt:lpstr>
      <vt:lpstr>Example</vt:lpstr>
      <vt:lpstr>Reference Documents</vt:lpstr>
      <vt:lpstr>CVSS Quantization Mapping</vt:lpstr>
      <vt:lpstr>CVSS Quantization Mapping Sample</vt:lpstr>
      <vt:lpstr>800-30 Quantization Mapping</vt:lpstr>
      <vt:lpstr>800-30 Quantization Mapping Sample</vt:lpstr>
      <vt:lpstr>800-30 Quantization Mapping Sample (Overlay)</vt:lpstr>
      <vt:lpstr>Example System</vt:lpstr>
      <vt:lpstr>Level 1 DFD</vt:lpstr>
      <vt:lpstr>Triage Information</vt:lpstr>
      <vt:lpstr>Ranking</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Prioritization - Candidate Ranking (training)</dc:title>
  <dc:subject>threat prioritization - candidate ranking</dc:subject>
  <dc:creator>Charles Wilson</dc:creator>
  <cp:keywords>cybersecurity, threat prioritization</cp:keywords>
  <dc:description>This work was created by Torc Robotics and is licensed under the Creative Commons Attribution-Share Alike (CC BY-SA-4.0) License.
https://creativecommons.org/licenses/by/4.0/legalcode
</dc:description>
  <cp:lastModifiedBy>Charles Wilson</cp:lastModifiedBy>
  <cp:revision>514</cp:revision>
  <cp:lastPrinted>2023-10-06T18:22:29Z</cp:lastPrinted>
  <dcterms:modified xsi:type="dcterms:W3CDTF">2026-08-20T18:06:39Z</dcterms:modified>
  <cp:category>cybersecurity</cp:category>
</cp:coreProperties>
</file>