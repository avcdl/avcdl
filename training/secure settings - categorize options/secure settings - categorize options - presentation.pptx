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27"/>
  </p:notesMasterIdLst>
  <p:sldIdLst>
    <p:sldId id="256" r:id="rId4"/>
    <p:sldId id="306" r:id="rId5"/>
    <p:sldId id="643" r:id="rId6"/>
    <p:sldId id="607" r:id="rId7"/>
    <p:sldId id="636" r:id="rId8"/>
    <p:sldId id="640" r:id="rId9"/>
    <p:sldId id="587" r:id="rId10"/>
    <p:sldId id="599" r:id="rId11"/>
    <p:sldId id="662" r:id="rId12"/>
    <p:sldId id="657" r:id="rId13"/>
    <p:sldId id="649" r:id="rId14"/>
    <p:sldId id="654" r:id="rId15"/>
    <p:sldId id="658" r:id="rId16"/>
    <p:sldId id="660" r:id="rId17"/>
    <p:sldId id="661" r:id="rId18"/>
    <p:sldId id="603" r:id="rId19"/>
    <p:sldId id="488" r:id="rId20"/>
    <p:sldId id="604" r:id="rId21"/>
    <p:sldId id="343" r:id="rId22"/>
    <p:sldId id="606" r:id="rId23"/>
    <p:sldId id="461" r:id="rId24"/>
    <p:sldId id="420" r:id="rId25"/>
    <p:sldId id="368" r:id="rId26"/>
  </p:sldIdLst>
  <p:sldSz cx="12188825" cy="6858000"/>
  <p:notesSz cx="6858000" cy="9144000"/>
  <p:embeddedFontLst>
    <p:embeddedFont>
      <p:font typeface="Roboto" panose="02000000000000000000" pitchFamily="2" charset="0"/>
      <p:regular r:id="rId28"/>
      <p:bold r:id="rId29"/>
      <p:italic r:id="rId30"/>
      <p:boldItalic r:id="rId31"/>
    </p:embeddedFont>
    <p:embeddedFont>
      <p:font typeface="Roboto Medium" panose="020F050202020403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8194"/>
    <a:srgbClr val="FFFAB2"/>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07"/>
    <p:restoredTop sz="75355"/>
  </p:normalViewPr>
  <p:slideViewPr>
    <p:cSldViewPr snapToGrid="0">
      <p:cViewPr varScale="1">
        <p:scale>
          <a:sx n="145" d="100"/>
          <a:sy n="145" d="100"/>
        </p:scale>
        <p:origin x="1096" y="184"/>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font" Target="fonts/font7.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6.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5.fntdata"/><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4.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 sz="1400" b="1" dirty="0"/>
              <a:t>Secure Settings – Categorize Options </a:t>
            </a:r>
            <a:r>
              <a:rPr lang="en" sz="1400" b="0" dirty="0"/>
              <a:t>activity</a:t>
            </a:r>
            <a:r>
              <a:rPr lang="en-US" sz="1400" b="0" i="0" dirty="0">
                <a:solidFill>
                  <a:srgbClr val="000000"/>
                </a:solidFill>
                <a:effectLst/>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 – Identify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the </a:t>
            </a:r>
            <a:r>
              <a:rPr lang="en-US" sz="1400" b="1" dirty="0">
                <a:latin typeface="Calibri" panose="020F0502020204030204" pitchFamily="34" charset="0"/>
                <a:cs typeface="Calibri" panose="020F0502020204030204" pitchFamily="34" charset="0"/>
              </a:rPr>
              <a:t>Secure Settings – Option Categorization</a:t>
            </a:r>
            <a:r>
              <a:rPr lang="en-US" sz="1400" dirty="0">
                <a:latin typeface="Calibri" panose="020F0502020204030204" pitchFamily="34" charset="0"/>
                <a:cs typeface="Calibri" panose="020F0502020204030204" pitchFamily="34" charset="0"/>
              </a:rPr>
              <a:t> activity.</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322BDB-CB5D-0C03-0555-46EED654BB1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D268CDA-6677-C4D0-88C5-17F47F7C5F4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8EE4E46-E858-EFBB-5F74-DE25C0528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option categorization, let's briefly review where it fits, in the overall secure settings process.</a:t>
            </a:r>
          </a:p>
        </p:txBody>
      </p:sp>
    </p:spTree>
    <p:extLst>
      <p:ext uri="{BB962C8B-B14F-4D97-AF65-F5344CB8AC3E}">
        <p14:creationId xmlns:p14="http://schemas.microsoft.com/office/powerpoint/2010/main" val="507866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secure settings process which we previously covered in the Secure Settings Overview.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second activity, that of option categorization.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9581D16-2AAA-F089-A3F3-B878B8D745F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02B9E84-AEDD-0CB6-AA00-17BFCDD0D26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98941A4-AE0F-42D0-65B5-19DEEEC73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secure settings process which we previously covered in the Secure Settings Overview.</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focus for this training is going to be on the second activity, that of option categorization.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844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categorize options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security SME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takes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security options document created in the identify options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categorizes the identified security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creates a categorized tool security options document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generates a categorized security options report.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work our way through an example of a tool’s cybersecurity-relevant option categorization.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be working with the example tool cybersecurity options document created in option identification activity.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here that this is just one mechanism for documenting this information.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any number of ways this information could be documented.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an ideal world, you'd use a database to store this information both across tools and versions of tools.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73113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B6CD35C-2507-7B50-9613-F89B1FAF7E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8CEC82C-E4BD-8F9A-B732-804E6296E6F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F4EDA26-A262-7E7D-F125-FE7229595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We're going to start this exercise with a bit of administrivia.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the cover sheet information that was created for the option identification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Whenever you're modifying information that you've already collected,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make sure that you update the revision number and the date.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also make the corresponding updates to the revisions sheet.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may seem trivial, but it's really important as you're tracking changes over time.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2553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2B84F0F-4866-6B11-8D1D-F055DE92216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CA20660-6CB4-F9D6-7AA7-04B6138A4D2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4B7B7F9E-33FF-1929-5DF0-0BEA585C49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[overlay]</a:t>
            </a:r>
          </a:p>
        </p:txBody>
      </p:sp>
    </p:spTree>
    <p:extLst>
      <p:ext uri="{BB962C8B-B14F-4D97-AF65-F5344CB8AC3E}">
        <p14:creationId xmlns:p14="http://schemas.microsoft.com/office/powerpoint/2010/main" val="2140876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FB5BC71-1E68-C197-7A06-B1F3B690823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28A4B4D-3795-6B80-83FC-06E8CC9DA74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A556313-7C60-E804-A7FC-254E0B8760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Before we assign the actual categories, we need to establish what they are.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Before we do that, let's review what we covered in the overview about severity categories.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227553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7126D24-1CBA-90B4-D5DF-E2C844EA04C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BBCD27-ABC7-3397-199C-A0A0B99B231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7357C54-15C2-EDE1-BE53-28E42256B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consider the diagram used in the overview training and talk about a moderate complexity categorization where we have low, medium, and high severity.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options categorized as high severity, are done first, the medium ones are done next, and finally, the low ones, are done when you get around to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Practically speaking, this never happens.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fact, this reality is only made worse by the realization that this step is establishing the categories used for all of the switches, not just for the subset of the identified switches as applied to individual elements, where we're going to trim the option set even further.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you end up with is a management nightmare where you're trying to keep every option ranked and then include them in some arbitrary basis in a high-complexity space.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far simpler and more practical way to handle this is to simply go with the two-bucket may do and must do.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you create a categorization, you have to identify what its boundaries are, so that it’s clear what goes into each bucket.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higher the granularity you use, the more rules that you need to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a simple two-bucket system, this problem reduces to establishing a threshold.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still go through the process when considering individual elements of establishing which settings to use because you need to have that documented, but once you’ve addressed the issues in the must do bucket, you can adjust the threshold to move options from the may do to the must do bucket.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 far simpler process than having to readjust the qualifications of multiple buckets.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this is the recommended approach.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91181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E639B78-50B3-4833-52CE-9DF5B306E7B5}"/>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274FE6A-BAB9-7389-A41D-AFA4BF261E5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0E835B67-E369-4067-B8FA-8DBA372BF2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 this in mind, Here are the categories used in the context of this example.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They're </a:t>
            </a:r>
            <a:r>
              <a:rPr lang="en-US" sz="1400" dirty="0" err="1">
                <a:solidFill>
                  <a:srgbClr val="1D1C1D"/>
                </a:solidFill>
                <a:effectLst/>
                <a:latin typeface="Calibri" panose="020F0502020204030204" pitchFamily="34" charset="0"/>
                <a:cs typeface="Calibri" panose="020F0502020204030204" pitchFamily="34" charset="0"/>
              </a:rPr>
              <a:t>ID'd</a:t>
            </a:r>
            <a:r>
              <a:rPr lang="en-US" sz="1400" dirty="0">
                <a:solidFill>
                  <a:srgbClr val="1D1C1D"/>
                </a:solidFill>
                <a:effectLst/>
                <a:latin typeface="Calibri" panose="020F0502020204030204" pitchFamily="34" charset="0"/>
                <a:cs typeface="Calibri" panose="020F0502020204030204" pitchFamily="34" charset="0"/>
              </a:rPr>
              <a:t> CAT-BOOL-01 and CAT-BOOL-02.</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for this is that the categories, the “may do,” and “must do” are fairly generic.</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determine that, as shown here, the “must-do’s” are required, the “may do’s” are discretionary, so we may be able to use the qualifications across multiple tools.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find you can't use these across multiple tools, then your IDs will need to change, but if you can make them the same, that's a good thing.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what we see is that CAT-BOOL-02, or “must do” is required.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qualifications for that category are that it addresses all memory class bugs.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One simple rule.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 focus on memory bug classes, and as it shows in CAT-BOOL-01, the “may do,” which is discretionary is anything that's not “must do”.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can have more sophisticated rules, say for instance, you just want to do two of the memory class bugs, or some other combination of things, that’s fine.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why there's the notes field, in case there needs to be additional elaboration as to what the qualifications are about.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a reminder, if you have categories already established, then you can reuse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9820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7CB729-C131-DB85-BB32-EA732ED29E6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27BB4CB-8BCA-E6FD-7709-2C34CFE280A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E37ADFAD-251D-B8FD-0AB6-60A0980B98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 the categories in-hand, we now assign a category to each of the options that we've identified, as shown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described, all of the memory bug classes have been set to “must do,” and our single input verification class item is set to “may do.”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that's all that needs to be done in terms of creating that category assignment.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85590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73726B5-170E-D339-F298-484A7FDA52C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E390BFD-26E7-CA2E-5B22-144D243B66F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07F83C0-BD59-7031-5B88-158D3D615D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brings us to the part of the activity that everyone looks forward to, and that is the generation of the human-readable report.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consider some of the reasons why it's necessary to have a human-readable report, and not just a file that embodies the data.</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986408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02A8017-CD3E-7126-2FF7-5FB2EDD6BE2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6833351-646A-2207-69AD-5C664C528CD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15B3ACE-D50F-56B5-086C-1C33890915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a few reasons why we generate a human-readable report, in addition to the form that the data is stored in, either a spreadsheet as shown here, or in a database.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reason is that you don't have to extract the data from the data source in order to make sense of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case of Excel, you could say that this is just a standalone document and therefore, it's going to be in a change control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a sophisticated enough system, then it makes far more sense to be using a database that allows you to track changes across systems rather than relying on just a collection of workbooks.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reason is that we tend to instantiate these as PDFs and PDFs are, by and large immutable.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not always the case, but the way that we treat them, they're immutable.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put them into storage systems and attach them to the collection documents that go along with the product.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brings us into the third reason, and that's that auditors like PDFs.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They're directly readable, and don't generally rely on having additional applications to access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they’re constructed in a way which is easily consumed by a person, as opposed to requiring sifting through spreadsheets in order to make sense of the data.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the CI/CD pipeline inclined, it is straightforward to programmatically generate a PDF from either an Excel workbook or a database.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can create it with nice formats and have all of the lovely things that you would associate with a human-readable document and not lose the fact that it's tied to a single source of truth.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also ensures a consistent presentation over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01523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the secure settings option categorization activity.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summarize what we've done and talk about next steps.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to review, our approach is as follows.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 identify the severity categories,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define the category qualifications and thresholds for each category,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provide a justification for each where it's appropriate.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to note that we may be able to reuse this category set.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we categorize each of the identified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 create the human-readable report that goes into the document management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the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the updated workbook includes all the sheets covered in this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Secure Settings – Categorize Options Procedure </a:t>
            </a:r>
            <a:r>
              <a:rPr lang="en-US" sz="1400" dirty="0">
                <a:latin typeface="Calibri" panose="020F0502020204030204" pitchFamily="34" charset="0"/>
                <a:cs typeface="Calibri" panose="020F0502020204030204" pitchFamily="34" charset="0"/>
              </a:rPr>
              <a:t>tertiary document is available in the </a:t>
            </a:r>
            <a:r>
              <a:rPr lang="en-US" sz="1400" b="1" dirty="0">
                <a:latin typeface="Calibri" panose="020F0502020204030204" pitchFamily="34" charset="0"/>
                <a:cs typeface="Calibri" panose="020F0502020204030204" pitchFamily="34" charset="0"/>
              </a:rPr>
              <a:t>AVCDL GitHub </a:t>
            </a:r>
            <a:r>
              <a:rPr lang="en-US" sz="1400" dirty="0">
                <a:latin typeface="Calibri" panose="020F0502020204030204" pitchFamily="34" charset="0"/>
                <a:cs typeface="Calibri" panose="020F0502020204030204" pitchFamily="34" charset="0"/>
              </a:rPr>
              <a:t>repository.</a:t>
            </a:r>
          </a:p>
        </p:txBody>
      </p:sp>
    </p:spTree>
    <p:extLst>
      <p:ext uri="{BB962C8B-B14F-4D97-AF65-F5344CB8AC3E}">
        <p14:creationId xmlns:p14="http://schemas.microsoft.com/office/powerpoint/2010/main" val="35780262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b="1" dirty="0">
                <a:effectLst/>
                <a:latin typeface="Calibri" panose="020F0502020204030204" pitchFamily="34" charset="0"/>
                <a:ea typeface="Calibri" panose="020F0502020204030204" pitchFamily="34" charset="0"/>
                <a:cs typeface="Calibri" panose="020F0502020204030204" pitchFamily="34" charset="0"/>
              </a:rPr>
              <a:t>AVCDL</a:t>
            </a:r>
            <a:r>
              <a:rPr lang="en-US" sz="1400" dirty="0">
                <a:effectLst/>
                <a:latin typeface="Calibri" panose="020F0502020204030204" pitchFamily="34" charset="0"/>
                <a:ea typeface="Calibri" panose="020F0502020204030204" pitchFamily="34" charset="0"/>
                <a:cs typeface="Calibri" panose="020F0502020204030204" pitchFamily="34" charset="0"/>
              </a:rPr>
              <a:t> materials, both in source and distribution forms, are available on our </a:t>
            </a:r>
            <a:r>
              <a:rPr lang="en-US" sz="1400" b="1" dirty="0">
                <a:effectLst/>
                <a:latin typeface="Calibri" panose="020F0502020204030204" pitchFamily="34" charset="0"/>
                <a:ea typeface="Calibri" panose="020F0502020204030204" pitchFamily="34" charset="0"/>
                <a:cs typeface="Calibri" panose="020F0502020204030204" pitchFamily="34" charset="0"/>
              </a:rPr>
              <a:t>GitHub</a:t>
            </a:r>
            <a:r>
              <a:rPr lang="en-US" sz="1400" dirty="0">
                <a:effectLst/>
                <a:latin typeface="Calibri" panose="020F0502020204030204" pitchFamily="34" charset="0"/>
                <a:ea typeface="Calibri" panose="020F0502020204030204" pitchFamily="34" charset="0"/>
                <a:cs typeface="Calibri" panose="020F0502020204030204" pitchFamily="34" charset="0"/>
              </a:rPr>
              <a:t>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t>
            </a:r>
            <a:r>
              <a:rPr lang="en-US" b="1" dirty="0"/>
              <a:t>AVCDL</a:t>
            </a:r>
            <a:r>
              <a:rPr lang="en-US" dirty="0"/>
              <a:t>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t>
            </a:r>
            <a:r>
              <a:rPr lang="en-US" b="1" dirty="0"/>
              <a:t>AVCDL</a:t>
            </a:r>
            <a:r>
              <a:rPr lang="en-US" dirty="0"/>
              <a:t> materials except for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Secure Settings </a:t>
            </a:r>
            <a:r>
              <a:rPr lang="en-US" sz="1400" dirty="0"/>
              <a:t>process activities,  you can proceed to the other training at this level, </a:t>
            </a:r>
            <a:r>
              <a:rPr lang="en-US" sz="1400" b="1" dirty="0"/>
              <a:t>Secure Design Review</a:t>
            </a:r>
            <a:r>
              <a:rPr lang="en-US" sz="1400" b="0" dirty="0"/>
              <a:t>.</a:t>
            </a:r>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if you’ve completed </a:t>
            </a:r>
            <a:r>
              <a:rPr lang="en-US" sz="1400" b="1" dirty="0"/>
              <a:t>Threat Prioritization</a:t>
            </a:r>
            <a:r>
              <a:rPr lang="en-US" sz="1400" dirty="0"/>
              <a:t> you can also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Attack Surface Analysis</a:t>
            </a:r>
          </a:p>
          <a:p>
            <a:pPr marL="285750" marR="0" indent="-285750" algn="just">
              <a:spcBef>
                <a:spcPts val="0"/>
              </a:spcBef>
              <a:spcAft>
                <a:spcPts val="1200"/>
              </a:spcAft>
            </a:pPr>
            <a:r>
              <a:rPr lang="en-US" sz="1400" b="1" dirty="0"/>
              <a:t>Threat Modeling</a:t>
            </a:r>
          </a:p>
          <a:p>
            <a:pPr marL="285750" marR="0" indent="-285750" algn="just">
              <a:spcBef>
                <a:spcPts val="0"/>
              </a:spcBef>
              <a:spcAft>
                <a:spcPts val="1200"/>
              </a:spcAft>
            </a:pPr>
            <a:r>
              <a:rPr lang="en-US" sz="1400" b="1" dirty="0"/>
              <a:t>Penetration Testing</a:t>
            </a:r>
            <a:endParaRPr lang="en-US" sz="1400" dirty="0"/>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Vulnerability Identification</a:t>
            </a:r>
          </a:p>
          <a:p>
            <a:pPr marL="285750" marR="0" indent="-285750" algn="just">
              <a:spcBef>
                <a:spcPts val="0"/>
              </a:spcBef>
              <a:spcAft>
                <a:spcPts val="1200"/>
              </a:spcAft>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you can proceed to either</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Code Reuse</a:t>
            </a:r>
          </a:p>
          <a:p>
            <a:pPr marL="285750" marR="0" indent="-285750" algn="just">
              <a:spcBef>
                <a:spcPts val="0"/>
              </a:spcBef>
              <a:spcAft>
                <a:spcPts val="1200"/>
              </a:spcAft>
            </a:pPr>
            <a:endParaRPr lang="en-US" sz="1400" b="1"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or</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Secure Coding</a:t>
            </a:r>
          </a:p>
        </p:txBody>
      </p:sp>
    </p:spTree>
    <p:extLst>
      <p:ext uri="{BB962C8B-B14F-4D97-AF65-F5344CB8AC3E}">
        <p14:creationId xmlns:p14="http://schemas.microsoft.com/office/powerpoint/2010/main" val="37017396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t>
            </a:r>
            <a:r>
              <a:rPr lang="en-US" sz="1400" b="1" dirty="0">
                <a:solidFill>
                  <a:srgbClr val="1D1C1D"/>
                </a:solidFill>
                <a:effectLst/>
                <a:latin typeface="Calibri" panose="020F0502020204030204" pitchFamily="34" charset="0"/>
                <a:cs typeface="Calibri" panose="020F0502020204030204" pitchFamily="34" charset="0"/>
              </a:rPr>
              <a:t>AVCDL GitHub </a:t>
            </a:r>
            <a:r>
              <a:rPr lang="en-US" sz="1400" dirty="0">
                <a:solidFill>
                  <a:srgbClr val="1D1C1D"/>
                </a:solidFill>
                <a:effectLst/>
                <a:latin typeface="Calibri" panose="020F0502020204030204" pitchFamily="34" charset="0"/>
                <a:cs typeface="Calibri" panose="020F0502020204030204" pitchFamily="34" charset="0"/>
              </a:rPr>
              <a:t>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1036064" cy="3227235"/>
          </a:xfrm>
          <a:prstGeom prst="rect">
            <a:avLst/>
          </a:prstGeom>
          <a:noFill/>
          <a:ln>
            <a:noFill/>
          </a:ln>
        </p:spPr>
        <p:txBody>
          <a:bodyPr spcFirstLastPara="1" wrap="square" lIns="0" tIns="0" rIns="0" bIns="0" anchor="ctr" anchorCtr="0">
            <a:noAutofit/>
          </a:bodyPr>
          <a:lstStyle/>
          <a:p>
            <a:pPr>
              <a:lnSpc>
                <a:spcPct val="100000"/>
              </a:lnSpc>
            </a:pPr>
            <a:r>
              <a:rPr lang="en" sz="5400" dirty="0"/>
              <a:t>Secure Settings –</a:t>
            </a:r>
            <a:br>
              <a:rPr lang="en" sz="5400" dirty="0"/>
            </a:br>
            <a:r>
              <a:rPr lang="en" sz="5400" dirty="0"/>
              <a:t>Categorize Options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8" y="5270394"/>
            <a:ext cx="963725"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2</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2025-10-01</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6" name="Rectangle 5">
            <a:extLst>
              <a:ext uri="{FF2B5EF4-FFF2-40B4-BE49-F238E27FC236}">
                <a16:creationId xmlns:a16="http://schemas.microsoft.com/office/drawing/2014/main" id="{045111EE-15D1-8720-B72C-39CD744DB3C5}"/>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AVCDL-Implementation-3.1.2</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39DA21B-89EB-986D-847D-4B42780BEBB3}"/>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FF19A58-92B6-1DFA-4D72-000891004779}"/>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2845624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a:extLst>
              <a:ext uri="{FF2B5EF4-FFF2-40B4-BE49-F238E27FC236}">
                <a16:creationId xmlns:a16="http://schemas.microsoft.com/office/drawing/2014/main" id="{081917B5-D38D-75C7-4D31-0A25C42D16F1}"/>
              </a:ext>
            </a:extLst>
          </p:cNvPr>
          <p:cNvPicPr>
            <a:picLocks noChangeAspect="1"/>
          </p:cNvPicPr>
          <p:nvPr/>
        </p:nvPicPr>
        <p:blipFill>
          <a:blip r:embed="rId3"/>
          <a:srcRect/>
          <a:stretch/>
        </p:blipFill>
        <p:spPr>
          <a:xfrm>
            <a:off x="274866" y="1543690"/>
            <a:ext cx="11639090" cy="3770619"/>
          </a:xfrm>
          <a:prstGeom prst="rect">
            <a:avLst/>
          </a:prstGeom>
        </p:spPr>
      </p:pic>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1C6719-B3C7-99B9-D116-187133B2173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8E2BBD0-0FBD-2EFD-F3AC-8115A9E66824}"/>
              </a:ext>
            </a:extLst>
          </p:cNvPr>
          <p:cNvPicPr>
            <a:picLocks noChangeAspect="1"/>
          </p:cNvPicPr>
          <p:nvPr/>
        </p:nvPicPr>
        <p:blipFill>
          <a:blip r:embed="rId3">
            <a:alphaModFix amt="10000"/>
          </a:blip>
          <a:srcRect/>
          <a:stretch/>
        </p:blipFill>
        <p:spPr>
          <a:xfrm>
            <a:off x="274866" y="1543690"/>
            <a:ext cx="11639090" cy="3770619"/>
          </a:xfrm>
          <a:prstGeom prst="rect">
            <a:avLst/>
          </a:prstGeom>
        </p:spPr>
      </p:pic>
      <p:sp>
        <p:nvSpPr>
          <p:cNvPr id="1199" name="Google Shape;1199;p156">
            <a:extLst>
              <a:ext uri="{FF2B5EF4-FFF2-40B4-BE49-F238E27FC236}">
                <a16:creationId xmlns:a16="http://schemas.microsoft.com/office/drawing/2014/main" id="{3D79D334-DC71-24A0-9370-01C6335C3AA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5" name="Picture 4" descr="A diagram of a security system&#10;&#10;AI-generated content may be incorrect.">
            <a:extLst>
              <a:ext uri="{FF2B5EF4-FFF2-40B4-BE49-F238E27FC236}">
                <a16:creationId xmlns:a16="http://schemas.microsoft.com/office/drawing/2014/main" id="{09B88BD6-7D1C-6F0E-D608-72AAECD76F64}"/>
              </a:ext>
            </a:extLst>
          </p:cNvPr>
          <p:cNvPicPr>
            <a:picLocks noChangeAspect="1"/>
          </p:cNvPicPr>
          <p:nvPr/>
        </p:nvPicPr>
        <p:blipFill>
          <a:blip r:embed="rId4"/>
          <a:stretch>
            <a:fillRect/>
          </a:stretch>
        </p:blipFill>
        <p:spPr>
          <a:xfrm>
            <a:off x="2693052" y="1543123"/>
            <a:ext cx="3019925" cy="3771186"/>
          </a:xfrm>
          <a:prstGeom prst="rect">
            <a:avLst/>
          </a:prstGeom>
        </p:spPr>
      </p:pic>
    </p:spTree>
    <p:extLst>
      <p:ext uri="{BB962C8B-B14F-4D97-AF65-F5344CB8AC3E}">
        <p14:creationId xmlns:p14="http://schemas.microsoft.com/office/powerpoint/2010/main" val="1694418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Categorize Options Activity</a:t>
            </a:r>
            <a:endParaRPr dirty="0"/>
          </a:p>
        </p:txBody>
      </p:sp>
      <p:pic>
        <p:nvPicPr>
          <p:cNvPr id="5" name="Picture 4" descr="A diagram of a security system&#10;&#10;AI-generated content may be incorrect.">
            <a:extLst>
              <a:ext uri="{FF2B5EF4-FFF2-40B4-BE49-F238E27FC236}">
                <a16:creationId xmlns:a16="http://schemas.microsoft.com/office/drawing/2014/main" id="{EE0D9332-1606-D08A-60AB-7A9E0BFC108B}"/>
              </a:ext>
            </a:extLst>
          </p:cNvPr>
          <p:cNvPicPr>
            <a:picLocks noChangeAspect="1"/>
          </p:cNvPicPr>
          <p:nvPr/>
        </p:nvPicPr>
        <p:blipFill>
          <a:blip r:embed="rId3"/>
          <a:stretch>
            <a:fillRect/>
          </a:stretch>
        </p:blipFill>
        <p:spPr>
          <a:xfrm>
            <a:off x="3957316" y="987345"/>
            <a:ext cx="4274190" cy="5337472"/>
          </a:xfrm>
          <a:prstGeom prst="rect">
            <a:avLst/>
          </a:prstGeom>
        </p:spPr>
      </p:pic>
    </p:spTree>
    <p:extLst>
      <p:ext uri="{BB962C8B-B14F-4D97-AF65-F5344CB8AC3E}">
        <p14:creationId xmlns:p14="http://schemas.microsoft.com/office/powerpoint/2010/main" val="2458096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125398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C174DC1-3B34-550B-143F-3D26F356EDD2}"/>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71AA15C-BE75-DD93-033B-C38B9C34F9D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Cover Sheet</a:t>
            </a:r>
            <a:endParaRPr dirty="0"/>
          </a:p>
        </p:txBody>
      </p:sp>
      <p:pic>
        <p:nvPicPr>
          <p:cNvPr id="5" name="Picture 4" descr="A screenshot of a computer&#10;&#10;AI-generated content may be incorrect.">
            <a:extLst>
              <a:ext uri="{FF2B5EF4-FFF2-40B4-BE49-F238E27FC236}">
                <a16:creationId xmlns:a16="http://schemas.microsoft.com/office/drawing/2014/main" id="{3EC8D5A6-6D03-B300-F957-F6FFF13BF0E6}"/>
              </a:ext>
            </a:extLst>
          </p:cNvPr>
          <p:cNvPicPr>
            <a:picLocks noChangeAspect="1"/>
          </p:cNvPicPr>
          <p:nvPr/>
        </p:nvPicPr>
        <p:blipFill>
          <a:blip r:embed="rId3"/>
          <a:stretch>
            <a:fillRect/>
          </a:stretch>
        </p:blipFill>
        <p:spPr>
          <a:xfrm>
            <a:off x="2208212" y="1340621"/>
            <a:ext cx="7772400" cy="4176757"/>
          </a:xfrm>
          <a:prstGeom prst="rect">
            <a:avLst/>
          </a:prstGeom>
        </p:spPr>
      </p:pic>
    </p:spTree>
    <p:extLst>
      <p:ext uri="{BB962C8B-B14F-4D97-AF65-F5344CB8AC3E}">
        <p14:creationId xmlns:p14="http://schemas.microsoft.com/office/powerpoint/2010/main" val="3821437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1AEFB99-0465-9A59-A12F-5317DBDCA6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61119F-25FC-724D-611E-066B2A54799D}"/>
              </a:ext>
            </a:extLst>
          </p:cNvPr>
          <p:cNvSpPr txBox="1"/>
          <p:nvPr/>
        </p:nvSpPr>
        <p:spPr>
          <a:xfrm>
            <a:off x="5798078" y="4648201"/>
            <a:ext cx="1549400" cy="369332"/>
          </a:xfrm>
          <a:prstGeom prst="rect">
            <a:avLst/>
          </a:prstGeom>
          <a:noFill/>
        </p:spPr>
        <p:txBody>
          <a:bodyPr wrap="square" rtlCol="0">
            <a:spAutoFit/>
          </a:bodyPr>
          <a:lstStyle/>
          <a:p>
            <a:r>
              <a:rPr lang="en-US" sz="1800" dirty="0"/>
              <a:t>17-Sep-2025</a:t>
            </a:r>
          </a:p>
        </p:txBody>
      </p:sp>
      <p:sp>
        <p:nvSpPr>
          <p:cNvPr id="3" name="TextBox 2">
            <a:extLst>
              <a:ext uri="{FF2B5EF4-FFF2-40B4-BE49-F238E27FC236}">
                <a16:creationId xmlns:a16="http://schemas.microsoft.com/office/drawing/2014/main" id="{2A07CD46-CCED-826F-CA58-E0341A7AA8F4}"/>
              </a:ext>
            </a:extLst>
          </p:cNvPr>
          <p:cNvSpPr txBox="1"/>
          <p:nvPr/>
        </p:nvSpPr>
        <p:spPr>
          <a:xfrm>
            <a:off x="4748211" y="5145880"/>
            <a:ext cx="296334" cy="369332"/>
          </a:xfrm>
          <a:prstGeom prst="rect">
            <a:avLst/>
          </a:prstGeom>
          <a:noFill/>
        </p:spPr>
        <p:txBody>
          <a:bodyPr wrap="square" rtlCol="0">
            <a:spAutoFit/>
          </a:bodyPr>
          <a:lstStyle/>
          <a:p>
            <a:r>
              <a:rPr lang="en-US" sz="1800" dirty="0"/>
              <a:t>2</a:t>
            </a:r>
          </a:p>
        </p:txBody>
      </p:sp>
      <p:cxnSp>
        <p:nvCxnSpPr>
          <p:cNvPr id="6" name="Straight Connector 5">
            <a:extLst>
              <a:ext uri="{FF2B5EF4-FFF2-40B4-BE49-F238E27FC236}">
                <a16:creationId xmlns:a16="http://schemas.microsoft.com/office/drawing/2014/main" id="{AC92CC32-2484-56BF-BD44-55067C52BA27}"/>
              </a:ext>
            </a:extLst>
          </p:cNvPr>
          <p:cNvCxnSpPr>
            <a:cxnSpLocks/>
          </p:cNvCxnSpPr>
          <p:nvPr/>
        </p:nvCxnSpPr>
        <p:spPr>
          <a:xfrm>
            <a:off x="4572677" y="4833630"/>
            <a:ext cx="122540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AD57951-B205-350D-B90B-41B36298AF5A}"/>
              </a:ext>
            </a:extLst>
          </p:cNvPr>
          <p:cNvCxnSpPr>
            <a:cxnSpLocks/>
          </p:cNvCxnSpPr>
          <p:nvPr/>
        </p:nvCxnSpPr>
        <p:spPr>
          <a:xfrm>
            <a:off x="4572677" y="5336252"/>
            <a:ext cx="17553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9704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5400268-DE8E-C842-0FCF-65E822A61471}"/>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0B0864FA-21C4-FDCE-0579-C16C24557898}"/>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Severity Categories</a:t>
            </a:r>
            <a:endParaRPr sz="6600" dirty="0"/>
          </a:p>
        </p:txBody>
      </p:sp>
    </p:spTree>
    <p:extLst>
      <p:ext uri="{BB962C8B-B14F-4D97-AF65-F5344CB8AC3E}">
        <p14:creationId xmlns:p14="http://schemas.microsoft.com/office/powerpoint/2010/main" val="160131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13F3231-F084-53A7-54EB-E6838E4A23DA}"/>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D5A570A-8717-06A3-A15C-BBDB32A903A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Establishing Categories</a:t>
            </a:r>
            <a:endParaRPr dirty="0"/>
          </a:p>
        </p:txBody>
      </p:sp>
      <p:sp>
        <p:nvSpPr>
          <p:cNvPr id="5" name="TextBox 4">
            <a:extLst>
              <a:ext uri="{FF2B5EF4-FFF2-40B4-BE49-F238E27FC236}">
                <a16:creationId xmlns:a16="http://schemas.microsoft.com/office/drawing/2014/main" id="{B7FA1654-07E3-CB4B-127E-96397B8818EA}"/>
              </a:ext>
            </a:extLst>
          </p:cNvPr>
          <p:cNvSpPr txBox="1"/>
          <p:nvPr/>
        </p:nvSpPr>
        <p:spPr>
          <a:xfrm>
            <a:off x="837839" y="2209790"/>
            <a:ext cx="3504382" cy="523220"/>
          </a:xfrm>
          <a:prstGeom prst="rect">
            <a:avLst/>
          </a:prstGeom>
          <a:solidFill>
            <a:srgbClr val="A7E3B3"/>
          </a:solidFill>
          <a:ln>
            <a:solidFill>
              <a:schemeClr val="tx1"/>
            </a:solidFill>
          </a:ln>
        </p:spPr>
        <p:txBody>
          <a:bodyPr wrap="square" rtlCol="0">
            <a:spAutoFit/>
          </a:bodyPr>
          <a:lstStyle/>
          <a:p>
            <a:pPr algn="ct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Low</a:t>
            </a:r>
          </a:p>
        </p:txBody>
      </p:sp>
      <p:sp>
        <p:nvSpPr>
          <p:cNvPr id="8" name="TextBox 7">
            <a:extLst>
              <a:ext uri="{FF2B5EF4-FFF2-40B4-BE49-F238E27FC236}">
                <a16:creationId xmlns:a16="http://schemas.microsoft.com/office/drawing/2014/main" id="{E3E1278F-8A83-6767-A6FE-3C4658DCAD63}"/>
              </a:ext>
            </a:extLst>
          </p:cNvPr>
          <p:cNvSpPr txBox="1"/>
          <p:nvPr/>
        </p:nvSpPr>
        <p:spPr>
          <a:xfrm>
            <a:off x="4342221" y="2209790"/>
            <a:ext cx="3504382" cy="523220"/>
          </a:xfrm>
          <a:prstGeom prst="rect">
            <a:avLst/>
          </a:prstGeom>
          <a:solidFill>
            <a:srgbClr val="FFFAB2"/>
          </a:solidFill>
          <a:ln>
            <a:solidFill>
              <a:schemeClr val="tx1"/>
            </a:solidFill>
          </a:ln>
        </p:spPr>
        <p:txBody>
          <a:bodyPr wrap="square" rtlCol="0">
            <a:spAutoFit/>
          </a:bodyPr>
          <a:lstStyle/>
          <a:p>
            <a:pPr algn="ct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Medium</a:t>
            </a:r>
          </a:p>
        </p:txBody>
      </p:sp>
      <p:sp>
        <p:nvSpPr>
          <p:cNvPr id="9" name="TextBox 8">
            <a:extLst>
              <a:ext uri="{FF2B5EF4-FFF2-40B4-BE49-F238E27FC236}">
                <a16:creationId xmlns:a16="http://schemas.microsoft.com/office/drawing/2014/main" id="{2C5C86B7-BDB7-8CF4-91C2-7256FF8E3071}"/>
              </a:ext>
            </a:extLst>
          </p:cNvPr>
          <p:cNvSpPr txBox="1"/>
          <p:nvPr/>
        </p:nvSpPr>
        <p:spPr>
          <a:xfrm>
            <a:off x="7846603" y="2209790"/>
            <a:ext cx="3504382" cy="523220"/>
          </a:xfrm>
          <a:prstGeom prst="rect">
            <a:avLst/>
          </a:prstGeom>
          <a:solidFill>
            <a:srgbClr val="E38194"/>
          </a:solidFill>
          <a:ln>
            <a:solidFill>
              <a:schemeClr val="tx1"/>
            </a:solidFill>
          </a:ln>
        </p:spPr>
        <p:txBody>
          <a:bodyPr wrap="square" rtlCol="0">
            <a:spAutoFit/>
          </a:bodyPr>
          <a:lstStyle/>
          <a:p>
            <a:pPr algn="ct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High</a:t>
            </a:r>
          </a:p>
        </p:txBody>
      </p:sp>
      <p:sp>
        <p:nvSpPr>
          <p:cNvPr id="2" name="TextBox 1">
            <a:extLst>
              <a:ext uri="{FF2B5EF4-FFF2-40B4-BE49-F238E27FC236}">
                <a16:creationId xmlns:a16="http://schemas.microsoft.com/office/drawing/2014/main" id="{74C14A0E-92D4-49DD-F263-EEC11402F5B2}"/>
              </a:ext>
            </a:extLst>
          </p:cNvPr>
          <p:cNvSpPr txBox="1"/>
          <p:nvPr/>
        </p:nvSpPr>
        <p:spPr>
          <a:xfrm>
            <a:off x="837838" y="4241390"/>
            <a:ext cx="5256573" cy="523220"/>
          </a:xfrm>
          <a:prstGeom prst="rect">
            <a:avLst/>
          </a:prstGeom>
          <a:solidFill>
            <a:srgbClr val="A7E3B3"/>
          </a:solidFill>
          <a:ln>
            <a:solidFill>
              <a:schemeClr val="tx1"/>
            </a:solidFill>
          </a:ln>
        </p:spPr>
        <p:txBody>
          <a:bodyPr wrap="square" rtlCol="0">
            <a:spAutoFit/>
          </a:bodyPr>
          <a:lstStyle/>
          <a:p>
            <a:pPr algn="ct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May Do</a:t>
            </a:r>
          </a:p>
        </p:txBody>
      </p:sp>
      <p:sp>
        <p:nvSpPr>
          <p:cNvPr id="4" name="TextBox 3">
            <a:extLst>
              <a:ext uri="{FF2B5EF4-FFF2-40B4-BE49-F238E27FC236}">
                <a16:creationId xmlns:a16="http://schemas.microsoft.com/office/drawing/2014/main" id="{92160590-1AB8-4CB0-286E-D085B21FD213}"/>
              </a:ext>
            </a:extLst>
          </p:cNvPr>
          <p:cNvSpPr txBox="1"/>
          <p:nvPr/>
        </p:nvSpPr>
        <p:spPr>
          <a:xfrm>
            <a:off x="6094411" y="4241390"/>
            <a:ext cx="5256574" cy="523220"/>
          </a:xfrm>
          <a:prstGeom prst="rect">
            <a:avLst/>
          </a:prstGeom>
          <a:solidFill>
            <a:srgbClr val="E38194"/>
          </a:solidFill>
          <a:ln>
            <a:solidFill>
              <a:schemeClr val="tx1"/>
            </a:solidFill>
          </a:ln>
        </p:spPr>
        <p:txBody>
          <a:bodyPr wrap="square" rtlCol="0">
            <a:spAutoFit/>
          </a:bodyPr>
          <a:lstStyle/>
          <a:p>
            <a:pPr algn="ct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Must Do</a:t>
            </a:r>
          </a:p>
        </p:txBody>
      </p:sp>
    </p:spTree>
    <p:extLst>
      <p:ext uri="{BB962C8B-B14F-4D97-AF65-F5344CB8AC3E}">
        <p14:creationId xmlns:p14="http://schemas.microsoft.com/office/powerpoint/2010/main" val="3783835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5911ABA-284C-B619-7761-1C5083524319}"/>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923796BD-629C-620B-90EF-B53B23C6D8A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Categories</a:t>
            </a:r>
            <a:endParaRPr dirty="0"/>
          </a:p>
        </p:txBody>
      </p:sp>
      <p:sp>
        <p:nvSpPr>
          <p:cNvPr id="7" name="Rectangle 6">
            <a:extLst>
              <a:ext uri="{FF2B5EF4-FFF2-40B4-BE49-F238E27FC236}">
                <a16:creationId xmlns:a16="http://schemas.microsoft.com/office/drawing/2014/main" id="{94AACD70-0D49-BA4A-0A16-81F1BB9B63E7}"/>
              </a:ext>
            </a:extLst>
          </p:cNvPr>
          <p:cNvSpPr/>
          <p:nvPr/>
        </p:nvSpPr>
        <p:spPr>
          <a:xfrm>
            <a:off x="2751667" y="1456267"/>
            <a:ext cx="6815666" cy="990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B463DEF-A3FA-0D37-DE67-BCEAA501234F}"/>
              </a:ext>
            </a:extLst>
          </p:cNvPr>
          <p:cNvPicPr>
            <a:picLocks noChangeAspect="1"/>
          </p:cNvPicPr>
          <p:nvPr/>
        </p:nvPicPr>
        <p:blipFill>
          <a:blip r:embed="rId3"/>
          <a:stretch>
            <a:fillRect/>
          </a:stretch>
        </p:blipFill>
        <p:spPr>
          <a:xfrm>
            <a:off x="2748491" y="2057402"/>
            <a:ext cx="6688667" cy="614444"/>
          </a:xfrm>
          <a:prstGeom prst="rect">
            <a:avLst/>
          </a:prstGeom>
        </p:spPr>
      </p:pic>
    </p:spTree>
    <p:extLst>
      <p:ext uri="{BB962C8B-B14F-4D97-AF65-F5344CB8AC3E}">
        <p14:creationId xmlns:p14="http://schemas.microsoft.com/office/powerpoint/2010/main" val="2875550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BC7B380-EAEC-D784-431C-4A577CF5010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A2582BB-7433-6FD0-A914-E648D4A68ADE}"/>
              </a:ext>
            </a:extLst>
          </p:cNvPr>
          <p:cNvPicPr>
            <a:picLocks noChangeAspect="1"/>
          </p:cNvPicPr>
          <p:nvPr/>
        </p:nvPicPr>
        <p:blipFill>
          <a:blip r:embed="rId3"/>
          <a:srcRect/>
          <a:stretch/>
        </p:blipFill>
        <p:spPr>
          <a:xfrm>
            <a:off x="1018975" y="985706"/>
            <a:ext cx="10150873" cy="5742196"/>
          </a:xfrm>
          <a:prstGeom prst="rect">
            <a:avLst/>
          </a:prstGeom>
        </p:spPr>
      </p:pic>
      <p:sp>
        <p:nvSpPr>
          <p:cNvPr id="1199" name="Google Shape;1199;p156">
            <a:extLst>
              <a:ext uri="{FF2B5EF4-FFF2-40B4-BE49-F238E27FC236}">
                <a16:creationId xmlns:a16="http://schemas.microsoft.com/office/drawing/2014/main" id="{3927CFCF-5D81-793A-D673-A5DA994D73C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Options - Category</a:t>
            </a:r>
            <a:endParaRPr dirty="0"/>
          </a:p>
        </p:txBody>
      </p:sp>
    </p:spTree>
    <p:extLst>
      <p:ext uri="{BB962C8B-B14F-4D97-AF65-F5344CB8AC3E}">
        <p14:creationId xmlns:p14="http://schemas.microsoft.com/office/powerpoint/2010/main" val="4268131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CA0A7DB-EC05-6FB1-2968-49AE22B15DD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EA808AE-0DA8-5569-B891-11F6872462C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Report</a:t>
            </a:r>
            <a:endParaRPr sz="6600" dirty="0"/>
          </a:p>
        </p:txBody>
      </p:sp>
    </p:spTree>
    <p:extLst>
      <p:ext uri="{BB962C8B-B14F-4D97-AF65-F5344CB8AC3E}">
        <p14:creationId xmlns:p14="http://schemas.microsoft.com/office/powerpoint/2010/main" val="401440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331145A-2C8C-2FF2-6796-49C5DFF77DBB}"/>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213DABD-B0E7-30CC-9A8C-EB8A2A19B39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Human-readable Report</a:t>
            </a:r>
            <a:endParaRPr dirty="0"/>
          </a:p>
        </p:txBody>
      </p:sp>
      <p:sp>
        <p:nvSpPr>
          <p:cNvPr id="2" name="TextBox 1">
            <a:extLst>
              <a:ext uri="{FF2B5EF4-FFF2-40B4-BE49-F238E27FC236}">
                <a16:creationId xmlns:a16="http://schemas.microsoft.com/office/drawing/2014/main" id="{0D78E0D8-D78D-E80B-06F6-68EEE26FDE57}"/>
              </a:ext>
            </a:extLst>
          </p:cNvPr>
          <p:cNvSpPr txBox="1"/>
          <p:nvPr/>
        </p:nvSpPr>
        <p:spPr>
          <a:xfrm>
            <a:off x="455618" y="1437554"/>
            <a:ext cx="4870564"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Data extraction not required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PDFs are immutable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Auditors like PDFs</a:t>
            </a:r>
          </a:p>
        </p:txBody>
      </p:sp>
    </p:spTree>
    <p:extLst>
      <p:ext uri="{BB962C8B-B14F-4D97-AF65-F5344CB8AC3E}">
        <p14:creationId xmlns:p14="http://schemas.microsoft.com/office/powerpoint/2010/main" val="4180849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6585777" cy="2862322"/>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Identify the severity categories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Define category qualifications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Provide justification where appropriate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Categorize the identified options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Create a human-readable report</a:t>
            </a:r>
          </a:p>
        </p:txBody>
      </p:sp>
      <p:sp>
        <p:nvSpPr>
          <p:cNvPr id="5" name="Right Brace 4">
            <a:extLst>
              <a:ext uri="{FF2B5EF4-FFF2-40B4-BE49-F238E27FC236}">
                <a16:creationId xmlns:a16="http://schemas.microsoft.com/office/drawing/2014/main" id="{AD3E4AE2-8C8C-BAB9-CC84-699FF0C9EC91}"/>
              </a:ext>
            </a:extLst>
          </p:cNvPr>
          <p:cNvSpPr/>
          <p:nvPr/>
        </p:nvSpPr>
        <p:spPr>
          <a:xfrm>
            <a:off x="7041395" y="1437552"/>
            <a:ext cx="656577" cy="1656521"/>
          </a:xfrm>
          <a:prstGeom prst="rightBrace">
            <a:avLst>
              <a:gd name="adj1" fmla="val 32413"/>
              <a:gd name="adj2" fmla="val 50000"/>
            </a:avLst>
          </a:prstGeom>
          <a:ln w="508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TextBox 5">
            <a:extLst>
              <a:ext uri="{FF2B5EF4-FFF2-40B4-BE49-F238E27FC236}">
                <a16:creationId xmlns:a16="http://schemas.microsoft.com/office/drawing/2014/main" id="{06F3BEE8-5908-647F-CD37-3D3828DBF105}"/>
              </a:ext>
            </a:extLst>
          </p:cNvPr>
          <p:cNvSpPr txBox="1"/>
          <p:nvPr/>
        </p:nvSpPr>
        <p:spPr>
          <a:xfrm>
            <a:off x="7793665" y="2004202"/>
            <a:ext cx="2525050" cy="523220"/>
          </a:xfrm>
          <a:prstGeom prst="rect">
            <a:avLst/>
          </a:prstGeom>
          <a:noFill/>
        </p:spPr>
        <p:txBody>
          <a:bodyPr wrap="none" rtlCol="0">
            <a:spAutoFit/>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May be reused</a:t>
            </a:r>
            <a:endParaRPr lang="en-US" sz="2800" dirty="0"/>
          </a:p>
        </p:txBody>
      </p:sp>
    </p:spTree>
    <p:extLst>
      <p:ext uri="{BB962C8B-B14F-4D97-AF65-F5344CB8AC3E}">
        <p14:creationId xmlns:p14="http://schemas.microsoft.com/office/powerpoint/2010/main" val="170359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695602"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&lt;AVCDL&gt;/source/reference_documents/working_material/secure settings/</a:t>
            </a:r>
          </a:p>
        </p:txBody>
      </p:sp>
    </p:spTree>
    <p:extLst>
      <p:ext uri="{BB962C8B-B14F-4D97-AF65-F5344CB8AC3E}">
        <p14:creationId xmlns:p14="http://schemas.microsoft.com/office/powerpoint/2010/main" val="969977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a:extLst>
              <a:ext uri="{FF2B5EF4-FFF2-40B4-BE49-F238E27FC236}">
                <a16:creationId xmlns:a16="http://schemas.microsoft.com/office/drawing/2014/main" id="{9AF391E0-343E-BC1F-91F6-B2E02B18B081}"/>
              </a:ext>
            </a:extLst>
          </p:cNvPr>
          <p:cNvPicPr>
            <a:picLocks noChangeAspect="1"/>
          </p:cNvPicPr>
          <p:nvPr/>
        </p:nvPicPr>
        <p:blipFill>
          <a:blip r:embed="rId3"/>
          <a:srcRect/>
          <a:stretch/>
        </p:blipFill>
        <p:spPr>
          <a:xfrm>
            <a:off x="4056310" y="1239500"/>
            <a:ext cx="4076200" cy="5283369"/>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431584" cy="215443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Identify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Categorize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tool cybersecurity options template (AVCDL template)</a:t>
            </a: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361445</TotalTime>
  <Words>2051</Words>
  <Application>Microsoft Macintosh PowerPoint</Application>
  <PresentationFormat>Custom</PresentationFormat>
  <Paragraphs>327</Paragraphs>
  <Slides>23</Slides>
  <Notes>23</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23</vt:i4>
      </vt:variant>
    </vt:vector>
  </HeadingPairs>
  <TitlesOfParts>
    <vt:vector size="31" baseType="lpstr">
      <vt:lpstr>Courier New</vt:lpstr>
      <vt:lpstr>Arial</vt:lpstr>
      <vt:lpstr>Roboto Medium</vt:lpstr>
      <vt:lpstr>Roboto</vt:lpstr>
      <vt:lpstr>Calibri</vt:lpstr>
      <vt:lpstr>Simple Light</vt:lpstr>
      <vt:lpstr>Motional Masters</vt:lpstr>
      <vt:lpstr>Motional Masters</vt:lpstr>
      <vt:lpstr>Secure Settings – Categorize Options</vt:lpstr>
      <vt:lpstr>Training Path</vt:lpstr>
      <vt:lpstr>Introduction</vt:lpstr>
      <vt:lpstr>Secure Settings Process</vt:lpstr>
      <vt:lpstr>Secure Settings Process</vt:lpstr>
      <vt:lpstr>Categorize Options Activity</vt:lpstr>
      <vt:lpstr>Example</vt:lpstr>
      <vt:lpstr>Cover Sheet</vt:lpstr>
      <vt:lpstr>PowerPoint Presentation</vt:lpstr>
      <vt:lpstr>Severity Categories</vt:lpstr>
      <vt:lpstr>Establishing Categories</vt:lpstr>
      <vt:lpstr>Categories</vt:lpstr>
      <vt:lpstr>Options - Category</vt:lpstr>
      <vt:lpstr>Report</vt:lpstr>
      <vt:lpstr>Human-readable Report</vt:lpstr>
      <vt:lpstr>Recap</vt:lpstr>
      <vt:lpstr>Summary</vt:lpstr>
      <vt:lpstr>Example Materials</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Settings - Categorize Options (training)</dc:title>
  <dc:subject>cybersecurity settings - categorize options</dc:subject>
  <dc:creator>Charles Wilson</dc:creator>
  <cp:keywords>cybersecurity settings</cp:keywords>
  <dc:description>This work was created by Torc Robotics and is licensed under the Creative Commons Attribution-Share Alike (CC BY-SA-4.0) License.
https://creativecommons.org/licenses/by/4.0/legalcode 
</dc:description>
  <cp:lastModifiedBy>Charles Wilson</cp:lastModifiedBy>
  <cp:revision>605</cp:revision>
  <cp:lastPrinted>2025-07-24T18:37:57Z</cp:lastPrinted>
  <dcterms:modified xsi:type="dcterms:W3CDTF">2025-10-01T18:46:57Z</dcterms:modified>
  <cp:category/>
</cp:coreProperties>
</file>