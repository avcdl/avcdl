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1"/>
  </p:notesMasterIdLst>
  <p:sldIdLst>
    <p:sldId id="256" r:id="rId4"/>
    <p:sldId id="306" r:id="rId5"/>
    <p:sldId id="654" r:id="rId6"/>
    <p:sldId id="648" r:id="rId7"/>
    <p:sldId id="649" r:id="rId8"/>
    <p:sldId id="656" r:id="rId9"/>
    <p:sldId id="643" r:id="rId10"/>
    <p:sldId id="607" r:id="rId11"/>
    <p:sldId id="635" r:id="rId12"/>
    <p:sldId id="636" r:id="rId13"/>
    <p:sldId id="637" r:id="rId14"/>
    <p:sldId id="638" r:id="rId15"/>
    <p:sldId id="657" r:id="rId16"/>
    <p:sldId id="639" r:id="rId17"/>
    <p:sldId id="652" r:id="rId18"/>
    <p:sldId id="640" r:id="rId19"/>
    <p:sldId id="641" r:id="rId20"/>
    <p:sldId id="642" r:id="rId21"/>
    <p:sldId id="655" r:id="rId22"/>
    <p:sldId id="603" r:id="rId23"/>
    <p:sldId id="488" r:id="rId24"/>
    <p:sldId id="343" r:id="rId25"/>
    <p:sldId id="606" r:id="rId26"/>
    <p:sldId id="461" r:id="rId27"/>
    <p:sldId id="420" r:id="rId28"/>
    <p:sldId id="368" r:id="rId29"/>
    <p:sldId id="651" r:id="rId30"/>
  </p:sldIdLst>
  <p:sldSz cx="12188825" cy="6858000"/>
  <p:notesSz cx="6858000" cy="9144000"/>
  <p:embeddedFontLst>
    <p:embeddedFont>
      <p:font typeface="Roboto" panose="02000000000000000000" pitchFamily="2" charset="0"/>
      <p:regular r:id="rId32"/>
      <p:bold r:id="rId33"/>
      <p:italic r:id="rId34"/>
      <p:boldItalic r:id="rId35"/>
    </p:embeddedFont>
    <p:embeddedFont>
      <p:font typeface="Roboto Medium" panose="020F050202020403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790"/>
    <p:restoredTop sz="67393"/>
  </p:normalViewPr>
  <p:slideViewPr>
    <p:cSldViewPr snapToGrid="0">
      <p:cViewPr varScale="1">
        <p:scale>
          <a:sx n="169" d="100"/>
          <a:sy n="169" d="100"/>
        </p:scale>
        <p:origin x="216" y="352"/>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a:t>
            </a:r>
            <a:r>
              <a:rPr lang="en" sz="1400" b="1" dirty="0"/>
              <a:t>Dynamic Analysis</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latin typeface="Calibri" panose="020F0502020204030204" pitchFamily="34" charset="0"/>
                <a:cs typeface="Calibri" panose="020F0502020204030204" pitchFamily="34" charset="0"/>
              </a:rPr>
              <a:t>Dynamic Analysis</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684F43C-AFAB-53CD-E74A-A5645474020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9DB70FC-5244-0AB4-FEEB-5F419122ABC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9184644-0B65-58CF-2EAB-9C48AA0CA5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Before sending people and new equipment out into space, NASA has them spend time at their neutral buoyancy laboratory.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huge water tank used to simulate a low gravity environment.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allows them to put people and systems through their paces.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the stakes are very high and there's little margin for error.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system allows them to test specific aspects of the equipment that they've created in situations where, should a failure occur, they're monitoring it and can respond quickly to make corrections before it ever sees the field.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role within system development that dynamic analysis plays.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allows us to select specific areas within the software, put them under particular types of stress, and look at how they behave in order to determine whether or not there are issues that need to be addressed before we release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0296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we get into the process of dynamic analysis, let's consider some dynamic analysis types and tools that are of interest within the context of cybersecurity.</a:t>
            </a:r>
          </a:p>
        </p:txBody>
      </p:sp>
    </p:spTree>
    <p:extLst>
      <p:ext uri="{BB962C8B-B14F-4D97-AF65-F5344CB8AC3E}">
        <p14:creationId xmlns:p14="http://schemas.microsoft.com/office/powerpoint/2010/main" val="1448404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886532A-380C-22B7-BD1C-0AF23EECB76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B310BD2-ED13-4067-0E87-1573701BDC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402BD7-639E-5887-1C51-D7A3A13459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of the main things distinguishing dynamic analysis from static analysis is that dynamic analysis requires that we actually run code, where static analysis is simply reasoning on the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an important distinction when we think about the kinds of analysis that we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consider things like code coverage. Are we actually exercising all of our code?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think about concurrency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think about fault localization, which tends to be a more manual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talk about invariant inference where we've got what appears to be complex code, but in actuality has a very static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memory error detection.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think about this a lot because if there are errors in memory, we’ll have bad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talk about performance analysis where we're looking at how the system as a whole acts both in terms of time and resources.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program slicing where our interest is in how we can make the program as small as possible and still have it do what it's supposed to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there's a type of security analysis which is looking at the behavior of the code as it's running with respect to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is primarily on memory error detection.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consider what tools are available for that type of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1304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26992EB-D305-8D5C-C7BE-1A8661DDA32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4C98A5B-AFF8-EF01-DD4A-97CE948198C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ED57AF5-0071-FFBE-5387-364DE212DB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five tools that we're going to consider when talking about dynamic analysis memory error detection.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ASan, which looks at address management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MSan, which considers memory initialization</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LSan, which looks for memory leaks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TSan, which is concerned with thread management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UBSan, which looks for undefined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San in all of these is short for sanitizer.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tools are available for most platforms and tool chains of interest.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won't be going into any more depth on these.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left to other trainings.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016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With the background material out of the way, we'll now look at the workflow involved in the dynamic analysis process and then examine each of the activities it contains.</a:t>
            </a:r>
          </a:p>
        </p:txBody>
      </p:sp>
    </p:spTree>
    <p:extLst>
      <p:ext uri="{BB962C8B-B14F-4D97-AF65-F5344CB8AC3E}">
        <p14:creationId xmlns:p14="http://schemas.microsoft.com/office/powerpoint/2010/main" val="507866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dynamic analysis process is broken down into four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instrumenting the element</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conducting a triage of the issues identified as a result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916994B-81A7-FD2F-0DD2-87A0F1D793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19CD809-9EE9-F786-9A72-ABAC449955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ACB8B14-8400-EE26-9BD8-C7664FFD4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Let's now turn our attention to each of the activities that go into the dynamic analysis process.</a:t>
            </a: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210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first activity in the dynamic analysis process is that of establishing the settings we'll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the activity itself will include a development SME, a cybersecurity SME, and a devops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They're going to take the element, the build file, and the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establish a set of settings to be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will put into an updated the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produce a security options qualifications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this diagram seems really information-dense, that's because this is the encapsulation of the secure settings process, and we're not going to cover that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we're impacting the build, it's important to consider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execution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since dynamic analysis is part of the test suite to be executed,  it may well be time bounded.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it's important to consider how that time bounding will be impacted by the addition of the dynamic analysis task.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same thing is true for the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instrumentation that's put into a test and attached to an element, regardless of what the scope of that element is, you may run into boundary conditions for the particular system the code is running on, and you have to be cognizant of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Rather than rehash a subject that is covered separately, here are some references to review secure settings in more detail.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are the Secure Settings Overview training video, and the Secure Settings Document, secondary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step in the process is to instrument the element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security SME and devops SME take the element test and updated build file and construct an instrumented element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emphasize that generally what we're doing is really overlaying an existing test with instrumentation to allow the dynamic analysis tool to run against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some cases, this step may be fully automated.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to say that we have the build file with updated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know the object that we're going to be dealing with and can just let it go through its cycle and generate an instrumented element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may be the case that there is no existing test, in which case a test needs to be written.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Either way it's important to recognize that tests don't magic themselves into existence.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activity in the dynamic analysis process is to perform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taking the instrumented element test which will perform the analysis and generating output.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consider that we're generally not using just one tool, and a single element is not usually going to be the limit of our interest when looking at how a given tool performs against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 this in mind, you should treat all of your tools and all of your elements where possible, as orthogonal.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to say that when you're doing an analysis run, it's not covering everything.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by the same token, you want to make sure that multiple runs will yield you the coverage that you want.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it's important that there be some temporal coupling the analysis runs.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code base is not static over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that when you're analyzing an element, that you're analyzing it to the extent that you're able with multiple tools and to that end, it's important that you do this in a timely fashion.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don't want to do a dynamic analysis run that's looking at a particular aspect of memory initialization and then wait three weeks before you look at the memory leaks, because these are related and coupled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it's important to consider that because the code changes, that were you to do a memory leaks analysis a long time after you've done the memory initialization analysis, that you're possibly going to have new issues from analysis that you ran first.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588400E-8DF2-7D35-2CC7-63C565307AB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8C7C75E-F25A-7DE9-DEDF-1A37FDFDB54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C4CF5F0-3B82-DBC3-2DF1-B8C3EBC93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final activity in the dynamic analysis process, as with so many AVCDL processes, is that of triage.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cybersecurity SME and their development SME counterpart will take the dynamic analysis output and triage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issues found to be valid are placed into an identified issues list, which is then sent to the threat prioritization process and a dynamic analysis report is generated.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Some may consider having to put each issue through the threat prioritization process as excessive for issues which typically result from execution termination.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Depending on how the organization implements their processes, it’s possible that issues may be entered directly to the issue tracking system instead of passing them to the threat prioritization process where the nature of the issues is unambiguous.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you're performing a triage, and discover that a tool is reporting an excessive number of false positives, then you should review the settings being used and ensure that they’re appropriate. If necessary, remove those settings which yield incorrect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Don't consider settings to be locked down, because at some point, those settings may need to change.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2782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02500B6-CC10-84C8-ABDC-BD638F1D5AD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35F4D31-BB3F-01C8-896C-9B094114FCE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F737493-1B2F-17A8-FD0F-8A54920732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consider what goes into the identified issues, and in fact, into the dynamic analysis report by extension, there are three fundamental pieces of information that need to be there.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the tool.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seem a bit on the pointless side, but you have to consider that there's not just one dynamic analysis report that will ever be generated.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a multitude of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as this information is entered into the issue tracking system, and as it goes through threat prioritization processes, even as it's read, it's critical to know what tooling is being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extends beyond just its name; there’s a whole host of information needed to identify what was used to perform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thing to consider is the documentation of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may have gone through the exercise of deciding what the scope is, and instrumenting it and such, but as it's conveyed from the process to other individuals, It's important that it be documented in a way that allows others to easily locate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have the actual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dynamic analysis, as opposed to other types of analysis we do, the results may contain only one issue because by nature dynamic analysis runs to failure.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takeaway is that we need to make sure we're including all of the information necessary for someone to both replicate and resolve the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2765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an overview of the process used in performing dynamic analysis.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what's been covered.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we've seen, the dynamic analysis process is fairly straightforward.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start by selecting the tool or tools we're going to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make sure that we're instrumenting appropriately so that we are getting the tool to give us type results we are interested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Once we get the results, we're going to triage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we're going to report those findings in both the human readable and machine readable form.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latter because we want to automate our processes where possible.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more information, and to get a more in-depth set of references, the Dynamic Analysis Report secondary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5F80D927-8A32-3A26-4C0B-2660F56327A9}"/>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870091A7-18FD-2411-B456-5DC3E8F3223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a:extLst>
              <a:ext uri="{FF2B5EF4-FFF2-40B4-BE49-F238E27FC236}">
                <a16:creationId xmlns:a16="http://schemas.microsoft.com/office/drawing/2014/main" id="{07DA6CF4-EC21-7E1A-B255-CC72E06AAD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1479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hyperlink" Target="https://docs.oasis-open.org/sarif/sarif/v2.1.0/os/sarif-v2.1.0-os.pdf" TargetMode="External"/><Relationship Id="rId7" Type="http://schemas.openxmlformats.org/officeDocument/2006/relationships/hyperlink" Target="https://clang.llvm.org/docs/ThreadSanitizer.html"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hyperlink" Target="https://clang.llvm.org/docs/AddressSanitizer.html" TargetMode="External"/><Relationship Id="rId5" Type="http://schemas.openxmlformats.org/officeDocument/2006/relationships/hyperlink" Target="https://gcc.gnu.org/onlinedocs/gcc/Instrumentation-Options.html" TargetMode="External"/><Relationship Id="rId4" Type="http://schemas.openxmlformats.org/officeDocument/2006/relationships/hyperlink" Target="https://en.wikipedia.org/wiki/Dynamic_program_analysis"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clang.llvm.org/docs/MemorySanitizer.htm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www.nasa.gov/wp-content/uploads/2020/05/neutral_buoyancy_-_resized_1.jpg" TargetMode="External"/><Relationship Id="rId5" Type="http://schemas.openxmlformats.org/officeDocument/2006/relationships/hyperlink" Target="https://clang.llvm.org/docs/UndefinedBehaviorSanitizer.html" TargetMode="External"/><Relationship Id="rId4" Type="http://schemas.openxmlformats.org/officeDocument/2006/relationships/hyperlink" Target="https://clang.llvm.org/docs/LeakSanitiz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Dynamic Analysis Overview</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6</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2025-08-26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6F03F20-507D-D23F-DB6C-1951C8FE079D}"/>
            </a:ext>
          </a:extLst>
        </p:cNvPr>
        <p:cNvGrpSpPr/>
        <p:nvPr/>
      </p:nvGrpSpPr>
      <p:grpSpPr>
        <a:xfrm>
          <a:off x="0" y="0"/>
          <a:ext cx="0" cy="0"/>
          <a:chOff x="0" y="0"/>
          <a:chExt cx="0" cy="0"/>
        </a:xfrm>
      </p:grpSpPr>
      <p:pic>
        <p:nvPicPr>
          <p:cNvPr id="4" name="Picture 3" descr="A group of people in white suits and scuba gear underwater&#10;&#10;AI-generated content may be incorrect.">
            <a:extLst>
              <a:ext uri="{FF2B5EF4-FFF2-40B4-BE49-F238E27FC236}">
                <a16:creationId xmlns:a16="http://schemas.microsoft.com/office/drawing/2014/main" id="{F8F26AF3-E165-CB79-1AC2-76D69F133DD1}"/>
              </a:ext>
            </a:extLst>
          </p:cNvPr>
          <p:cNvPicPr>
            <a:picLocks noChangeAspect="1"/>
          </p:cNvPicPr>
          <p:nvPr/>
        </p:nvPicPr>
        <p:blipFill>
          <a:blip r:embed="rId3"/>
          <a:srcRect t="24196" b="5430"/>
          <a:stretch>
            <a:fillRect/>
          </a:stretch>
        </p:blipFill>
        <p:spPr>
          <a:xfrm>
            <a:off x="-2300" y="0"/>
            <a:ext cx="12191124" cy="6858000"/>
          </a:xfrm>
          <a:prstGeom prst="rect">
            <a:avLst/>
          </a:prstGeom>
        </p:spPr>
      </p:pic>
      <p:sp>
        <p:nvSpPr>
          <p:cNvPr id="1199" name="Google Shape;1199;p156">
            <a:extLst>
              <a:ext uri="{FF2B5EF4-FFF2-40B4-BE49-F238E27FC236}">
                <a16:creationId xmlns:a16="http://schemas.microsoft.com/office/drawing/2014/main" id="{B028FB8F-53D3-B6BE-4526-06C7E5BEF5A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bg1"/>
                </a:solidFill>
              </a:rPr>
              <a:t>Introduction</a:t>
            </a:r>
            <a:r>
              <a:rPr lang="en" dirty="0">
                <a:solidFill>
                  <a:schemeClr val="tx1"/>
                </a:solidFill>
              </a:rPr>
              <a:t> </a:t>
            </a:r>
            <a:r>
              <a:rPr lang="en" baseline="30000" dirty="0">
                <a:solidFill>
                  <a:srgbClr val="FFFAB2"/>
                </a:solidFill>
              </a:rPr>
              <a:t>*</a:t>
            </a:r>
            <a:endParaRPr baseline="30000" dirty="0">
              <a:solidFill>
                <a:srgbClr val="FFFAB2"/>
              </a:solidFill>
            </a:endParaRPr>
          </a:p>
        </p:txBody>
      </p:sp>
      <p:sp>
        <p:nvSpPr>
          <p:cNvPr id="6" name="TextBox 5">
            <a:extLst>
              <a:ext uri="{FF2B5EF4-FFF2-40B4-BE49-F238E27FC236}">
                <a16:creationId xmlns:a16="http://schemas.microsoft.com/office/drawing/2014/main" id="{30D471DD-A638-55AF-2FBF-08CFB42664D3}"/>
              </a:ext>
            </a:extLst>
          </p:cNvPr>
          <p:cNvSpPr txBox="1"/>
          <p:nvPr/>
        </p:nvSpPr>
        <p:spPr>
          <a:xfrm>
            <a:off x="1" y="6596390"/>
            <a:ext cx="4480559"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Neutral Buoyancy </a:t>
            </a:r>
            <a:r>
              <a:rPr lang="en-US" sz="1100" dirty="0">
                <a:solidFill>
                  <a:srgbClr val="FFFAB2"/>
                </a:solidFill>
              </a:rPr>
              <a:t>(link in references) </a:t>
            </a:r>
          </a:p>
        </p:txBody>
      </p:sp>
    </p:spTree>
    <p:extLst>
      <p:ext uri="{BB962C8B-B14F-4D97-AF65-F5344CB8AC3E}">
        <p14:creationId xmlns:p14="http://schemas.microsoft.com/office/powerpoint/2010/main" val="174878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Types and Tools</a:t>
            </a:r>
            <a:endParaRPr sz="6600" dirty="0"/>
          </a:p>
        </p:txBody>
      </p:sp>
    </p:spTree>
    <p:extLst>
      <p:ext uri="{BB962C8B-B14F-4D97-AF65-F5344CB8AC3E}">
        <p14:creationId xmlns:p14="http://schemas.microsoft.com/office/powerpoint/2010/main" val="190089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71D25F0-0C1B-F6FA-0ECC-AB5A3C529DC4}"/>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F538298-3093-2CFE-90C4-C39479A75CF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Dynamic Analysis Types</a:t>
            </a:r>
            <a:endParaRPr dirty="0"/>
          </a:p>
        </p:txBody>
      </p:sp>
      <p:sp>
        <p:nvSpPr>
          <p:cNvPr id="2" name="TextBox 1">
            <a:extLst>
              <a:ext uri="{FF2B5EF4-FFF2-40B4-BE49-F238E27FC236}">
                <a16:creationId xmlns:a16="http://schemas.microsoft.com/office/drawing/2014/main" id="{4A9AAC1A-8013-D326-366B-3C29EF09F35E}"/>
              </a:ext>
            </a:extLst>
          </p:cNvPr>
          <p:cNvSpPr txBox="1"/>
          <p:nvPr/>
        </p:nvSpPr>
        <p:spPr>
          <a:xfrm>
            <a:off x="455617" y="1437554"/>
            <a:ext cx="11277833" cy="4616648"/>
          </a:xfrm>
          <a:prstGeom prst="rect">
            <a:avLst/>
          </a:prstGeom>
          <a:noFill/>
        </p:spPr>
        <p:txBody>
          <a:bodyPr wrap="squar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Code coverage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Concurrency errors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Fault localization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Invariant inference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error detection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Performance analysis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Program slicing</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Security analysis</a:t>
            </a:r>
          </a:p>
        </p:txBody>
      </p:sp>
    </p:spTree>
    <p:extLst>
      <p:ext uri="{BB962C8B-B14F-4D97-AF65-F5344CB8AC3E}">
        <p14:creationId xmlns:p14="http://schemas.microsoft.com/office/powerpoint/2010/main" val="93466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65FD7CB-FE17-A57F-DB5E-76243E124CB9}"/>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C5DB22-C08E-1BE4-A9E2-B079C396304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Memory Error Detection Tools</a:t>
            </a:r>
            <a:endParaRPr dirty="0"/>
          </a:p>
        </p:txBody>
      </p:sp>
      <p:graphicFrame>
        <p:nvGraphicFramePr>
          <p:cNvPr id="3" name="Table 2">
            <a:extLst>
              <a:ext uri="{FF2B5EF4-FFF2-40B4-BE49-F238E27FC236}">
                <a16:creationId xmlns:a16="http://schemas.microsoft.com/office/drawing/2014/main" id="{A95FE32C-086F-D6B6-E611-30ED8F5EF987}"/>
              </a:ext>
            </a:extLst>
          </p:cNvPr>
          <p:cNvGraphicFramePr>
            <a:graphicFrameLocks noGrp="1"/>
          </p:cNvGraphicFramePr>
          <p:nvPr>
            <p:extLst>
              <p:ext uri="{D42A27DB-BD31-4B8C-83A1-F6EECF244321}">
                <p14:modId xmlns:p14="http://schemas.microsoft.com/office/powerpoint/2010/main" val="556690355"/>
              </p:ext>
            </p:extLst>
          </p:nvPr>
        </p:nvGraphicFramePr>
        <p:xfrm>
          <a:off x="3437049" y="1874520"/>
          <a:ext cx="5314726" cy="3108960"/>
        </p:xfrm>
        <a:graphic>
          <a:graphicData uri="http://schemas.openxmlformats.org/drawingml/2006/table">
            <a:tbl>
              <a:tblPr firstRow="1" bandRow="1">
                <a:tableStyleId>{F9A1F375-83D2-49B6-B6D9-1E75FAB2CD22}</a:tableStyleId>
              </a:tblPr>
              <a:tblGrid>
                <a:gridCol w="1347160">
                  <a:extLst>
                    <a:ext uri="{9D8B030D-6E8A-4147-A177-3AD203B41FA5}">
                      <a16:colId xmlns:a16="http://schemas.microsoft.com/office/drawing/2014/main" val="1591903695"/>
                    </a:ext>
                  </a:extLst>
                </a:gridCol>
                <a:gridCol w="3967566">
                  <a:extLst>
                    <a:ext uri="{9D8B030D-6E8A-4147-A177-3AD203B41FA5}">
                      <a16:colId xmlns:a16="http://schemas.microsoft.com/office/drawing/2014/main" val="715018994"/>
                    </a:ext>
                  </a:extLst>
                </a:gridCol>
              </a:tblGrid>
              <a:tr h="300323">
                <a:tc>
                  <a:txBody>
                    <a:bodyPr/>
                    <a:lstStyle/>
                    <a:p>
                      <a:pPr algn="r"/>
                      <a:r>
                        <a:rPr lang="en-US" sz="2800" b="1" dirty="0">
                          <a:latin typeface="Roboto" panose="02000000000000000000" pitchFamily="2" charset="0"/>
                          <a:ea typeface="Roboto" panose="02000000000000000000" pitchFamily="2" charset="0"/>
                          <a:cs typeface="Roboto" panose="02000000000000000000" pitchFamily="2" charset="0"/>
                        </a:rPr>
                        <a:t>Tool</a:t>
                      </a:r>
                    </a:p>
                  </a:txBody>
                  <a:tcPr>
                    <a:solidFill>
                      <a:schemeClr val="bg2">
                        <a:lumMod val="20000"/>
                        <a:lumOff val="80000"/>
                      </a:schemeClr>
                    </a:solidFill>
                  </a:tcPr>
                </a:tc>
                <a:tc>
                  <a:txBody>
                    <a:bodyPr/>
                    <a:lstStyle/>
                    <a:p>
                      <a:r>
                        <a:rPr lang="en-US" sz="2800" b="1" dirty="0">
                          <a:latin typeface="Roboto" panose="02000000000000000000" pitchFamily="2" charset="0"/>
                          <a:ea typeface="Roboto" panose="02000000000000000000" pitchFamily="2" charset="0"/>
                          <a:cs typeface="Roboto" panose="02000000000000000000" pitchFamily="2" charset="0"/>
                        </a:rPr>
                        <a:t>Area</a:t>
                      </a:r>
                    </a:p>
                  </a:txBody>
                  <a:tcPr>
                    <a:solidFill>
                      <a:schemeClr val="bg2">
                        <a:lumMod val="20000"/>
                        <a:lumOff val="80000"/>
                      </a:schemeClr>
                    </a:solidFill>
                  </a:tcPr>
                </a:tc>
                <a:extLst>
                  <a:ext uri="{0D108BD9-81ED-4DB2-BD59-A6C34878D82A}">
                    <a16:rowId xmlns:a16="http://schemas.microsoft.com/office/drawing/2014/main" val="607890221"/>
                  </a:ext>
                </a:extLst>
              </a:tr>
              <a:tr h="370840">
                <a:tc>
                  <a:txBody>
                    <a:bodyPr/>
                    <a:lstStyle/>
                    <a:p>
                      <a:pPr algn="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ASan</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Address management </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extLst>
                  <a:ext uri="{0D108BD9-81ED-4DB2-BD59-A6C34878D82A}">
                    <a16:rowId xmlns:a16="http://schemas.microsoft.com/office/drawing/2014/main" val="3960219496"/>
                  </a:ext>
                </a:extLst>
              </a:tr>
              <a:tr h="370840">
                <a:tc>
                  <a:txBody>
                    <a:bodyPr/>
                    <a:lstStyle/>
                    <a:p>
                      <a:pPr algn="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MSan</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initialization </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extLst>
                  <a:ext uri="{0D108BD9-81ED-4DB2-BD59-A6C34878D82A}">
                    <a16:rowId xmlns:a16="http://schemas.microsoft.com/office/drawing/2014/main" val="1068605633"/>
                  </a:ext>
                </a:extLst>
              </a:tr>
              <a:tr h="370840">
                <a:tc>
                  <a:txBody>
                    <a:bodyPr/>
                    <a:lstStyle/>
                    <a:p>
                      <a:pPr algn="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LSan</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leaks </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extLst>
                  <a:ext uri="{0D108BD9-81ED-4DB2-BD59-A6C34878D82A}">
                    <a16:rowId xmlns:a16="http://schemas.microsoft.com/office/drawing/2014/main" val="1016006992"/>
                  </a:ext>
                </a:extLst>
              </a:tr>
              <a:tr h="370840">
                <a:tc>
                  <a:txBody>
                    <a:bodyPr/>
                    <a:lstStyle/>
                    <a:p>
                      <a:pPr algn="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TSan</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Thread management </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extLst>
                  <a:ext uri="{0D108BD9-81ED-4DB2-BD59-A6C34878D82A}">
                    <a16:rowId xmlns:a16="http://schemas.microsoft.com/office/drawing/2014/main" val="1653329899"/>
                  </a:ext>
                </a:extLst>
              </a:tr>
              <a:tr h="370840">
                <a:tc>
                  <a:txBody>
                    <a:bodyPr/>
                    <a:lstStyle/>
                    <a:p>
                      <a:pPr algn="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UBSan</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Undefined behavior </a:t>
                      </a:r>
                      <a:endParaRPr lang="en-US" sz="2800" dirty="0">
                        <a:latin typeface="Roboto" panose="02000000000000000000" pitchFamily="2" charset="0"/>
                        <a:ea typeface="Roboto" panose="02000000000000000000" pitchFamily="2" charset="0"/>
                        <a:cs typeface="Roboto" panose="02000000000000000000" pitchFamily="2" charset="0"/>
                      </a:endParaRPr>
                    </a:p>
                  </a:txBody>
                  <a:tcPr/>
                </a:tc>
                <a:extLst>
                  <a:ext uri="{0D108BD9-81ED-4DB2-BD59-A6C34878D82A}">
                    <a16:rowId xmlns:a16="http://schemas.microsoft.com/office/drawing/2014/main" val="2414315720"/>
                  </a:ext>
                </a:extLst>
              </a:tr>
            </a:tbl>
          </a:graphicData>
        </a:graphic>
      </p:graphicFrame>
    </p:spTree>
    <p:extLst>
      <p:ext uri="{BB962C8B-B14F-4D97-AF65-F5344CB8AC3E}">
        <p14:creationId xmlns:p14="http://schemas.microsoft.com/office/powerpoint/2010/main" val="3809870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10" name="Picture 9" descr="A diagram of a diagram of a diagram&#10;&#10;AI-generated content may be incorrect.">
            <a:extLst>
              <a:ext uri="{FF2B5EF4-FFF2-40B4-BE49-F238E27FC236}">
                <a16:creationId xmlns:a16="http://schemas.microsoft.com/office/drawing/2014/main" id="{14DD5FF4-D58F-1BF9-8E1C-367DD4BEA5FB}"/>
              </a:ext>
            </a:extLst>
          </p:cNvPr>
          <p:cNvPicPr>
            <a:picLocks noChangeAspect="1"/>
          </p:cNvPicPr>
          <p:nvPr/>
        </p:nvPicPr>
        <p:blipFill>
          <a:blip r:embed="rId3"/>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427840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9" name="Picture 8" descr="A diagram of a diagram of a diagram&#10;&#10;AI-generated content may be incorrect.">
            <a:extLst>
              <a:ext uri="{FF2B5EF4-FFF2-40B4-BE49-F238E27FC236}">
                <a16:creationId xmlns:a16="http://schemas.microsoft.com/office/drawing/2014/main" id="{E4DBD81A-1A61-E920-02AB-A015FAC38D09}"/>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a:t>
            </a:r>
            <a:endParaRPr dirty="0"/>
          </a:p>
        </p:txBody>
      </p:sp>
      <p:pic>
        <p:nvPicPr>
          <p:cNvPr id="6" name="Picture 5" descr="A diagram of a security system&#10;&#10;AI-generated content may be incorrect.">
            <a:extLst>
              <a:ext uri="{FF2B5EF4-FFF2-40B4-BE49-F238E27FC236}">
                <a16:creationId xmlns:a16="http://schemas.microsoft.com/office/drawing/2014/main" id="{65BDA7F5-1597-7FB3-01E6-3598A841EED7}"/>
              </a:ext>
            </a:extLst>
          </p:cNvPr>
          <p:cNvPicPr>
            <a:picLocks noChangeAspect="1"/>
          </p:cNvPicPr>
          <p:nvPr/>
        </p:nvPicPr>
        <p:blipFill>
          <a:blip r:embed="rId4"/>
          <a:stretch>
            <a:fillRect/>
          </a:stretch>
        </p:blipFill>
        <p:spPr>
          <a:xfrm>
            <a:off x="274865" y="1562354"/>
            <a:ext cx="3220879" cy="3733292"/>
          </a:xfrm>
          <a:prstGeom prst="rect">
            <a:avLst/>
          </a:prstGeom>
        </p:spPr>
      </p:pic>
    </p:spTree>
    <p:extLst>
      <p:ext uri="{BB962C8B-B14F-4D97-AF65-F5344CB8AC3E}">
        <p14:creationId xmlns:p14="http://schemas.microsoft.com/office/powerpoint/2010/main" val="299932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pic>
        <p:nvPicPr>
          <p:cNvPr id="10" name="Picture 9" descr="A diagram of a diagram of a diagram&#10;&#10;AI-generated content may be incorrect.">
            <a:extLst>
              <a:ext uri="{FF2B5EF4-FFF2-40B4-BE49-F238E27FC236}">
                <a16:creationId xmlns:a16="http://schemas.microsoft.com/office/drawing/2014/main" id="{99892FD3-CB53-8342-1EB1-16D08D5C4BD9}"/>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Instrument Element</a:t>
            </a:r>
            <a:endParaRPr dirty="0"/>
          </a:p>
        </p:txBody>
      </p:sp>
      <p:pic>
        <p:nvPicPr>
          <p:cNvPr id="7" name="Picture 6">
            <a:extLst>
              <a:ext uri="{FF2B5EF4-FFF2-40B4-BE49-F238E27FC236}">
                <a16:creationId xmlns:a16="http://schemas.microsoft.com/office/drawing/2014/main" id="{FB07FC00-A3BE-0727-1642-48A51B801757}"/>
              </a:ext>
            </a:extLst>
          </p:cNvPr>
          <p:cNvPicPr>
            <a:picLocks noChangeAspect="1"/>
          </p:cNvPicPr>
          <p:nvPr/>
        </p:nvPicPr>
        <p:blipFill>
          <a:blip r:embed="rId4"/>
          <a:stretch>
            <a:fillRect/>
          </a:stretch>
        </p:blipFill>
        <p:spPr>
          <a:xfrm>
            <a:off x="2688118" y="1562354"/>
            <a:ext cx="3887017" cy="3733292"/>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pic>
        <p:nvPicPr>
          <p:cNvPr id="11" name="Picture 10" descr="A diagram of a diagram of a diagram&#10;&#10;AI-generated content may be incorrect.">
            <a:extLst>
              <a:ext uri="{FF2B5EF4-FFF2-40B4-BE49-F238E27FC236}">
                <a16:creationId xmlns:a16="http://schemas.microsoft.com/office/drawing/2014/main" id="{B041E3D5-BC32-EDF3-A51A-32E4384144EA}"/>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pic>
        <p:nvPicPr>
          <p:cNvPr id="10" name="Picture 9" descr="A diagram of a diagram of a diagram&#10;&#10;AI-generated content may be incorrect.">
            <a:extLst>
              <a:ext uri="{FF2B5EF4-FFF2-40B4-BE49-F238E27FC236}">
                <a16:creationId xmlns:a16="http://schemas.microsoft.com/office/drawing/2014/main" id="{4AFF14F0-B360-62DC-F70F-59062918A9B5}"/>
              </a:ext>
            </a:extLst>
          </p:cNvPr>
          <p:cNvPicPr>
            <a:picLocks noChangeAspect="1"/>
          </p:cNvPicPr>
          <p:nvPr/>
        </p:nvPicPr>
        <p:blipFill>
          <a:blip r:embed="rId4">
            <a:alphaModFix amt="10000"/>
          </a:blip>
          <a:stretch>
            <a:fillRect/>
          </a:stretch>
        </p:blipFill>
        <p:spPr>
          <a:xfrm>
            <a:off x="274866" y="1562354"/>
            <a:ext cx="11639091" cy="3733292"/>
          </a:xfrm>
          <a:prstGeom prst="rect">
            <a:avLst/>
          </a:prstGeom>
        </p:spPr>
      </p:pic>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Analysis</a:t>
            </a:r>
            <a:endParaRPr dirty="0"/>
          </a:p>
        </p:txBody>
      </p:sp>
      <p:pic>
        <p:nvPicPr>
          <p:cNvPr id="8" name="Picture 7">
            <a:extLst>
              <a:ext uri="{FF2B5EF4-FFF2-40B4-BE49-F238E27FC236}">
                <a16:creationId xmlns:a16="http://schemas.microsoft.com/office/drawing/2014/main" id="{3EE13257-C19F-94C4-5416-24672D4E9893}"/>
              </a:ext>
            </a:extLst>
          </p:cNvPr>
          <p:cNvPicPr>
            <a:picLocks noChangeAspect="1"/>
          </p:cNvPicPr>
          <p:nvPr/>
        </p:nvPicPr>
        <p:blipFill>
          <a:blip r:embed="rId5"/>
          <a:stretch>
            <a:fillRect/>
          </a:stretch>
        </p:blipFill>
        <p:spPr>
          <a:xfrm>
            <a:off x="5724706" y="1562354"/>
            <a:ext cx="3118397" cy="3733292"/>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pic>
        <p:nvPicPr>
          <p:cNvPr id="11" name="Picture 10" descr="A diagram of a diagram of a diagram&#10;&#10;AI-generated content may be incorrect.">
            <a:extLst>
              <a:ext uri="{FF2B5EF4-FFF2-40B4-BE49-F238E27FC236}">
                <a16:creationId xmlns:a16="http://schemas.microsoft.com/office/drawing/2014/main" id="{FCA63E5A-8519-C64A-63FF-DE56639BF9F1}"/>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pic>
        <p:nvPicPr>
          <p:cNvPr id="13" name="Picture 12" descr="A diagram of a business process&#10;&#10;AI-generated content may be incorrect.">
            <a:extLst>
              <a:ext uri="{FF2B5EF4-FFF2-40B4-BE49-F238E27FC236}">
                <a16:creationId xmlns:a16="http://schemas.microsoft.com/office/drawing/2014/main" id="{137DA9A9-C814-A7C1-CC08-19FAD25BA22C}"/>
              </a:ext>
            </a:extLst>
          </p:cNvPr>
          <p:cNvPicPr>
            <a:picLocks noChangeAspect="1"/>
          </p:cNvPicPr>
          <p:nvPr/>
        </p:nvPicPr>
        <p:blipFill>
          <a:blip r:embed="rId4"/>
          <a:stretch>
            <a:fillRect/>
          </a:stretch>
        </p:blipFill>
        <p:spPr>
          <a:xfrm>
            <a:off x="7997798" y="1562352"/>
            <a:ext cx="3996817" cy="3733291"/>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83F98B-0865-389F-7AC7-DB4A13CA4584}"/>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D603143-1F2F-5768-3F3D-390A4DC5B79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Activities</a:t>
            </a:r>
            <a:endParaRPr sz="6600" dirty="0"/>
          </a:p>
        </p:txBody>
      </p:sp>
    </p:spTree>
    <p:extLst>
      <p:ext uri="{BB962C8B-B14F-4D97-AF65-F5344CB8AC3E}">
        <p14:creationId xmlns:p14="http://schemas.microsoft.com/office/powerpoint/2010/main" val="3803324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pic>
        <p:nvPicPr>
          <p:cNvPr id="6" name="Picture 5" descr="A diagram of a security system&#10;&#10;AI-generated content may be incorrect.">
            <a:extLst>
              <a:ext uri="{FF2B5EF4-FFF2-40B4-BE49-F238E27FC236}">
                <a16:creationId xmlns:a16="http://schemas.microsoft.com/office/drawing/2014/main" id="{1C5F5F98-BA62-DD58-04BF-CF03D1FA659F}"/>
              </a:ext>
            </a:extLst>
          </p:cNvPr>
          <p:cNvPicPr>
            <a:picLocks noChangeAspect="1"/>
          </p:cNvPicPr>
          <p:nvPr/>
        </p:nvPicPr>
        <p:blipFill>
          <a:blip r:embed="rId3"/>
          <a:stretch>
            <a:fillRect/>
          </a:stretch>
        </p:blipFill>
        <p:spPr>
          <a:xfrm>
            <a:off x="6094412" y="985083"/>
            <a:ext cx="4606555" cy="5339416"/>
          </a:xfrm>
          <a:prstGeom prst="rect">
            <a:avLst/>
          </a:prstGeom>
        </p:spPr>
      </p:pic>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a:t>
            </a:r>
            <a:endParaRPr dirty="0"/>
          </a:p>
        </p:txBody>
      </p:sp>
      <p:sp>
        <p:nvSpPr>
          <p:cNvPr id="7" name="TextBox 6">
            <a:extLst>
              <a:ext uri="{FF2B5EF4-FFF2-40B4-BE49-F238E27FC236}">
                <a16:creationId xmlns:a16="http://schemas.microsoft.com/office/drawing/2014/main" id="{352C85C5-1303-6DDF-FD4F-D7AE139B0A79}"/>
              </a:ext>
            </a:extLst>
          </p:cNvPr>
          <p:cNvSpPr txBox="1"/>
          <p:nvPr/>
        </p:nvSpPr>
        <p:spPr>
          <a:xfrm>
            <a:off x="455618" y="3100793"/>
            <a:ext cx="2786660"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time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Footprint</a:t>
            </a:r>
          </a:p>
        </p:txBody>
      </p:sp>
    </p:spTree>
    <p:extLst>
      <p:ext uri="{BB962C8B-B14F-4D97-AF65-F5344CB8AC3E}">
        <p14:creationId xmlns:p14="http://schemas.microsoft.com/office/powerpoint/2010/main" val="2581357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descr="A document with text on it&#10;&#10;AI-generated content may be incorrect.">
            <a:extLst>
              <a:ext uri="{FF2B5EF4-FFF2-40B4-BE49-F238E27FC236}">
                <a16:creationId xmlns:a16="http://schemas.microsoft.com/office/drawing/2014/main" id="{9AF391E0-343E-BC1F-91F6-B2E02B18B081}"/>
              </a:ext>
            </a:extLst>
          </p:cNvPr>
          <p:cNvPicPr>
            <a:picLocks noChangeAspect="1"/>
          </p:cNvPicPr>
          <p:nvPr/>
        </p:nvPicPr>
        <p:blipFill>
          <a:blip r:embed="rId3"/>
          <a:stretch>
            <a:fillRect/>
          </a:stretch>
        </p:blipFill>
        <p:spPr>
          <a:xfrm>
            <a:off x="7650847" y="1239500"/>
            <a:ext cx="4082604"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3108"/>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06015F5-2E88-1F8A-1637-A45FADACB9E0}"/>
              </a:ext>
            </a:extLst>
          </p:cNvPr>
          <p:cNvPicPr>
            <a:picLocks noChangeAspect="1"/>
          </p:cNvPicPr>
          <p:nvPr/>
        </p:nvPicPr>
        <p:blipFill>
          <a:blip r:embed="rId3"/>
          <a:stretch>
            <a:fillRect/>
          </a:stretch>
        </p:blipFill>
        <p:spPr>
          <a:xfrm>
            <a:off x="6094412" y="985083"/>
            <a:ext cx="5557251" cy="5337472"/>
          </a:xfrm>
          <a:prstGeom prst="rect">
            <a:avLst/>
          </a:prstGeom>
        </p:spPr>
      </p:pic>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Instrument Element</a:t>
            </a:r>
            <a:endParaRPr dirty="0"/>
          </a:p>
        </p:txBody>
      </p:sp>
      <p:sp>
        <p:nvSpPr>
          <p:cNvPr id="8" name="TextBox 7">
            <a:extLst>
              <a:ext uri="{FF2B5EF4-FFF2-40B4-BE49-F238E27FC236}">
                <a16:creationId xmlns:a16="http://schemas.microsoft.com/office/drawing/2014/main" id="{84E40090-A52D-B6A0-D6F7-CEB5203082B3}"/>
              </a:ext>
            </a:extLst>
          </p:cNvPr>
          <p:cNvSpPr txBox="1"/>
          <p:nvPr/>
        </p:nvSpPr>
        <p:spPr>
          <a:xfrm>
            <a:off x="455373" y="3099821"/>
            <a:ext cx="423256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Overlay existing test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Possibly fully automatic</a:t>
            </a:r>
          </a:p>
        </p:txBody>
      </p:sp>
    </p:spTree>
    <p:extLst>
      <p:ext uri="{BB962C8B-B14F-4D97-AF65-F5344CB8AC3E}">
        <p14:creationId xmlns:p14="http://schemas.microsoft.com/office/powerpoint/2010/main" val="2458096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8E23C8-A968-C328-D023-8AC961E7A180}"/>
              </a:ext>
            </a:extLst>
          </p:cNvPr>
          <p:cNvPicPr>
            <a:picLocks noChangeAspect="1"/>
          </p:cNvPicPr>
          <p:nvPr/>
        </p:nvPicPr>
        <p:blipFill>
          <a:blip r:embed="rId3"/>
          <a:stretch>
            <a:fillRect/>
          </a:stretch>
        </p:blipFill>
        <p:spPr>
          <a:xfrm>
            <a:off x="6094411" y="985081"/>
            <a:ext cx="4442199" cy="5318125"/>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Analysis</a:t>
            </a:r>
            <a:endParaRPr dirty="0"/>
          </a:p>
        </p:txBody>
      </p:sp>
      <p:sp>
        <p:nvSpPr>
          <p:cNvPr id="4" name="TextBox 3">
            <a:extLst>
              <a:ext uri="{FF2B5EF4-FFF2-40B4-BE49-F238E27FC236}">
                <a16:creationId xmlns:a16="http://schemas.microsoft.com/office/drawing/2014/main" id="{8B4B8CFC-39D7-561A-001F-37253931D153}"/>
              </a:ext>
            </a:extLst>
          </p:cNvPr>
          <p:cNvSpPr txBox="1"/>
          <p:nvPr/>
        </p:nvSpPr>
        <p:spPr>
          <a:xfrm>
            <a:off x="455618" y="2797759"/>
            <a:ext cx="3581750"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Orthogonal</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Temporally-coupled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Timely</a:t>
            </a:r>
          </a:p>
        </p:txBody>
      </p:sp>
    </p:spTree>
    <p:extLst>
      <p:ext uri="{BB962C8B-B14F-4D97-AF65-F5344CB8AC3E}">
        <p14:creationId xmlns:p14="http://schemas.microsoft.com/office/powerpoint/2010/main" val="1558582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5699CE-1E0F-BF7F-0057-A53E4800F854}"/>
            </a:ext>
          </a:extLst>
        </p:cNvPr>
        <p:cNvGrpSpPr/>
        <p:nvPr/>
      </p:nvGrpSpPr>
      <p:grpSpPr>
        <a:xfrm>
          <a:off x="0" y="0"/>
          <a:ext cx="0" cy="0"/>
          <a:chOff x="0" y="0"/>
          <a:chExt cx="0" cy="0"/>
        </a:xfrm>
      </p:grpSpPr>
      <p:pic>
        <p:nvPicPr>
          <p:cNvPr id="9" name="Picture 8" descr="A diagram of a business process&#10;&#10;AI-generated content may be incorrect.">
            <a:extLst>
              <a:ext uri="{FF2B5EF4-FFF2-40B4-BE49-F238E27FC236}">
                <a16:creationId xmlns:a16="http://schemas.microsoft.com/office/drawing/2014/main" id="{05BBC6EE-7A72-1F3F-314D-7DBE1C324459}"/>
              </a:ext>
            </a:extLst>
          </p:cNvPr>
          <p:cNvPicPr>
            <a:picLocks noChangeAspect="1"/>
          </p:cNvPicPr>
          <p:nvPr/>
        </p:nvPicPr>
        <p:blipFill>
          <a:blip r:embed="rId3"/>
          <a:stretch>
            <a:fillRect/>
          </a:stretch>
        </p:blipFill>
        <p:spPr>
          <a:xfrm>
            <a:off x="6094411" y="985083"/>
            <a:ext cx="5715890" cy="5339018"/>
          </a:xfrm>
          <a:prstGeom prst="rect">
            <a:avLst/>
          </a:prstGeom>
        </p:spPr>
      </p:pic>
      <p:sp>
        <p:nvSpPr>
          <p:cNvPr id="1199" name="Google Shape;1199;p156">
            <a:extLst>
              <a:ext uri="{FF2B5EF4-FFF2-40B4-BE49-F238E27FC236}">
                <a16:creationId xmlns:a16="http://schemas.microsoft.com/office/drawing/2014/main" id="{67FEA302-B171-4AD2-1728-A84E75BFA59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sp>
        <p:nvSpPr>
          <p:cNvPr id="10" name="TextBox 9">
            <a:extLst>
              <a:ext uri="{FF2B5EF4-FFF2-40B4-BE49-F238E27FC236}">
                <a16:creationId xmlns:a16="http://schemas.microsoft.com/office/drawing/2014/main" id="{5B95A7E2-335D-CA53-1032-4785F756B163}"/>
              </a:ext>
            </a:extLst>
          </p:cNvPr>
          <p:cNvSpPr txBox="1"/>
          <p:nvPr/>
        </p:nvSpPr>
        <p:spPr>
          <a:xfrm>
            <a:off x="455618" y="3100594"/>
            <a:ext cx="415241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File issues immediately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 false positives</a:t>
            </a:r>
          </a:p>
        </p:txBody>
      </p:sp>
    </p:spTree>
    <p:extLst>
      <p:ext uri="{BB962C8B-B14F-4D97-AF65-F5344CB8AC3E}">
        <p14:creationId xmlns:p14="http://schemas.microsoft.com/office/powerpoint/2010/main" val="1649371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5FCA520-F588-E1F9-CF07-D03814D0DA93}"/>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A08DCD6-6DAD-A56A-AFAA-208B81C2B55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Dynamic Analysis Report</a:t>
            </a:r>
            <a:endParaRPr dirty="0"/>
          </a:p>
        </p:txBody>
      </p:sp>
      <p:sp>
        <p:nvSpPr>
          <p:cNvPr id="2" name="TextBox 1">
            <a:extLst>
              <a:ext uri="{FF2B5EF4-FFF2-40B4-BE49-F238E27FC236}">
                <a16:creationId xmlns:a16="http://schemas.microsoft.com/office/drawing/2014/main" id="{7C349E6C-5201-B094-6B95-B17EAA3ED89C}"/>
              </a:ext>
            </a:extLst>
          </p:cNvPr>
          <p:cNvSpPr txBox="1"/>
          <p:nvPr/>
        </p:nvSpPr>
        <p:spPr>
          <a:xfrm>
            <a:off x="455618" y="1437554"/>
            <a:ext cx="1712648"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results</a:t>
            </a:r>
          </a:p>
        </p:txBody>
      </p:sp>
    </p:spTree>
    <p:extLst>
      <p:ext uri="{BB962C8B-B14F-4D97-AF65-F5344CB8AC3E}">
        <p14:creationId xmlns:p14="http://schemas.microsoft.com/office/powerpoint/2010/main" val="3831274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4349589"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the tools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Instrument appropriately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Triage the results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findings</a:t>
            </a:r>
          </a:p>
        </p:txBody>
      </p:sp>
    </p:spTree>
    <p:extLst>
      <p:ext uri="{BB962C8B-B14F-4D97-AF65-F5344CB8AC3E}">
        <p14:creationId xmlns:p14="http://schemas.microsoft.com/office/powerpoint/2010/main" val="17035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811EE96D-315D-3C3C-286F-75C455A7E6F6}"/>
              </a:ext>
            </a:extLst>
          </p:cNvPr>
          <p:cNvPicPr>
            <a:picLocks noChangeAspect="1"/>
          </p:cNvPicPr>
          <p:nvPr/>
        </p:nvPicPr>
        <p:blipFill>
          <a:blip r:embed="rId3"/>
          <a:stretch>
            <a:fillRect/>
          </a:stretch>
        </p:blipFill>
        <p:spPr>
          <a:xfrm>
            <a:off x="4053108" y="1239500"/>
            <a:ext cx="4082605" cy="5283371"/>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498598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Fuzz Testing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Security Options Qualification Report (AVCDL tertiary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Static Analysis Results Interchange Format (SARIF) Version 2.1.0</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https://docs.oasis-open.org/sarif/sarif/v2.1.0/os/sarif-v2.1.0-os.pdf</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Dynamic Program Analysis</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https://en.wikipedia.org/wiki/Dynamic_program_analysis</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a:p>
            <a:pPr marL="0" indent="0">
              <a:spcBef>
                <a:spcPts val="0"/>
              </a:spcBef>
            </a:pPr>
            <a:r>
              <a:rPr lang="en-US" sz="1800" b="1" dirty="0">
                <a:latin typeface="Roboto" panose="02000000000000000000" pitchFamily="2" charset="0"/>
                <a:ea typeface="Roboto" panose="02000000000000000000" pitchFamily="2" charset="0"/>
                <a:cs typeface="Roboto" panose="02000000000000000000" pitchFamily="2" charset="0"/>
              </a:rPr>
              <a:t>Program Instrumentation Options [GCC]</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https://gcc.gnu.org/onlinedocs/gcc/Instrumentation-Options.html</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Address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https://clang.llvm.org/docs/AddressSanitizer.html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Thread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7"/>
              </a:rPr>
              <a:t>https://clang.llvm.org/docs/ThreadSanitizer.html</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6A2F91D2-FCC6-4F14-F17B-471B57ECC4E7}"/>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C2120036-F8B1-D4D1-E3EA-CBCDD5F63FC1}"/>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1850DC53-9F35-98A0-9A97-E79080D33A0F}"/>
              </a:ext>
            </a:extLst>
          </p:cNvPr>
          <p:cNvSpPr txBox="1">
            <a:spLocks/>
          </p:cNvSpPr>
          <p:nvPr/>
        </p:nvSpPr>
        <p:spPr>
          <a:xfrm>
            <a:off x="455615" y="1146448"/>
            <a:ext cx="11277592" cy="243143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Roboto" panose="02000000000000000000" pitchFamily="2" charset="0"/>
              </a:rPr>
              <a:t>Memory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https://clang.llvm.org/docs/MemorySanitizer.html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Leak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https://clang.llvm.org/docs/LeakSanitizer.html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Undefined Behavior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https://clang.llvm.org/docs/UndefinedBehaviorSanitizer.html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Neutral Buoyancy</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https://www.nasa.gov/wp-content/uploads/2020/05/neutral_buoyancy_-_resized_1.jpg</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408765786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357646</TotalTime>
  <Words>2916</Words>
  <Application>Microsoft Macintosh PowerPoint</Application>
  <PresentationFormat>Custom</PresentationFormat>
  <Paragraphs>467</Paragraphs>
  <Slides>27</Slides>
  <Notes>27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Calibri</vt:lpstr>
      <vt:lpstr>Roboto Medium</vt:lpstr>
      <vt:lpstr>Roboto</vt:lpstr>
      <vt:lpstr>Courier New</vt:lpstr>
      <vt:lpstr>Arial</vt:lpstr>
      <vt:lpstr>Simple Light</vt:lpstr>
      <vt:lpstr>Motional Masters</vt:lpstr>
      <vt:lpstr>Motional Masters</vt:lpstr>
      <vt:lpstr>Dynamic Analysis Overview</vt:lpstr>
      <vt:lpstr>Training Path</vt:lpstr>
      <vt:lpstr>Introduction *</vt:lpstr>
      <vt:lpstr>Types and Tools</vt:lpstr>
      <vt:lpstr>Dynamic Analysis Types</vt:lpstr>
      <vt:lpstr>Memory Error Detection Tools</vt:lpstr>
      <vt:lpstr>Workflow</vt:lpstr>
      <vt:lpstr>Process Workflow</vt:lpstr>
      <vt:lpstr>Establish Settings</vt:lpstr>
      <vt:lpstr>Instrument Element</vt:lpstr>
      <vt:lpstr>Perform Analysis</vt:lpstr>
      <vt:lpstr>Triage</vt:lpstr>
      <vt:lpstr>Activities</vt:lpstr>
      <vt:lpstr>Establish Settings</vt:lpstr>
      <vt:lpstr>Secure Settings</vt:lpstr>
      <vt:lpstr>Instrument Element</vt:lpstr>
      <vt:lpstr>Perform Analysis</vt:lpstr>
      <vt:lpstr>Triage</vt:lpstr>
      <vt:lpstr>Dynamic Analysis Report</vt:lpstr>
      <vt:lpstr>Recap</vt:lpstr>
      <vt:lpstr>Summary</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Overview (training)</dc:title>
  <dc:subject>dynamic analysis process overview</dc:subject>
  <dc:creator>Charles Wilson</dc:creator>
  <cp:keywords>cybersecurity, dynamic analysis</cp:keywords>
  <dc:description>This work was created by Torc Robotics and is licensed under the Creative Commons Attribution-Share Alike (CC BY-SA-4.0) License.
https://creativecommons.org/licenses/by/4.0/legalcode 
</dc:description>
  <cp:lastModifiedBy>Charles Wilson</cp:lastModifiedBy>
  <cp:revision>602</cp:revision>
  <cp:lastPrinted>2025-07-24T18:37:57Z</cp:lastPrinted>
  <dcterms:modified xsi:type="dcterms:W3CDTF">2025-08-27T14:33:15Z</dcterms:modified>
  <cp:category>dynamic analysis</cp:category>
</cp:coreProperties>
</file>