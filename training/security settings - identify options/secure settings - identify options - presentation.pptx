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90" r:id="rId1"/>
    <p:sldMasterId id="2147483791" r:id="rId2"/>
    <p:sldMasterId id="2147483792" r:id="rId3"/>
  </p:sldMasterIdLst>
  <p:notesMasterIdLst>
    <p:notesMasterId r:id="rId32"/>
  </p:notesMasterIdLst>
  <p:sldIdLst>
    <p:sldId id="256" r:id="rId4"/>
    <p:sldId id="306" r:id="rId5"/>
    <p:sldId id="643" r:id="rId6"/>
    <p:sldId id="607" r:id="rId7"/>
    <p:sldId id="635" r:id="rId8"/>
    <p:sldId id="639" r:id="rId9"/>
    <p:sldId id="646" r:id="rId10"/>
    <p:sldId id="587" r:id="rId11"/>
    <p:sldId id="599" r:id="rId12"/>
    <p:sldId id="651" r:id="rId13"/>
    <p:sldId id="652" r:id="rId14"/>
    <p:sldId id="656" r:id="rId15"/>
    <p:sldId id="644" r:id="rId16"/>
    <p:sldId id="647" r:id="rId17"/>
    <p:sldId id="648" r:id="rId18"/>
    <p:sldId id="649" r:id="rId19"/>
    <p:sldId id="650" r:id="rId20"/>
    <p:sldId id="653" r:id="rId21"/>
    <p:sldId id="654" r:id="rId22"/>
    <p:sldId id="655" r:id="rId23"/>
    <p:sldId id="603" r:id="rId24"/>
    <p:sldId id="488" r:id="rId25"/>
    <p:sldId id="604" r:id="rId26"/>
    <p:sldId id="343" r:id="rId27"/>
    <p:sldId id="606" r:id="rId28"/>
    <p:sldId id="461" r:id="rId29"/>
    <p:sldId id="420" r:id="rId30"/>
    <p:sldId id="368" r:id="rId31"/>
  </p:sldIdLst>
  <p:sldSz cx="12188825" cy="6858000"/>
  <p:notesSz cx="6858000" cy="9144000"/>
  <p:embeddedFontLst>
    <p:embeddedFont>
      <p:font typeface="Roboto" panose="02000000000000000000" pitchFamily="2" charset="0"/>
      <p:regular r:id="rId33"/>
      <p:bold r:id="rId34"/>
      <p:italic r:id="rId35"/>
      <p:boldItalic r:id="rId36"/>
    </p:embeddedFont>
    <p:embeddedFont>
      <p:font typeface="Roboto Medium" panose="020F0502020204030204" pitchFamily="34"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39" userDrawn="1">
          <p15:clr>
            <a:srgbClr val="A4A3A4"/>
          </p15:clr>
        </p15:guide>
        <p15:guide id="3" orient="horz" pos="3945" userDrawn="1">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38194"/>
    <a:srgbClr val="FFFAB2"/>
    <a:srgbClr val="A7E3B3"/>
    <a:srgbClr val="CCFFCC"/>
    <a:srgbClr val="4DE354"/>
    <a:srgbClr val="FFFFFF"/>
    <a:srgbClr val="FFC161"/>
    <a:srgbClr val="FFE6CC"/>
    <a:srgbClr val="FFF2CC"/>
    <a:srgbClr val="FDFF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9A1F375-83D2-49B6-B6D9-1E75FAB2CD22}">
  <a:tblStyle styleId="{F9A1F375-83D2-49B6-B6D9-1E75FAB2CD2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064"/>
    <p:restoredTop sz="66815"/>
  </p:normalViewPr>
  <p:slideViewPr>
    <p:cSldViewPr snapToGrid="0">
      <p:cViewPr varScale="1">
        <p:scale>
          <a:sx n="126" d="100"/>
          <a:sy n="126" d="100"/>
        </p:scale>
        <p:origin x="840" y="200"/>
      </p:cViewPr>
      <p:guideLst>
        <p:guide orient="horz" pos="2160"/>
        <p:guide pos="3839"/>
        <p:guide orient="horz" pos="3945"/>
      </p:guideLst>
    </p:cSldViewPr>
  </p:slideViewPr>
  <p:notesTextViewPr>
    <p:cViewPr>
      <p:scale>
        <a:sx n="1" d="1"/>
        <a:sy n="1" d="1"/>
      </p:scale>
      <p:origin x="0" y="0"/>
    </p:cViewPr>
  </p:notesTextViewPr>
  <p:sorterViewPr>
    <p:cViewPr>
      <p:scale>
        <a:sx n="130" d="100"/>
        <a:sy n="13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font" Target="fonts/font7.fntdata"/><Relationship Id="rId21" Type="http://schemas.openxmlformats.org/officeDocument/2006/relationships/slide" Target="slides/slide18.xml"/><Relationship Id="rId34" Type="http://schemas.openxmlformats.org/officeDocument/2006/relationships/font" Target="fonts/font2.fntdata"/><Relationship Id="rId42"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font" Target="fonts/font4.fnt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font" Target="fonts/font3.fntdata"/><Relationship Id="rId43" Type="http://schemas.openxmlformats.org/officeDocument/2006/relationships/theme" Target="theme/theme1.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font" Target="fonts/font1.fntdata"/><Relationship Id="rId38"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8f58836269_9_4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I'm Charles Wilson, staff product cybersecurity architect at Torc Robotics.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b="0" i="0" dirty="0">
              <a:solidFill>
                <a:srgbClr val="000000"/>
              </a:solidFill>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This presentation will cover the </a:t>
            </a:r>
            <a:r>
              <a:rPr lang="en" sz="1400" b="1" dirty="0"/>
              <a:t>Secure Settings – Identify Options </a:t>
            </a:r>
            <a:r>
              <a:rPr lang="en" sz="1400" b="0" dirty="0"/>
              <a:t>activity</a:t>
            </a:r>
            <a:r>
              <a:rPr lang="en-US" sz="1400" b="0" i="0" dirty="0">
                <a:solidFill>
                  <a:srgbClr val="000000"/>
                </a:solidFill>
                <a:effectLst/>
                <a:latin typeface="Calibri" panose="020F0502020204030204" pitchFamily="34" charset="0"/>
                <a:cs typeface="Calibri" panose="020F0502020204030204" pitchFamily="34" charset="0"/>
              </a:rPr>
              <a:t>.</a:t>
            </a:r>
            <a:endParaRPr sz="1400" dirty="0">
              <a:latin typeface="Calibri" panose="020F0502020204030204" pitchFamily="34" charset="0"/>
              <a:cs typeface="Calibri" panose="020F0502020204030204" pitchFamily="34" charset="0"/>
            </a:endParaRPr>
          </a:p>
        </p:txBody>
      </p:sp>
      <p:sp>
        <p:nvSpPr>
          <p:cNvPr id="871" name="Google Shape;871;g8f58836269_9_43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diagram shows the overall AVCDL training path.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you're taking this training, it's assumed that you've already completed the </a:t>
            </a:r>
            <a:r>
              <a:rPr lang="en-US" sz="1400" b="1" dirty="0">
                <a:latin typeface="Calibri" panose="020F0502020204030204" pitchFamily="34" charset="0"/>
                <a:cs typeface="Calibri" panose="020F0502020204030204" pitchFamily="34" charset="0"/>
              </a:rPr>
              <a:t>AVCDL Overview </a:t>
            </a:r>
            <a:r>
              <a:rPr lang="en-US" sz="1400" dirty="0">
                <a:latin typeface="Calibri" panose="020F0502020204030204" pitchFamily="34" charset="0"/>
                <a:cs typeface="Calibri" panose="020F0502020204030204" pitchFamily="34" charset="0"/>
              </a:rPr>
              <a:t>training,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additionally, that you've completed the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Requirements Taxonomy</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Security Requirements</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Design Principles</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Apply Secure Design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Settings Overview</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training will cover the </a:t>
            </a:r>
            <a:r>
              <a:rPr lang="en-US" sz="1400" b="1" dirty="0">
                <a:latin typeface="Calibri" panose="020F0502020204030204" pitchFamily="34" charset="0"/>
                <a:cs typeface="Calibri" panose="020F0502020204030204" pitchFamily="34" charset="0"/>
              </a:rPr>
              <a:t>Secure Settings – Option Identification</a:t>
            </a:r>
            <a:r>
              <a:rPr lang="en-US" sz="1400" dirty="0">
                <a:latin typeface="Calibri" panose="020F0502020204030204" pitchFamily="34" charset="0"/>
                <a:cs typeface="Calibri" panose="020F0502020204030204" pitchFamily="34" charset="0"/>
              </a:rPr>
              <a:t> activity.</a:t>
            </a:r>
          </a:p>
        </p:txBody>
      </p:sp>
    </p:spTree>
    <p:extLst>
      <p:ext uri="{BB962C8B-B14F-4D97-AF65-F5344CB8AC3E}">
        <p14:creationId xmlns:p14="http://schemas.microsoft.com/office/powerpoint/2010/main" val="3053854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75322BDB-CB5D-0C03-0555-46EED654BB1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0D268CDA-6677-C4D0-88C5-17F47F7C5F4D}"/>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28EE4E46-E858-EFBB-5F74-DE25C05283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1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dirty="0"/>
              <a:t>Before getting into option identification, let's briefly review where it fits, in the overall secure settings process.</a:t>
            </a:r>
          </a:p>
        </p:txBody>
      </p:sp>
    </p:spTree>
    <p:extLst>
      <p:ext uri="{BB962C8B-B14F-4D97-AF65-F5344CB8AC3E}">
        <p14:creationId xmlns:p14="http://schemas.microsoft.com/office/powerpoint/2010/main" val="5078666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9A0CBB7C-EB38-2CB6-0D13-D11B58B73E26}"/>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18E2732D-D8D0-D624-9008-FEDFF57093F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19DF1504-5183-61AF-1001-6C7C554957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Here's the secure settings process which we previously covered in the Secure Settings Overview.</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Our focus for this training is going to be on the first activity, that of option identification.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402355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F1B2A726-BD41-9BC3-E424-76F5131233D0}"/>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600816AC-07BD-1162-5628-FFC7DBFD642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A7F9926B-AE76-0C28-ABBE-045054B861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Here's the secure settings process which we previously covered in the Secure Settings Overview.</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Our focus for this training is going to be on the first activity, that of option identification.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788310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0400E1AB-7115-90FD-7437-DFCEAAA40C4B}"/>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8450A65D-F255-0B0B-57E8-D86EE45DB148}"/>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33CD2430-2185-2815-4A74-C8DAD4A0C0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Within the identify options activity,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security SME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is going to be taking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tool documentation,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examining it, identifying the security options that are there, 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creating a tool security options document.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678426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9BAC0813-9274-20AF-9044-D967E4BE7A80}"/>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39CF9A55-B611-409C-6725-8F044869E518}"/>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D6CC4368-BAB2-4F58-A949-8723668A93E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As a reminder, when we're talking about cybersecurity-relevant tools, we're talking about: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Linters</a:t>
            </a: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Compilers</a:t>
            </a: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Static Analyzers</a:t>
            </a: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Fuzz Testers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Dynamic Analyzers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These tools either reason on the code directly or work with instrumentations of the binaries produced from the code.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 either case, they expose issues which are cybersecurity-relevant.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046332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68FD66C0-793C-F9A4-A606-EDD3A393E0EC}"/>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D14B8548-806F-0E39-C5B0-26B8B85FB94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F0F8DC3E-D083-751D-859F-34874F8B36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Now let's work our way through an example of a tool’s cybersecurity-relevant option identification.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We'll be using the AVCDL tool cybersecurity options template which is described in the accompanying tertiary document that goes along with this training.</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It's important to note here that this is just one mechanism for documenting this information.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There are any number of ways this information could be documented.</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In an ideal world, you'd use a database to store this information both across tools and versions of tools.</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13731134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6B6CD35C-2507-7B50-9613-F89B1FAF7E3D}"/>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38CEC82C-E4BD-8F9A-B732-804E6296E6F8}"/>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3F4EDA26-A262-7E7D-F125-FE7229595D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our example, we’ll use the GCC compiler and extract its cybersecurity options, or at least a subset of them.</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Specifically, we're going to be talking about GCC version 10.2.</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brings up an important point, because as tools evolve, their options can change.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Similarly, it's important to know what the platform is.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There are going to be some tools and some options of these tools which have no applicability on a platform of interest.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so, evaluating them would just waste time.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Next, we'll have the location where we can find the tool, and information about the tool.</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record the SME who is doing this investigation.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date that the document was updated.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finally, a monotonic and increasing revision.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25531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33B19591-3F74-D1E7-FAF0-8D2098496C44}"/>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65167CEF-C6C0-F36A-E9E8-8E752159E7C5}"/>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341280BA-617D-A284-BDC4-16911A642F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next and arguably one of the most important steps is that we're going to document all of our references.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is the documentation used to identify the cybersecurity-relevant options.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 is comprised of a name,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 description of the document,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its location.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see that in our example we call out GCC 10’s general release information.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We've got the online documentation for GCC 10.2.</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use the C++ core guidelines.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C++ programming language standard.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finally, the MISRA C++ 2023 guidelines.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735088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1145D979-1C5F-37E3-1D5C-814139BBE768}"/>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83790EAB-DFC1-3EFF-1474-701F638CD455}"/>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7B157C44-40FD-E86B-4AEC-DDE7F3489E9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Now we move on to enumerate the tool’s cybersecurity-relevant options.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Our example will only include a small subset of the available cybersecurity options.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options available in GCC are extremely extensive.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So, this step is probably going to take the greatest amount of time.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is because the activity requires that the cybersecurity SME appreciate both the tool that's being used (in this case, the compiler) and also the capabilities of the tool are important from a cybersecurity context.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Here we see that we've given these unique IDs.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They’re prefixed with GCC so that we can later use the ID to identify the tool.</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provide the option as it would be used.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last, the option’s description from the documentation.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524378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70312B5D-0760-11CD-3245-9D590DB91C0B}"/>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B9B82E75-3426-6E2F-F1B3-8FCAD3A8154E}"/>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7EB90310-64B3-B167-F3FD-16E7F79056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Once we have all the options enumerated, the next step is to indicate why the option is relevance to cybersecurity.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doesn't need to be elaborate explanation.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As you can see here, we're using short, concise text to explain why the option is relevant.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614522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D1C80B27-DA02-0E1A-830B-A8B3152E911C}"/>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4EFF7A50-77E0-9F72-211B-4DE8E9FF4BAE}"/>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C0A25451-2E29-5ED4-0483-2471A783AFE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1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solidFill>
                  <a:srgbClr val="1D1C1D"/>
                </a:solidFill>
                <a:effectLst/>
                <a:latin typeface="Calibri" panose="020F0502020204030204" pitchFamily="34" charset="0"/>
                <a:cs typeface="Calibri" panose="020F0502020204030204" pitchFamily="34" charset="0"/>
              </a:rPr>
              <a:t>Our next task is to assign a bug class to each option.</a:t>
            </a:r>
          </a:p>
          <a:p>
            <a:pPr marL="0" lvl="0" indent="0" algn="l" rtl="0">
              <a:spcBef>
                <a:spcPts val="0"/>
              </a:spcBef>
              <a:spcAft>
                <a:spcPts val="0"/>
              </a:spcAft>
              <a:buNone/>
            </a:pPr>
            <a:endParaRPr lang="en-US" sz="11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solidFill>
                  <a:srgbClr val="1D1C1D"/>
                </a:solidFill>
                <a:effectLst/>
                <a:latin typeface="Calibri" panose="020F0502020204030204" pitchFamily="34" charset="0"/>
                <a:cs typeface="Calibri" panose="020F0502020204030204" pitchFamily="34" charset="0"/>
              </a:rPr>
              <a:t>We're going to be using the NIST bug framework’s classes mentioned in the overview training.</a:t>
            </a:r>
          </a:p>
          <a:p>
            <a:pPr marL="0" lvl="0" indent="0" algn="l" rtl="0">
              <a:spcBef>
                <a:spcPts val="0"/>
              </a:spcBef>
              <a:spcAft>
                <a:spcPts val="0"/>
              </a:spcAft>
              <a:buNone/>
            </a:pPr>
            <a:endParaRPr lang="en-US" sz="11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001858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B4B580B3-4660-09AB-DC5B-D250818DA52D}"/>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43E4EB41-B6D8-C338-E1AC-A1B7D2A4C641}"/>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93949CA5-0879-86EA-A712-F5C4A321AA6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As covered in the overview training, the NIST bug class has three categories that it puts these classes into.</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These are: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Input</a:t>
            </a: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Memory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Data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Now, let's get into the specifics of what each of the classes focuses on and what the concerns we have with the bugs that can come from each.</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760332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E82E20E4-0524-37FA-F670-2979469C8EFB}"/>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F6AFF0AA-44C7-8615-9D63-D90C15CD7A4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AC988A6A-6799-4EB6-C0C2-5CC35C5A52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For input, we have two classes.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first is validation,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our focus here is on the format of the data that's coming in.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our concern is data corruption and command injection.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 the input is not what it should be.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Say, for instance, you have a field that you're expecting a numeric value to be put in and it gets a string.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Alternately, you expect a simple string to insert into a SQL query but get a compound command.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next is verification.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 you have data, which is of the correct type, but the value is not in range.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this can give us is incorrect behavior.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Say you're using the input as an array index, and it's well beyond what the range of the array is, that's going to give us potentially incorrect behavior.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403827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EBDA1E95-8ACF-78D2-078D-292AA4D83311}"/>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4B2210D5-A669-A483-6CD8-F3F38D1CC6E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E623ECCB-94E9-06ED-9762-68B9FEAA11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 the memory category, we have three classes.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First is addressing, and our focus here is 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pointer creation and pointer modification.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Our concerns are that we're going to have out of bounds access or are pointing to the wrong object.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management class is focused 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allocation, resizing and deallocation of memory.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concerns here are that we'll end up with memory exhaustion or insufficiently sized allocations.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Finally, we've got memory use and here we're thinking about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Initialization and access, the read and write of the memory.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Our concerns are that we’ll have uninitialized memory or memory corruption.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19350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1F37D61E-0C9B-02EC-3256-CB21F884A7D7}"/>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593EAF73-8195-CA13-1987-1E7C2B79900C}"/>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A317A25F-8246-34FC-DADA-1A27B441E76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our final category is going to be data. It has four classes.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have the declaration class where our focus 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definition of data.</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 we're concerned that we have incorrect object definitions.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have name resolution, and it’s focus 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type-object binding.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concern here is that we'll end up with the wrong binding. This can occur with the casting of object with inheritance.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Next is type computation, focused 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type-based calculations, where we are dealing with things like array handling and offsets.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Our concern here is that we'll end up with incorrect results for that.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finally, we have type conversion, where our focus 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as the name says, on type conversion, and we can have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either data errors or type errors here.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One may look at these various classes and ask, “what about undefined behavior and other things that can go wrong?”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From the standpoint of cybersecurity, we're not concerned with things which aren't directly cybersecurity relevant.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These are things which we do not have direct controls for.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There are plenty of switches and issues which have to do with code soundness, and that's fine, but that's not cybersecurity.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important as a cybersecurity SME not to overreach into other people's backyards.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There is a tendency to do this because you think, well, “I'm here, I can look at this, I can make this happen.”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fact of the matter is that that there is plenty for cybersecurity to do without taking on the work of other groups.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741908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A64FE142-4DB0-783F-1998-B2D0722029CB}"/>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4AA88C2B-8911-3CBB-BBAB-3D2D5B2665D1}"/>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56E14B38-F126-BC80-D313-023D864D0C0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Here we see our option sheet extended with the bug class for each of the various options.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As a reminder, the bug class is not there merely for a documentation purpose.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It's there so that when we categorize which bucket each goes into, and when we select the options for use, we’ll have more information to base those decisions 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505796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7E639B78-50B3-4833-52CE-9DF5B306E7B5}"/>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C274FE6A-BAB9-7389-A41D-AFA4BF261E5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0E835B67-E369-4067-B8FA-8DBA372BF2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next column in the sheet is that of the category into which the option will fall, and we're not going to touch on this here because that's the subject of the next activity.</a:t>
            </a:r>
          </a:p>
        </p:txBody>
      </p:sp>
    </p:spTree>
    <p:extLst>
      <p:ext uri="{BB962C8B-B14F-4D97-AF65-F5344CB8AC3E}">
        <p14:creationId xmlns:p14="http://schemas.microsoft.com/office/powerpoint/2010/main" val="20698200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78A1E5FC-713D-36E5-9EAE-1D43613C44A0}"/>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11B26E7D-3B59-7468-6233-37FCA560533E}"/>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F57BCFC0-1863-E690-74E1-D50617C91EE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brings us to the final column and that is notes.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use this column to provide reference or background material specific to the option.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instance, If we look at GCC-05 the shift overflow, in addition to the description, saying it’s relevant because we care about data overflows, and the bug class being memory use; we can indicate that it’s the focus of CWE 190 - integer overflows or wraparounds.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Additionally, the option may be supported by multiple things.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we look at GCC-06, which is the zero-length bounds, which is memory addressing, we have both CWE 125 out-of-bounds read and CWE 787 out-of-bounds write.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463816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C9D6BA4B-F2CC-7456-C563-FCAAFF596B9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18B19F7-EB23-2069-BFF3-F3B32545E2D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1E83C649-D857-D4E3-D095-345CF4203E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Hopefully you'll appreciate that although perhaps time consuming depending on the tool, that option identification is straightforward.</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From the standpoint of being able to justify why particular options are being used, this is a good exercise to go through.</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Now let's do a quick recap of the steps that we used.</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4145680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We're going to start by identifying the cybersecurity options.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will then provide the reason the option is relevant from a cybersecurity perspective.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then assign a bug class to each option.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finally, we'll include any supporting references.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841265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28F27A6-95D0-8BD3-DD17-CD0D4A4F1FFC}"/>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D52F5154-86A2-702B-FF05-17F9B520AAE0}"/>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366F3774-A91B-199C-AA24-BBC1027CA1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materials that were used to cover this example are in the location shown here.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It's important to note that the workbook includes all the sheets covered in this training.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119421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additional information and to get a more in-depth set of references, the Secure Settings – Identify Options Procedure tertiary document is available in the AVCDL GitHub repository.</a:t>
            </a:r>
          </a:p>
        </p:txBody>
      </p:sp>
    </p:spTree>
    <p:extLst>
      <p:ext uri="{BB962C8B-B14F-4D97-AF65-F5344CB8AC3E}">
        <p14:creationId xmlns:p14="http://schemas.microsoft.com/office/powerpoint/2010/main" val="35780262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All </a:t>
            </a:r>
            <a:r>
              <a:rPr lang="en-US" sz="1400" dirty="0">
                <a:effectLst/>
                <a:latin typeface="Calibri" panose="020F0502020204030204" pitchFamily="34" charset="0"/>
                <a:ea typeface="Calibri" panose="020F0502020204030204" pitchFamily="34" charset="0"/>
                <a:cs typeface="Calibri" panose="020F0502020204030204" pitchFamily="34" charset="0"/>
              </a:rPr>
              <a:t>AVCDL materials, both in source and distribution forms, are available on our GitHub site, as shown here.</a:t>
            </a:r>
          </a:p>
          <a:p>
            <a:pPr marL="0" marR="0" indent="0" algn="just">
              <a:spcBef>
                <a:spcPts val="0"/>
              </a:spcBef>
              <a:spcAft>
                <a:spcPts val="1200"/>
              </a:spcAft>
              <a:buNone/>
            </a:pP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Because of the size of the repository, it's recommended that you either clone the repository or download a ZIP archive of it, if you're not familiar with using git.</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Instructions for downloading a ZIP archive are linked to on the repository’s front page. </a:t>
            </a: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endParaRPr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219874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Videos covering various aspects of the AVCDL are available on our YouTube channel, as shown here.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It's important to note that all AVCDL materials except for the introductory blog posts are intended for product cybersecurity engineering practitioners.</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1061892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With this training complete</a:t>
            </a:r>
            <a:r>
              <a:rPr lang="en-US" sz="1400" dirty="0"/>
              <a:t>, if you’ve completed the other trainings covering the </a:t>
            </a:r>
            <a:r>
              <a:rPr lang="en-US" sz="1400" b="1" dirty="0"/>
              <a:t>Secure Settings </a:t>
            </a:r>
            <a:r>
              <a:rPr lang="en-US" sz="1400" dirty="0"/>
              <a:t>process activities,  you can proceed to the other training at this level, </a:t>
            </a:r>
            <a:r>
              <a:rPr lang="en-US" sz="1400" b="1" dirty="0"/>
              <a:t>Secure Design Review</a:t>
            </a:r>
            <a:r>
              <a:rPr lang="en-US" sz="1400" b="0" dirty="0"/>
              <a:t>.</a:t>
            </a:r>
          </a:p>
          <a:p>
            <a:pPr marL="0" marR="0" lvl="0" indent="0" algn="just" defTabSz="914400" rtl="0" eaLnBrk="1" fontAlgn="auto" latinLnBrk="0" hangingPunct="1">
              <a:lnSpc>
                <a:spcPct val="100000"/>
              </a:lnSpc>
              <a:spcBef>
                <a:spcPts val="0"/>
              </a:spcBef>
              <a:spcAft>
                <a:spcPts val="1200"/>
              </a:spcAft>
              <a:buClr>
                <a:srgbClr val="000000"/>
              </a:buClr>
              <a:buSzPts val="1100"/>
              <a:buFont typeface="Arial"/>
              <a:buNone/>
              <a:tabLst/>
              <a:defRPr/>
            </a:pPr>
            <a:endParaRPr lang="en-US" sz="1400" dirty="0"/>
          </a:p>
          <a:p>
            <a:pPr marL="0" marR="0" lvl="0" indent="0" algn="just" defTabSz="914400" rtl="0" eaLnBrk="1" fontAlgn="auto" latinLnBrk="0" hangingPunct="1">
              <a:lnSpc>
                <a:spcPct val="100000"/>
              </a:lnSpc>
              <a:spcBef>
                <a:spcPts val="0"/>
              </a:spcBef>
              <a:spcAft>
                <a:spcPts val="1200"/>
              </a:spcAft>
              <a:buClr>
                <a:srgbClr val="000000"/>
              </a:buClr>
              <a:buSzPts val="1100"/>
              <a:buFont typeface="Arial"/>
              <a:buNone/>
              <a:tabLst/>
              <a:defRPr/>
            </a:pPr>
            <a:r>
              <a:rPr lang="en-US" sz="1400" dirty="0"/>
              <a:t>Additionally, if you’ve completed </a:t>
            </a:r>
            <a:r>
              <a:rPr lang="en-US" sz="1400" b="1" dirty="0"/>
              <a:t>Threat Prioritization</a:t>
            </a:r>
            <a:r>
              <a:rPr lang="en-US" sz="1400" dirty="0"/>
              <a:t> you can also proceed to</a:t>
            </a:r>
          </a:p>
          <a:p>
            <a:pPr marL="0" marR="0" indent="0" algn="just">
              <a:spcBef>
                <a:spcPts val="0"/>
              </a:spcBef>
              <a:spcAft>
                <a:spcPts val="1200"/>
              </a:spcAft>
              <a:buNone/>
            </a:pPr>
            <a:endParaRPr lang="en-US" sz="1400" dirty="0"/>
          </a:p>
          <a:p>
            <a:pPr marL="285750" marR="0" indent="-285750" algn="just">
              <a:spcBef>
                <a:spcPts val="0"/>
              </a:spcBef>
              <a:spcAft>
                <a:spcPts val="1200"/>
              </a:spcAft>
            </a:pPr>
            <a:r>
              <a:rPr lang="en-US" sz="1400" b="1" dirty="0"/>
              <a:t>Attack Surface Analysis</a:t>
            </a:r>
          </a:p>
          <a:p>
            <a:pPr marL="285750" marR="0" indent="-285750" algn="just">
              <a:spcBef>
                <a:spcPts val="0"/>
              </a:spcBef>
              <a:spcAft>
                <a:spcPts val="1200"/>
              </a:spcAft>
            </a:pPr>
            <a:r>
              <a:rPr lang="en-US" sz="1400" b="1" dirty="0"/>
              <a:t>Threat Modeling</a:t>
            </a:r>
          </a:p>
          <a:p>
            <a:pPr marL="285750" marR="0" indent="-285750" algn="just">
              <a:spcBef>
                <a:spcPts val="0"/>
              </a:spcBef>
              <a:spcAft>
                <a:spcPts val="1200"/>
              </a:spcAft>
            </a:pPr>
            <a:r>
              <a:rPr lang="en-US" sz="1400" b="1" dirty="0"/>
              <a:t>Penetration Testing</a:t>
            </a:r>
            <a:endParaRPr lang="en-US" sz="1400" dirty="0"/>
          </a:p>
          <a:p>
            <a:pPr marL="0" marR="0" indent="0" algn="just">
              <a:spcBef>
                <a:spcPts val="0"/>
              </a:spcBef>
              <a:spcAft>
                <a:spcPts val="1200"/>
              </a:spcAft>
              <a:buNone/>
            </a:pPr>
            <a:endParaRPr lang="en-US" sz="1400" dirty="0"/>
          </a:p>
          <a:p>
            <a:pPr marL="0" marR="0" indent="0" algn="just">
              <a:spcBef>
                <a:spcPts val="0"/>
              </a:spcBef>
              <a:spcAft>
                <a:spcPts val="1200"/>
              </a:spcAft>
              <a:buNone/>
            </a:pPr>
            <a:r>
              <a:rPr lang="en-US" sz="1400" dirty="0"/>
              <a:t>and</a:t>
            </a:r>
          </a:p>
          <a:p>
            <a:pPr marL="285750" marR="0" indent="-285750" algn="just">
              <a:spcBef>
                <a:spcPts val="0"/>
              </a:spcBef>
              <a:spcAft>
                <a:spcPts val="1200"/>
              </a:spcAft>
            </a:pPr>
            <a:endParaRPr lang="en-US" sz="1400" dirty="0"/>
          </a:p>
          <a:p>
            <a:pPr marL="285750" marR="0" indent="-285750" algn="just">
              <a:spcBef>
                <a:spcPts val="0"/>
              </a:spcBef>
              <a:spcAft>
                <a:spcPts val="1200"/>
              </a:spcAft>
            </a:pPr>
            <a:r>
              <a:rPr lang="en-US" sz="1400" b="1" dirty="0"/>
              <a:t>Vulnerability Identification</a:t>
            </a:r>
          </a:p>
          <a:p>
            <a:pPr marL="285750" marR="0" indent="-285750" algn="just">
              <a:spcBef>
                <a:spcPts val="0"/>
              </a:spcBef>
              <a:spcAft>
                <a:spcPts val="1200"/>
              </a:spcAft>
            </a:pPr>
            <a:endParaRPr lang="en-US" sz="1400" dirty="0"/>
          </a:p>
          <a:p>
            <a:pPr marL="0" marR="0" lvl="0" indent="0" algn="just" defTabSz="914400" rtl="0" eaLnBrk="1" fontAlgn="auto" latinLnBrk="0" hangingPunct="1">
              <a:lnSpc>
                <a:spcPct val="100000"/>
              </a:lnSpc>
              <a:spcBef>
                <a:spcPts val="0"/>
              </a:spcBef>
              <a:spcAft>
                <a:spcPts val="1200"/>
              </a:spcAft>
              <a:buClr>
                <a:srgbClr val="000000"/>
              </a:buClr>
              <a:buSzPts val="1100"/>
              <a:buFont typeface="Arial"/>
              <a:buNone/>
              <a:tabLst/>
              <a:defRPr/>
            </a:pPr>
            <a:r>
              <a:rPr lang="en-US" sz="1400" dirty="0"/>
              <a:t>Additionally, you can proceed to either</a:t>
            </a:r>
          </a:p>
          <a:p>
            <a:pPr marL="0" marR="0" indent="0" algn="just">
              <a:spcBef>
                <a:spcPts val="0"/>
              </a:spcBef>
              <a:spcAft>
                <a:spcPts val="1200"/>
              </a:spcAft>
              <a:buNone/>
            </a:pPr>
            <a:endParaRPr lang="en-US" sz="1400" dirty="0"/>
          </a:p>
          <a:p>
            <a:pPr marL="285750" marR="0" indent="-285750" algn="just">
              <a:spcBef>
                <a:spcPts val="0"/>
              </a:spcBef>
              <a:spcAft>
                <a:spcPts val="1200"/>
              </a:spcAft>
            </a:pPr>
            <a:r>
              <a:rPr lang="en-US" sz="1400" b="1" dirty="0"/>
              <a:t>Code Reuse</a:t>
            </a:r>
          </a:p>
          <a:p>
            <a:pPr marL="285750" marR="0" indent="-285750" algn="just">
              <a:spcBef>
                <a:spcPts val="0"/>
              </a:spcBef>
              <a:spcAft>
                <a:spcPts val="1200"/>
              </a:spcAft>
            </a:pPr>
            <a:endParaRPr lang="en-US" sz="1400" b="1" dirty="0"/>
          </a:p>
          <a:p>
            <a:pPr marL="0" marR="0" lvl="0" indent="0" algn="just" defTabSz="914400" rtl="0" eaLnBrk="1" fontAlgn="auto" latinLnBrk="0" hangingPunct="1">
              <a:lnSpc>
                <a:spcPct val="100000"/>
              </a:lnSpc>
              <a:spcBef>
                <a:spcPts val="0"/>
              </a:spcBef>
              <a:spcAft>
                <a:spcPts val="1200"/>
              </a:spcAft>
              <a:buClr>
                <a:srgbClr val="000000"/>
              </a:buClr>
              <a:buSzPts val="1100"/>
              <a:buFont typeface="Arial"/>
              <a:buNone/>
              <a:tabLst/>
              <a:defRPr/>
            </a:pPr>
            <a:r>
              <a:rPr lang="en-US" sz="1400" dirty="0"/>
              <a:t>or</a:t>
            </a:r>
          </a:p>
          <a:p>
            <a:pPr marL="0" marR="0" indent="0" algn="just">
              <a:spcBef>
                <a:spcPts val="0"/>
              </a:spcBef>
              <a:spcAft>
                <a:spcPts val="1200"/>
              </a:spcAft>
              <a:buNone/>
            </a:pPr>
            <a:endParaRPr lang="en-US" sz="1400" dirty="0"/>
          </a:p>
          <a:p>
            <a:pPr marL="285750" marR="0" indent="-285750" algn="just">
              <a:spcBef>
                <a:spcPts val="0"/>
              </a:spcBef>
              <a:spcAft>
                <a:spcPts val="1200"/>
              </a:spcAft>
            </a:pPr>
            <a:r>
              <a:rPr lang="en-US" sz="1400" b="1" dirty="0"/>
              <a:t>Secure Coding</a:t>
            </a:r>
          </a:p>
        </p:txBody>
      </p:sp>
    </p:spTree>
    <p:extLst>
      <p:ext uri="{BB962C8B-B14F-4D97-AF65-F5344CB8AC3E}">
        <p14:creationId xmlns:p14="http://schemas.microsoft.com/office/powerpoint/2010/main" val="37017396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bd8f7373d4_0_397: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876" name="Google Shape;876;gbd8f7373d4_0_3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 are references to the source material used in the creation of this presentation.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They'll also be included in the video description.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Additionally, this presentation’s source material will be provided on the AVCDL GitHub repository.</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667727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creativecommons.org/licenses/by/4.0/legalcode" TargetMode="Externa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507" y="992767"/>
            <a:ext cx="11358000" cy="27369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a:endParaRPr/>
          </a:p>
        </p:txBody>
      </p:sp>
      <p:sp>
        <p:nvSpPr>
          <p:cNvPr id="11" name="Google Shape;11;p2"/>
          <p:cNvSpPr txBox="1">
            <a:spLocks noGrp="1"/>
          </p:cNvSpPr>
          <p:nvPr>
            <p:ph type="subTitle" idx="1"/>
          </p:nvPr>
        </p:nvSpPr>
        <p:spPr>
          <a:xfrm>
            <a:off x="415496" y="3778833"/>
            <a:ext cx="11358000" cy="10569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12" name="Google Shape;12;p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496" y="2867800"/>
            <a:ext cx="11358000" cy="1122300"/>
          </a:xfrm>
          <a:prstGeom prst="rect">
            <a:avLst/>
          </a:prstGeom>
        </p:spPr>
        <p:txBody>
          <a:bodyPr spcFirstLastPara="1" wrap="square" lIns="121875" tIns="121875" rIns="121875" bIns="121875" anchor="ctr"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5" name="Google Shape;15;p3"/>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18" name="Google Shape;18;p4"/>
          <p:cNvSpPr txBox="1">
            <a:spLocks noGrp="1"/>
          </p:cNvSpPr>
          <p:nvPr>
            <p:ph type="body" idx="1"/>
          </p:nvPr>
        </p:nvSpPr>
        <p:spPr>
          <a:xfrm>
            <a:off x="415496" y="1536633"/>
            <a:ext cx="11358000" cy="4555200"/>
          </a:xfrm>
          <a:prstGeom prst="rect">
            <a:avLst/>
          </a:prstGeom>
        </p:spPr>
        <p:txBody>
          <a:bodyPr spcFirstLastPara="1" wrap="square" lIns="121875" tIns="121875" rIns="121875" bIns="121875" anchor="t"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19" name="Google Shape;19;p4"/>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2" name="Google Shape;22;p5"/>
          <p:cNvSpPr txBox="1">
            <a:spLocks noGrp="1"/>
          </p:cNvSpPr>
          <p:nvPr>
            <p:ph type="body" idx="1"/>
          </p:nvPr>
        </p:nvSpPr>
        <p:spPr>
          <a:xfrm>
            <a:off x="415497"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3" name="Google Shape;23;p5"/>
          <p:cNvSpPr txBox="1">
            <a:spLocks noGrp="1"/>
          </p:cNvSpPr>
          <p:nvPr>
            <p:ph type="body" idx="2"/>
          </p:nvPr>
        </p:nvSpPr>
        <p:spPr>
          <a:xfrm>
            <a:off x="6441588"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4" name="Google Shape;24;p5"/>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7" name="Google Shape;27;p6"/>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496" y="740800"/>
            <a:ext cx="3743100" cy="1007700"/>
          </a:xfrm>
          <a:prstGeom prst="rect">
            <a:avLst/>
          </a:prstGeom>
        </p:spPr>
        <p:txBody>
          <a:bodyPr spcFirstLastPara="1" wrap="square" lIns="121875" tIns="121875" rIns="121875" bIns="121875" anchor="b" anchorCtr="0">
            <a:noAutofit/>
          </a:bodyPr>
          <a:lstStyle>
            <a:lvl1pPr lvl="0">
              <a:spcBef>
                <a:spcPts val="0"/>
              </a:spcBef>
              <a:spcAft>
                <a:spcPts val="0"/>
              </a:spcAft>
              <a:buSzPts val="3200"/>
              <a:buNone/>
              <a:defRPr sz="3201"/>
            </a:lvl1pPr>
            <a:lvl2pPr lvl="1">
              <a:spcBef>
                <a:spcPts val="0"/>
              </a:spcBef>
              <a:spcAft>
                <a:spcPts val="0"/>
              </a:spcAft>
              <a:buSzPts val="3200"/>
              <a:buNone/>
              <a:defRPr sz="3201"/>
            </a:lvl2pPr>
            <a:lvl3pPr lvl="2">
              <a:spcBef>
                <a:spcPts val="0"/>
              </a:spcBef>
              <a:spcAft>
                <a:spcPts val="0"/>
              </a:spcAft>
              <a:buSzPts val="3200"/>
              <a:buNone/>
              <a:defRPr sz="3201"/>
            </a:lvl3pPr>
            <a:lvl4pPr lvl="3">
              <a:spcBef>
                <a:spcPts val="0"/>
              </a:spcBef>
              <a:spcAft>
                <a:spcPts val="0"/>
              </a:spcAft>
              <a:buSzPts val="3200"/>
              <a:buNone/>
              <a:defRPr sz="3201"/>
            </a:lvl4pPr>
            <a:lvl5pPr lvl="4">
              <a:spcBef>
                <a:spcPts val="0"/>
              </a:spcBef>
              <a:spcAft>
                <a:spcPts val="0"/>
              </a:spcAft>
              <a:buSzPts val="3200"/>
              <a:buNone/>
              <a:defRPr sz="3201"/>
            </a:lvl5pPr>
            <a:lvl6pPr lvl="5">
              <a:spcBef>
                <a:spcPts val="0"/>
              </a:spcBef>
              <a:spcAft>
                <a:spcPts val="0"/>
              </a:spcAft>
              <a:buSzPts val="3200"/>
              <a:buNone/>
              <a:defRPr sz="3201"/>
            </a:lvl6pPr>
            <a:lvl7pPr lvl="6">
              <a:spcBef>
                <a:spcPts val="0"/>
              </a:spcBef>
              <a:spcAft>
                <a:spcPts val="0"/>
              </a:spcAft>
              <a:buSzPts val="3200"/>
              <a:buNone/>
              <a:defRPr sz="3201"/>
            </a:lvl7pPr>
            <a:lvl8pPr lvl="7">
              <a:spcBef>
                <a:spcPts val="0"/>
              </a:spcBef>
              <a:spcAft>
                <a:spcPts val="0"/>
              </a:spcAft>
              <a:buSzPts val="3200"/>
              <a:buNone/>
              <a:defRPr sz="3201"/>
            </a:lvl8pPr>
            <a:lvl9pPr lvl="8">
              <a:spcBef>
                <a:spcPts val="0"/>
              </a:spcBef>
              <a:spcAft>
                <a:spcPts val="0"/>
              </a:spcAft>
              <a:buSzPts val="3200"/>
              <a:buNone/>
              <a:defRPr sz="3201"/>
            </a:lvl9pPr>
          </a:lstStyle>
          <a:p>
            <a:endParaRPr/>
          </a:p>
        </p:txBody>
      </p:sp>
      <p:sp>
        <p:nvSpPr>
          <p:cNvPr id="30" name="Google Shape;30;p7"/>
          <p:cNvSpPr txBox="1">
            <a:spLocks noGrp="1"/>
          </p:cNvSpPr>
          <p:nvPr>
            <p:ph type="body" idx="1"/>
          </p:nvPr>
        </p:nvSpPr>
        <p:spPr>
          <a:xfrm>
            <a:off x="415496" y="1852800"/>
            <a:ext cx="3743100" cy="4239300"/>
          </a:xfrm>
          <a:prstGeom prst="rect">
            <a:avLst/>
          </a:prstGeom>
        </p:spPr>
        <p:txBody>
          <a:bodyPr spcFirstLastPara="1" wrap="square" lIns="121875" tIns="121875" rIns="121875" bIns="121875" anchor="t" anchorCtr="0">
            <a:noAutofit/>
          </a:bodyPr>
          <a:lstStyle>
            <a:lvl1pPr marL="457207" lvl="0" indent="-330205">
              <a:spcBef>
                <a:spcPts val="0"/>
              </a:spcBef>
              <a:spcAft>
                <a:spcPts val="0"/>
              </a:spcAft>
              <a:buSzPts val="1600"/>
              <a:buChar char="●"/>
              <a:defRPr sz="16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31" name="Google Shape;31;p7"/>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503" y="600200"/>
            <a:ext cx="8488200" cy="5454300"/>
          </a:xfrm>
          <a:prstGeom prst="rect">
            <a:avLst/>
          </a:prstGeom>
        </p:spPr>
        <p:txBody>
          <a:bodyPr spcFirstLastPara="1" wrap="square" lIns="121875" tIns="121875" rIns="121875" bIns="121875" anchor="ctr" anchorCtr="0">
            <a:no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a:endParaRPr/>
          </a:p>
        </p:txBody>
      </p:sp>
      <p:sp>
        <p:nvSpPr>
          <p:cNvPr id="34" name="Google Shape;34;p8"/>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6094475" y="-167"/>
            <a:ext cx="6094500" cy="6858000"/>
          </a:xfrm>
          <a:prstGeom prst="rect">
            <a:avLst/>
          </a:prstGeom>
          <a:solidFill>
            <a:schemeClr val="lt2"/>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sz="1400"/>
          </a:p>
        </p:txBody>
      </p:sp>
      <p:sp>
        <p:nvSpPr>
          <p:cNvPr id="37" name="Google Shape;37;p9"/>
          <p:cNvSpPr txBox="1">
            <a:spLocks noGrp="1"/>
          </p:cNvSpPr>
          <p:nvPr>
            <p:ph type="title"/>
          </p:nvPr>
        </p:nvSpPr>
        <p:spPr>
          <a:xfrm>
            <a:off x="353913" y="1644233"/>
            <a:ext cx="5392199" cy="19764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a:endParaRPr/>
          </a:p>
        </p:txBody>
      </p:sp>
      <p:sp>
        <p:nvSpPr>
          <p:cNvPr id="38" name="Google Shape;38;p9"/>
          <p:cNvSpPr txBox="1">
            <a:spLocks noGrp="1"/>
          </p:cNvSpPr>
          <p:nvPr>
            <p:ph type="subTitle" idx="1"/>
          </p:nvPr>
        </p:nvSpPr>
        <p:spPr>
          <a:xfrm>
            <a:off x="353913" y="3737433"/>
            <a:ext cx="5392199" cy="16467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2800"/>
              <a:buNone/>
              <a:defRPr sz="2801"/>
            </a:lvl1pPr>
            <a:lvl2pPr lvl="1" algn="ctr">
              <a:lnSpc>
                <a:spcPct val="100000"/>
              </a:lnSpc>
              <a:spcBef>
                <a:spcPts val="0"/>
              </a:spcBef>
              <a:spcAft>
                <a:spcPts val="0"/>
              </a:spcAft>
              <a:buSzPts val="2800"/>
              <a:buNone/>
              <a:defRPr sz="2801"/>
            </a:lvl2pPr>
            <a:lvl3pPr lvl="2" algn="ctr">
              <a:lnSpc>
                <a:spcPct val="100000"/>
              </a:lnSpc>
              <a:spcBef>
                <a:spcPts val="0"/>
              </a:spcBef>
              <a:spcAft>
                <a:spcPts val="0"/>
              </a:spcAft>
              <a:buSzPts val="2800"/>
              <a:buNone/>
              <a:defRPr sz="2801"/>
            </a:lvl3pPr>
            <a:lvl4pPr lvl="3" algn="ctr">
              <a:lnSpc>
                <a:spcPct val="100000"/>
              </a:lnSpc>
              <a:spcBef>
                <a:spcPts val="0"/>
              </a:spcBef>
              <a:spcAft>
                <a:spcPts val="0"/>
              </a:spcAft>
              <a:buSzPts val="2800"/>
              <a:buNone/>
              <a:defRPr sz="2801"/>
            </a:lvl4pPr>
            <a:lvl5pPr lvl="4" algn="ctr">
              <a:lnSpc>
                <a:spcPct val="100000"/>
              </a:lnSpc>
              <a:spcBef>
                <a:spcPts val="0"/>
              </a:spcBef>
              <a:spcAft>
                <a:spcPts val="0"/>
              </a:spcAft>
              <a:buSzPts val="2800"/>
              <a:buNone/>
              <a:defRPr sz="2801"/>
            </a:lvl5pPr>
            <a:lvl6pPr lvl="5" algn="ctr">
              <a:lnSpc>
                <a:spcPct val="100000"/>
              </a:lnSpc>
              <a:spcBef>
                <a:spcPts val="0"/>
              </a:spcBef>
              <a:spcAft>
                <a:spcPts val="0"/>
              </a:spcAft>
              <a:buSzPts val="2800"/>
              <a:buNone/>
              <a:defRPr sz="2801"/>
            </a:lvl6pPr>
            <a:lvl7pPr lvl="6" algn="ctr">
              <a:lnSpc>
                <a:spcPct val="100000"/>
              </a:lnSpc>
              <a:spcBef>
                <a:spcPts val="0"/>
              </a:spcBef>
              <a:spcAft>
                <a:spcPts val="0"/>
              </a:spcAft>
              <a:buSzPts val="2800"/>
              <a:buNone/>
              <a:defRPr sz="2801"/>
            </a:lvl7pPr>
            <a:lvl8pPr lvl="7" algn="ctr">
              <a:lnSpc>
                <a:spcPct val="100000"/>
              </a:lnSpc>
              <a:spcBef>
                <a:spcPts val="0"/>
              </a:spcBef>
              <a:spcAft>
                <a:spcPts val="0"/>
              </a:spcAft>
              <a:buSzPts val="2800"/>
              <a:buNone/>
              <a:defRPr sz="2801"/>
            </a:lvl8pPr>
            <a:lvl9pPr lvl="8" algn="ctr">
              <a:lnSpc>
                <a:spcPct val="100000"/>
              </a:lnSpc>
              <a:spcBef>
                <a:spcPts val="0"/>
              </a:spcBef>
              <a:spcAft>
                <a:spcPts val="0"/>
              </a:spcAft>
              <a:buSzPts val="2800"/>
              <a:buNone/>
              <a:defRPr sz="2801"/>
            </a:lvl9pPr>
          </a:lstStyle>
          <a:p>
            <a:endParaRPr/>
          </a:p>
        </p:txBody>
      </p:sp>
      <p:sp>
        <p:nvSpPr>
          <p:cNvPr id="39" name="Google Shape;39;p9"/>
          <p:cNvSpPr txBox="1">
            <a:spLocks noGrp="1"/>
          </p:cNvSpPr>
          <p:nvPr>
            <p:ph type="body" idx="2"/>
          </p:nvPr>
        </p:nvSpPr>
        <p:spPr>
          <a:xfrm>
            <a:off x="6584351" y="965433"/>
            <a:ext cx="5114700" cy="4926900"/>
          </a:xfrm>
          <a:prstGeom prst="rect">
            <a:avLst/>
          </a:prstGeom>
        </p:spPr>
        <p:txBody>
          <a:bodyPr spcFirstLastPara="1" wrap="square" lIns="121875" tIns="121875" rIns="121875" bIns="121875" anchor="ctr"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40" name="Google Shape;40;p9"/>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496" y="5640767"/>
            <a:ext cx="7996500" cy="806700"/>
          </a:xfrm>
          <a:prstGeom prst="rect">
            <a:avLst/>
          </a:prstGeom>
        </p:spPr>
        <p:txBody>
          <a:bodyPr spcFirstLastPara="1" wrap="square" lIns="121875" tIns="121875" rIns="121875" bIns="121875" anchor="ctr" anchorCtr="0">
            <a:noAutofit/>
          </a:bodyPr>
          <a:lstStyle>
            <a:lvl1pPr marL="457207" lvl="0" indent="-228604">
              <a:lnSpc>
                <a:spcPct val="100000"/>
              </a:lnSpc>
              <a:spcBef>
                <a:spcPts val="0"/>
              </a:spcBef>
              <a:spcAft>
                <a:spcPts val="0"/>
              </a:spcAft>
              <a:buSzPts val="2400"/>
              <a:buNone/>
              <a:defRPr/>
            </a:lvl1pPr>
          </a:lstStyle>
          <a:p>
            <a:endParaRPr/>
          </a:p>
        </p:txBody>
      </p:sp>
      <p:sp>
        <p:nvSpPr>
          <p:cNvPr id="43" name="Google Shape;43;p10"/>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496" y="1474833"/>
            <a:ext cx="11358000" cy="26181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46" name="Google Shape;46;p11"/>
          <p:cNvSpPr txBox="1">
            <a:spLocks noGrp="1"/>
          </p:cNvSpPr>
          <p:nvPr>
            <p:ph type="body" idx="1"/>
          </p:nvPr>
        </p:nvSpPr>
        <p:spPr>
          <a:xfrm>
            <a:off x="415496" y="4202967"/>
            <a:ext cx="11358000" cy="1734300"/>
          </a:xfrm>
          <a:prstGeom prst="rect">
            <a:avLst/>
          </a:prstGeom>
        </p:spPr>
        <p:txBody>
          <a:bodyPr spcFirstLastPara="1" wrap="square" lIns="121875" tIns="121875" rIns="121875" bIns="121875" anchor="t" anchorCtr="0">
            <a:noAutofit/>
          </a:bodyPr>
          <a:lstStyle>
            <a:lvl1pPr marL="457207" lvl="0" indent="-381006" algn="ctr">
              <a:spcBef>
                <a:spcPts val="0"/>
              </a:spcBef>
              <a:spcAft>
                <a:spcPts val="0"/>
              </a:spcAft>
              <a:buSzPts val="2400"/>
              <a:buChar char="●"/>
              <a:defRPr/>
            </a:lvl1pPr>
            <a:lvl2pPr marL="914415" lvl="1" indent="-349255" algn="ctr">
              <a:spcBef>
                <a:spcPts val="2099"/>
              </a:spcBef>
              <a:spcAft>
                <a:spcPts val="0"/>
              </a:spcAft>
              <a:buSzPts val="1900"/>
              <a:buChar char="○"/>
              <a:defRPr/>
            </a:lvl2pPr>
            <a:lvl3pPr marL="1371622" lvl="2" indent="-349255" algn="ctr">
              <a:spcBef>
                <a:spcPts val="2099"/>
              </a:spcBef>
              <a:spcAft>
                <a:spcPts val="0"/>
              </a:spcAft>
              <a:buSzPts val="1900"/>
              <a:buChar char="■"/>
              <a:defRPr/>
            </a:lvl3pPr>
            <a:lvl4pPr marL="1828831" lvl="3" indent="-349255" algn="ctr">
              <a:spcBef>
                <a:spcPts val="2099"/>
              </a:spcBef>
              <a:spcAft>
                <a:spcPts val="0"/>
              </a:spcAft>
              <a:buSzPts val="1900"/>
              <a:buChar char="●"/>
              <a:defRPr/>
            </a:lvl4pPr>
            <a:lvl5pPr marL="2286038" lvl="4" indent="-349255" algn="ctr">
              <a:spcBef>
                <a:spcPts val="2099"/>
              </a:spcBef>
              <a:spcAft>
                <a:spcPts val="0"/>
              </a:spcAft>
              <a:buSzPts val="1900"/>
              <a:buChar char="○"/>
              <a:defRPr/>
            </a:lvl5pPr>
            <a:lvl6pPr marL="2743246" lvl="5" indent="-349255" algn="ctr">
              <a:spcBef>
                <a:spcPts val="2099"/>
              </a:spcBef>
              <a:spcAft>
                <a:spcPts val="0"/>
              </a:spcAft>
              <a:buSzPts val="1900"/>
              <a:buChar char="■"/>
              <a:defRPr/>
            </a:lvl6pPr>
            <a:lvl7pPr marL="3200453" lvl="6" indent="-349255" algn="ctr">
              <a:spcBef>
                <a:spcPts val="2099"/>
              </a:spcBef>
              <a:spcAft>
                <a:spcPts val="0"/>
              </a:spcAft>
              <a:buSzPts val="1900"/>
              <a:buChar char="●"/>
              <a:defRPr/>
            </a:lvl7pPr>
            <a:lvl8pPr marL="3657661" lvl="7" indent="-349255" algn="ctr">
              <a:spcBef>
                <a:spcPts val="2099"/>
              </a:spcBef>
              <a:spcAft>
                <a:spcPts val="0"/>
              </a:spcAft>
              <a:buSzPts val="1900"/>
              <a:buChar char="○"/>
              <a:defRPr/>
            </a:lvl8pPr>
            <a:lvl9pPr marL="4114868" lvl="8" indent="-349255" algn="ctr">
              <a:spcBef>
                <a:spcPts val="2099"/>
              </a:spcBef>
              <a:spcAft>
                <a:spcPts val="2099"/>
              </a:spcAft>
              <a:buSzPts val="1900"/>
              <a:buChar char="■"/>
              <a:defRPr/>
            </a:lvl9pPr>
          </a:lstStyle>
          <a:p>
            <a:endParaRPr/>
          </a:p>
        </p:txBody>
      </p:sp>
      <p:sp>
        <p:nvSpPr>
          <p:cNvPr id="47" name="Google Shape;47;p11"/>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ver C" userDrawn="1">
  <p:cSld name="1_Cover C">
    <p:bg>
      <p:bgPr>
        <a:solidFill>
          <a:srgbClr val="030A14"/>
        </a:solid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455623" y="2364060"/>
            <a:ext cx="8915583" cy="3789320"/>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1"/>
              </a:buClr>
              <a:buSzPts val="9600"/>
              <a:buFont typeface="Roboto"/>
              <a:buNone/>
              <a:defRPr sz="9600" b="0" i="0" cap="none">
                <a:solidFill>
                  <a:schemeClr val="lt1"/>
                </a:solidFill>
                <a:latin typeface="Roboto"/>
                <a:ea typeface="Roboto"/>
                <a:cs typeface="Roboto"/>
                <a:sym typeface="Robo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58" name="Google Shape;58;p14"/>
          <p:cNvSpPr txBox="1"/>
          <p:nvPr/>
        </p:nvSpPr>
        <p:spPr>
          <a:xfrm>
            <a:off x="2377441" y="6212114"/>
            <a:ext cx="9355958" cy="417286"/>
          </a:xfrm>
          <a:prstGeom prst="rect">
            <a:avLst/>
          </a:prstGeom>
          <a:noFill/>
          <a:ln>
            <a:noFill/>
          </a:ln>
        </p:spPr>
        <p:txBody>
          <a:bodyPr spcFirstLastPara="1" wrap="square" lIns="0" tIns="0" rIns="0" bIns="0" anchor="b" anchorCtr="0">
            <a:noAutofit/>
          </a:bodyPr>
          <a:lstStyle/>
          <a:p>
            <a:pPr algn="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This work was created by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Torc Robotics</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and is licensed under the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Creative Commons Attribution-Share Alike (CC BY-SA-4.0)</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License.</a:t>
            </a:r>
          </a:p>
          <a:p>
            <a:pPr algn="r"/>
            <a:r>
              <a:rPr lang="en-US" sz="1200" b="1" i="0" u="sng"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hlinkClick r:id="rId2">
                  <a:extLst>
                    <a:ext uri="{A12FA001-AC4F-418D-AE19-62706E023703}">
                      <ahyp:hlinkClr xmlns:ahyp="http://schemas.microsoft.com/office/drawing/2018/hyperlinkcolor" val="tx"/>
                    </a:ext>
                  </a:extLst>
                </a:hlinkClick>
              </a:rPr>
              <a:t>https://creativecommons.org/licenses/by/4.0/legalcode</a:t>
            </a:r>
            <a:endParaRPr lang="en-US" sz="1200" b="0" i="0" u="none"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WHITE 1Col Title | Text">
  <p:cSld name="WHITE 1Col Title | Text">
    <p:spTree>
      <p:nvGrpSpPr>
        <p:cNvPr id="1" name="Shape 540"/>
        <p:cNvGrpSpPr/>
        <p:nvPr/>
      </p:nvGrpSpPr>
      <p:grpSpPr>
        <a:xfrm>
          <a:off x="0" y="0"/>
          <a:ext cx="0" cy="0"/>
          <a:chOff x="0" y="0"/>
          <a:chExt cx="0" cy="0"/>
        </a:xfrm>
      </p:grpSpPr>
      <p:sp>
        <p:nvSpPr>
          <p:cNvPr id="541" name="Google Shape;541;p9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42" name="Google Shape;542;p98"/>
          <p:cNvSpPr txBox="1">
            <a:spLocks noGrp="1"/>
          </p:cNvSpPr>
          <p:nvPr>
            <p:ph type="body" idx="1"/>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43" name="Google Shape;543;p98"/>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sp>
        <p:nvSpPr>
          <p:cNvPr id="545" name="Google Shape;545;p9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endParaRPr sz="1000" dirty="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extLst>
    <p:ext uri="{DCECCB84-F9BA-43D5-87BE-67443E8EF086}">
      <p15:sldGuideLst xmlns:p15="http://schemas.microsoft.com/office/powerpoint/2012/main">
        <p15:guide id="1" orient="horz" pos="1872" userDrawn="1">
          <p15:clr>
            <a:srgbClr val="FA7B17"/>
          </p15:clr>
        </p15:guide>
        <p15:guide id="2" pos="5615" userDrawn="1">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6"/>
        <p:cNvGrpSpPr/>
        <p:nvPr/>
      </p:nvGrpSpPr>
      <p:grpSpPr>
        <a:xfrm>
          <a:off x="0" y="0"/>
          <a:ext cx="0" cy="0"/>
          <a:chOff x="0" y="0"/>
          <a:chExt cx="0" cy="0"/>
        </a:xfrm>
      </p:grpSpPr>
      <p:sp>
        <p:nvSpPr>
          <p:cNvPr id="867" name="Google Shape;867;p145"/>
          <p:cNvSpPr txBox="1">
            <a:spLocks noGrp="1"/>
          </p:cNvSpPr>
          <p:nvPr>
            <p:ph type="body" idx="1"/>
          </p:nvPr>
        </p:nvSpPr>
        <p:spPr>
          <a:xfrm>
            <a:off x="415496" y="5640767"/>
            <a:ext cx="7996500" cy="806700"/>
          </a:xfrm>
          <a:prstGeom prst="rect">
            <a:avLst/>
          </a:prstGeom>
        </p:spPr>
        <p:txBody>
          <a:bodyPr spcFirstLastPara="1" wrap="square" lIns="0" tIns="0" rIns="0" bIns="0" anchor="ctr" anchorCtr="0">
            <a:noAutofit/>
          </a:bodyPr>
          <a:lstStyle>
            <a:lvl1pPr marL="457207" lvl="0" indent="-228604" rtl="0">
              <a:lnSpc>
                <a:spcPct val="100000"/>
              </a:lnSpc>
              <a:spcBef>
                <a:spcPts val="0"/>
              </a:spcBef>
              <a:spcAft>
                <a:spcPts val="0"/>
              </a:spcAft>
              <a:buSzPts val="2000"/>
              <a:buNone/>
              <a:defRPr/>
            </a:lvl1pPr>
          </a:lstStyle>
          <a:p>
            <a:endParaRPr/>
          </a:p>
        </p:txBody>
      </p:sp>
      <p:sp>
        <p:nvSpPr>
          <p:cNvPr id="868" name="Google Shape;868;p145"/>
          <p:cNvSpPr txBox="1">
            <a:spLocks noGrp="1"/>
          </p:cNvSpPr>
          <p:nvPr>
            <p:ph type="sldNum" idx="12"/>
          </p:nvPr>
        </p:nvSpPr>
        <p:spPr>
          <a:xfrm>
            <a:off x="11293784" y="6217622"/>
            <a:ext cx="731400" cy="5247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496" y="593367"/>
            <a:ext cx="11358000" cy="763500"/>
          </a:xfrm>
          <a:prstGeom prst="rect">
            <a:avLst/>
          </a:prstGeom>
          <a:noFill/>
          <a:ln>
            <a:noFill/>
          </a:ln>
        </p:spPr>
        <p:txBody>
          <a:bodyPr spcFirstLastPara="1" wrap="square" lIns="121875" tIns="121875" rIns="121875" bIns="121875" anchor="t" anchorCtr="0">
            <a:no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a:endParaRPr/>
          </a:p>
        </p:txBody>
      </p:sp>
      <p:sp>
        <p:nvSpPr>
          <p:cNvPr id="7" name="Google Shape;7;p1"/>
          <p:cNvSpPr txBox="1">
            <a:spLocks noGrp="1"/>
          </p:cNvSpPr>
          <p:nvPr>
            <p:ph type="body" idx="1"/>
          </p:nvPr>
        </p:nvSpPr>
        <p:spPr>
          <a:xfrm>
            <a:off x="415496" y="1536633"/>
            <a:ext cx="11358000" cy="4555200"/>
          </a:xfrm>
          <a:prstGeom prst="rect">
            <a:avLst/>
          </a:prstGeom>
          <a:noFill/>
          <a:ln>
            <a:noFill/>
          </a:ln>
        </p:spPr>
        <p:txBody>
          <a:bodyPr spcFirstLastPara="1" wrap="square" lIns="121875" tIns="121875" rIns="121875" bIns="121875" anchor="t" anchorCtr="0">
            <a:noAutofit/>
          </a:bodyPr>
          <a:lstStyle>
            <a:lvl1pPr marL="457200" lvl="0" indent="-381000">
              <a:lnSpc>
                <a:spcPct val="115000"/>
              </a:lnSpc>
              <a:spcBef>
                <a:spcPts val="0"/>
              </a:spcBef>
              <a:spcAft>
                <a:spcPts val="0"/>
              </a:spcAft>
              <a:buClr>
                <a:schemeClr val="dk2"/>
              </a:buClr>
              <a:buSzPts val="2400"/>
              <a:buChar char="●"/>
              <a:defRPr sz="2400">
                <a:solidFill>
                  <a:schemeClr val="dk2"/>
                </a:solidFill>
              </a:defRPr>
            </a:lvl1pPr>
            <a:lvl2pPr marL="914400" lvl="1" indent="-349250">
              <a:lnSpc>
                <a:spcPct val="115000"/>
              </a:lnSpc>
              <a:spcBef>
                <a:spcPts val="2100"/>
              </a:spcBef>
              <a:spcAft>
                <a:spcPts val="0"/>
              </a:spcAft>
              <a:buClr>
                <a:schemeClr val="dk2"/>
              </a:buClr>
              <a:buSzPts val="1900"/>
              <a:buChar char="○"/>
              <a:defRPr sz="1900">
                <a:solidFill>
                  <a:schemeClr val="dk2"/>
                </a:solidFill>
              </a:defRPr>
            </a:lvl2pPr>
            <a:lvl3pPr marL="1371600" lvl="2" indent="-349250">
              <a:lnSpc>
                <a:spcPct val="115000"/>
              </a:lnSpc>
              <a:spcBef>
                <a:spcPts val="2100"/>
              </a:spcBef>
              <a:spcAft>
                <a:spcPts val="0"/>
              </a:spcAft>
              <a:buClr>
                <a:schemeClr val="dk2"/>
              </a:buClr>
              <a:buSzPts val="1900"/>
              <a:buChar char="■"/>
              <a:defRPr sz="1900">
                <a:solidFill>
                  <a:schemeClr val="dk2"/>
                </a:solidFill>
              </a:defRPr>
            </a:lvl3pPr>
            <a:lvl4pPr marL="1828800" lvl="3" indent="-349250">
              <a:lnSpc>
                <a:spcPct val="115000"/>
              </a:lnSpc>
              <a:spcBef>
                <a:spcPts val="2100"/>
              </a:spcBef>
              <a:spcAft>
                <a:spcPts val="0"/>
              </a:spcAft>
              <a:buClr>
                <a:schemeClr val="dk2"/>
              </a:buClr>
              <a:buSzPts val="1900"/>
              <a:buChar char="●"/>
              <a:defRPr sz="1900">
                <a:solidFill>
                  <a:schemeClr val="dk2"/>
                </a:solidFill>
              </a:defRPr>
            </a:lvl4pPr>
            <a:lvl5pPr marL="2286000" lvl="4" indent="-349250">
              <a:lnSpc>
                <a:spcPct val="115000"/>
              </a:lnSpc>
              <a:spcBef>
                <a:spcPts val="2100"/>
              </a:spcBef>
              <a:spcAft>
                <a:spcPts val="0"/>
              </a:spcAft>
              <a:buClr>
                <a:schemeClr val="dk2"/>
              </a:buClr>
              <a:buSzPts val="1900"/>
              <a:buChar char="○"/>
              <a:defRPr sz="1900">
                <a:solidFill>
                  <a:schemeClr val="dk2"/>
                </a:solidFill>
              </a:defRPr>
            </a:lvl5pPr>
            <a:lvl6pPr marL="2743200" lvl="5" indent="-349250">
              <a:lnSpc>
                <a:spcPct val="115000"/>
              </a:lnSpc>
              <a:spcBef>
                <a:spcPts val="2100"/>
              </a:spcBef>
              <a:spcAft>
                <a:spcPts val="0"/>
              </a:spcAft>
              <a:buClr>
                <a:schemeClr val="dk2"/>
              </a:buClr>
              <a:buSzPts val="1900"/>
              <a:buChar char="■"/>
              <a:defRPr sz="1900">
                <a:solidFill>
                  <a:schemeClr val="dk2"/>
                </a:solidFill>
              </a:defRPr>
            </a:lvl6pPr>
            <a:lvl7pPr marL="3200400" lvl="6" indent="-349250">
              <a:lnSpc>
                <a:spcPct val="115000"/>
              </a:lnSpc>
              <a:spcBef>
                <a:spcPts val="2100"/>
              </a:spcBef>
              <a:spcAft>
                <a:spcPts val="0"/>
              </a:spcAft>
              <a:buClr>
                <a:schemeClr val="dk2"/>
              </a:buClr>
              <a:buSzPts val="1900"/>
              <a:buChar char="●"/>
              <a:defRPr sz="1900">
                <a:solidFill>
                  <a:schemeClr val="dk2"/>
                </a:solidFill>
              </a:defRPr>
            </a:lvl7pPr>
            <a:lvl8pPr marL="3657600" lvl="7" indent="-349250">
              <a:lnSpc>
                <a:spcPct val="115000"/>
              </a:lnSpc>
              <a:spcBef>
                <a:spcPts val="2100"/>
              </a:spcBef>
              <a:spcAft>
                <a:spcPts val="0"/>
              </a:spcAft>
              <a:buClr>
                <a:schemeClr val="dk2"/>
              </a:buClr>
              <a:buSzPts val="1900"/>
              <a:buChar char="○"/>
              <a:defRPr sz="1900">
                <a:solidFill>
                  <a:schemeClr val="dk2"/>
                </a:solidFill>
              </a:defRPr>
            </a:lvl8pPr>
            <a:lvl9pPr marL="4114800" lvl="8" indent="-349250">
              <a:lnSpc>
                <a:spcPct val="115000"/>
              </a:lnSpc>
              <a:spcBef>
                <a:spcPts val="2100"/>
              </a:spcBef>
              <a:spcAft>
                <a:spcPts val="2100"/>
              </a:spcAft>
              <a:buClr>
                <a:schemeClr val="dk2"/>
              </a:buClr>
              <a:buSzPts val="1900"/>
              <a:buChar char="■"/>
              <a:defRPr sz="1900">
                <a:solidFill>
                  <a:schemeClr val="dk2"/>
                </a:solidFill>
              </a:defRPr>
            </a:lvl9pPr>
          </a:lstStyle>
          <a:p>
            <a:endParaRPr/>
          </a:p>
        </p:txBody>
      </p:sp>
      <p:sp>
        <p:nvSpPr>
          <p:cNvPr id="8" name="Google Shape;8;p1"/>
          <p:cNvSpPr txBox="1">
            <a:spLocks noGrp="1"/>
          </p:cNvSpPr>
          <p:nvPr>
            <p:ph type="sldNum" idx="12"/>
          </p:nvPr>
        </p:nvSpPr>
        <p:spPr>
          <a:xfrm>
            <a:off x="11293784" y="6217622"/>
            <a:ext cx="731400" cy="524700"/>
          </a:xfrm>
          <a:prstGeom prst="rect">
            <a:avLst/>
          </a:prstGeom>
          <a:noFill/>
          <a:ln>
            <a:noFill/>
          </a:ln>
        </p:spPr>
        <p:txBody>
          <a:bodyPr spcFirstLastPara="1" wrap="square" lIns="121875" tIns="121875" rIns="121875" bIns="121875" anchor="ctr" anchorCtr="0">
            <a:no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 name="Google Shape;52;p13"/>
          <p:cNvSpPr txBox="1">
            <a:spLocks noGrp="1"/>
          </p:cNvSpPr>
          <p:nvPr>
            <p:ph type="body" idx="1"/>
          </p:nvPr>
        </p:nvSpPr>
        <p:spPr>
          <a:xfrm>
            <a:off x="457206" y="1810776"/>
            <a:ext cx="8915492" cy="4132824"/>
          </a:xfrm>
          <a:prstGeom prst="rect">
            <a:avLst/>
          </a:prstGeom>
          <a:noFill/>
          <a:ln>
            <a:noFill/>
          </a:ln>
        </p:spPr>
        <p:txBody>
          <a:bodyPr spcFirstLastPara="1" wrap="square" lIns="0" tIns="0" rIns="0" bIns="0" anchor="t" anchorCtr="0">
            <a:noAutofit/>
          </a:bodyPr>
          <a:lstStyle>
            <a:lvl1pPr marL="457200" marR="0" lvl="0" indent="-228600" algn="l" rtl="0">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Lst>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82"/>
        <p:cNvGrpSpPr/>
        <p:nvPr/>
      </p:nvGrpSpPr>
      <p:grpSpPr>
        <a:xfrm>
          <a:off x="0" y="0"/>
          <a:ext cx="0" cy="0"/>
          <a:chOff x="0" y="0"/>
          <a:chExt cx="0" cy="0"/>
        </a:xfrm>
      </p:grpSpPr>
      <p:sp>
        <p:nvSpPr>
          <p:cNvPr id="483" name="Google Shape;483;p8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484" name="Google Shape;484;p88"/>
          <p:cNvSpPr txBox="1">
            <a:spLocks noGrp="1"/>
          </p:cNvSpPr>
          <p:nvPr>
            <p:ph type="body" idx="1"/>
          </p:nvPr>
        </p:nvSpPr>
        <p:spPr>
          <a:xfrm>
            <a:off x="457205" y="1810776"/>
            <a:ext cx="8915400" cy="413280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85" name="Google Shape;485;p88"/>
          <p:cNvSpPr txBox="1">
            <a:spLocks noGrp="1"/>
          </p:cNvSpPr>
          <p:nvPr>
            <p:ph type="sldNum" idx="12"/>
          </p:nvPr>
        </p:nvSpPr>
        <p:spPr>
          <a:xfrm>
            <a:off x="11406192" y="6333134"/>
            <a:ext cx="731400" cy="525000"/>
          </a:xfrm>
          <a:prstGeom prst="rect">
            <a:avLst/>
          </a:prstGeom>
          <a:noFill/>
          <a:ln>
            <a:noFill/>
          </a:ln>
        </p:spPr>
        <p:txBody>
          <a:bodyPr spcFirstLastPara="1" wrap="square" lIns="91425" tIns="91425" rIns="91425" bIns="91425" anchor="t" anchorCtr="0">
            <a:noAutofit/>
          </a:bodyPr>
          <a:lstStyle>
            <a:lvl1pPr lvl="0" algn="r" rtl="0">
              <a:buNone/>
              <a:defRPr sz="1300">
                <a:solidFill>
                  <a:schemeClr val="dk1"/>
                </a:solidFill>
                <a:latin typeface="Roboto"/>
                <a:ea typeface="Roboto"/>
                <a:cs typeface="Roboto"/>
                <a:sym typeface="Roboto"/>
              </a:defRPr>
            </a:lvl1pPr>
            <a:lvl2pPr lvl="1" algn="r" rtl="0">
              <a:buNone/>
              <a:defRPr sz="1300">
                <a:solidFill>
                  <a:schemeClr val="dk1"/>
                </a:solidFill>
                <a:latin typeface="Roboto"/>
                <a:ea typeface="Roboto"/>
                <a:cs typeface="Roboto"/>
                <a:sym typeface="Roboto"/>
              </a:defRPr>
            </a:lvl2pPr>
            <a:lvl3pPr lvl="2" algn="r" rtl="0">
              <a:buNone/>
              <a:defRPr sz="1300">
                <a:solidFill>
                  <a:schemeClr val="dk1"/>
                </a:solidFill>
                <a:latin typeface="Roboto"/>
                <a:ea typeface="Roboto"/>
                <a:cs typeface="Roboto"/>
                <a:sym typeface="Roboto"/>
              </a:defRPr>
            </a:lvl3pPr>
            <a:lvl4pPr lvl="3" algn="r" rtl="0">
              <a:buNone/>
              <a:defRPr sz="1300">
                <a:solidFill>
                  <a:schemeClr val="dk1"/>
                </a:solidFill>
                <a:latin typeface="Roboto"/>
                <a:ea typeface="Roboto"/>
                <a:cs typeface="Roboto"/>
                <a:sym typeface="Roboto"/>
              </a:defRPr>
            </a:lvl4pPr>
            <a:lvl5pPr lvl="4" algn="r" rtl="0">
              <a:buNone/>
              <a:defRPr sz="1300">
                <a:solidFill>
                  <a:schemeClr val="dk1"/>
                </a:solidFill>
                <a:latin typeface="Roboto"/>
                <a:ea typeface="Roboto"/>
                <a:cs typeface="Roboto"/>
                <a:sym typeface="Roboto"/>
              </a:defRPr>
            </a:lvl5pPr>
            <a:lvl6pPr lvl="5" algn="r" rtl="0">
              <a:buNone/>
              <a:defRPr sz="1300">
                <a:solidFill>
                  <a:schemeClr val="dk1"/>
                </a:solidFill>
                <a:latin typeface="Roboto"/>
                <a:ea typeface="Roboto"/>
                <a:cs typeface="Roboto"/>
                <a:sym typeface="Roboto"/>
              </a:defRPr>
            </a:lvl6pPr>
            <a:lvl7pPr lvl="6" algn="r" rtl="0">
              <a:buNone/>
              <a:defRPr sz="1300">
                <a:solidFill>
                  <a:schemeClr val="dk1"/>
                </a:solidFill>
                <a:latin typeface="Roboto"/>
                <a:ea typeface="Roboto"/>
                <a:cs typeface="Roboto"/>
                <a:sym typeface="Roboto"/>
              </a:defRPr>
            </a:lvl7pPr>
            <a:lvl8pPr lvl="7" algn="r" rtl="0">
              <a:buNone/>
              <a:defRPr sz="1300">
                <a:solidFill>
                  <a:schemeClr val="dk1"/>
                </a:solidFill>
                <a:latin typeface="Roboto"/>
                <a:ea typeface="Roboto"/>
                <a:cs typeface="Roboto"/>
                <a:sym typeface="Roboto"/>
              </a:defRPr>
            </a:lvl8pPr>
            <a:lvl9pPr lvl="8" algn="r" rtl="0">
              <a:buNone/>
              <a:defRPr sz="1300">
                <a:solidFill>
                  <a:schemeClr val="dk1"/>
                </a:solidFill>
                <a:latin typeface="Roboto"/>
                <a:ea typeface="Roboto"/>
                <a:cs typeface="Roboto"/>
                <a:sym typeface="Roboto"/>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742" r:id="rId1"/>
    <p:sldLayoutId id="2147483789" r:id="rId2"/>
  </p:sldLayoutIdLst>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hyperlink" Target="https://nvlpubs.nist.gov/nistpubs/SpecialPublications/NIST.SP.800-231.pdf" TargetMode="External"/><Relationship Id="rId2" Type="http://schemas.openxmlformats.org/officeDocument/2006/relationships/notesSlide" Target="../notesSlides/notesSlide28.xml"/><Relationship Id="rId1" Type="http://schemas.openxmlformats.org/officeDocument/2006/relationships/slideLayout" Target="../slideLayouts/slideLayout13.xml"/><Relationship Id="rId4" Type="http://schemas.openxmlformats.org/officeDocument/2006/relationships/hyperlink" Target="https://usnistgov.github.io/BF/info/bf-classes/overview/"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p146"/>
          <p:cNvSpPr txBox="1">
            <a:spLocks noGrp="1"/>
          </p:cNvSpPr>
          <p:nvPr>
            <p:ph type="title"/>
          </p:nvPr>
        </p:nvSpPr>
        <p:spPr>
          <a:xfrm>
            <a:off x="668910" y="1815384"/>
            <a:ext cx="10851007" cy="3227235"/>
          </a:xfrm>
          <a:prstGeom prst="rect">
            <a:avLst/>
          </a:prstGeom>
          <a:noFill/>
          <a:ln>
            <a:noFill/>
          </a:ln>
        </p:spPr>
        <p:txBody>
          <a:bodyPr spcFirstLastPara="1" wrap="square" lIns="0" tIns="0" rIns="0" bIns="0" anchor="ctr" anchorCtr="0">
            <a:noAutofit/>
          </a:bodyPr>
          <a:lstStyle/>
          <a:p>
            <a:pPr>
              <a:lnSpc>
                <a:spcPct val="100000"/>
              </a:lnSpc>
            </a:pPr>
            <a:r>
              <a:rPr lang="en" sz="5400" dirty="0"/>
              <a:t>Secure Settings – Identify Options</a:t>
            </a:r>
            <a:endParaRPr sz="6600" dirty="0"/>
          </a:p>
        </p:txBody>
      </p:sp>
      <p:sp>
        <p:nvSpPr>
          <p:cNvPr id="2" name="Rectangle 1">
            <a:extLst>
              <a:ext uri="{FF2B5EF4-FFF2-40B4-BE49-F238E27FC236}">
                <a16:creationId xmlns:a16="http://schemas.microsoft.com/office/drawing/2014/main" id="{2FB5F0EE-3344-3E43-B412-5327D36C6F8A}"/>
              </a:ext>
            </a:extLst>
          </p:cNvPr>
          <p:cNvSpPr/>
          <p:nvPr/>
        </p:nvSpPr>
        <p:spPr>
          <a:xfrm>
            <a:off x="10741248" y="5270394"/>
            <a:ext cx="963725" cy="461665"/>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version 2</a:t>
            </a:r>
          </a:p>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2025-09-11</a:t>
            </a:r>
          </a:p>
        </p:txBody>
      </p:sp>
      <p:sp>
        <p:nvSpPr>
          <p:cNvPr id="4" name="Rectangle 3">
            <a:extLst>
              <a:ext uri="{FF2B5EF4-FFF2-40B4-BE49-F238E27FC236}">
                <a16:creationId xmlns:a16="http://schemas.microsoft.com/office/drawing/2014/main" id="{74CD8A9C-5CEA-AD48-B075-78C4F71699EB}"/>
              </a:ext>
            </a:extLst>
          </p:cNvPr>
          <p:cNvSpPr/>
          <p:nvPr/>
        </p:nvSpPr>
        <p:spPr>
          <a:xfrm>
            <a:off x="668909" y="5208838"/>
            <a:ext cx="6374149" cy="523220"/>
          </a:xfrm>
          <a:prstGeom prst="rect">
            <a:avLst/>
          </a:prstGeom>
        </p:spPr>
        <p:txBody>
          <a:bodyPr wrap="square">
            <a:spAutoFit/>
          </a:bodyPr>
          <a:lstStyle/>
          <a:p>
            <a:r>
              <a:rPr lang="en-US" dirty="0">
                <a:solidFill>
                  <a:schemeClr val="accent3">
                    <a:lumMod val="20000"/>
                    <a:lumOff val="80000"/>
                  </a:schemeClr>
                </a:solidFill>
                <a:latin typeface="Roboto" panose="02000000000000000000" pitchFamily="2" charset="0"/>
                <a:ea typeface="Roboto" panose="02000000000000000000" pitchFamily="2" charset="0"/>
              </a:rPr>
              <a:t>Charles Wilson</a:t>
            </a:r>
          </a:p>
          <a:p>
            <a:r>
              <a:rPr lang="en-US" dirty="0">
                <a:solidFill>
                  <a:schemeClr val="accent3">
                    <a:lumMod val="20000"/>
                    <a:lumOff val="80000"/>
                  </a:schemeClr>
                </a:solidFill>
                <a:latin typeface="Roboto" panose="02000000000000000000" pitchFamily="2" charset="0"/>
                <a:ea typeface="Roboto" panose="02000000000000000000" pitchFamily="2" charset="0"/>
              </a:rPr>
              <a:t>Staff Product Cybersecurity Architect</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Training Path</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tretch>
            <a:fillRect/>
          </a:stretch>
        </p:blipFill>
        <p:spPr>
          <a:xfrm>
            <a:off x="741952" y="326959"/>
            <a:ext cx="10704920" cy="6204081"/>
          </a:xfrm>
          <a:prstGeom prst="rect">
            <a:avLst/>
          </a:prstGeom>
          <a:effectLst/>
        </p:spPr>
      </p:pic>
    </p:spTree>
    <p:extLst>
      <p:ext uri="{BB962C8B-B14F-4D97-AF65-F5344CB8AC3E}">
        <p14:creationId xmlns:p14="http://schemas.microsoft.com/office/powerpoint/2010/main" val="2777678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E39DA21B-89EB-986D-847D-4B42780BEBB3}"/>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DFF19A58-92B6-1DFA-4D72-000891004779}"/>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Introduction</a:t>
            </a:r>
            <a:endParaRPr sz="6600" dirty="0"/>
          </a:p>
        </p:txBody>
      </p:sp>
    </p:spTree>
    <p:extLst>
      <p:ext uri="{BB962C8B-B14F-4D97-AF65-F5344CB8AC3E}">
        <p14:creationId xmlns:p14="http://schemas.microsoft.com/office/powerpoint/2010/main" val="28456245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4E3669D-F86E-FDE7-7E31-F90D50DD3DEE}"/>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C3048004-0C1B-3382-FC33-11D83421F449}"/>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Process</a:t>
            </a:r>
            <a:endParaRPr dirty="0"/>
          </a:p>
        </p:txBody>
      </p:sp>
      <p:pic>
        <p:nvPicPr>
          <p:cNvPr id="3" name="Picture 2">
            <a:extLst>
              <a:ext uri="{FF2B5EF4-FFF2-40B4-BE49-F238E27FC236}">
                <a16:creationId xmlns:a16="http://schemas.microsoft.com/office/drawing/2014/main" id="{081917B5-D38D-75C7-4D31-0A25C42D16F1}"/>
              </a:ext>
            </a:extLst>
          </p:cNvPr>
          <p:cNvPicPr>
            <a:picLocks noChangeAspect="1"/>
          </p:cNvPicPr>
          <p:nvPr/>
        </p:nvPicPr>
        <p:blipFill>
          <a:blip r:embed="rId3"/>
          <a:srcRect/>
          <a:stretch/>
        </p:blipFill>
        <p:spPr>
          <a:xfrm>
            <a:off x="274866" y="1543690"/>
            <a:ext cx="11639090" cy="3770619"/>
          </a:xfrm>
          <a:prstGeom prst="rect">
            <a:avLst/>
          </a:prstGeom>
        </p:spPr>
      </p:pic>
    </p:spTree>
    <p:extLst>
      <p:ext uri="{BB962C8B-B14F-4D97-AF65-F5344CB8AC3E}">
        <p14:creationId xmlns:p14="http://schemas.microsoft.com/office/powerpoint/2010/main" val="4278405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2D9D55F6-06EB-E809-14C1-EECC5BB008D5}"/>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01F82A40-77AB-6E11-8A42-0968A7747370}"/>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Process</a:t>
            </a:r>
            <a:endParaRPr dirty="0"/>
          </a:p>
        </p:txBody>
      </p:sp>
      <p:pic>
        <p:nvPicPr>
          <p:cNvPr id="3" name="Picture 2" descr="A diagram of a diagram of a diagram&#10;&#10;AI-generated content may be incorrect.">
            <a:extLst>
              <a:ext uri="{FF2B5EF4-FFF2-40B4-BE49-F238E27FC236}">
                <a16:creationId xmlns:a16="http://schemas.microsoft.com/office/drawing/2014/main" id="{98B18FB8-1F00-5ED4-16C3-706D9E5E8A15}"/>
              </a:ext>
            </a:extLst>
          </p:cNvPr>
          <p:cNvPicPr>
            <a:picLocks noChangeAspect="1"/>
          </p:cNvPicPr>
          <p:nvPr/>
        </p:nvPicPr>
        <p:blipFill>
          <a:blip r:embed="rId3">
            <a:alphaModFix amt="10000"/>
          </a:blip>
          <a:stretch>
            <a:fillRect/>
          </a:stretch>
        </p:blipFill>
        <p:spPr>
          <a:xfrm>
            <a:off x="274865" y="1543690"/>
            <a:ext cx="11639093" cy="3770619"/>
          </a:xfrm>
          <a:prstGeom prst="rect">
            <a:avLst/>
          </a:prstGeom>
        </p:spPr>
      </p:pic>
      <p:pic>
        <p:nvPicPr>
          <p:cNvPr id="4" name="Picture 3" descr="A diagram of a security system&#10;&#10;AI-generated content may be incorrect.">
            <a:extLst>
              <a:ext uri="{FF2B5EF4-FFF2-40B4-BE49-F238E27FC236}">
                <a16:creationId xmlns:a16="http://schemas.microsoft.com/office/drawing/2014/main" id="{3DAFB547-E064-BE77-DADB-0FD32061C128}"/>
              </a:ext>
            </a:extLst>
          </p:cNvPr>
          <p:cNvPicPr>
            <a:picLocks noChangeAspect="1"/>
          </p:cNvPicPr>
          <p:nvPr/>
        </p:nvPicPr>
        <p:blipFill>
          <a:blip r:embed="rId4"/>
          <a:stretch>
            <a:fillRect/>
          </a:stretch>
        </p:blipFill>
        <p:spPr>
          <a:xfrm>
            <a:off x="274865" y="1543690"/>
            <a:ext cx="3197961" cy="3770619"/>
          </a:xfrm>
          <a:prstGeom prst="rect">
            <a:avLst/>
          </a:prstGeom>
        </p:spPr>
      </p:pic>
    </p:spTree>
    <p:extLst>
      <p:ext uri="{BB962C8B-B14F-4D97-AF65-F5344CB8AC3E}">
        <p14:creationId xmlns:p14="http://schemas.microsoft.com/office/powerpoint/2010/main" val="2999320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905FA8F0-CA02-D0F4-C6EC-ABE2B96C3098}"/>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09AF6A5B-351A-2131-38B9-D4541B165559}"/>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Identify Options Activity</a:t>
            </a:r>
            <a:endParaRPr dirty="0"/>
          </a:p>
        </p:txBody>
      </p:sp>
      <p:pic>
        <p:nvPicPr>
          <p:cNvPr id="4" name="Picture 3" descr="A diagram of a security system&#10;&#10;AI-generated content may be incorrect.">
            <a:extLst>
              <a:ext uri="{FF2B5EF4-FFF2-40B4-BE49-F238E27FC236}">
                <a16:creationId xmlns:a16="http://schemas.microsoft.com/office/drawing/2014/main" id="{417E0601-6EDD-9F43-F483-E2034AA560A7}"/>
              </a:ext>
            </a:extLst>
          </p:cNvPr>
          <p:cNvPicPr>
            <a:picLocks noChangeAspect="1"/>
          </p:cNvPicPr>
          <p:nvPr/>
        </p:nvPicPr>
        <p:blipFill>
          <a:blip r:embed="rId3"/>
          <a:stretch>
            <a:fillRect/>
          </a:stretch>
        </p:blipFill>
        <p:spPr>
          <a:xfrm>
            <a:off x="3830162" y="985083"/>
            <a:ext cx="4528499" cy="5339416"/>
          </a:xfrm>
          <a:prstGeom prst="rect">
            <a:avLst/>
          </a:prstGeom>
        </p:spPr>
      </p:pic>
    </p:spTree>
    <p:extLst>
      <p:ext uri="{BB962C8B-B14F-4D97-AF65-F5344CB8AC3E}">
        <p14:creationId xmlns:p14="http://schemas.microsoft.com/office/powerpoint/2010/main" val="25813577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BED4F5BF-0A36-6497-E92C-9EFBAA47311C}"/>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C786B30F-0B10-746A-6474-C09E5CB8F619}"/>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Cybersecurity-relevant Tools</a:t>
            </a:r>
            <a:endParaRPr dirty="0"/>
          </a:p>
        </p:txBody>
      </p:sp>
      <p:sp>
        <p:nvSpPr>
          <p:cNvPr id="5" name="TextBox 4">
            <a:extLst>
              <a:ext uri="{FF2B5EF4-FFF2-40B4-BE49-F238E27FC236}">
                <a16:creationId xmlns:a16="http://schemas.microsoft.com/office/drawing/2014/main" id="{8997F66D-9EBC-0B13-5422-49B03B6328BE}"/>
              </a:ext>
            </a:extLst>
          </p:cNvPr>
          <p:cNvSpPr txBox="1"/>
          <p:nvPr/>
        </p:nvSpPr>
        <p:spPr>
          <a:xfrm>
            <a:off x="455618" y="1458577"/>
            <a:ext cx="3463128" cy="2862322"/>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Linters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Compilers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Static Analyzers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Fuzz Testers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Dynamic Analyzers</a:t>
            </a:r>
          </a:p>
        </p:txBody>
      </p:sp>
    </p:spTree>
    <p:extLst>
      <p:ext uri="{BB962C8B-B14F-4D97-AF65-F5344CB8AC3E}">
        <p14:creationId xmlns:p14="http://schemas.microsoft.com/office/powerpoint/2010/main" val="16631837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1CE16632-1C39-0DC1-D9F8-0DE9EDB81312}"/>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1DCDC6A0-9D6B-4CEF-EBEC-C10E50A6ACCF}"/>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Example</a:t>
            </a:r>
            <a:endParaRPr sz="6600" dirty="0"/>
          </a:p>
        </p:txBody>
      </p:sp>
    </p:spTree>
    <p:extLst>
      <p:ext uri="{BB962C8B-B14F-4D97-AF65-F5344CB8AC3E}">
        <p14:creationId xmlns:p14="http://schemas.microsoft.com/office/powerpoint/2010/main" val="1253984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4C174DC1-3B34-550B-143F-3D26F356EDD2}"/>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D71AA15C-BE75-DD93-033B-C38B9C34F9DC}"/>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Cover Sheet</a:t>
            </a:r>
            <a:endParaRPr dirty="0"/>
          </a:p>
        </p:txBody>
      </p:sp>
      <p:pic>
        <p:nvPicPr>
          <p:cNvPr id="5" name="Picture 4" descr="A screenshot of a computer&#10;&#10;AI-generated content may be incorrect.">
            <a:extLst>
              <a:ext uri="{FF2B5EF4-FFF2-40B4-BE49-F238E27FC236}">
                <a16:creationId xmlns:a16="http://schemas.microsoft.com/office/drawing/2014/main" id="{3EC8D5A6-6D03-B300-F957-F6FFF13BF0E6}"/>
              </a:ext>
            </a:extLst>
          </p:cNvPr>
          <p:cNvPicPr>
            <a:picLocks noChangeAspect="1"/>
          </p:cNvPicPr>
          <p:nvPr/>
        </p:nvPicPr>
        <p:blipFill>
          <a:blip r:embed="rId3"/>
          <a:stretch>
            <a:fillRect/>
          </a:stretch>
        </p:blipFill>
        <p:spPr>
          <a:xfrm>
            <a:off x="2208212" y="1340621"/>
            <a:ext cx="7772400" cy="4176757"/>
          </a:xfrm>
          <a:prstGeom prst="rect">
            <a:avLst/>
          </a:prstGeom>
        </p:spPr>
      </p:pic>
    </p:spTree>
    <p:extLst>
      <p:ext uri="{BB962C8B-B14F-4D97-AF65-F5344CB8AC3E}">
        <p14:creationId xmlns:p14="http://schemas.microsoft.com/office/powerpoint/2010/main" val="38214373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8F91684C-E8E1-00E1-991A-BF75F90AF382}"/>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2DB84596-EC97-5C1B-2C0D-4936622BD51D}"/>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References</a:t>
            </a:r>
            <a:endParaRPr dirty="0"/>
          </a:p>
        </p:txBody>
      </p:sp>
      <p:pic>
        <p:nvPicPr>
          <p:cNvPr id="4" name="Picture 3">
            <a:extLst>
              <a:ext uri="{FF2B5EF4-FFF2-40B4-BE49-F238E27FC236}">
                <a16:creationId xmlns:a16="http://schemas.microsoft.com/office/drawing/2014/main" id="{6824C405-E0FB-190E-AF2B-03405EC599FA}"/>
              </a:ext>
            </a:extLst>
          </p:cNvPr>
          <p:cNvPicPr>
            <a:picLocks noChangeAspect="1"/>
          </p:cNvPicPr>
          <p:nvPr/>
        </p:nvPicPr>
        <p:blipFill>
          <a:blip r:embed="rId3"/>
          <a:stretch>
            <a:fillRect/>
          </a:stretch>
        </p:blipFill>
        <p:spPr>
          <a:xfrm>
            <a:off x="455617" y="1285932"/>
            <a:ext cx="11277833" cy="1090569"/>
          </a:xfrm>
          <a:prstGeom prst="rect">
            <a:avLst/>
          </a:prstGeom>
        </p:spPr>
      </p:pic>
    </p:spTree>
    <p:extLst>
      <p:ext uri="{BB962C8B-B14F-4D97-AF65-F5344CB8AC3E}">
        <p14:creationId xmlns:p14="http://schemas.microsoft.com/office/powerpoint/2010/main" val="39763823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15A84F33-F7D5-A806-906E-489C71C7FBEB}"/>
            </a:ext>
          </a:extLst>
        </p:cNvPr>
        <p:cNvGrpSpPr/>
        <p:nvPr/>
      </p:nvGrpSpPr>
      <p:grpSpPr>
        <a:xfrm>
          <a:off x="0" y="0"/>
          <a:ext cx="0" cy="0"/>
          <a:chOff x="0" y="0"/>
          <a:chExt cx="0" cy="0"/>
        </a:xfrm>
      </p:grpSpPr>
      <p:pic>
        <p:nvPicPr>
          <p:cNvPr id="4" name="Picture 3" descr="A white sheet with black text&#10;&#10;AI-generated content may be incorrect.">
            <a:extLst>
              <a:ext uri="{FF2B5EF4-FFF2-40B4-BE49-F238E27FC236}">
                <a16:creationId xmlns:a16="http://schemas.microsoft.com/office/drawing/2014/main" id="{B64DDA65-0196-202E-1552-7C0E439BD8E5}"/>
              </a:ext>
            </a:extLst>
          </p:cNvPr>
          <p:cNvPicPr>
            <a:picLocks noChangeAspect="1"/>
          </p:cNvPicPr>
          <p:nvPr/>
        </p:nvPicPr>
        <p:blipFill>
          <a:blip r:embed="rId3"/>
          <a:stretch>
            <a:fillRect/>
          </a:stretch>
        </p:blipFill>
        <p:spPr>
          <a:xfrm>
            <a:off x="1018424" y="985083"/>
            <a:ext cx="10151976" cy="5742819"/>
          </a:xfrm>
          <a:prstGeom prst="rect">
            <a:avLst/>
          </a:prstGeom>
        </p:spPr>
      </p:pic>
      <p:sp>
        <p:nvSpPr>
          <p:cNvPr id="1199" name="Google Shape;1199;p156">
            <a:extLst>
              <a:ext uri="{FF2B5EF4-FFF2-40B4-BE49-F238E27FC236}">
                <a16:creationId xmlns:a16="http://schemas.microsoft.com/office/drawing/2014/main" id="{E4B8C5E4-1191-5B2A-47C7-985EB97A14CD}"/>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Options</a:t>
            </a:r>
            <a:endParaRPr dirty="0"/>
          </a:p>
        </p:txBody>
      </p:sp>
      <p:sp>
        <p:nvSpPr>
          <p:cNvPr id="2" name="Rectangle 1">
            <a:extLst>
              <a:ext uri="{FF2B5EF4-FFF2-40B4-BE49-F238E27FC236}">
                <a16:creationId xmlns:a16="http://schemas.microsoft.com/office/drawing/2014/main" id="{D676ECB7-25C3-B210-49AB-39A27EADF6B6}"/>
              </a:ext>
            </a:extLst>
          </p:cNvPr>
          <p:cNvSpPr/>
          <p:nvPr/>
        </p:nvSpPr>
        <p:spPr>
          <a:xfrm>
            <a:off x="4642338" y="985083"/>
            <a:ext cx="6528063" cy="57428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817641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67DCD4A8-19EE-6A95-12CA-24439E92D332}"/>
            </a:ext>
          </a:extLst>
        </p:cNvPr>
        <p:cNvGrpSpPr/>
        <p:nvPr/>
      </p:nvGrpSpPr>
      <p:grpSpPr>
        <a:xfrm>
          <a:off x="0" y="0"/>
          <a:ext cx="0" cy="0"/>
          <a:chOff x="0" y="0"/>
          <a:chExt cx="0" cy="0"/>
        </a:xfrm>
      </p:grpSpPr>
      <p:pic>
        <p:nvPicPr>
          <p:cNvPr id="4" name="Picture 3" descr="A white sheet with black text&#10;&#10;AI-generated content may be incorrect.">
            <a:extLst>
              <a:ext uri="{FF2B5EF4-FFF2-40B4-BE49-F238E27FC236}">
                <a16:creationId xmlns:a16="http://schemas.microsoft.com/office/drawing/2014/main" id="{A8B75D5C-6CC0-6C23-9BE0-A3F859768119}"/>
              </a:ext>
            </a:extLst>
          </p:cNvPr>
          <p:cNvPicPr>
            <a:picLocks noChangeAspect="1"/>
          </p:cNvPicPr>
          <p:nvPr/>
        </p:nvPicPr>
        <p:blipFill>
          <a:blip r:embed="rId3"/>
          <a:stretch>
            <a:fillRect/>
          </a:stretch>
        </p:blipFill>
        <p:spPr>
          <a:xfrm>
            <a:off x="1018424" y="985083"/>
            <a:ext cx="10151976" cy="5742819"/>
          </a:xfrm>
          <a:prstGeom prst="rect">
            <a:avLst/>
          </a:prstGeom>
        </p:spPr>
      </p:pic>
      <p:sp>
        <p:nvSpPr>
          <p:cNvPr id="1199" name="Google Shape;1199;p156">
            <a:extLst>
              <a:ext uri="{FF2B5EF4-FFF2-40B4-BE49-F238E27FC236}">
                <a16:creationId xmlns:a16="http://schemas.microsoft.com/office/drawing/2014/main" id="{564A952D-BA5F-A7E6-4F48-1E01077961DA}"/>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Relevance</a:t>
            </a:r>
            <a:endParaRPr dirty="0"/>
          </a:p>
        </p:txBody>
      </p:sp>
      <p:sp>
        <p:nvSpPr>
          <p:cNvPr id="2" name="Rectangle 1">
            <a:extLst>
              <a:ext uri="{FF2B5EF4-FFF2-40B4-BE49-F238E27FC236}">
                <a16:creationId xmlns:a16="http://schemas.microsoft.com/office/drawing/2014/main" id="{02169F66-2C1A-DAA2-63CC-58249AFBE638}"/>
              </a:ext>
            </a:extLst>
          </p:cNvPr>
          <p:cNvSpPr/>
          <p:nvPr/>
        </p:nvSpPr>
        <p:spPr>
          <a:xfrm>
            <a:off x="6207369" y="985083"/>
            <a:ext cx="4963032" cy="57428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451176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4C281228-F7DA-AF48-9CDC-35B581177855}"/>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8836BA82-AE09-C722-EE6C-82972520B465}"/>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NIST Bug Classes</a:t>
            </a:r>
            <a:endParaRPr sz="6600" dirty="0"/>
          </a:p>
        </p:txBody>
      </p:sp>
    </p:spTree>
    <p:extLst>
      <p:ext uri="{BB962C8B-B14F-4D97-AF65-F5344CB8AC3E}">
        <p14:creationId xmlns:p14="http://schemas.microsoft.com/office/powerpoint/2010/main" val="13471675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D47FCF50-BC52-A8B8-F2B9-3728D7C5F407}"/>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D2C591EF-913A-6388-2591-39E9AD9651B9}"/>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NIST Bug Class Categories</a:t>
            </a:r>
            <a:endParaRPr dirty="0"/>
          </a:p>
        </p:txBody>
      </p:sp>
      <p:sp>
        <p:nvSpPr>
          <p:cNvPr id="3" name="TextBox 2">
            <a:extLst>
              <a:ext uri="{FF2B5EF4-FFF2-40B4-BE49-F238E27FC236}">
                <a16:creationId xmlns:a16="http://schemas.microsoft.com/office/drawing/2014/main" id="{843D52FC-D7A7-A321-CE19-77E43FDD063D}"/>
              </a:ext>
            </a:extLst>
          </p:cNvPr>
          <p:cNvSpPr txBox="1"/>
          <p:nvPr/>
        </p:nvSpPr>
        <p:spPr>
          <a:xfrm>
            <a:off x="455618" y="1531040"/>
            <a:ext cx="1739900" cy="1692771"/>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Input</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Memory</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Data</a:t>
            </a:r>
          </a:p>
        </p:txBody>
      </p:sp>
    </p:spTree>
    <p:extLst>
      <p:ext uri="{BB962C8B-B14F-4D97-AF65-F5344CB8AC3E}">
        <p14:creationId xmlns:p14="http://schemas.microsoft.com/office/powerpoint/2010/main" val="30368908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F78BF204-BFBD-51F8-995A-7F9558E9180D}"/>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52890257-EBB6-2960-87A7-3EC9A2CCFA95}"/>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NIST Bug Classes - Input</a:t>
            </a:r>
            <a:endParaRPr dirty="0"/>
          </a:p>
        </p:txBody>
      </p:sp>
      <p:graphicFrame>
        <p:nvGraphicFramePr>
          <p:cNvPr id="10" name="Table 9">
            <a:extLst>
              <a:ext uri="{FF2B5EF4-FFF2-40B4-BE49-F238E27FC236}">
                <a16:creationId xmlns:a16="http://schemas.microsoft.com/office/drawing/2014/main" id="{30EB7DF6-D5F9-A323-4A01-2FE0C08ADBE9}"/>
              </a:ext>
            </a:extLst>
          </p:cNvPr>
          <p:cNvGraphicFramePr>
            <a:graphicFrameLocks noGrp="1"/>
          </p:cNvGraphicFramePr>
          <p:nvPr>
            <p:extLst>
              <p:ext uri="{D42A27DB-BD31-4B8C-83A1-F6EECF244321}">
                <p14:modId xmlns:p14="http://schemas.microsoft.com/office/powerpoint/2010/main" val="188823194"/>
              </p:ext>
            </p:extLst>
          </p:nvPr>
        </p:nvGraphicFramePr>
        <p:xfrm>
          <a:off x="455617" y="1162209"/>
          <a:ext cx="11277834" cy="1981200"/>
        </p:xfrm>
        <a:graphic>
          <a:graphicData uri="http://schemas.openxmlformats.org/drawingml/2006/table">
            <a:tbl>
              <a:tblPr firstRow="1" bandRow="1">
                <a:tableStyleId>{F9A1F375-83D2-49B6-B6D9-1E75FAB2CD22}</a:tableStyleId>
              </a:tblPr>
              <a:tblGrid>
                <a:gridCol w="3120207">
                  <a:extLst>
                    <a:ext uri="{9D8B030D-6E8A-4147-A177-3AD203B41FA5}">
                      <a16:colId xmlns:a16="http://schemas.microsoft.com/office/drawing/2014/main" val="789766324"/>
                    </a:ext>
                  </a:extLst>
                </a:gridCol>
                <a:gridCol w="4398349">
                  <a:extLst>
                    <a:ext uri="{9D8B030D-6E8A-4147-A177-3AD203B41FA5}">
                      <a16:colId xmlns:a16="http://schemas.microsoft.com/office/drawing/2014/main" val="1413171171"/>
                    </a:ext>
                  </a:extLst>
                </a:gridCol>
                <a:gridCol w="3759278">
                  <a:extLst>
                    <a:ext uri="{9D8B030D-6E8A-4147-A177-3AD203B41FA5}">
                      <a16:colId xmlns:a16="http://schemas.microsoft.com/office/drawing/2014/main" val="1522625013"/>
                    </a:ext>
                  </a:extLst>
                </a:gridCol>
              </a:tblGrid>
              <a:tr h="370840">
                <a:tc>
                  <a:txBody>
                    <a:bodyPr/>
                    <a:lstStyle/>
                    <a:p>
                      <a:r>
                        <a:rPr lang="en-US" sz="2800" baseline="0" dirty="0">
                          <a:latin typeface="Roboto" panose="02000000000000000000" pitchFamily="2" charset="0"/>
                        </a:rPr>
                        <a:t>Class</a:t>
                      </a:r>
                    </a:p>
                  </a:txBody>
                  <a:tcPr>
                    <a:solidFill>
                      <a:schemeClr val="bg2">
                        <a:lumMod val="20000"/>
                        <a:lumOff val="80000"/>
                      </a:schemeClr>
                    </a:solidFill>
                  </a:tcPr>
                </a:tc>
                <a:tc>
                  <a:txBody>
                    <a:bodyPr/>
                    <a:lstStyle/>
                    <a:p>
                      <a:r>
                        <a:rPr lang="en-US" sz="2800" baseline="0" dirty="0">
                          <a:latin typeface="Roboto" panose="02000000000000000000" pitchFamily="2" charset="0"/>
                        </a:rPr>
                        <a:t>Focus</a:t>
                      </a:r>
                    </a:p>
                  </a:txBody>
                  <a:tcPr>
                    <a:solidFill>
                      <a:schemeClr val="bg2">
                        <a:lumMod val="20000"/>
                        <a:lumOff val="80000"/>
                      </a:schemeClr>
                    </a:solidFill>
                  </a:tcPr>
                </a:tc>
                <a:tc>
                  <a:txBody>
                    <a:bodyPr/>
                    <a:lstStyle/>
                    <a:p>
                      <a:r>
                        <a:rPr lang="en-US" sz="2800" baseline="0" dirty="0">
                          <a:latin typeface="Roboto" panose="02000000000000000000" pitchFamily="2" charset="0"/>
                        </a:rPr>
                        <a:t>Concern</a:t>
                      </a:r>
                    </a:p>
                  </a:txBody>
                  <a:tcPr>
                    <a:solidFill>
                      <a:schemeClr val="bg2">
                        <a:lumMod val="20000"/>
                        <a:lumOff val="80000"/>
                      </a:schemeClr>
                    </a:solidFill>
                  </a:tcPr>
                </a:tc>
                <a:extLst>
                  <a:ext uri="{0D108BD9-81ED-4DB2-BD59-A6C34878D82A}">
                    <a16:rowId xmlns:a16="http://schemas.microsoft.com/office/drawing/2014/main" val="1892336594"/>
                  </a:ext>
                </a:extLst>
              </a:tr>
              <a:tr h="370840">
                <a:tc>
                  <a:txBody>
                    <a:bodyPr/>
                    <a:lstStyle/>
                    <a:p>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Validation</a:t>
                      </a:r>
                      <a:endParaRPr lang="en-US" sz="2800" baseline="0" dirty="0">
                        <a:latin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Format</a:t>
                      </a:r>
                    </a:p>
                  </a:txBody>
                  <a:tcPr/>
                </a:tc>
                <a:tc>
                  <a:txBody>
                    <a:bodyPr/>
                    <a:lstStyle/>
                    <a:p>
                      <a:pPr marL="230188" indent="-230188">
                        <a:spcAft>
                          <a:spcPts val="0"/>
                        </a:spcAft>
                        <a:buFont typeface="Arial" panose="020B0604020202020204" pitchFamily="34" charset="0"/>
                        <a:buChar char="•"/>
                        <a:tabLst/>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Data Corruption</a:t>
                      </a:r>
                    </a:p>
                    <a:p>
                      <a:pPr marL="230188" indent="-230188">
                        <a:spcAft>
                          <a:spcPts val="1200"/>
                        </a:spcAft>
                        <a:buFont typeface="Arial" panose="020B0604020202020204" pitchFamily="34" charset="0"/>
                        <a:buChar char="•"/>
                        <a:tabLst/>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Command Injection</a:t>
                      </a:r>
                    </a:p>
                  </a:txBody>
                  <a:tcPr/>
                </a:tc>
                <a:extLst>
                  <a:ext uri="{0D108BD9-81ED-4DB2-BD59-A6C34878D82A}">
                    <a16:rowId xmlns:a16="http://schemas.microsoft.com/office/drawing/2014/main" val="2521454380"/>
                  </a:ext>
                </a:extLst>
              </a:tr>
              <a:tr h="370840">
                <a:tc>
                  <a:txBody>
                    <a:bodyPr/>
                    <a:lstStyle/>
                    <a:p>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Verification</a:t>
                      </a:r>
                      <a:endParaRPr lang="en-US" sz="2800" baseline="0" dirty="0">
                        <a:latin typeface="Roboto" panose="02000000000000000000" pitchFamily="2" charset="0"/>
                      </a:endParaRPr>
                    </a:p>
                  </a:txBody>
                  <a:tcPr/>
                </a:tc>
                <a:tc>
                  <a:txBody>
                    <a:bodyPr/>
                    <a:lstStyle/>
                    <a:p>
                      <a:r>
                        <a:rPr lang="en-US" sz="2800" baseline="0" dirty="0">
                          <a:latin typeface="Roboto" panose="02000000000000000000" pitchFamily="2" charset="0"/>
                        </a:rPr>
                        <a:t>Value</a:t>
                      </a:r>
                    </a:p>
                  </a:txBody>
                  <a:tcPr/>
                </a:tc>
                <a:tc>
                  <a:txBody>
                    <a:bodyPr/>
                    <a:lstStyle/>
                    <a:p>
                      <a:r>
                        <a:rPr lang="en-US" sz="2800" baseline="0" dirty="0">
                          <a:latin typeface="Roboto" panose="02000000000000000000" pitchFamily="2" charset="0"/>
                        </a:rPr>
                        <a:t>Incorrect Behavior</a:t>
                      </a:r>
                    </a:p>
                  </a:txBody>
                  <a:tcPr/>
                </a:tc>
                <a:extLst>
                  <a:ext uri="{0D108BD9-81ED-4DB2-BD59-A6C34878D82A}">
                    <a16:rowId xmlns:a16="http://schemas.microsoft.com/office/drawing/2014/main" val="1120058652"/>
                  </a:ext>
                </a:extLst>
              </a:tr>
            </a:tbl>
          </a:graphicData>
        </a:graphic>
      </p:graphicFrame>
    </p:spTree>
    <p:extLst>
      <p:ext uri="{BB962C8B-B14F-4D97-AF65-F5344CB8AC3E}">
        <p14:creationId xmlns:p14="http://schemas.microsoft.com/office/powerpoint/2010/main" val="542903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8D361219-FDB6-E11E-663B-558480422D9B}"/>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60125691-D615-244B-BDB7-5409D4C5EEEE}"/>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NIST Bug Classes - Memory</a:t>
            </a:r>
            <a:endParaRPr dirty="0"/>
          </a:p>
        </p:txBody>
      </p:sp>
      <p:graphicFrame>
        <p:nvGraphicFramePr>
          <p:cNvPr id="10" name="Table 9">
            <a:extLst>
              <a:ext uri="{FF2B5EF4-FFF2-40B4-BE49-F238E27FC236}">
                <a16:creationId xmlns:a16="http://schemas.microsoft.com/office/drawing/2014/main" id="{01E67A10-AEE0-6C31-0407-3A64011CBBF5}"/>
              </a:ext>
            </a:extLst>
          </p:cNvPr>
          <p:cNvGraphicFramePr>
            <a:graphicFrameLocks noGrp="1"/>
          </p:cNvGraphicFramePr>
          <p:nvPr>
            <p:extLst>
              <p:ext uri="{D42A27DB-BD31-4B8C-83A1-F6EECF244321}">
                <p14:modId xmlns:p14="http://schemas.microsoft.com/office/powerpoint/2010/main" val="3912379662"/>
              </p:ext>
            </p:extLst>
          </p:nvPr>
        </p:nvGraphicFramePr>
        <p:xfrm>
          <a:off x="455617" y="1162209"/>
          <a:ext cx="11277834" cy="4206240"/>
        </p:xfrm>
        <a:graphic>
          <a:graphicData uri="http://schemas.openxmlformats.org/drawingml/2006/table">
            <a:tbl>
              <a:tblPr firstRow="1" bandRow="1">
                <a:tableStyleId>{F9A1F375-83D2-49B6-B6D9-1E75FAB2CD22}</a:tableStyleId>
              </a:tblPr>
              <a:tblGrid>
                <a:gridCol w="3120207">
                  <a:extLst>
                    <a:ext uri="{9D8B030D-6E8A-4147-A177-3AD203B41FA5}">
                      <a16:colId xmlns:a16="http://schemas.microsoft.com/office/drawing/2014/main" val="789766324"/>
                    </a:ext>
                  </a:extLst>
                </a:gridCol>
                <a:gridCol w="4398349">
                  <a:extLst>
                    <a:ext uri="{9D8B030D-6E8A-4147-A177-3AD203B41FA5}">
                      <a16:colId xmlns:a16="http://schemas.microsoft.com/office/drawing/2014/main" val="1413171171"/>
                    </a:ext>
                  </a:extLst>
                </a:gridCol>
                <a:gridCol w="3759278">
                  <a:extLst>
                    <a:ext uri="{9D8B030D-6E8A-4147-A177-3AD203B41FA5}">
                      <a16:colId xmlns:a16="http://schemas.microsoft.com/office/drawing/2014/main" val="1522625013"/>
                    </a:ext>
                  </a:extLst>
                </a:gridCol>
              </a:tblGrid>
              <a:tr h="370840">
                <a:tc>
                  <a:txBody>
                    <a:bodyPr/>
                    <a:lstStyle/>
                    <a:p>
                      <a:r>
                        <a:rPr lang="en-US" sz="2800" baseline="0" dirty="0">
                          <a:latin typeface="Roboto" panose="02000000000000000000" pitchFamily="2" charset="0"/>
                        </a:rPr>
                        <a:t>Class</a:t>
                      </a:r>
                    </a:p>
                  </a:txBody>
                  <a:tcPr>
                    <a:solidFill>
                      <a:schemeClr val="bg2">
                        <a:lumMod val="20000"/>
                        <a:lumOff val="80000"/>
                      </a:schemeClr>
                    </a:solidFill>
                  </a:tcPr>
                </a:tc>
                <a:tc>
                  <a:txBody>
                    <a:bodyPr/>
                    <a:lstStyle/>
                    <a:p>
                      <a:r>
                        <a:rPr lang="en-US" sz="2800" baseline="0" dirty="0">
                          <a:latin typeface="Roboto" panose="02000000000000000000" pitchFamily="2" charset="0"/>
                        </a:rPr>
                        <a:t>Focus</a:t>
                      </a:r>
                    </a:p>
                  </a:txBody>
                  <a:tcPr>
                    <a:solidFill>
                      <a:schemeClr val="bg2">
                        <a:lumMod val="20000"/>
                        <a:lumOff val="80000"/>
                      </a:schemeClr>
                    </a:solidFill>
                  </a:tcPr>
                </a:tc>
                <a:tc>
                  <a:txBody>
                    <a:bodyPr/>
                    <a:lstStyle/>
                    <a:p>
                      <a:r>
                        <a:rPr lang="en-US" sz="2800" baseline="0" dirty="0">
                          <a:latin typeface="Roboto" panose="02000000000000000000" pitchFamily="2" charset="0"/>
                        </a:rPr>
                        <a:t>Concern</a:t>
                      </a:r>
                    </a:p>
                  </a:txBody>
                  <a:tcPr>
                    <a:solidFill>
                      <a:schemeClr val="bg2">
                        <a:lumMod val="20000"/>
                        <a:lumOff val="80000"/>
                      </a:schemeClr>
                    </a:solidFill>
                  </a:tcPr>
                </a:tc>
                <a:extLst>
                  <a:ext uri="{0D108BD9-81ED-4DB2-BD59-A6C34878D82A}">
                    <a16:rowId xmlns:a16="http://schemas.microsoft.com/office/drawing/2014/main" val="1892336594"/>
                  </a:ext>
                </a:extLst>
              </a:tr>
              <a:tr h="370840">
                <a:tc>
                  <a:txBody>
                    <a:bodyPr/>
                    <a:lstStyle/>
                    <a:p>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Addressing</a:t>
                      </a:r>
                      <a:endParaRPr lang="en-US" sz="2800" baseline="0" dirty="0">
                        <a:latin typeface="Roboto" panose="02000000000000000000" pitchFamily="2" charset="0"/>
                      </a:endParaRPr>
                    </a:p>
                  </a:txBody>
                  <a:tcPr/>
                </a:tc>
                <a:tc>
                  <a:txBody>
                    <a:bodyPr/>
                    <a:lstStyle/>
                    <a:p>
                      <a:pPr marL="230188" marR="0" lvl="0" indent="-230188"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Pointer Creation</a:t>
                      </a:r>
                    </a:p>
                    <a:p>
                      <a:pPr marL="230188" marR="0" lvl="0" indent="-230188"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Pointer Modification</a:t>
                      </a:r>
                    </a:p>
                  </a:txBody>
                  <a:tcPr/>
                </a:tc>
                <a:tc>
                  <a:txBody>
                    <a:bodyPr/>
                    <a:lstStyle/>
                    <a:p>
                      <a:pPr marL="230188" marR="0" lvl="0" indent="-230188"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Out-of-bounds</a:t>
                      </a:r>
                    </a:p>
                    <a:p>
                      <a:pPr marL="230188" marR="0" lvl="0" indent="-230188"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Wrong Object</a:t>
                      </a:r>
                    </a:p>
                  </a:txBody>
                  <a:tcPr/>
                </a:tc>
                <a:extLst>
                  <a:ext uri="{0D108BD9-81ED-4DB2-BD59-A6C34878D82A}">
                    <a16:rowId xmlns:a16="http://schemas.microsoft.com/office/drawing/2014/main" val="2521454380"/>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Management</a:t>
                      </a:r>
                    </a:p>
                  </a:txBody>
                  <a:tcPr/>
                </a:tc>
                <a:tc>
                  <a:txBody>
                    <a:bodyPr/>
                    <a:lstStyle/>
                    <a:p>
                      <a:pPr marL="230188" indent="-230188">
                        <a:buFont typeface="Arial" panose="020B0604020202020204" pitchFamily="34" charset="0"/>
                        <a:buChar char="•"/>
                        <a:tabLst/>
                      </a:pPr>
                      <a:r>
                        <a:rPr lang="en-US" sz="2800" baseline="0" dirty="0">
                          <a:latin typeface="Roboto" panose="02000000000000000000" pitchFamily="2" charset="0"/>
                        </a:rPr>
                        <a:t>Memory Allocation</a:t>
                      </a:r>
                    </a:p>
                    <a:p>
                      <a:pPr marL="230188" indent="-230188">
                        <a:buFont typeface="Arial" panose="020B0604020202020204" pitchFamily="34" charset="0"/>
                        <a:buChar char="•"/>
                        <a:tabLst/>
                      </a:pPr>
                      <a:r>
                        <a:rPr lang="en-US" sz="2800" baseline="0" dirty="0">
                          <a:latin typeface="Roboto" panose="02000000000000000000" pitchFamily="2" charset="0"/>
                        </a:rPr>
                        <a:t>Memory Resizing</a:t>
                      </a:r>
                    </a:p>
                    <a:p>
                      <a:pPr marL="230188" indent="-230188">
                        <a:buFont typeface="Arial" panose="020B0604020202020204" pitchFamily="34" charset="0"/>
                        <a:buChar char="•"/>
                        <a:tabLst/>
                      </a:pPr>
                      <a:r>
                        <a:rPr lang="en-US" sz="2800" baseline="0" dirty="0">
                          <a:latin typeface="Roboto" panose="02000000000000000000" pitchFamily="2" charset="0"/>
                        </a:rPr>
                        <a:t>Memory Deallocation</a:t>
                      </a:r>
                    </a:p>
                  </a:txBody>
                  <a:tcPr/>
                </a:tc>
                <a:tc>
                  <a:txBody>
                    <a:bodyPr/>
                    <a:lstStyle/>
                    <a:p>
                      <a:pPr marL="230188" marR="0" lvl="0" indent="-230188"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Memory Exhaustion</a:t>
                      </a:r>
                    </a:p>
                    <a:p>
                      <a:pPr marL="230188" marR="0" lvl="0" indent="-230188"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Allocation Too Small</a:t>
                      </a:r>
                    </a:p>
                    <a:p>
                      <a:endParaRPr lang="en-US" sz="2800" baseline="0" dirty="0">
                        <a:latin typeface="Roboto" panose="02000000000000000000" pitchFamily="2" charset="0"/>
                      </a:endParaRPr>
                    </a:p>
                  </a:txBody>
                  <a:tcPr/>
                </a:tc>
                <a:extLst>
                  <a:ext uri="{0D108BD9-81ED-4DB2-BD59-A6C34878D82A}">
                    <a16:rowId xmlns:a16="http://schemas.microsoft.com/office/drawing/2014/main" val="1120058652"/>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Use</a:t>
                      </a:r>
                    </a:p>
                  </a:txBody>
                  <a:tcPr/>
                </a:tc>
                <a:tc>
                  <a:txBody>
                    <a:bodyPr/>
                    <a:lstStyle/>
                    <a:p>
                      <a:pPr marL="230188" marR="0" lvl="0" indent="-230188"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Memory Initialization</a:t>
                      </a:r>
                    </a:p>
                    <a:p>
                      <a:pPr marL="230188" marR="0" lvl="0" indent="-230188"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Memory Read</a:t>
                      </a:r>
                    </a:p>
                    <a:p>
                      <a:pPr marL="230188" marR="0" lvl="0" indent="-230188"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Memory Write</a:t>
                      </a:r>
                    </a:p>
                  </a:txBody>
                  <a:tcPr/>
                </a:tc>
                <a:tc>
                  <a:txBody>
                    <a:bodyPr/>
                    <a:lstStyle/>
                    <a:p>
                      <a:pPr marL="230188" marR="0" lvl="0" indent="-230188"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Uninitialized Memory</a:t>
                      </a:r>
                    </a:p>
                    <a:p>
                      <a:pPr marL="230188" marR="0" lvl="0" indent="-230188"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Memory Corruption</a:t>
                      </a:r>
                    </a:p>
                  </a:txBody>
                  <a:tcPr/>
                </a:tc>
                <a:extLst>
                  <a:ext uri="{0D108BD9-81ED-4DB2-BD59-A6C34878D82A}">
                    <a16:rowId xmlns:a16="http://schemas.microsoft.com/office/drawing/2014/main" val="2404652679"/>
                  </a:ext>
                </a:extLst>
              </a:tr>
            </a:tbl>
          </a:graphicData>
        </a:graphic>
      </p:graphicFrame>
    </p:spTree>
    <p:extLst>
      <p:ext uri="{BB962C8B-B14F-4D97-AF65-F5344CB8AC3E}">
        <p14:creationId xmlns:p14="http://schemas.microsoft.com/office/powerpoint/2010/main" val="9015931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1DC67391-4BB0-EBE0-2823-A5C0EA0144D8}"/>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E37B97D3-FE3C-2909-6A50-9A6CD92D0053}"/>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NIST Bug Classes - Data</a:t>
            </a:r>
            <a:endParaRPr dirty="0"/>
          </a:p>
        </p:txBody>
      </p:sp>
      <p:graphicFrame>
        <p:nvGraphicFramePr>
          <p:cNvPr id="10" name="Table 9">
            <a:extLst>
              <a:ext uri="{FF2B5EF4-FFF2-40B4-BE49-F238E27FC236}">
                <a16:creationId xmlns:a16="http://schemas.microsoft.com/office/drawing/2014/main" id="{515BCBE3-6193-4EB9-CD82-8FB3FF57721D}"/>
              </a:ext>
            </a:extLst>
          </p:cNvPr>
          <p:cNvGraphicFramePr>
            <a:graphicFrameLocks noGrp="1"/>
          </p:cNvGraphicFramePr>
          <p:nvPr>
            <p:extLst>
              <p:ext uri="{D42A27DB-BD31-4B8C-83A1-F6EECF244321}">
                <p14:modId xmlns:p14="http://schemas.microsoft.com/office/powerpoint/2010/main" val="2404190443"/>
              </p:ext>
            </p:extLst>
          </p:nvPr>
        </p:nvGraphicFramePr>
        <p:xfrm>
          <a:off x="455617" y="1162209"/>
          <a:ext cx="11277834" cy="3017520"/>
        </p:xfrm>
        <a:graphic>
          <a:graphicData uri="http://schemas.openxmlformats.org/drawingml/2006/table">
            <a:tbl>
              <a:tblPr firstRow="1" bandRow="1">
                <a:tableStyleId>{F9A1F375-83D2-49B6-B6D9-1E75FAB2CD22}</a:tableStyleId>
              </a:tblPr>
              <a:tblGrid>
                <a:gridCol w="3120207">
                  <a:extLst>
                    <a:ext uri="{9D8B030D-6E8A-4147-A177-3AD203B41FA5}">
                      <a16:colId xmlns:a16="http://schemas.microsoft.com/office/drawing/2014/main" val="789766324"/>
                    </a:ext>
                  </a:extLst>
                </a:gridCol>
                <a:gridCol w="4398349">
                  <a:extLst>
                    <a:ext uri="{9D8B030D-6E8A-4147-A177-3AD203B41FA5}">
                      <a16:colId xmlns:a16="http://schemas.microsoft.com/office/drawing/2014/main" val="1413171171"/>
                    </a:ext>
                  </a:extLst>
                </a:gridCol>
                <a:gridCol w="3759278">
                  <a:extLst>
                    <a:ext uri="{9D8B030D-6E8A-4147-A177-3AD203B41FA5}">
                      <a16:colId xmlns:a16="http://schemas.microsoft.com/office/drawing/2014/main" val="1522625013"/>
                    </a:ext>
                  </a:extLst>
                </a:gridCol>
              </a:tblGrid>
              <a:tr h="370840">
                <a:tc>
                  <a:txBody>
                    <a:bodyPr/>
                    <a:lstStyle/>
                    <a:p>
                      <a:r>
                        <a:rPr lang="en-US" sz="2800" baseline="0" dirty="0">
                          <a:latin typeface="Roboto" panose="02000000000000000000" pitchFamily="2" charset="0"/>
                        </a:rPr>
                        <a:t>Class</a:t>
                      </a:r>
                    </a:p>
                  </a:txBody>
                  <a:tcPr>
                    <a:solidFill>
                      <a:schemeClr val="bg2">
                        <a:lumMod val="20000"/>
                        <a:lumOff val="80000"/>
                      </a:schemeClr>
                    </a:solidFill>
                  </a:tcPr>
                </a:tc>
                <a:tc>
                  <a:txBody>
                    <a:bodyPr/>
                    <a:lstStyle/>
                    <a:p>
                      <a:r>
                        <a:rPr lang="en-US" sz="2800" baseline="0" dirty="0">
                          <a:latin typeface="Roboto" panose="02000000000000000000" pitchFamily="2" charset="0"/>
                        </a:rPr>
                        <a:t>Focus</a:t>
                      </a:r>
                    </a:p>
                  </a:txBody>
                  <a:tcPr>
                    <a:solidFill>
                      <a:schemeClr val="bg2">
                        <a:lumMod val="20000"/>
                        <a:lumOff val="80000"/>
                      </a:schemeClr>
                    </a:solidFill>
                  </a:tcPr>
                </a:tc>
                <a:tc>
                  <a:txBody>
                    <a:bodyPr/>
                    <a:lstStyle/>
                    <a:p>
                      <a:r>
                        <a:rPr lang="en-US" sz="2800" baseline="0" dirty="0">
                          <a:latin typeface="Roboto" panose="02000000000000000000" pitchFamily="2" charset="0"/>
                        </a:rPr>
                        <a:t>Concern</a:t>
                      </a:r>
                    </a:p>
                  </a:txBody>
                  <a:tcPr>
                    <a:solidFill>
                      <a:schemeClr val="bg2">
                        <a:lumMod val="20000"/>
                        <a:lumOff val="80000"/>
                      </a:schemeClr>
                    </a:solidFill>
                  </a:tcPr>
                </a:tc>
                <a:extLst>
                  <a:ext uri="{0D108BD9-81ED-4DB2-BD59-A6C34878D82A}">
                    <a16:rowId xmlns:a16="http://schemas.microsoft.com/office/drawing/2014/main" val="1892336594"/>
                  </a:ext>
                </a:extLst>
              </a:tr>
              <a:tr h="370840">
                <a:tc>
                  <a:txBody>
                    <a:bodyPr/>
                    <a:lstStyle/>
                    <a:p>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Declaration</a:t>
                      </a:r>
                      <a:endParaRPr lang="en-US" sz="2800" baseline="0" dirty="0">
                        <a:latin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Definition</a:t>
                      </a:r>
                    </a:p>
                  </a:txBody>
                  <a:tcPr/>
                </a:tc>
                <a:tc>
                  <a:txBody>
                    <a:bodyPr/>
                    <a:lstStyle/>
                    <a:p>
                      <a:pPr marL="0" indent="0">
                        <a:spcAft>
                          <a:spcPts val="1200"/>
                        </a:spcAft>
                        <a:buFont typeface="Arial" panose="020B0604020202020204" pitchFamily="34" charset="0"/>
                        <a:buNone/>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Incorrect definition</a:t>
                      </a:r>
                    </a:p>
                  </a:txBody>
                  <a:tcPr/>
                </a:tc>
                <a:extLst>
                  <a:ext uri="{0D108BD9-81ED-4DB2-BD59-A6C34878D82A}">
                    <a16:rowId xmlns:a16="http://schemas.microsoft.com/office/drawing/2014/main" val="2521454380"/>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Name Resolution</a:t>
                      </a:r>
                    </a:p>
                  </a:txBody>
                  <a:tcPr/>
                </a:tc>
                <a:tc>
                  <a:txBody>
                    <a:bodyPr/>
                    <a:lstStyle/>
                    <a:p>
                      <a:pPr marL="0" indent="0">
                        <a:buFont typeface="Arial" panose="020B0604020202020204" pitchFamily="34" charset="0"/>
                        <a:buNone/>
                        <a:tabLst/>
                      </a:pPr>
                      <a:r>
                        <a:rPr lang="en-US" sz="2800" baseline="0" dirty="0">
                          <a:latin typeface="Roboto" panose="02000000000000000000" pitchFamily="2" charset="0"/>
                        </a:rPr>
                        <a:t>Type-Object Binding</a:t>
                      </a:r>
                    </a:p>
                  </a:txBody>
                  <a:tcPr/>
                </a:tc>
                <a:tc>
                  <a:txBody>
                    <a:bodyPr/>
                    <a:lstStyle/>
                    <a:p>
                      <a:r>
                        <a:rPr lang="en-US" sz="2800" baseline="0" dirty="0">
                          <a:latin typeface="Roboto" panose="02000000000000000000" pitchFamily="2" charset="0"/>
                        </a:rPr>
                        <a:t>Incorrect binding</a:t>
                      </a:r>
                    </a:p>
                  </a:txBody>
                  <a:tcPr/>
                </a:tc>
                <a:extLst>
                  <a:ext uri="{0D108BD9-81ED-4DB2-BD59-A6C34878D82A}">
                    <a16:rowId xmlns:a16="http://schemas.microsoft.com/office/drawing/2014/main" val="1120058652"/>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Type Computation</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Type-based Calculations</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Incorrect result</a:t>
                      </a:r>
                    </a:p>
                  </a:txBody>
                  <a:tcPr/>
                </a:tc>
                <a:extLst>
                  <a:ext uri="{0D108BD9-81ED-4DB2-BD59-A6C34878D82A}">
                    <a16:rowId xmlns:a16="http://schemas.microsoft.com/office/drawing/2014/main" val="2404652679"/>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Type Conversion</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Type Conversion</a:t>
                      </a:r>
                    </a:p>
                  </a:txBody>
                  <a:tcPr/>
                </a:tc>
                <a:tc>
                  <a:txBody>
                    <a:bodyPr/>
                    <a:lstStyle/>
                    <a:p>
                      <a:pPr marL="230188" marR="0" lvl="0" indent="-230188"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Data Error</a:t>
                      </a:r>
                    </a:p>
                    <a:p>
                      <a:pPr marL="230188" marR="0" lvl="0" indent="-230188"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Type Error</a:t>
                      </a:r>
                    </a:p>
                  </a:txBody>
                  <a:tcPr/>
                </a:tc>
                <a:extLst>
                  <a:ext uri="{0D108BD9-81ED-4DB2-BD59-A6C34878D82A}">
                    <a16:rowId xmlns:a16="http://schemas.microsoft.com/office/drawing/2014/main" val="455693711"/>
                  </a:ext>
                </a:extLst>
              </a:tr>
            </a:tbl>
          </a:graphicData>
        </a:graphic>
      </p:graphicFrame>
    </p:spTree>
    <p:extLst>
      <p:ext uri="{BB962C8B-B14F-4D97-AF65-F5344CB8AC3E}">
        <p14:creationId xmlns:p14="http://schemas.microsoft.com/office/powerpoint/2010/main" val="33870395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1F474C69-9487-B890-4B96-F3E672C7D915}"/>
            </a:ext>
          </a:extLst>
        </p:cNvPr>
        <p:cNvGrpSpPr/>
        <p:nvPr/>
      </p:nvGrpSpPr>
      <p:grpSpPr>
        <a:xfrm>
          <a:off x="0" y="0"/>
          <a:ext cx="0" cy="0"/>
          <a:chOff x="0" y="0"/>
          <a:chExt cx="0" cy="0"/>
        </a:xfrm>
      </p:grpSpPr>
      <p:pic>
        <p:nvPicPr>
          <p:cNvPr id="4" name="Picture 3" descr="A white sheet with black text&#10;&#10;AI-generated content may be incorrect.">
            <a:extLst>
              <a:ext uri="{FF2B5EF4-FFF2-40B4-BE49-F238E27FC236}">
                <a16:creationId xmlns:a16="http://schemas.microsoft.com/office/drawing/2014/main" id="{520C6DEE-FC17-5F66-51CE-B8396C2E9B85}"/>
              </a:ext>
            </a:extLst>
          </p:cNvPr>
          <p:cNvPicPr>
            <a:picLocks noChangeAspect="1"/>
          </p:cNvPicPr>
          <p:nvPr/>
        </p:nvPicPr>
        <p:blipFill>
          <a:blip r:embed="rId3"/>
          <a:stretch>
            <a:fillRect/>
          </a:stretch>
        </p:blipFill>
        <p:spPr>
          <a:xfrm>
            <a:off x="1018424" y="985083"/>
            <a:ext cx="10151976" cy="5742819"/>
          </a:xfrm>
          <a:prstGeom prst="rect">
            <a:avLst/>
          </a:prstGeom>
        </p:spPr>
      </p:pic>
      <p:sp>
        <p:nvSpPr>
          <p:cNvPr id="1199" name="Google Shape;1199;p156">
            <a:extLst>
              <a:ext uri="{FF2B5EF4-FFF2-40B4-BE49-F238E27FC236}">
                <a16:creationId xmlns:a16="http://schemas.microsoft.com/office/drawing/2014/main" id="{BCD9DEA6-7519-3291-45EA-B83EC170E4F0}"/>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Bug Class</a:t>
            </a:r>
            <a:endParaRPr dirty="0"/>
          </a:p>
        </p:txBody>
      </p:sp>
      <p:sp>
        <p:nvSpPr>
          <p:cNvPr id="2" name="Rectangle 1">
            <a:extLst>
              <a:ext uri="{FF2B5EF4-FFF2-40B4-BE49-F238E27FC236}">
                <a16:creationId xmlns:a16="http://schemas.microsoft.com/office/drawing/2014/main" id="{D13EEB47-C87A-D4DD-2274-6A07767EDB39}"/>
              </a:ext>
            </a:extLst>
          </p:cNvPr>
          <p:cNvSpPr/>
          <p:nvPr/>
        </p:nvSpPr>
        <p:spPr>
          <a:xfrm>
            <a:off x="7307385" y="985083"/>
            <a:ext cx="3863015" cy="57428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448152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45911ABA-284C-B619-7761-1C5083524319}"/>
            </a:ext>
          </a:extLst>
        </p:cNvPr>
        <p:cNvGrpSpPr/>
        <p:nvPr/>
      </p:nvGrpSpPr>
      <p:grpSpPr>
        <a:xfrm>
          <a:off x="0" y="0"/>
          <a:ext cx="0" cy="0"/>
          <a:chOff x="0" y="0"/>
          <a:chExt cx="0" cy="0"/>
        </a:xfrm>
      </p:grpSpPr>
      <p:pic>
        <p:nvPicPr>
          <p:cNvPr id="5" name="Picture 4" descr="A white sheet with black text&#10;&#10;AI-generated content may be incorrect.">
            <a:extLst>
              <a:ext uri="{FF2B5EF4-FFF2-40B4-BE49-F238E27FC236}">
                <a16:creationId xmlns:a16="http://schemas.microsoft.com/office/drawing/2014/main" id="{DDFABFA0-D04B-E0D8-FABF-F9DDE6DE3147}"/>
              </a:ext>
            </a:extLst>
          </p:cNvPr>
          <p:cNvPicPr>
            <a:picLocks noChangeAspect="1"/>
          </p:cNvPicPr>
          <p:nvPr/>
        </p:nvPicPr>
        <p:blipFill>
          <a:blip r:embed="rId3"/>
          <a:stretch>
            <a:fillRect/>
          </a:stretch>
        </p:blipFill>
        <p:spPr>
          <a:xfrm>
            <a:off x="1018424" y="985083"/>
            <a:ext cx="10151976" cy="5742819"/>
          </a:xfrm>
          <a:prstGeom prst="rect">
            <a:avLst/>
          </a:prstGeom>
        </p:spPr>
      </p:pic>
      <p:sp>
        <p:nvSpPr>
          <p:cNvPr id="1199" name="Google Shape;1199;p156">
            <a:extLst>
              <a:ext uri="{FF2B5EF4-FFF2-40B4-BE49-F238E27FC236}">
                <a16:creationId xmlns:a16="http://schemas.microsoft.com/office/drawing/2014/main" id="{923796BD-629C-620B-90EF-B53B23C6D8A1}"/>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Category</a:t>
            </a:r>
            <a:endParaRPr dirty="0"/>
          </a:p>
        </p:txBody>
      </p:sp>
      <p:sp>
        <p:nvSpPr>
          <p:cNvPr id="2" name="Rectangle 1">
            <a:extLst>
              <a:ext uri="{FF2B5EF4-FFF2-40B4-BE49-F238E27FC236}">
                <a16:creationId xmlns:a16="http://schemas.microsoft.com/office/drawing/2014/main" id="{2EFD8428-3319-D45F-7433-A8E4F46456D3}"/>
              </a:ext>
            </a:extLst>
          </p:cNvPr>
          <p:cNvSpPr/>
          <p:nvPr/>
        </p:nvSpPr>
        <p:spPr>
          <a:xfrm>
            <a:off x="7307385" y="985083"/>
            <a:ext cx="945661" cy="5742819"/>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3EBF9ED6-FD6E-DA08-59F1-5D8C6FD5B8D6}"/>
              </a:ext>
            </a:extLst>
          </p:cNvPr>
          <p:cNvSpPr/>
          <p:nvPr/>
        </p:nvSpPr>
        <p:spPr>
          <a:xfrm>
            <a:off x="8253046" y="985083"/>
            <a:ext cx="2917354" cy="57428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755507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F81AFC03-6C07-29B1-7671-F910C0583E31}"/>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D664EFC9-62FF-7011-41E6-105A13405E41}"/>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Notes</a:t>
            </a:r>
            <a:endParaRPr dirty="0"/>
          </a:p>
        </p:txBody>
      </p:sp>
      <p:pic>
        <p:nvPicPr>
          <p:cNvPr id="3" name="Picture 2" descr="A white sheet with black text&#10;&#10;AI-generated content may be incorrect.">
            <a:extLst>
              <a:ext uri="{FF2B5EF4-FFF2-40B4-BE49-F238E27FC236}">
                <a16:creationId xmlns:a16="http://schemas.microsoft.com/office/drawing/2014/main" id="{EFD02C1B-E3C6-FBB6-1D4C-7E7DB7E100D2}"/>
              </a:ext>
            </a:extLst>
          </p:cNvPr>
          <p:cNvPicPr>
            <a:picLocks noChangeAspect="1"/>
          </p:cNvPicPr>
          <p:nvPr/>
        </p:nvPicPr>
        <p:blipFill>
          <a:blip r:embed="rId3"/>
          <a:stretch>
            <a:fillRect/>
          </a:stretch>
        </p:blipFill>
        <p:spPr>
          <a:xfrm>
            <a:off x="1018424" y="985083"/>
            <a:ext cx="10151976" cy="5742819"/>
          </a:xfrm>
          <a:prstGeom prst="rect">
            <a:avLst/>
          </a:prstGeom>
        </p:spPr>
      </p:pic>
      <p:sp>
        <p:nvSpPr>
          <p:cNvPr id="2" name="Rectangle 1">
            <a:extLst>
              <a:ext uri="{FF2B5EF4-FFF2-40B4-BE49-F238E27FC236}">
                <a16:creationId xmlns:a16="http://schemas.microsoft.com/office/drawing/2014/main" id="{BDCCDF6F-EA2D-10CB-2F0C-CA6E7270E786}"/>
              </a:ext>
            </a:extLst>
          </p:cNvPr>
          <p:cNvSpPr/>
          <p:nvPr/>
        </p:nvSpPr>
        <p:spPr>
          <a:xfrm>
            <a:off x="7307385" y="985083"/>
            <a:ext cx="945661" cy="5742819"/>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077537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0234E69-953D-C964-1A44-7AD56D5A6C18}"/>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288F8EFA-BECD-D045-8DF8-934C782EE42C}"/>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Recap</a:t>
            </a:r>
            <a:endParaRPr sz="6600" dirty="0"/>
          </a:p>
        </p:txBody>
      </p:sp>
    </p:spTree>
    <p:extLst>
      <p:ext uri="{BB962C8B-B14F-4D97-AF65-F5344CB8AC3E}">
        <p14:creationId xmlns:p14="http://schemas.microsoft.com/office/powerpoint/2010/main" val="11180574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Summary</a:t>
            </a:r>
            <a:endParaRPr dirty="0"/>
          </a:p>
        </p:txBody>
      </p:sp>
      <p:sp>
        <p:nvSpPr>
          <p:cNvPr id="2" name="TextBox 1">
            <a:extLst>
              <a:ext uri="{FF2B5EF4-FFF2-40B4-BE49-F238E27FC236}">
                <a16:creationId xmlns:a16="http://schemas.microsoft.com/office/drawing/2014/main" id="{7815AB7C-3B20-E395-B8D1-B8413068BE32}"/>
              </a:ext>
            </a:extLst>
          </p:cNvPr>
          <p:cNvSpPr txBox="1"/>
          <p:nvPr/>
        </p:nvSpPr>
        <p:spPr>
          <a:xfrm>
            <a:off x="455618" y="1437554"/>
            <a:ext cx="6071214" cy="2277547"/>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Identify the cybersecurity options </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Provide the cybersecurity relevance</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Assign a bug class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Include supporting references</a:t>
            </a:r>
          </a:p>
        </p:txBody>
      </p:sp>
    </p:spTree>
    <p:extLst>
      <p:ext uri="{BB962C8B-B14F-4D97-AF65-F5344CB8AC3E}">
        <p14:creationId xmlns:p14="http://schemas.microsoft.com/office/powerpoint/2010/main" val="1703593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725C29D-255F-E78F-7B10-51B1795D53F5}"/>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E6AE96E7-F515-5B95-8C3A-153509652AEE}"/>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Example Materials</a:t>
            </a:r>
            <a:endParaRPr dirty="0"/>
          </a:p>
        </p:txBody>
      </p:sp>
      <p:sp>
        <p:nvSpPr>
          <p:cNvPr id="6" name="TextBox 5">
            <a:extLst>
              <a:ext uri="{FF2B5EF4-FFF2-40B4-BE49-F238E27FC236}">
                <a16:creationId xmlns:a16="http://schemas.microsoft.com/office/drawing/2014/main" id="{5E6414D1-0FD5-FC5C-C853-B8F340BA038D}"/>
              </a:ext>
            </a:extLst>
          </p:cNvPr>
          <p:cNvSpPr txBox="1"/>
          <p:nvPr/>
        </p:nvSpPr>
        <p:spPr>
          <a:xfrm>
            <a:off x="455618" y="1309403"/>
            <a:ext cx="10695602" cy="400110"/>
          </a:xfrm>
          <a:prstGeom prst="rect">
            <a:avLst/>
          </a:prstGeom>
          <a:noFill/>
        </p:spPr>
        <p:txBody>
          <a:bodyPr wrap="square">
            <a:spAutoFit/>
          </a:bodyPr>
          <a:lstStyle/>
          <a:p>
            <a:r>
              <a:rPr lang="en-US" sz="2000" b="1" dirty="0">
                <a:solidFill>
                  <a:srgbClr val="0070C0"/>
                </a:solidFill>
                <a:latin typeface="Courier New" panose="02070309020205020404" pitchFamily="49" charset="0"/>
                <a:ea typeface="Roboto" panose="02000000000000000000" pitchFamily="2" charset="0"/>
                <a:cs typeface="Courier New" panose="02070309020205020404" pitchFamily="49" charset="0"/>
              </a:rPr>
              <a:t>&lt;AVCDL&gt;/source/reference_documents/working_material/secure settings/</a:t>
            </a:r>
          </a:p>
        </p:txBody>
      </p:sp>
    </p:spTree>
    <p:extLst>
      <p:ext uri="{BB962C8B-B14F-4D97-AF65-F5344CB8AC3E}">
        <p14:creationId xmlns:p14="http://schemas.microsoft.com/office/powerpoint/2010/main" val="9699774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11" name="Picture 10">
            <a:extLst>
              <a:ext uri="{FF2B5EF4-FFF2-40B4-BE49-F238E27FC236}">
                <a16:creationId xmlns:a16="http://schemas.microsoft.com/office/drawing/2014/main" id="{9AF391E0-343E-BC1F-91F6-B2E02B18B081}"/>
              </a:ext>
            </a:extLst>
          </p:cNvPr>
          <p:cNvPicPr>
            <a:picLocks noChangeAspect="1"/>
          </p:cNvPicPr>
          <p:nvPr/>
        </p:nvPicPr>
        <p:blipFill>
          <a:blip r:embed="rId3"/>
          <a:srcRect/>
          <a:stretch/>
        </p:blipFill>
        <p:spPr>
          <a:xfrm>
            <a:off x="4056310" y="1239500"/>
            <a:ext cx="4076200" cy="5283370"/>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80021"/>
            <a:ext cx="11277833" cy="524399"/>
          </a:xfrm>
          <a:prstGeom prst="rect">
            <a:avLst/>
          </a:prstGeom>
        </p:spPr>
        <p:txBody>
          <a:bodyPr spcFirstLastPara="1" wrap="square" lIns="0" tIns="0" rIns="0" bIns="0" anchor="ctr" anchorCtr="0">
            <a:noAutofit/>
          </a:bodyPr>
          <a:lstStyle/>
          <a:p>
            <a:pPr>
              <a:lnSpc>
                <a:spcPct val="100000"/>
              </a:lnSpc>
            </a:pPr>
            <a:r>
              <a:rPr lang="en-US" dirty="0"/>
              <a:t>Further Reading</a:t>
            </a:r>
          </a:p>
        </p:txBody>
      </p:sp>
    </p:spTree>
    <p:extLst>
      <p:ext uri="{BB962C8B-B14F-4D97-AF65-F5344CB8AC3E}">
        <p14:creationId xmlns:p14="http://schemas.microsoft.com/office/powerpoint/2010/main" val="28685550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C2A2ADBF-13F1-8937-91E4-97FBA4F83BB0}"/>
              </a:ext>
            </a:extLst>
          </p:cNvPr>
          <p:cNvPicPr>
            <a:picLocks noChangeAspect="1"/>
          </p:cNvPicPr>
          <p:nvPr/>
        </p:nvPicPr>
        <p:blipFill>
          <a:blip r:embed="rId3"/>
          <a:stretch>
            <a:fillRect/>
          </a:stretch>
        </p:blipFill>
        <p:spPr>
          <a:xfrm>
            <a:off x="1573706" y="985083"/>
            <a:ext cx="9041411" cy="5778453"/>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AVCDL on GitHub</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6476383" y="522829"/>
            <a:ext cx="5256824"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cs typeface="Courier New" panose="02070309020205020404" pitchFamily="49" charset="0"/>
              </a:rPr>
              <a:t>https://github.com/AVCDL/AVCDL </a:t>
            </a:r>
          </a:p>
        </p:txBody>
      </p:sp>
    </p:spTree>
    <p:extLst>
      <p:ext uri="{BB962C8B-B14F-4D97-AF65-F5344CB8AC3E}">
        <p14:creationId xmlns:p14="http://schemas.microsoft.com/office/powerpoint/2010/main" val="29934041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24875B67-DABD-EC7D-D876-FF0A75BC967B}"/>
              </a:ext>
            </a:extLst>
          </p:cNvPr>
          <p:cNvPicPr>
            <a:picLocks noChangeAspect="1"/>
          </p:cNvPicPr>
          <p:nvPr/>
        </p:nvPicPr>
        <p:blipFill>
          <a:blip r:embed="rId3"/>
          <a:stretch>
            <a:fillRect/>
          </a:stretch>
        </p:blipFill>
        <p:spPr>
          <a:xfrm>
            <a:off x="1658351" y="985083"/>
            <a:ext cx="8483870" cy="5783298"/>
          </a:xfrm>
          <a:prstGeom prst="rect">
            <a:avLst/>
          </a:prstGeom>
          <a:ln w="12700">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7" y="460683"/>
            <a:ext cx="11277833" cy="524400"/>
          </a:xfrm>
          <a:prstGeom prst="rect">
            <a:avLst/>
          </a:prstGeom>
        </p:spPr>
        <p:txBody>
          <a:bodyPr spcFirstLastPara="1" wrap="square" lIns="0" tIns="0" rIns="0" bIns="0" anchor="ctr" anchorCtr="0">
            <a:noAutofit/>
          </a:bodyPr>
          <a:lstStyle/>
          <a:p>
            <a:pPr marL="0" lvl="0" indent="0" algn="l" rtl="0">
              <a:lnSpc>
                <a:spcPct val="100000"/>
              </a:lnSpc>
              <a:spcBef>
                <a:spcPts val="0"/>
              </a:spcBef>
              <a:spcAft>
                <a:spcPts val="0"/>
              </a:spcAft>
              <a:buNone/>
            </a:pPr>
            <a:r>
              <a:rPr lang="en" dirty="0"/>
              <a:t>AVCDL on YouTube</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5900286" y="522828"/>
            <a:ext cx="5832922"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ea typeface="Roboto" panose="02000000000000000000" pitchFamily="2" charset="0"/>
                <a:cs typeface="Courier New" panose="02070309020205020404" pitchFamily="49" charset="0"/>
              </a:rPr>
              <a:t>https://youtube.com/@AVCDL</a:t>
            </a:r>
          </a:p>
        </p:txBody>
      </p:sp>
    </p:spTree>
    <p:extLst>
      <p:ext uri="{BB962C8B-B14F-4D97-AF65-F5344CB8AC3E}">
        <p14:creationId xmlns:p14="http://schemas.microsoft.com/office/powerpoint/2010/main" val="40714915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Next Steps</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tretch>
            <a:fillRect/>
          </a:stretch>
        </p:blipFill>
        <p:spPr>
          <a:xfrm>
            <a:off x="741952" y="326959"/>
            <a:ext cx="10704920" cy="6204081"/>
          </a:xfrm>
          <a:prstGeom prst="rect">
            <a:avLst/>
          </a:prstGeom>
          <a:effectLst/>
        </p:spPr>
      </p:pic>
    </p:spTree>
    <p:extLst>
      <p:ext uri="{BB962C8B-B14F-4D97-AF65-F5344CB8AC3E}">
        <p14:creationId xmlns:p14="http://schemas.microsoft.com/office/powerpoint/2010/main" val="39623094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p147"/>
          <p:cNvSpPr txBox="1">
            <a:spLocks noGrp="1"/>
          </p:cNvSpPr>
          <p:nvPr>
            <p:ph type="title"/>
          </p:nvPr>
        </p:nvSpPr>
        <p:spPr>
          <a:xfrm>
            <a:off x="455617" y="460684"/>
            <a:ext cx="11277590" cy="524399"/>
          </a:xfrm>
          <a:prstGeom prst="rect">
            <a:avLst/>
          </a:prstGeom>
        </p:spPr>
        <p:txBody>
          <a:bodyPr spcFirstLastPara="1" wrap="square" lIns="0" tIns="0" rIns="0" bIns="0" anchor="ctr" anchorCtr="0">
            <a:noAutofit/>
          </a:bodyPr>
          <a:lstStyle/>
          <a:p>
            <a:pPr>
              <a:lnSpc>
                <a:spcPct val="100000"/>
              </a:lnSpc>
            </a:pPr>
            <a:r>
              <a:rPr lang="en" dirty="0"/>
              <a:t>References</a:t>
            </a:r>
            <a:endParaRPr dirty="0"/>
          </a:p>
        </p:txBody>
      </p:sp>
      <p:sp>
        <p:nvSpPr>
          <p:cNvPr id="2" name="Google Shape;879;p147">
            <a:extLst>
              <a:ext uri="{FF2B5EF4-FFF2-40B4-BE49-F238E27FC236}">
                <a16:creationId xmlns:a16="http://schemas.microsoft.com/office/drawing/2014/main" id="{EE699A1B-DC13-C84D-9B67-3E4E126EE2B9}"/>
              </a:ext>
            </a:extLst>
          </p:cNvPr>
          <p:cNvSpPr txBox="1">
            <a:spLocks/>
          </p:cNvSpPr>
          <p:nvPr/>
        </p:nvSpPr>
        <p:spPr>
          <a:xfrm>
            <a:off x="455616" y="1146448"/>
            <a:ext cx="11431584" cy="304698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lnSpc>
                <a:spcPct val="100000"/>
              </a:lnSpc>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lnSpc>
                <a:spcPct val="100000"/>
              </a:lnSpc>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6pPr>
            <a:lvl7pPr marL="3200400" marR="0" lvl="6"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7pPr>
            <a:lvl8pPr marL="3657600" marR="0" lvl="7"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8pPr>
            <a:lvl9pPr marL="4114800" marR="0" lvl="8"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9pPr>
          </a:lstStyle>
          <a:p>
            <a:pPr marL="0" indent="0">
              <a:spcBef>
                <a:spcPts val="0"/>
              </a:spcBef>
            </a:pPr>
            <a:r>
              <a:rPr lang="en-US" b="1" dirty="0">
                <a:latin typeface="Roboto" panose="02000000000000000000" pitchFamily="2" charset="0"/>
                <a:ea typeface="Roboto" panose="02000000000000000000" pitchFamily="2" charset="0"/>
                <a:cs typeface="Courier New" panose="02070309020205020404" pitchFamily="49" charset="0"/>
              </a:rPr>
              <a:t>AVCDL primary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Secure Settings Document (AVCDL secondary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Secure Settings – Identify Options Procedure (AVCDL tertiary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AVCDL tool cybersecurity options template (AVCDL template)</a:t>
            </a:r>
          </a:p>
          <a:p>
            <a:pPr marL="0" indent="0">
              <a:spcBef>
                <a:spcPts val="1200"/>
              </a:spcBef>
            </a:pPr>
            <a:r>
              <a:rPr lang="en-US" b="1" dirty="0"/>
              <a:t>NIST SP 800-231 Bugs Framework (BF): Formalizing Cybersecurity Weaknesses and Vulnerabilities</a:t>
            </a:r>
          </a:p>
          <a:p>
            <a:pPr marL="0" indent="0">
              <a:spcBef>
                <a:spcPts val="0"/>
              </a:spcBef>
            </a:pPr>
            <a:r>
              <a:rPr lang="en-US" sz="1400" b="1" dirty="0">
                <a:latin typeface="Courier New" panose="02070309020205020404" pitchFamily="49" charset="0"/>
                <a:cs typeface="Courier New" panose="02070309020205020404" pitchFamily="49" charset="0"/>
                <a:hlinkClick r:id="rId3"/>
              </a:rPr>
              <a:t>https://nvlpubs.nist.gov/nistpubs/SpecialPublications/NIST.SP.800-231.pdf</a:t>
            </a:r>
            <a:endParaRPr lang="en-US" sz="1400" b="1" dirty="0">
              <a:latin typeface="Courier New" panose="02070309020205020404" pitchFamily="49" charset="0"/>
              <a:cs typeface="Courier New" panose="02070309020205020404" pitchFamily="49" charset="0"/>
            </a:endParaRP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Bugs Framework (BF) Taxonomy</a:t>
            </a:r>
          </a:p>
          <a:p>
            <a:pPr marL="0" indent="0">
              <a:spcBef>
                <a:spcPts val="0"/>
              </a:spcBef>
            </a:pPr>
            <a:r>
              <a:rPr lang="en-US" sz="1400" b="1" dirty="0">
                <a:latin typeface="Courier New" panose="02070309020205020404" pitchFamily="49" charset="0"/>
                <a:cs typeface="Courier New" panose="02070309020205020404" pitchFamily="49" charset="0"/>
                <a:hlinkClick r:id="rId4"/>
              </a:rPr>
              <a:t>https://usnistgov.github.io/BF/info/bf-classes/overview/</a:t>
            </a:r>
            <a:r>
              <a:rPr lang="en-US" sz="1400" b="1" dirty="0">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2557400049"/>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351033</TotalTime>
  <Words>2496</Words>
  <Application>Microsoft Macintosh PowerPoint</Application>
  <PresentationFormat>Custom</PresentationFormat>
  <Paragraphs>519</Paragraphs>
  <Slides>28</Slides>
  <Notes>28</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28</vt:i4>
      </vt:variant>
    </vt:vector>
  </HeadingPairs>
  <TitlesOfParts>
    <vt:vector size="36" baseType="lpstr">
      <vt:lpstr>Arial</vt:lpstr>
      <vt:lpstr>Roboto Medium</vt:lpstr>
      <vt:lpstr>Roboto</vt:lpstr>
      <vt:lpstr>Calibri</vt:lpstr>
      <vt:lpstr>Courier New</vt:lpstr>
      <vt:lpstr>Simple Light</vt:lpstr>
      <vt:lpstr>Motional Masters</vt:lpstr>
      <vt:lpstr>Motional Masters</vt:lpstr>
      <vt:lpstr>Secure Settings – Identify Options</vt:lpstr>
      <vt:lpstr>Training Path</vt:lpstr>
      <vt:lpstr>Introduction</vt:lpstr>
      <vt:lpstr>Secure Settings Process</vt:lpstr>
      <vt:lpstr>Secure Settings Process</vt:lpstr>
      <vt:lpstr>Identify Options Activity</vt:lpstr>
      <vt:lpstr>Cybersecurity-relevant Tools</vt:lpstr>
      <vt:lpstr>Example</vt:lpstr>
      <vt:lpstr>Cover Sheet</vt:lpstr>
      <vt:lpstr>References</vt:lpstr>
      <vt:lpstr>Options</vt:lpstr>
      <vt:lpstr>Relevance</vt:lpstr>
      <vt:lpstr>NIST Bug Classes</vt:lpstr>
      <vt:lpstr>NIST Bug Class Categories</vt:lpstr>
      <vt:lpstr>NIST Bug Classes - Input</vt:lpstr>
      <vt:lpstr>NIST Bug Classes - Memory</vt:lpstr>
      <vt:lpstr>NIST Bug Classes - Data</vt:lpstr>
      <vt:lpstr>Bug Class</vt:lpstr>
      <vt:lpstr>Category</vt:lpstr>
      <vt:lpstr>Notes</vt:lpstr>
      <vt:lpstr>Recap</vt:lpstr>
      <vt:lpstr>Summary</vt:lpstr>
      <vt:lpstr>Example Materials</vt:lpstr>
      <vt:lpstr>Further Reading</vt:lpstr>
      <vt:lpstr>AVCDL on GitHub</vt:lpstr>
      <vt:lpstr>AVCDL on YouTube</vt:lpstr>
      <vt:lpstr>Next Steps</vt:lpstr>
      <vt:lpstr>References</vt:lpstr>
    </vt:vector>
  </TitlesOfParts>
  <Manager/>
  <Company>Torc Robotics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Secure Settings - Identify Options (training)</dc:title>
  <dc:subject>cybersecurity settings - identify options</dc:subject>
  <dc:creator>Charles Wilson</dc:creator>
  <cp:keywords>cybersecurity settings</cp:keywords>
  <dc:description>This work was created by Torc Robotics and is licensed under the Creative Commons Attribution-Share Alike (CC BY-SA-4.0) License.
https://creativecommons.org/licenses/by/4.0/legalcode 
</dc:description>
  <cp:lastModifiedBy>Charles Wilson</cp:lastModifiedBy>
  <cp:revision>594</cp:revision>
  <cp:lastPrinted>2025-07-24T18:37:57Z</cp:lastPrinted>
  <dcterms:modified xsi:type="dcterms:W3CDTF">2025-09-17T18:29:07Z</dcterms:modified>
  <cp:category/>
</cp:coreProperties>
</file>