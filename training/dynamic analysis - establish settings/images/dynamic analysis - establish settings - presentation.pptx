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1"/>
  </p:notesMasterIdLst>
  <p:sldIdLst>
    <p:sldId id="256" r:id="rId4"/>
    <p:sldId id="306" r:id="rId5"/>
    <p:sldId id="648" r:id="rId6"/>
    <p:sldId id="607" r:id="rId7"/>
    <p:sldId id="635" r:id="rId8"/>
    <p:sldId id="658" r:id="rId9"/>
    <p:sldId id="665" r:id="rId10"/>
    <p:sldId id="666" r:id="rId11"/>
    <p:sldId id="636" r:id="rId12"/>
    <p:sldId id="637" r:id="rId13"/>
    <p:sldId id="638" r:id="rId14"/>
    <p:sldId id="669" r:id="rId15"/>
    <p:sldId id="652" r:id="rId16"/>
    <p:sldId id="660" r:id="rId17"/>
    <p:sldId id="661" r:id="rId18"/>
    <p:sldId id="662" r:id="rId19"/>
    <p:sldId id="663" r:id="rId20"/>
    <p:sldId id="667" r:id="rId21"/>
    <p:sldId id="668" r:id="rId22"/>
    <p:sldId id="603" r:id="rId23"/>
    <p:sldId id="488" r:id="rId24"/>
    <p:sldId id="343" r:id="rId25"/>
    <p:sldId id="606" r:id="rId26"/>
    <p:sldId id="461" r:id="rId27"/>
    <p:sldId id="420" r:id="rId28"/>
    <p:sldId id="368" r:id="rId29"/>
    <p:sldId id="659" r:id="rId30"/>
  </p:sldIdLst>
  <p:sldSz cx="12188825" cy="6858000"/>
  <p:notesSz cx="6858000" cy="9144000"/>
  <p:embeddedFontLst>
    <p:embeddedFont>
      <p:font typeface="Roboto" panose="02000000000000000000" pitchFamily="2" charset="0"/>
      <p:regular r:id="rId32"/>
      <p:bold r:id="rId33"/>
      <p:italic r:id="rId34"/>
      <p:boldItalic r:id="rId35"/>
    </p:embeddedFont>
    <p:embeddedFont>
      <p:font typeface="Roboto Medium" panose="020F050202020403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B2"/>
    <a:srgbClr val="E38194"/>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814"/>
    <p:restoredTop sz="63820"/>
  </p:normalViewPr>
  <p:slideViewPr>
    <p:cSldViewPr snapToGrid="0">
      <p:cViewPr varScale="1">
        <p:scale>
          <a:sx n="116" d="100"/>
          <a:sy n="116" d="100"/>
        </p:scale>
        <p:origin x="1536" y="192"/>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8.fntdata"/><Relationship Id="rId21" Type="http://schemas.openxmlformats.org/officeDocument/2006/relationships/slide" Target="slides/slide18.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5.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US" sz="1400" b="1" dirty="0"/>
              <a:t>Dynamic Analysis Settings Establishment</a:t>
            </a:r>
            <a:r>
              <a:rPr lang="en-US" sz="1400" b="0" i="0" dirty="0">
                <a:solidFill>
                  <a:srgbClr val="000000"/>
                </a:solidFill>
                <a:effectLst/>
                <a:latin typeface="Calibri" panose="020F0502020204030204" pitchFamily="34" charset="0"/>
                <a:cs typeface="Calibri" panose="020F0502020204030204" pitchFamily="34" charset="0"/>
              </a:rPr>
              <a:t> activity.</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Dynamic Analysis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t>
            </a:r>
            <a:r>
              <a:rPr lang="en-US" sz="1400" b="1" dirty="0">
                <a:latin typeface="Calibri" panose="020F0502020204030204" pitchFamily="34" charset="0"/>
                <a:cs typeface="Calibri" panose="020F0502020204030204" pitchFamily="34" charset="0"/>
              </a:rPr>
              <a:t>Dynamic Analysis Settings Establishment</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settings establishment, let's briefly review where it fits, in the overall dynamic analysis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Here's the dynamic analysis process which we previously covered in the Dynamic Analysis Overview.</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settings establishment.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dynamic analysis process which we previously covered in the Dynamic Analysis Overview.</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settings establishment.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A81901D-29BF-2FE0-56C1-A75839F349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C990A66-F118-07F7-B5DE-DD42E479AC3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CA8DA5A-2CBE-879F-6500-EB52EC3D5C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settings establishment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development, security, and devops SMEs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tool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element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establish a set a of element-specific settings,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creating an updated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generating a security options qualification report.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if this diagram seems really information-dense, that's because this is the encapsulation of the secure settings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revisit that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374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9581D16-2AAA-F089-A3F3-B878B8D745F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02B9E84-AEDD-0CB6-AA00-17BFCDD0D26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98941A4-AE0F-42D0-65B5-19DEEEC73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u="sng"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u="sng"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844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9987C0B-F244-033E-9AF2-7B06566965E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2F3E5E-E291-AF33-85C4-E174B8DF89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E5DFBE6-D102-45F1-9011-12DED4B37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146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DDE055D-969C-1251-8D4B-9A5D6A6EF8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FCEE36-4BC2-7CF5-2272-6001940871B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DCD742C-D5B3-C0E2-0697-8287358F5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9887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0CAD468-007A-8E5F-5A62-D6055BDFB7F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0A138CF-A5C6-66D4-B6D1-1AE20FE04BA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3542C1E-8A0C-E5E2-6733-164CBB116F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674422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Secure Settings Document secondary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F8ECC-9C33-F0C8-E07A-82A53359FE6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9F55E18-FAAA-3F92-CDB3-A4575494B11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AA848CD-2590-3BD6-BF48-BFB05FBEDE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Secure Settings Document secondary document is available in the AVCDL GitHub repository.</a:t>
            </a:r>
          </a:p>
        </p:txBody>
      </p:sp>
    </p:spTree>
    <p:extLst>
      <p:ext uri="{BB962C8B-B14F-4D97-AF65-F5344CB8AC3E}">
        <p14:creationId xmlns:p14="http://schemas.microsoft.com/office/powerpoint/2010/main" val="3647305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FCEB9E8-9ECB-8D19-4DAE-2C25C89F64D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27811F2-F284-1821-83AF-5969E2EFD02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B346606-A15E-E649-5347-0A55D70DBD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Secure Settings Document secondary document is available in the AVCDL GitHub repository.</a:t>
            </a:r>
          </a:p>
        </p:txBody>
      </p:sp>
    </p:spTree>
    <p:extLst>
      <p:ext uri="{BB962C8B-B14F-4D97-AF65-F5344CB8AC3E}">
        <p14:creationId xmlns:p14="http://schemas.microsoft.com/office/powerpoint/2010/main" val="3860600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82BBD2E-67FC-C6C2-2045-FD8FBB0544F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1B6EB8-F106-CF98-BD76-9014BD0F4FF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74CC6ED-71A0-BC67-0F35-3B40911384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Secure Settings Document secondary document is available in the AVCDL GitHub repository.</a:t>
            </a:r>
          </a:p>
        </p:txBody>
      </p:sp>
    </p:spTree>
    <p:extLst>
      <p:ext uri="{BB962C8B-B14F-4D97-AF65-F5344CB8AC3E}">
        <p14:creationId xmlns:p14="http://schemas.microsoft.com/office/powerpoint/2010/main" val="1845252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DF5D140-5163-5A7F-66EF-0B85A1F0739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E445AFC-60CA-5DA9-7AD3-0277184E981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A1FD65F-45AB-964B-5F98-10F1B45F8A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Secure Settings Document secondary document is available in the AVCDL GitHub repository.</a:t>
            </a:r>
          </a:p>
        </p:txBody>
      </p:sp>
    </p:spTree>
    <p:extLst>
      <p:ext uri="{BB962C8B-B14F-4D97-AF65-F5344CB8AC3E}">
        <p14:creationId xmlns:p14="http://schemas.microsoft.com/office/powerpoint/2010/main" val="2051786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D40E8D6-08FB-5803-C3B5-AA5332D30D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7958B4-3E6D-E43E-011E-7D5215E6D1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E68B1D8-C43A-BB3C-4E23-440F60CA3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1825330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CB16CD0-7FDE-ADEB-6245-C2334D3B2F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28D7E3E-8DED-BBAD-D7A3-0C91393B2D8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42069A6-5601-CDF4-4615-FFF7E3060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we're impacting the build, it's important to consider the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execution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footprint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for this is that since dynamic analysis is part of the test suite to be executed,  it may well be time bounded.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it's important to consider how that time bounding will be impacted by the addition of the dynamic analysis task.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same thing is true for the footprint.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have instrumentation that's put into a test and attached to an element, regardless of what the scope of that element is, you may run into boundary conditions for the particular system the code is running on, and you have to be cognizant of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2955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That’s an overview of the process used in performing dynamic analysis.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review what’s been covered.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Dynamic Analysis Establish Settings Procedure 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Dynamic Analysis </a:t>
            </a:r>
            <a:r>
              <a:rPr lang="en-US" sz="1400" dirty="0"/>
              <a:t>process activities,  you can proceed to the other training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Fuzz Testing</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a:extLst>
            <a:ext uri="{FF2B5EF4-FFF2-40B4-BE49-F238E27FC236}">
              <a16:creationId xmlns:a16="http://schemas.microsoft.com/office/drawing/2014/main" id="{B285F196-25D0-8F3C-8178-64DC8CB3369B}"/>
            </a:ext>
          </a:extLst>
        </p:cNvPr>
        <p:cNvGrpSpPr/>
        <p:nvPr/>
      </p:nvGrpSpPr>
      <p:grpSpPr>
        <a:xfrm>
          <a:off x="0" y="0"/>
          <a:ext cx="0" cy="0"/>
          <a:chOff x="0" y="0"/>
          <a:chExt cx="0" cy="0"/>
        </a:xfrm>
      </p:grpSpPr>
      <p:sp>
        <p:nvSpPr>
          <p:cNvPr id="875" name="Google Shape;875;gbd8f7373d4_0_397:notes">
            <a:extLst>
              <a:ext uri="{FF2B5EF4-FFF2-40B4-BE49-F238E27FC236}">
                <a16:creationId xmlns:a16="http://schemas.microsoft.com/office/drawing/2014/main" id="{757F2C4D-2029-4FAB-1591-57A08DEAD11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a:extLst>
              <a:ext uri="{FF2B5EF4-FFF2-40B4-BE49-F238E27FC236}">
                <a16:creationId xmlns:a16="http://schemas.microsoft.com/office/drawing/2014/main" id="{D79BEA73-39D9-9704-9FD9-0EA85D4533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2206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hyperlink" Target="https://clang.llvm.org/docs/AddressSanitizer.html" TargetMode="External"/><Relationship Id="rId7" Type="http://schemas.openxmlformats.org/officeDocument/2006/relationships/hyperlink" Target="https://clang.llvm.org/docs/UndefinedBehaviorSanitizer.html"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hyperlink" Target="https://clang.llvm.org/docs/LeakSanitizer.html" TargetMode="External"/><Relationship Id="rId5" Type="http://schemas.openxmlformats.org/officeDocument/2006/relationships/hyperlink" Target="https://clang.llvm.org/docs/MemorySanitizer.html" TargetMode="External"/><Relationship Id="rId4" Type="http://schemas.openxmlformats.org/officeDocument/2006/relationships/hyperlink" Target="https://clang.llvm.org/docs/ThreadSanitize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Dynamic Analysis –</a:t>
            </a:r>
            <a:br>
              <a:rPr lang="en" sz="5400" dirty="0"/>
            </a:br>
            <a:r>
              <a:rPr lang="en" sz="5400" dirty="0"/>
              <a:t>Establish Settings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2</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2025-10-06</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99855" y="139594"/>
            <a:ext cx="2169184"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AVCDL-Implementation-8.1.1</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4" name="Picture 3" descr="A diagram of a diagram of a diagram&#10;&#10;AI-generated content may be incorrect.">
            <a:extLst>
              <a:ext uri="{FF2B5EF4-FFF2-40B4-BE49-F238E27FC236}">
                <a16:creationId xmlns:a16="http://schemas.microsoft.com/office/drawing/2014/main" id="{1413FA81-04F9-21B6-B54A-6A6C310A6677}"/>
              </a:ext>
            </a:extLst>
          </p:cNvPr>
          <p:cNvPicPr>
            <a:picLocks noChangeAspect="1"/>
          </p:cNvPicPr>
          <p:nvPr/>
        </p:nvPicPr>
        <p:blipFill>
          <a:blip r:embed="rId3"/>
          <a:stretch>
            <a:fillRect/>
          </a:stretch>
        </p:blipFill>
        <p:spPr>
          <a:xfrm>
            <a:off x="274865" y="1562353"/>
            <a:ext cx="11639093" cy="3733292"/>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Dynamic Analysis Process</a:t>
            </a:r>
            <a:endParaRPr dirty="0"/>
          </a:p>
        </p:txBody>
      </p:sp>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pic>
        <p:nvPicPr>
          <p:cNvPr id="2" name="Picture 1" descr="A diagram of a diagram of a diagram&#10;&#10;AI-generated content may be incorrect.">
            <a:extLst>
              <a:ext uri="{FF2B5EF4-FFF2-40B4-BE49-F238E27FC236}">
                <a16:creationId xmlns:a16="http://schemas.microsoft.com/office/drawing/2014/main" id="{70F7EC4A-19D2-F24F-36FD-40C233C3EFEE}"/>
              </a:ext>
            </a:extLst>
          </p:cNvPr>
          <p:cNvPicPr>
            <a:picLocks noChangeAspect="1"/>
          </p:cNvPicPr>
          <p:nvPr/>
        </p:nvPicPr>
        <p:blipFill>
          <a:blip r:embed="rId3">
            <a:alphaModFix amt="10000"/>
          </a:blip>
          <a:stretch>
            <a:fillRect/>
          </a:stretch>
        </p:blipFill>
        <p:spPr>
          <a:xfrm>
            <a:off x="274865" y="1562353"/>
            <a:ext cx="11639093" cy="3733292"/>
          </a:xfrm>
          <a:prstGeom prst="rect">
            <a:avLst/>
          </a:prstGeom>
        </p:spPr>
      </p:pic>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Dynamic Analysis Process</a:t>
            </a:r>
            <a:endParaRPr dirty="0"/>
          </a:p>
        </p:txBody>
      </p:sp>
      <p:pic>
        <p:nvPicPr>
          <p:cNvPr id="6" name="Picture 5" descr="A diagram of a security system&#10;&#10;AI-generated content may be incorrect.">
            <a:extLst>
              <a:ext uri="{FF2B5EF4-FFF2-40B4-BE49-F238E27FC236}">
                <a16:creationId xmlns:a16="http://schemas.microsoft.com/office/drawing/2014/main" id="{65BDA7F5-1597-7FB3-01E6-3598A841EED7}"/>
              </a:ext>
            </a:extLst>
          </p:cNvPr>
          <p:cNvPicPr>
            <a:picLocks noChangeAspect="1"/>
          </p:cNvPicPr>
          <p:nvPr/>
        </p:nvPicPr>
        <p:blipFill>
          <a:blip r:embed="rId4"/>
          <a:stretch>
            <a:fillRect/>
          </a:stretch>
        </p:blipFill>
        <p:spPr>
          <a:xfrm>
            <a:off x="274865" y="1562354"/>
            <a:ext cx="3220879" cy="3733292"/>
          </a:xfrm>
          <a:prstGeom prst="rect">
            <a:avLst/>
          </a:prstGeom>
        </p:spPr>
      </p:pic>
    </p:spTree>
    <p:extLst>
      <p:ext uri="{BB962C8B-B14F-4D97-AF65-F5344CB8AC3E}">
        <p14:creationId xmlns:p14="http://schemas.microsoft.com/office/powerpoint/2010/main" val="2999320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580769-23E8-EBAD-DBED-BE0153CC0020}"/>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2E758C0-EE8E-BCA6-A63C-D6F8021B39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Establish Settings Activity</a:t>
            </a:r>
            <a:endParaRPr dirty="0"/>
          </a:p>
        </p:txBody>
      </p:sp>
      <p:pic>
        <p:nvPicPr>
          <p:cNvPr id="3" name="Picture 2" descr="A diagram of a security system&#10;&#10;AI-generated content may be incorrect.">
            <a:extLst>
              <a:ext uri="{FF2B5EF4-FFF2-40B4-BE49-F238E27FC236}">
                <a16:creationId xmlns:a16="http://schemas.microsoft.com/office/drawing/2014/main" id="{BE118D36-734B-0A5B-8379-D1651357DB85}"/>
              </a:ext>
            </a:extLst>
          </p:cNvPr>
          <p:cNvPicPr>
            <a:picLocks noChangeAspect="1"/>
          </p:cNvPicPr>
          <p:nvPr/>
        </p:nvPicPr>
        <p:blipFill>
          <a:blip r:embed="rId3"/>
          <a:stretch>
            <a:fillRect/>
          </a:stretch>
        </p:blipFill>
        <p:spPr>
          <a:xfrm>
            <a:off x="3794881" y="1174863"/>
            <a:ext cx="4599060" cy="5330729"/>
          </a:xfrm>
          <a:prstGeom prst="rect">
            <a:avLst/>
          </a:prstGeom>
        </p:spPr>
      </p:pic>
    </p:spTree>
    <p:extLst>
      <p:ext uri="{BB962C8B-B14F-4D97-AF65-F5344CB8AC3E}">
        <p14:creationId xmlns:p14="http://schemas.microsoft.com/office/powerpoint/2010/main" val="1240202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081917B5-D38D-75C7-4D31-0A25C42D16F1}"/>
              </a:ext>
            </a:extLst>
          </p:cNvPr>
          <p:cNvPicPr>
            <a:picLocks noChangeAspect="1"/>
          </p:cNvPicPr>
          <p:nvPr/>
        </p:nvPicPr>
        <p:blipFill>
          <a:blip r:embed="rId3"/>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3670228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98B18FB8-1F00-5ED4-16C3-706D9E5E8A15}"/>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4" name="Picture 3" descr="A diagram of a security system&#10;&#10;AI-generated content may be incorrect.">
            <a:extLst>
              <a:ext uri="{FF2B5EF4-FFF2-40B4-BE49-F238E27FC236}">
                <a16:creationId xmlns:a16="http://schemas.microsoft.com/office/drawing/2014/main" id="{3DAFB547-E064-BE77-DADB-0FD32061C128}"/>
              </a:ext>
            </a:extLst>
          </p:cNvPr>
          <p:cNvPicPr>
            <a:picLocks noChangeAspect="1"/>
          </p:cNvPicPr>
          <p:nvPr/>
        </p:nvPicPr>
        <p:blipFill>
          <a:blip r:embed="rId4"/>
          <a:stretch>
            <a:fillRect/>
          </a:stretch>
        </p:blipFill>
        <p:spPr>
          <a:xfrm>
            <a:off x="274865" y="1543690"/>
            <a:ext cx="3197961" cy="3770619"/>
          </a:xfrm>
          <a:prstGeom prst="rect">
            <a:avLst/>
          </a:prstGeom>
        </p:spPr>
      </p:pic>
    </p:spTree>
    <p:extLst>
      <p:ext uri="{BB962C8B-B14F-4D97-AF65-F5344CB8AC3E}">
        <p14:creationId xmlns:p14="http://schemas.microsoft.com/office/powerpoint/2010/main" val="1092715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1C6719-B3C7-99B9-D116-187133B21736}"/>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3D79D334-DC71-24A0-9370-01C6335C3AA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472A14D2-15EB-BE4A-93F3-E3CA54CAFEF4}"/>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5" name="Picture 4" descr="A diagram of a security system&#10;&#10;AI-generated content may be incorrect.">
            <a:extLst>
              <a:ext uri="{FF2B5EF4-FFF2-40B4-BE49-F238E27FC236}">
                <a16:creationId xmlns:a16="http://schemas.microsoft.com/office/drawing/2014/main" id="{09B88BD6-7D1C-6F0E-D608-72AAECD76F64}"/>
              </a:ext>
            </a:extLst>
          </p:cNvPr>
          <p:cNvPicPr>
            <a:picLocks noChangeAspect="1"/>
          </p:cNvPicPr>
          <p:nvPr/>
        </p:nvPicPr>
        <p:blipFill>
          <a:blip r:embed="rId4"/>
          <a:stretch>
            <a:fillRect/>
          </a:stretch>
        </p:blipFill>
        <p:spPr>
          <a:xfrm>
            <a:off x="2693052" y="1543123"/>
            <a:ext cx="3019925" cy="3771186"/>
          </a:xfrm>
          <a:prstGeom prst="rect">
            <a:avLst/>
          </a:prstGeom>
        </p:spPr>
      </p:pic>
    </p:spTree>
    <p:extLst>
      <p:ext uri="{BB962C8B-B14F-4D97-AF65-F5344CB8AC3E}">
        <p14:creationId xmlns:p14="http://schemas.microsoft.com/office/powerpoint/2010/main" val="1694418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4B2164A-295A-0288-9D11-2D1D1B6D7A8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978AB51-0A05-7CED-E08D-2D4FDCD3DA7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5F175B17-2548-4560-3671-B38775CC3B45}"/>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5" name="Picture 4" descr="A diagram of security options&#10;&#10;AI-generated content may be incorrect.">
            <a:extLst>
              <a:ext uri="{FF2B5EF4-FFF2-40B4-BE49-F238E27FC236}">
                <a16:creationId xmlns:a16="http://schemas.microsoft.com/office/drawing/2014/main" id="{AF8D00A3-316F-22A2-E1C0-A09A4272B176}"/>
              </a:ext>
            </a:extLst>
          </p:cNvPr>
          <p:cNvPicPr>
            <a:picLocks noChangeAspect="1"/>
          </p:cNvPicPr>
          <p:nvPr/>
        </p:nvPicPr>
        <p:blipFill>
          <a:blip r:embed="rId4"/>
          <a:stretch>
            <a:fillRect/>
          </a:stretch>
        </p:blipFill>
        <p:spPr>
          <a:xfrm>
            <a:off x="4888207" y="1543689"/>
            <a:ext cx="4031433" cy="3770619"/>
          </a:xfrm>
          <a:prstGeom prst="rect">
            <a:avLst/>
          </a:prstGeom>
        </p:spPr>
      </p:pic>
    </p:spTree>
    <p:extLst>
      <p:ext uri="{BB962C8B-B14F-4D97-AF65-F5344CB8AC3E}">
        <p14:creationId xmlns:p14="http://schemas.microsoft.com/office/powerpoint/2010/main" val="3273970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FFD8B6E-37C9-C610-8072-4A447D4CB93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4894D278-0016-91EE-ADF1-C155A2D7795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83924966-6778-9940-D243-9D15FED9AFC2}"/>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5" name="Picture 4" descr="A diagram of a software security system&#10;&#10;AI-generated content may be incorrect.">
            <a:extLst>
              <a:ext uri="{FF2B5EF4-FFF2-40B4-BE49-F238E27FC236}">
                <a16:creationId xmlns:a16="http://schemas.microsoft.com/office/drawing/2014/main" id="{6DF2A48D-4E5B-8BA5-C093-5CE77889286E}"/>
              </a:ext>
            </a:extLst>
          </p:cNvPr>
          <p:cNvPicPr>
            <a:picLocks noChangeAspect="1"/>
          </p:cNvPicPr>
          <p:nvPr/>
        </p:nvPicPr>
        <p:blipFill>
          <a:blip r:embed="rId4"/>
          <a:stretch>
            <a:fillRect/>
          </a:stretch>
        </p:blipFill>
        <p:spPr>
          <a:xfrm>
            <a:off x="8129326" y="1543689"/>
            <a:ext cx="3807879" cy="3770620"/>
          </a:xfrm>
          <a:prstGeom prst="rect">
            <a:avLst/>
          </a:prstGeom>
        </p:spPr>
      </p:pic>
    </p:spTree>
    <p:extLst>
      <p:ext uri="{BB962C8B-B14F-4D97-AF65-F5344CB8AC3E}">
        <p14:creationId xmlns:p14="http://schemas.microsoft.com/office/powerpoint/2010/main" val="2919342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61AAD78-083E-F5D0-FECC-9701E0D25F2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4C6C7598-49A1-1872-26D9-76F2D153B6B9}"/>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Secure Settings Material</a:t>
            </a:r>
            <a:endParaRPr sz="6600" dirty="0"/>
          </a:p>
        </p:txBody>
      </p:sp>
    </p:spTree>
    <p:extLst>
      <p:ext uri="{BB962C8B-B14F-4D97-AF65-F5344CB8AC3E}">
        <p14:creationId xmlns:p14="http://schemas.microsoft.com/office/powerpoint/2010/main" val="1715810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descr="A document with text on it&#10;&#10;AI-generated content may be incorrect.">
            <a:extLst>
              <a:ext uri="{FF2B5EF4-FFF2-40B4-BE49-F238E27FC236}">
                <a16:creationId xmlns:a16="http://schemas.microsoft.com/office/drawing/2014/main" id="{9AF391E0-343E-BC1F-91F6-B2E02B18B081}"/>
              </a:ext>
            </a:extLst>
          </p:cNvPr>
          <p:cNvPicPr>
            <a:picLocks noChangeAspect="1"/>
          </p:cNvPicPr>
          <p:nvPr/>
        </p:nvPicPr>
        <p:blipFill>
          <a:blip r:embed="rId3"/>
          <a:stretch>
            <a:fillRect/>
          </a:stretch>
        </p:blipFill>
        <p:spPr>
          <a:xfrm>
            <a:off x="7650847" y="1239500"/>
            <a:ext cx="4082604"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Overview</a:t>
            </a:r>
          </a:p>
        </p:txBody>
      </p:sp>
      <p:pic>
        <p:nvPicPr>
          <p:cNvPr id="3" name="Picture 2" descr="A screenshot of a computer&#10;&#10;AI-generated content may be incorrect.">
            <a:extLst>
              <a:ext uri="{FF2B5EF4-FFF2-40B4-BE49-F238E27FC236}">
                <a16:creationId xmlns:a16="http://schemas.microsoft.com/office/drawing/2014/main" id="{601CEB04-A119-F7B5-5B2A-9DDB1D0F9C0F}"/>
              </a:ext>
            </a:extLst>
          </p:cNvPr>
          <p:cNvPicPr>
            <a:picLocks noChangeAspect="1"/>
          </p:cNvPicPr>
          <p:nvPr/>
        </p:nvPicPr>
        <p:blipFill>
          <a:blip r:embed="rId4"/>
          <a:stretch>
            <a:fillRect/>
          </a:stretch>
        </p:blipFill>
        <p:spPr>
          <a:xfrm>
            <a:off x="455374" y="1993108"/>
            <a:ext cx="6685929" cy="3764756"/>
          </a:xfrm>
          <a:prstGeom prst="rect">
            <a:avLst/>
          </a:prstGeom>
        </p:spPr>
      </p:pic>
    </p:spTree>
    <p:extLst>
      <p:ext uri="{BB962C8B-B14F-4D97-AF65-F5344CB8AC3E}">
        <p14:creationId xmlns:p14="http://schemas.microsoft.com/office/powerpoint/2010/main" val="2730175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A7A2EDF-E9F7-50F4-8705-BDEB40C7915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E28E5DD-CFB8-07C2-D954-1BCFE21CA807}"/>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75AAF9B6-0EA6-A0EE-9342-FDA84CF79422}"/>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Identify Options</a:t>
            </a:r>
          </a:p>
        </p:txBody>
      </p:sp>
      <p:pic>
        <p:nvPicPr>
          <p:cNvPr id="3" name="Picture 2">
            <a:extLst>
              <a:ext uri="{FF2B5EF4-FFF2-40B4-BE49-F238E27FC236}">
                <a16:creationId xmlns:a16="http://schemas.microsoft.com/office/drawing/2014/main" id="{6C309C2D-64AB-57BF-6AF8-E1BB585F7284}"/>
              </a:ext>
            </a:extLst>
          </p:cNvPr>
          <p:cNvPicPr>
            <a:picLocks noChangeAspect="1"/>
          </p:cNvPicPr>
          <p:nvPr/>
        </p:nvPicPr>
        <p:blipFill>
          <a:blip r:embed="rId4"/>
          <a:srcRect/>
          <a:stretch/>
        </p:blipFill>
        <p:spPr>
          <a:xfrm>
            <a:off x="455375" y="1993108"/>
            <a:ext cx="6685927" cy="3764756"/>
          </a:xfrm>
          <a:prstGeom prst="rect">
            <a:avLst/>
          </a:prstGeom>
        </p:spPr>
      </p:pic>
    </p:spTree>
    <p:extLst>
      <p:ext uri="{BB962C8B-B14F-4D97-AF65-F5344CB8AC3E}">
        <p14:creationId xmlns:p14="http://schemas.microsoft.com/office/powerpoint/2010/main" val="276128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94A0425-B2C9-2E32-F9C9-35575BE05FA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84CB76E6-0733-C1D1-B193-0ED26F86F74D}"/>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5B57FF0B-5C2F-C95B-B26A-4D023F8DDC17}"/>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Categorize Options</a:t>
            </a:r>
          </a:p>
        </p:txBody>
      </p:sp>
      <p:pic>
        <p:nvPicPr>
          <p:cNvPr id="3" name="Picture 2">
            <a:extLst>
              <a:ext uri="{FF2B5EF4-FFF2-40B4-BE49-F238E27FC236}">
                <a16:creationId xmlns:a16="http://schemas.microsoft.com/office/drawing/2014/main" id="{3B06F80A-84BA-B596-CA2B-D06C3FA73150}"/>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1186074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E066091-2D47-C253-071C-F736E30438B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D93EA06-0A3D-7514-3FF5-D63A14B14DD6}"/>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E78F395C-7422-9D9D-1CA0-87EFCDED3F9A}"/>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Select Options</a:t>
            </a:r>
          </a:p>
        </p:txBody>
      </p:sp>
      <p:pic>
        <p:nvPicPr>
          <p:cNvPr id="3" name="Picture 2">
            <a:extLst>
              <a:ext uri="{FF2B5EF4-FFF2-40B4-BE49-F238E27FC236}">
                <a16:creationId xmlns:a16="http://schemas.microsoft.com/office/drawing/2014/main" id="{112C07A0-966B-2B5A-8670-9F4E67CD6D97}"/>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3151183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643A064-487E-DDAB-2BAF-CB70B535CFC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CB7975A-2655-B07A-4EC7-F69B679DA670}"/>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AA5DDDF1-1C23-2C35-A25B-E355DA8D044C}"/>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Apply Options</a:t>
            </a:r>
          </a:p>
        </p:txBody>
      </p:sp>
      <p:pic>
        <p:nvPicPr>
          <p:cNvPr id="3" name="Picture 2">
            <a:extLst>
              <a:ext uri="{FF2B5EF4-FFF2-40B4-BE49-F238E27FC236}">
                <a16:creationId xmlns:a16="http://schemas.microsoft.com/office/drawing/2014/main" id="{540A8E96-1E97-C258-9BFF-5CB15A80E781}"/>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894309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A1B6300-4150-9DD1-EAB2-84C678CB072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64DDA98-0F6D-C54D-128F-679E03F5053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Dynamic Analysis Considerations</a:t>
            </a:r>
            <a:endParaRPr sz="6600" dirty="0"/>
          </a:p>
        </p:txBody>
      </p:sp>
    </p:spTree>
    <p:extLst>
      <p:ext uri="{BB962C8B-B14F-4D97-AF65-F5344CB8AC3E}">
        <p14:creationId xmlns:p14="http://schemas.microsoft.com/office/powerpoint/2010/main" val="1242754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BE4B0FF-BB0D-B94C-5377-2ED07887A12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FD168AF-42C8-6A28-F5A0-4F3F1DEBBA6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sp>
        <p:nvSpPr>
          <p:cNvPr id="2" name="TextBox 1">
            <a:extLst>
              <a:ext uri="{FF2B5EF4-FFF2-40B4-BE49-F238E27FC236}">
                <a16:creationId xmlns:a16="http://schemas.microsoft.com/office/drawing/2014/main" id="{BB25012F-D809-9633-25D4-D71A786B669C}"/>
              </a:ext>
            </a:extLst>
          </p:cNvPr>
          <p:cNvSpPr txBox="1"/>
          <p:nvPr/>
        </p:nvSpPr>
        <p:spPr>
          <a:xfrm>
            <a:off x="455618" y="1437554"/>
            <a:ext cx="2884444"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Execution Time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Footprint</a:t>
            </a:r>
          </a:p>
        </p:txBody>
      </p:sp>
    </p:spTree>
    <p:extLst>
      <p:ext uri="{BB962C8B-B14F-4D97-AF65-F5344CB8AC3E}">
        <p14:creationId xmlns:p14="http://schemas.microsoft.com/office/powerpoint/2010/main" val="1083501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6324488" cy="2862322"/>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Select the options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Scope to the element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Update the build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Report the settings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Keep cybersecurity relevancy in mind</a:t>
            </a:r>
          </a:p>
        </p:txBody>
      </p:sp>
    </p:spTree>
    <p:extLst>
      <p:ext uri="{BB962C8B-B14F-4D97-AF65-F5344CB8AC3E}">
        <p14:creationId xmlns:p14="http://schemas.microsoft.com/office/powerpoint/2010/main" val="170359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6310"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(1 of 2)</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513986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Dynamic Analysis Report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Dynamic Analysis – Establish Settings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Identify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Categorize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Select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Apply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tool cybersecurity options template (AVCDL template)</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element-specific tool cybersecurity options template (AVCDL template)</a:t>
            </a:r>
          </a:p>
          <a:p>
            <a:pPr marL="0" indent="0">
              <a:spcBef>
                <a:spcPts val="1200"/>
              </a:spcBef>
            </a:pP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04196100-3210-8F6F-EB91-A22D494DD397}"/>
              </a:ext>
            </a:extLst>
          </p:cNvPr>
          <p:cNvSpPr txBox="1"/>
          <p:nvPr/>
        </p:nvSpPr>
        <p:spPr>
          <a:xfrm>
            <a:off x="11913079" y="5089585"/>
            <a:ext cx="184731" cy="307777"/>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557400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7">
          <a:extLst>
            <a:ext uri="{FF2B5EF4-FFF2-40B4-BE49-F238E27FC236}">
              <a16:creationId xmlns:a16="http://schemas.microsoft.com/office/drawing/2014/main" id="{BF51FD20-5E44-1096-92AD-A694134C77F0}"/>
            </a:ext>
          </a:extLst>
        </p:cNvPr>
        <p:cNvGrpSpPr/>
        <p:nvPr/>
      </p:nvGrpSpPr>
      <p:grpSpPr>
        <a:xfrm>
          <a:off x="0" y="0"/>
          <a:ext cx="0" cy="0"/>
          <a:chOff x="0" y="0"/>
          <a:chExt cx="0" cy="0"/>
        </a:xfrm>
      </p:grpSpPr>
      <p:sp>
        <p:nvSpPr>
          <p:cNvPr id="878" name="Google Shape;878;p147">
            <a:extLst>
              <a:ext uri="{FF2B5EF4-FFF2-40B4-BE49-F238E27FC236}">
                <a16:creationId xmlns:a16="http://schemas.microsoft.com/office/drawing/2014/main" id="{2CDA8FD7-8E5D-9D23-F17E-089B0DC94CDC}"/>
              </a:ext>
            </a:extLst>
          </p:cNvPr>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 (2 of 2)</a:t>
            </a:r>
            <a:endParaRPr dirty="0"/>
          </a:p>
        </p:txBody>
      </p:sp>
      <p:sp>
        <p:nvSpPr>
          <p:cNvPr id="2" name="Google Shape;879;p147">
            <a:extLst>
              <a:ext uri="{FF2B5EF4-FFF2-40B4-BE49-F238E27FC236}">
                <a16:creationId xmlns:a16="http://schemas.microsoft.com/office/drawing/2014/main" id="{CA327BB5-2B6F-DC45-6F06-8EDF4E981DDD}"/>
              </a:ext>
            </a:extLst>
          </p:cNvPr>
          <p:cNvSpPr txBox="1">
            <a:spLocks/>
          </p:cNvSpPr>
          <p:nvPr/>
        </p:nvSpPr>
        <p:spPr>
          <a:xfrm>
            <a:off x="455615" y="1146448"/>
            <a:ext cx="11277592" cy="329320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sz="1800" b="1" dirty="0">
                <a:latin typeface="Roboto" panose="02000000000000000000" pitchFamily="2" charset="0"/>
                <a:ea typeface="Roboto" panose="02000000000000000000" pitchFamily="2" charset="0"/>
                <a:cs typeface="Roboto" panose="02000000000000000000" pitchFamily="2" charset="0"/>
              </a:rPr>
              <a:t>Address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https://clang.llvm.org/docs/AddressSanitizer.html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Thread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4"/>
              </a:rPr>
              <a:t>https://clang.llvm.org/docs/ThreadSanitizer.html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Memory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5"/>
              </a:rPr>
              <a:t>https://clang.llvm.org/docs/MemorySanitizer.html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Leak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6"/>
              </a:rPr>
              <a:t>https://clang.llvm.org/docs/LeakSanitizer.html</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Undefined Behavior Sanitizer [LLVM]</a:t>
            </a:r>
          </a:p>
          <a:p>
            <a:pPr marL="0" indent="0">
              <a:spcBef>
                <a:spcPts val="0"/>
              </a:spcBef>
            </a:pPr>
            <a:r>
              <a:rPr lang="en-US" sz="1400" b="1" dirty="0">
                <a:latin typeface="Courier New" panose="02070309020205020404" pitchFamily="49" charset="0"/>
                <a:cs typeface="Courier New" panose="02070309020205020404" pitchFamily="49" charset="0"/>
                <a:hlinkClick r:id="rId7"/>
              </a:rPr>
              <a:t>https://clang.llvm.org/docs/UndefinedBehaviorSanitizer.html</a:t>
            </a:r>
            <a:r>
              <a:rPr lang="en-US" sz="1400" b="1" dirty="0">
                <a:latin typeface="Courier New" panose="02070309020205020404" pitchFamily="49"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8817968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362530</TotalTime>
  <Words>1480</Words>
  <Application>Microsoft Macintosh PowerPoint</Application>
  <PresentationFormat>Custom</PresentationFormat>
  <Paragraphs>337</Paragraphs>
  <Slides>27</Slides>
  <Notes>27</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27</vt:i4>
      </vt:variant>
    </vt:vector>
  </HeadingPairs>
  <TitlesOfParts>
    <vt:vector size="35" baseType="lpstr">
      <vt:lpstr>Roboto</vt:lpstr>
      <vt:lpstr>Arial</vt:lpstr>
      <vt:lpstr>Calibri</vt:lpstr>
      <vt:lpstr>Courier New</vt:lpstr>
      <vt:lpstr>Roboto Medium</vt:lpstr>
      <vt:lpstr>Simple Light</vt:lpstr>
      <vt:lpstr>Motional Masters</vt:lpstr>
      <vt:lpstr>Motional Masters</vt:lpstr>
      <vt:lpstr>Dynamic Analysis – Establish Settings</vt:lpstr>
      <vt:lpstr>Training Path</vt:lpstr>
      <vt:lpstr>Introduction</vt:lpstr>
      <vt:lpstr>Dynamic Analysis Process</vt:lpstr>
      <vt:lpstr>Dynamic Analysis Process</vt:lpstr>
      <vt:lpstr>Establish Settings Activity</vt:lpstr>
      <vt:lpstr>Secure Settings Process</vt:lpstr>
      <vt:lpstr>Secure Settings Process</vt:lpstr>
      <vt:lpstr>Secure Settings Process</vt:lpstr>
      <vt:lpstr>Secure Settings Process</vt:lpstr>
      <vt:lpstr>Secure Settings Process</vt:lpstr>
      <vt:lpstr>Secure Settings Material</vt:lpstr>
      <vt:lpstr>Secure Settings - Overview</vt:lpstr>
      <vt:lpstr>Secure Settings – Identify Options</vt:lpstr>
      <vt:lpstr>Secure Settings – Categorize Options</vt:lpstr>
      <vt:lpstr>Secure Settings – Select Options</vt:lpstr>
      <vt:lpstr>Secure Settings – Apply Options</vt:lpstr>
      <vt:lpstr>Dynamic Analysis Considerations</vt:lpstr>
      <vt:lpstr>Considerations</vt:lpstr>
      <vt:lpstr>Recap</vt:lpstr>
      <vt:lpstr>Summary</vt:lpstr>
      <vt:lpstr>Further Reading</vt:lpstr>
      <vt:lpstr>AVCDL on GitHub</vt:lpstr>
      <vt:lpstr>AVCDL on YouTube</vt:lpstr>
      <vt:lpstr>Next Steps</vt:lpstr>
      <vt:lpstr>References (1 of 2)</vt:lpstr>
      <vt:lpstr>References (2 of 2)</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Analysis - Establish Settings (training)</dc:title>
  <dc:subject>dynamic analysis settings establishment</dc:subject>
  <dc:creator>Charles Wilson</dc:creator>
  <cp:keywords>cybersecurity, dynamic analysis</cp:keywords>
  <dc:description>This work was created by Torc Robotics and is licensed under the Creative Commons Attribution-Share Alike (CC BY-SA-4.0) License.
https://creativecommons.org/licenses/by/4.0/legalcode 
</dc:description>
  <cp:lastModifiedBy>Charles Wilson</cp:lastModifiedBy>
  <cp:revision>595</cp:revision>
  <cp:lastPrinted>2025-07-24T18:37:57Z</cp:lastPrinted>
  <dcterms:modified xsi:type="dcterms:W3CDTF">2025-10-06T19:51:08Z</dcterms:modified>
  <cp:category>dynamic analysis</cp:category>
</cp:coreProperties>
</file>