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1"/>
  </p:notesMasterIdLst>
  <p:sldIdLst>
    <p:sldId id="256" r:id="rId4"/>
    <p:sldId id="306" r:id="rId5"/>
    <p:sldId id="648" r:id="rId6"/>
    <p:sldId id="607" r:id="rId7"/>
    <p:sldId id="635" r:id="rId8"/>
    <p:sldId id="658" r:id="rId9"/>
    <p:sldId id="665" r:id="rId10"/>
    <p:sldId id="666" r:id="rId11"/>
    <p:sldId id="636" r:id="rId12"/>
    <p:sldId id="637" r:id="rId13"/>
    <p:sldId id="638" r:id="rId14"/>
    <p:sldId id="669" r:id="rId15"/>
    <p:sldId id="652" r:id="rId16"/>
    <p:sldId id="660" r:id="rId17"/>
    <p:sldId id="661" r:id="rId18"/>
    <p:sldId id="662" r:id="rId19"/>
    <p:sldId id="663" r:id="rId20"/>
    <p:sldId id="667" r:id="rId21"/>
    <p:sldId id="668" r:id="rId22"/>
    <p:sldId id="603" r:id="rId23"/>
    <p:sldId id="488" r:id="rId24"/>
    <p:sldId id="343" r:id="rId25"/>
    <p:sldId id="606" r:id="rId26"/>
    <p:sldId id="461" r:id="rId27"/>
    <p:sldId id="420" r:id="rId28"/>
    <p:sldId id="368" r:id="rId29"/>
    <p:sldId id="659" r:id="rId30"/>
  </p:sldIdLst>
  <p:sldSz cx="12188825" cy="6858000"/>
  <p:notesSz cx="6858000" cy="9144000"/>
  <p:embeddedFontLst>
    <p:embeddedFont>
      <p:font typeface="Roboto" panose="02000000000000000000" pitchFamily="2" charset="0"/>
      <p:regular r:id="rId32"/>
      <p:bold r:id="rId33"/>
      <p:italic r:id="rId34"/>
      <p:boldItalic r:id="rId35"/>
    </p:embeddedFont>
    <p:embeddedFont>
      <p:font typeface="Roboto Medium" panose="020F050202020403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178"/>
    <p:restoredTop sz="80204"/>
  </p:normalViewPr>
  <p:slideViewPr>
    <p:cSldViewPr snapToGrid="0">
      <p:cViewPr varScale="1">
        <p:scale>
          <a:sx n="151" d="100"/>
          <a:sy n="151" d="100"/>
        </p:scale>
        <p:origin x="200" y="1072"/>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8.fntdata"/><Relationship Id="rId21" Type="http://schemas.openxmlformats.org/officeDocument/2006/relationships/slide" Target="slides/slide18.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Dynamic Analysis Settings Establishment</a:t>
            </a:r>
            <a:r>
              <a:rPr lang="en-US" sz="1400" b="0" i="0" dirty="0">
                <a:solidFill>
                  <a:srgbClr val="000000"/>
                </a:solidFill>
                <a:effectLst/>
                <a:latin typeface="Calibri" panose="020F0502020204030204" pitchFamily="34" charset="0"/>
                <a:cs typeface="Calibri" panose="020F0502020204030204" pitchFamily="34" charset="0"/>
              </a:rPr>
              <a:t> activity.</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Dynamic Analysis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
            </a:r>
            <a:r>
              <a:rPr lang="en-US" sz="1400" b="1" dirty="0">
                <a:latin typeface="Calibri" panose="020F0502020204030204" pitchFamily="34" charset="0"/>
                <a:cs typeface="Calibri" panose="020F0502020204030204" pitchFamily="34" charset="0"/>
              </a:rPr>
              <a:t>Dynamic Analysis Settings Establishment</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settings establishment, let's briefly review where it fits, in the overall dynamic analysis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Here's the dynamic analysis process which we previously covered in the Dynamic Analysis Overview.</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settings establishment.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dynamic analysis process which we previously covered in the Dynamic Analysis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settings establishment.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settings establishment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development, security, and devops SMEs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tool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element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establish a set a of element-specific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creating an updated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generating a security options qualification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if this diagram seems really information-dense, that's because this is the encapsulation of the secure settings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revisit that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u="sng"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u="sng"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DE055D-969C-1251-8D4B-9A5D6A6EF8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FCEE36-4BC2-7CF5-2272-6001940871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DCD742C-D5B3-C0E2-0697-8287358F5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9887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0CAD468-007A-8E5F-5A62-D6055BDFB7F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0A138CF-A5C6-66D4-B6D1-1AE20FE04BA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3542C1E-8A0C-E5E2-6733-164CBB116F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briefly review the materials that provide both documentation and training for how the secure settings activities should be undertaken.</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674422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First, we have the Secure Settings Overview training video which compliments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Document secondary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provides an overview of the secure settings process described in the AVCDL primary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02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F8ECC-9C33-F0C8-E07A-82A53359FE6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9F55E18-FAAA-3F92-CDB3-A4575494B11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AA848CD-2590-3BD6-BF48-BFB05FBEDE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Identify Options training goes along with the Secure Settings Identify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works its way through an example using GCC as a basis covering how one would take a tool and extract the various options from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7305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FCEB9E8-9ECB-8D19-4DAE-2C25C89F64D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27811F2-F284-1821-83AF-5969E2EFD02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B346606-A15E-E649-5347-0A55D70DBD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Categorize Options training goes along with the Secure Settings Categorize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extends the example from the identify options training and covers how one might create severity categories and categorize the identified options so that they can be processed later.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060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82BBD2E-67FC-C6C2-2045-FD8FBB0544F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1B6EB8-F106-CF98-BD76-9014BD0F4FF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74CC6ED-71A0-BC67-0F35-3B40911384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Select Options training goes along with the Secure Settings Select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continues extending the example from the previous training and addresses how options are selected for application to a specific element of the system by the cybersecurity and development SMEs.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5252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DF5D140-5163-5A7F-66EF-0B85A1F0739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E445AFC-60CA-5DA9-7AD3-0277184E981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A1FD65F-45AB-964B-5F98-10F1B45F8A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the Secure Settings - Apply Options training goes along with the Secure Settings Apply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focus here is on the devops SME, tasked with taking the options selected for application to a particular element, and making the adjustments to the build system to integrate those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1786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Since the Secure Settings process activities speak in general, let's talk about the specific things we need to consider when establishing the dynamic analysis settings.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82533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Outside of the typical, this is cybersecurity-relevant question when dealing with particular tools and settings, there are two considerations that we make when we're establishing the settings to be attached to a particular system element subject to dynamic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because dynamic analysis is part of a test suite which is executed.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we need to consider the execution time impact.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that's because the build process may be time-bounded.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Since dynamic analysis, by its very nature, puts stress on the code, its execution may well exceed any time-bounding that's been established for the build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needs to be evaluated before we recommend an option or tool for use with a particular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is very much akin to the first, and that is a consideration of the footprint.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may be the overall code size impact which is of concern when dealing with embedded systems.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have hard limits here, unlike when working on a desktop or server class machine.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Beyond the footprint of the code, you have the data memory footprint.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Are you able to fit all of the necessary data into memory to be able to execute it efficiently and effectively?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that in real-time systems, if you're dealing with operating systems that have virtual paging systems in them, you have to take into consideration that the memory footprint is going to have an adverse effect on the execution time if you're thrashing memory because of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dynamic analysis settings establishment.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implementing the settings establishment for dynamic analysis tools, we follow the simple steps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selecting the tool’s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scoping the options to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updating the build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of course, reporting our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when you're going through this exercise, that you're doing so from the cybersecurity perspective, and not the general dynamic analysis perspective, because although this is part of the test suite, not every test is cybersecurity-relevant.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Dynamic Analysis Establish Settings Procedure 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Dynamic Analysis </a:t>
            </a:r>
            <a:r>
              <a:rPr lang="en-US" sz="1400" dirty="0"/>
              <a:t>process activities,  you can proceed to the other training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Fuzz Testing</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B285F196-25D0-8F3C-8178-64DC8CB3369B}"/>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757F2C4D-2029-4FAB-1591-57A08DEAD11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a:extLst>
              <a:ext uri="{FF2B5EF4-FFF2-40B4-BE49-F238E27FC236}">
                <a16:creationId xmlns:a16="http://schemas.microsoft.com/office/drawing/2014/main" id="{D79BEA73-39D9-9704-9FD9-0EA85D4533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206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clang.llvm.org/docs/AddressSanitizer.html" TargetMode="External"/><Relationship Id="rId7" Type="http://schemas.openxmlformats.org/officeDocument/2006/relationships/hyperlink" Target="https://clang.llvm.org/docs/UndefinedBehaviorSanitizer.html"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hyperlink" Target="https://clang.llvm.org/docs/LeakSanitizer.html" TargetMode="External"/><Relationship Id="rId5" Type="http://schemas.openxmlformats.org/officeDocument/2006/relationships/hyperlink" Target="https://clang.llvm.org/docs/MemorySanitizer.html" TargetMode="External"/><Relationship Id="rId4" Type="http://schemas.openxmlformats.org/officeDocument/2006/relationships/hyperlink" Target="https://clang.llvm.org/docs/ThreadSanitiz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Dynamic Analysis –</a:t>
            </a:r>
            <a:br>
              <a:rPr lang="en" sz="5400" dirty="0"/>
            </a:br>
            <a:r>
              <a:rPr lang="en" sz="5400" dirty="0"/>
              <a:t>Establish Settings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2025-10-06</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AVCDL-Implementation-8.1.1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4" name="Picture 3" descr="A diagram of a diagram of a diagram&#10;&#10;AI-generated content may be incorrect.">
            <a:extLst>
              <a:ext uri="{FF2B5EF4-FFF2-40B4-BE49-F238E27FC236}">
                <a16:creationId xmlns:a16="http://schemas.microsoft.com/office/drawing/2014/main" id="{1413FA81-04F9-21B6-B54A-6A6C310A6677}"/>
              </a:ext>
            </a:extLst>
          </p:cNvPr>
          <p:cNvPicPr>
            <a:picLocks noChangeAspect="1"/>
          </p:cNvPicPr>
          <p:nvPr/>
        </p:nvPicPr>
        <p:blipFill>
          <a:blip r:embed="rId3"/>
          <a:stretch>
            <a:fillRect/>
          </a:stretch>
        </p:blipFill>
        <p:spPr>
          <a:xfrm>
            <a:off x="274865" y="1562353"/>
            <a:ext cx="11639093" cy="3733292"/>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Dynamic Analysis Process</a:t>
            </a:r>
            <a:endParaRPr dirty="0"/>
          </a:p>
        </p:txBody>
      </p:sp>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pic>
        <p:nvPicPr>
          <p:cNvPr id="2" name="Picture 1" descr="A diagram of a diagram of a diagram&#10;&#10;AI-generated content may be incorrect.">
            <a:extLst>
              <a:ext uri="{FF2B5EF4-FFF2-40B4-BE49-F238E27FC236}">
                <a16:creationId xmlns:a16="http://schemas.microsoft.com/office/drawing/2014/main" id="{70F7EC4A-19D2-F24F-36FD-40C233C3EFEE}"/>
              </a:ext>
            </a:extLst>
          </p:cNvPr>
          <p:cNvPicPr>
            <a:picLocks noChangeAspect="1"/>
          </p:cNvPicPr>
          <p:nvPr/>
        </p:nvPicPr>
        <p:blipFill>
          <a:blip r:embed="rId3">
            <a:alphaModFix amt="10000"/>
          </a:blip>
          <a:stretch>
            <a:fillRect/>
          </a:stretch>
        </p:blipFill>
        <p:spPr>
          <a:xfrm>
            <a:off x="274865" y="1562353"/>
            <a:ext cx="11639093" cy="3733292"/>
          </a:xfrm>
          <a:prstGeom prst="rect">
            <a:avLst/>
          </a:prstGeom>
        </p:spPr>
      </p:pic>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Dynamic Analysis Process</a:t>
            </a:r>
            <a:endParaRPr dirty="0"/>
          </a:p>
        </p:txBody>
      </p:sp>
      <p:pic>
        <p:nvPicPr>
          <p:cNvPr id="6" name="Picture 5" descr="A diagram of a security system&#10;&#10;AI-generated content may be incorrect.">
            <a:extLst>
              <a:ext uri="{FF2B5EF4-FFF2-40B4-BE49-F238E27FC236}">
                <a16:creationId xmlns:a16="http://schemas.microsoft.com/office/drawing/2014/main" id="{65BDA7F5-1597-7FB3-01E6-3598A841EED7}"/>
              </a:ext>
            </a:extLst>
          </p:cNvPr>
          <p:cNvPicPr>
            <a:picLocks noChangeAspect="1"/>
          </p:cNvPicPr>
          <p:nvPr/>
        </p:nvPicPr>
        <p:blipFill>
          <a:blip r:embed="rId4"/>
          <a:stretch>
            <a:fillRect/>
          </a:stretch>
        </p:blipFill>
        <p:spPr>
          <a:xfrm>
            <a:off x="274865" y="1562354"/>
            <a:ext cx="3220879" cy="3733292"/>
          </a:xfrm>
          <a:prstGeom prst="rect">
            <a:avLst/>
          </a:prstGeom>
        </p:spPr>
      </p:pic>
    </p:spTree>
    <p:extLst>
      <p:ext uri="{BB962C8B-B14F-4D97-AF65-F5344CB8AC3E}">
        <p14:creationId xmlns:p14="http://schemas.microsoft.com/office/powerpoint/2010/main" val="299932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 Activity</a:t>
            </a:r>
            <a:endParaRPr dirty="0"/>
          </a:p>
        </p:txBody>
      </p:sp>
      <p:pic>
        <p:nvPicPr>
          <p:cNvPr id="3" name="Picture 2" descr="A diagram of a security system&#10;&#10;AI-generated content may be incorrect.">
            <a:extLst>
              <a:ext uri="{FF2B5EF4-FFF2-40B4-BE49-F238E27FC236}">
                <a16:creationId xmlns:a16="http://schemas.microsoft.com/office/drawing/2014/main" id="{BE118D36-734B-0A5B-8379-D1651357DB85}"/>
              </a:ext>
            </a:extLst>
          </p:cNvPr>
          <p:cNvPicPr>
            <a:picLocks noChangeAspect="1"/>
          </p:cNvPicPr>
          <p:nvPr/>
        </p:nvPicPr>
        <p:blipFill>
          <a:blip r:embed="rId3"/>
          <a:stretch>
            <a:fillRect/>
          </a:stretch>
        </p:blipFill>
        <p:spPr>
          <a:xfrm>
            <a:off x="3794881" y="1174863"/>
            <a:ext cx="4599060" cy="5330729"/>
          </a:xfrm>
          <a:prstGeom prst="rect">
            <a:avLst/>
          </a:prstGeom>
        </p:spPr>
      </p:pic>
    </p:spTree>
    <p:extLst>
      <p:ext uri="{BB962C8B-B14F-4D97-AF65-F5344CB8AC3E}">
        <p14:creationId xmlns:p14="http://schemas.microsoft.com/office/powerpoint/2010/main" val="1240202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081917B5-D38D-75C7-4D31-0A25C42D16F1}"/>
              </a:ext>
            </a:extLst>
          </p:cNvPr>
          <p:cNvPicPr>
            <a:picLocks noChangeAspect="1"/>
          </p:cNvPicPr>
          <p:nvPr/>
        </p:nvPicPr>
        <p:blipFill>
          <a:blip r:embed="rId3"/>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3670228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98B18FB8-1F00-5ED4-16C3-706D9E5E8A15}"/>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4" name="Picture 3" descr="A diagram of a security system&#10;&#10;AI-generated content may be incorrect.">
            <a:extLst>
              <a:ext uri="{FF2B5EF4-FFF2-40B4-BE49-F238E27FC236}">
                <a16:creationId xmlns:a16="http://schemas.microsoft.com/office/drawing/2014/main" id="{3DAFB547-E064-BE77-DADB-0FD32061C128}"/>
              </a:ext>
            </a:extLst>
          </p:cNvPr>
          <p:cNvPicPr>
            <a:picLocks noChangeAspect="1"/>
          </p:cNvPicPr>
          <p:nvPr/>
        </p:nvPicPr>
        <p:blipFill>
          <a:blip r:embed="rId4"/>
          <a:stretch>
            <a:fillRect/>
          </a:stretch>
        </p:blipFill>
        <p:spPr>
          <a:xfrm>
            <a:off x="274865" y="1543690"/>
            <a:ext cx="3197961" cy="3770619"/>
          </a:xfrm>
          <a:prstGeom prst="rect">
            <a:avLst/>
          </a:prstGeom>
        </p:spPr>
      </p:pic>
    </p:spTree>
    <p:extLst>
      <p:ext uri="{BB962C8B-B14F-4D97-AF65-F5344CB8AC3E}">
        <p14:creationId xmlns:p14="http://schemas.microsoft.com/office/powerpoint/2010/main" val="1092715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472A14D2-15EB-BE4A-93F3-E3CA54CAFEF4}"/>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5" name="Picture 4" descr="A diagram of a security system&#10;&#10;AI-generated content may be incorrect.">
            <a:extLst>
              <a:ext uri="{FF2B5EF4-FFF2-40B4-BE49-F238E27FC236}">
                <a16:creationId xmlns:a16="http://schemas.microsoft.com/office/drawing/2014/main" id="{09B88BD6-7D1C-6F0E-D608-72AAECD76F64}"/>
              </a:ext>
            </a:extLst>
          </p:cNvPr>
          <p:cNvPicPr>
            <a:picLocks noChangeAspect="1"/>
          </p:cNvPicPr>
          <p:nvPr/>
        </p:nvPicPr>
        <p:blipFill>
          <a:blip r:embed="rId4"/>
          <a:stretch>
            <a:fillRect/>
          </a:stretch>
        </p:blipFill>
        <p:spPr>
          <a:xfrm>
            <a:off x="2693052" y="1543123"/>
            <a:ext cx="3019925" cy="3771186"/>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5F175B17-2548-4560-3671-B38775CC3B45}"/>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5" name="Picture 4" descr="A diagram of security options&#10;&#10;AI-generated content may be incorrect.">
            <a:extLst>
              <a:ext uri="{FF2B5EF4-FFF2-40B4-BE49-F238E27FC236}">
                <a16:creationId xmlns:a16="http://schemas.microsoft.com/office/drawing/2014/main" id="{AF8D00A3-316F-22A2-E1C0-A09A4272B176}"/>
              </a:ext>
            </a:extLst>
          </p:cNvPr>
          <p:cNvPicPr>
            <a:picLocks noChangeAspect="1"/>
          </p:cNvPicPr>
          <p:nvPr/>
        </p:nvPicPr>
        <p:blipFill>
          <a:blip r:embed="rId4"/>
          <a:stretch>
            <a:fillRect/>
          </a:stretch>
        </p:blipFill>
        <p:spPr>
          <a:xfrm>
            <a:off x="4888207" y="1543689"/>
            <a:ext cx="4031433" cy="3770619"/>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FFD8B6E-37C9-C610-8072-4A447D4CB93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894D278-0016-91EE-ADF1-C155A2D7795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83924966-6778-9940-D243-9D15FED9AFC2}"/>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5" name="Picture 4" descr="A diagram of a software security system&#10;&#10;AI-generated content may be incorrect.">
            <a:extLst>
              <a:ext uri="{FF2B5EF4-FFF2-40B4-BE49-F238E27FC236}">
                <a16:creationId xmlns:a16="http://schemas.microsoft.com/office/drawing/2014/main" id="{6DF2A48D-4E5B-8BA5-C093-5CE77889286E}"/>
              </a:ext>
            </a:extLst>
          </p:cNvPr>
          <p:cNvPicPr>
            <a:picLocks noChangeAspect="1"/>
          </p:cNvPicPr>
          <p:nvPr/>
        </p:nvPicPr>
        <p:blipFill>
          <a:blip r:embed="rId4"/>
          <a:stretch>
            <a:fillRect/>
          </a:stretch>
        </p:blipFill>
        <p:spPr>
          <a:xfrm>
            <a:off x="8129326" y="1543689"/>
            <a:ext cx="3807879" cy="3770620"/>
          </a:xfrm>
          <a:prstGeom prst="rect">
            <a:avLst/>
          </a:prstGeom>
        </p:spPr>
      </p:pic>
    </p:spTree>
    <p:extLst>
      <p:ext uri="{BB962C8B-B14F-4D97-AF65-F5344CB8AC3E}">
        <p14:creationId xmlns:p14="http://schemas.microsoft.com/office/powerpoint/2010/main" val="2919342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1AAD78-083E-F5D0-FECC-9701E0D25F2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4C6C7598-49A1-1872-26D9-76F2D153B6B9}"/>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Secure Settings Material</a:t>
            </a:r>
            <a:endParaRPr sz="6600" dirty="0"/>
          </a:p>
        </p:txBody>
      </p:sp>
    </p:spTree>
    <p:extLst>
      <p:ext uri="{BB962C8B-B14F-4D97-AF65-F5344CB8AC3E}">
        <p14:creationId xmlns:p14="http://schemas.microsoft.com/office/powerpoint/2010/main" val="1715810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descr="A document with text on it&#10;&#10;AI-generated content may be incorrect.">
            <a:extLst>
              <a:ext uri="{FF2B5EF4-FFF2-40B4-BE49-F238E27FC236}">
                <a16:creationId xmlns:a16="http://schemas.microsoft.com/office/drawing/2014/main" id="{9AF391E0-343E-BC1F-91F6-B2E02B18B081}"/>
              </a:ext>
            </a:extLst>
          </p:cNvPr>
          <p:cNvPicPr>
            <a:picLocks noChangeAspect="1"/>
          </p:cNvPicPr>
          <p:nvPr/>
        </p:nvPicPr>
        <p:blipFill>
          <a:blip r:embed="rId3"/>
          <a:stretch>
            <a:fillRect/>
          </a:stretch>
        </p:blipFill>
        <p:spPr>
          <a:xfrm>
            <a:off x="7650847" y="1239500"/>
            <a:ext cx="4082604"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Overview</a:t>
            </a:r>
          </a:p>
        </p:txBody>
      </p:sp>
      <p:pic>
        <p:nvPicPr>
          <p:cNvPr id="3" name="Picture 2" descr="A screenshot of a computer&#10;&#10;AI-generated content may be incorrect.">
            <a:extLst>
              <a:ext uri="{FF2B5EF4-FFF2-40B4-BE49-F238E27FC236}">
                <a16:creationId xmlns:a16="http://schemas.microsoft.com/office/drawing/2014/main" id="{601CEB04-A119-F7B5-5B2A-9DDB1D0F9C0F}"/>
              </a:ext>
            </a:extLst>
          </p:cNvPr>
          <p:cNvPicPr>
            <a:picLocks noChangeAspect="1"/>
          </p:cNvPicPr>
          <p:nvPr/>
        </p:nvPicPr>
        <p:blipFill>
          <a:blip r:embed="rId4"/>
          <a:stretch>
            <a:fillRect/>
          </a:stretch>
        </p:blipFill>
        <p:spPr>
          <a:xfrm>
            <a:off x="455374" y="1993108"/>
            <a:ext cx="6685929" cy="3764756"/>
          </a:xfrm>
          <a:prstGeom prst="rect">
            <a:avLst/>
          </a:prstGeom>
        </p:spPr>
      </p:pic>
    </p:spTree>
    <p:extLst>
      <p:ext uri="{BB962C8B-B14F-4D97-AF65-F5344CB8AC3E}">
        <p14:creationId xmlns:p14="http://schemas.microsoft.com/office/powerpoint/2010/main" val="2730175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A7A2EDF-E9F7-50F4-8705-BDEB40C7915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E28E5DD-CFB8-07C2-D954-1BCFE21CA807}"/>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75AAF9B6-0EA6-A0EE-9342-FDA84CF79422}"/>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Identify Options</a:t>
            </a:r>
          </a:p>
        </p:txBody>
      </p:sp>
      <p:pic>
        <p:nvPicPr>
          <p:cNvPr id="3" name="Picture 2">
            <a:extLst>
              <a:ext uri="{FF2B5EF4-FFF2-40B4-BE49-F238E27FC236}">
                <a16:creationId xmlns:a16="http://schemas.microsoft.com/office/drawing/2014/main" id="{6C309C2D-64AB-57BF-6AF8-E1BB585F7284}"/>
              </a:ext>
            </a:extLst>
          </p:cNvPr>
          <p:cNvPicPr>
            <a:picLocks noChangeAspect="1"/>
          </p:cNvPicPr>
          <p:nvPr/>
        </p:nvPicPr>
        <p:blipFill>
          <a:blip r:embed="rId4"/>
          <a:srcRect/>
          <a:stretch/>
        </p:blipFill>
        <p:spPr>
          <a:xfrm>
            <a:off x="455375" y="1993108"/>
            <a:ext cx="6685927" cy="3764756"/>
          </a:xfrm>
          <a:prstGeom prst="rect">
            <a:avLst/>
          </a:prstGeom>
        </p:spPr>
      </p:pic>
    </p:spTree>
    <p:extLst>
      <p:ext uri="{BB962C8B-B14F-4D97-AF65-F5344CB8AC3E}">
        <p14:creationId xmlns:p14="http://schemas.microsoft.com/office/powerpoint/2010/main" val="276128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94A0425-B2C9-2E32-F9C9-35575BE05FA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4CB76E6-0733-C1D1-B193-0ED26F86F74D}"/>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5B57FF0B-5C2F-C95B-B26A-4D023F8DDC17}"/>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Categorize Options</a:t>
            </a:r>
          </a:p>
        </p:txBody>
      </p:sp>
      <p:pic>
        <p:nvPicPr>
          <p:cNvPr id="3" name="Picture 2">
            <a:extLst>
              <a:ext uri="{FF2B5EF4-FFF2-40B4-BE49-F238E27FC236}">
                <a16:creationId xmlns:a16="http://schemas.microsoft.com/office/drawing/2014/main" id="{3B06F80A-84BA-B596-CA2B-D06C3FA73150}"/>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1186074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E066091-2D47-C253-071C-F736E30438B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D93EA06-0A3D-7514-3FF5-D63A14B14DD6}"/>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E78F395C-7422-9D9D-1CA0-87EFCDED3F9A}"/>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Select Options</a:t>
            </a:r>
          </a:p>
        </p:txBody>
      </p:sp>
      <p:pic>
        <p:nvPicPr>
          <p:cNvPr id="3" name="Picture 2">
            <a:extLst>
              <a:ext uri="{FF2B5EF4-FFF2-40B4-BE49-F238E27FC236}">
                <a16:creationId xmlns:a16="http://schemas.microsoft.com/office/drawing/2014/main" id="{112C07A0-966B-2B5A-8670-9F4E67CD6D97}"/>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3151183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43A064-487E-DDAB-2BAF-CB70B535CFC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CB7975A-2655-B07A-4EC7-F69B679DA670}"/>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AA5DDDF1-1C23-2C35-A25B-E355DA8D044C}"/>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Apply Options</a:t>
            </a:r>
          </a:p>
        </p:txBody>
      </p:sp>
      <p:pic>
        <p:nvPicPr>
          <p:cNvPr id="3" name="Picture 2">
            <a:extLst>
              <a:ext uri="{FF2B5EF4-FFF2-40B4-BE49-F238E27FC236}">
                <a16:creationId xmlns:a16="http://schemas.microsoft.com/office/drawing/2014/main" id="{540A8E96-1E97-C258-9BFF-5CB15A80E781}"/>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894309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Dynamic Analysis 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455618" y="1437554"/>
            <a:ext cx="2884444"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Execution Time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Footprint</a:t>
            </a:r>
          </a:p>
        </p:txBody>
      </p:sp>
    </p:spTree>
    <p:extLst>
      <p:ext uri="{BB962C8B-B14F-4D97-AF65-F5344CB8AC3E}">
        <p14:creationId xmlns:p14="http://schemas.microsoft.com/office/powerpoint/2010/main" val="1083501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324488" cy="2862322"/>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Select the options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Scope to the 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Update the build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 the settings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Keep cybersecurity relevancy in mind</a:t>
            </a:r>
          </a:p>
        </p:txBody>
      </p:sp>
    </p:spTree>
    <p:extLst>
      <p:ext uri="{BB962C8B-B14F-4D97-AF65-F5344CB8AC3E}">
        <p14:creationId xmlns:p14="http://schemas.microsoft.com/office/powerpoint/2010/main" val="170359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6310"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513986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Dynamic Analysis Report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Dynamic Analysis – Establish Settings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Identify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Categorize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Select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Apply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tool cybersecurity options template (AVCDL template)</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element-specific tool cybersecurity options template (AVCDL template)</a:t>
            </a:r>
          </a:p>
          <a:p>
            <a:pPr marL="0" indent="0">
              <a:spcBef>
                <a:spcPts val="1200"/>
              </a:spcBef>
            </a:pP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04196100-3210-8F6F-EB91-A22D494DD397}"/>
              </a:ext>
            </a:extLst>
          </p:cNvPr>
          <p:cNvSpPr txBox="1"/>
          <p:nvPr/>
        </p:nvSpPr>
        <p:spPr>
          <a:xfrm>
            <a:off x="11913079" y="5089585"/>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57400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BF51FD20-5E44-1096-92AD-A694134C77F0}"/>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2CDA8FD7-8E5D-9D23-F17E-089B0DC94CDC}"/>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CA327BB5-2B6F-DC45-6F06-8EDF4E981DDD}"/>
              </a:ext>
            </a:extLst>
          </p:cNvPr>
          <p:cNvSpPr txBox="1">
            <a:spLocks/>
          </p:cNvSpPr>
          <p:nvPr/>
        </p:nvSpPr>
        <p:spPr>
          <a:xfrm>
            <a:off x="455615" y="1146448"/>
            <a:ext cx="11277592" cy="329320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sz="1800" b="1" dirty="0">
                <a:latin typeface="Roboto" panose="02000000000000000000" pitchFamily="2" charset="0"/>
                <a:ea typeface="Roboto" panose="02000000000000000000" pitchFamily="2" charset="0"/>
                <a:cs typeface="Roboto" panose="02000000000000000000" pitchFamily="2" charset="0"/>
              </a:rPr>
              <a:t>Address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https://clang.llvm.org/docs/AddressSanitizer.html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Thread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https://clang.llvm.org/docs/ThreadSanitizer.html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Memory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5"/>
              </a:rPr>
              <a:t>https://clang.llvm.org/docs/MemorySanitizer.html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Leak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6"/>
              </a:rPr>
              <a:t>https://clang.llvm.org/docs/LeakSanitizer.html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Undefined Behavior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7"/>
              </a:rPr>
              <a:t>https://clang.llvm.org/docs/UndefinedBehaviorSanitizer.html</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881796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366437</TotalTime>
  <Words>1859</Words>
  <Application>Microsoft Macintosh PowerPoint</Application>
  <PresentationFormat>Custom</PresentationFormat>
  <Paragraphs>383</Paragraphs>
  <Slides>27</Slides>
  <Notes>27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Roboto</vt:lpstr>
      <vt:lpstr>Arial</vt:lpstr>
      <vt:lpstr>Calibri</vt:lpstr>
      <vt:lpstr>Courier New</vt:lpstr>
      <vt:lpstr>Roboto Medium</vt:lpstr>
      <vt:lpstr>Simple Light</vt:lpstr>
      <vt:lpstr>Motional Masters</vt:lpstr>
      <vt:lpstr>Motional Masters</vt:lpstr>
      <vt:lpstr>Dynamic Analysis – Establish Settings</vt:lpstr>
      <vt:lpstr>Training Path</vt:lpstr>
      <vt:lpstr>Introduction</vt:lpstr>
      <vt:lpstr>Dynamic Analysis Process</vt:lpstr>
      <vt:lpstr>Dynamic Analysis Process</vt:lpstr>
      <vt:lpstr>Establish Settings Activity</vt:lpstr>
      <vt:lpstr>Secure Settings Process</vt:lpstr>
      <vt:lpstr>Secure Settings Process</vt:lpstr>
      <vt:lpstr>Secure Settings Process</vt:lpstr>
      <vt:lpstr>Secure Settings Process</vt:lpstr>
      <vt:lpstr>Secure Settings Process</vt:lpstr>
      <vt:lpstr>Secure Settings Material</vt:lpstr>
      <vt:lpstr>Secure Settings - Overview</vt:lpstr>
      <vt:lpstr>Secure Settings – Identify Options</vt:lpstr>
      <vt:lpstr>Secure Settings – Categorize Options</vt:lpstr>
      <vt:lpstr>Secure Settings – Select Options</vt:lpstr>
      <vt:lpstr>Secure Settings – Apply Options</vt:lpstr>
      <vt:lpstr>Dynamic Analysis Considerations</vt:lpstr>
      <vt:lpstr>Considerations</vt:lpstr>
      <vt:lpstr>Recap</vt:lpstr>
      <vt:lpstr>Summary</vt:lpstr>
      <vt:lpstr>Further Reading</vt:lpstr>
      <vt:lpstr>AVCDL on GitHub</vt:lpstr>
      <vt:lpstr>AVCDL on YouTube</vt:lpstr>
      <vt:lpstr>Next Steps</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Analysis - Establish Settings (training)</dc:title>
  <dc:subject>dynamic analysis settings establishment</dc:subject>
  <dc:creator>Charles Wilson</dc:creator>
  <cp:keywords>cybersecurity, dynamic analysis</cp:keywords>
  <dc:description>This work was created by Torc Robotics and is licensed under the Creative Commons Attribution-Share Alike (CC BY-SA-4.0) License.
https://creativecommons.org/licenses/by/4.0/legalcode 
</dc:description>
  <cp:lastModifiedBy>Charles Wilson</cp:lastModifiedBy>
  <cp:revision>596</cp:revision>
  <cp:lastPrinted>2025-07-24T18:37:57Z</cp:lastPrinted>
  <dcterms:modified xsi:type="dcterms:W3CDTF">2025-10-09T12:57:55Z</dcterms:modified>
  <cp:category>dynamic analysis</cp:category>
</cp:coreProperties>
</file>