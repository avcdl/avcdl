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0" r:id="rId1"/>
    <p:sldMasterId id="2147483791" r:id="rId2"/>
    <p:sldMasterId id="2147483792" r:id="rId3"/>
  </p:sldMasterIdLst>
  <p:notesMasterIdLst>
    <p:notesMasterId r:id="rId21"/>
  </p:notesMasterIdLst>
  <p:sldIdLst>
    <p:sldId id="256" r:id="rId4"/>
    <p:sldId id="306" r:id="rId5"/>
    <p:sldId id="648" r:id="rId6"/>
    <p:sldId id="607" r:id="rId7"/>
    <p:sldId id="661" r:id="rId8"/>
    <p:sldId id="641" r:id="rId9"/>
    <p:sldId id="662" r:id="rId10"/>
    <p:sldId id="587" r:id="rId11"/>
    <p:sldId id="652" r:id="rId12"/>
    <p:sldId id="603" r:id="rId13"/>
    <p:sldId id="488" r:id="rId14"/>
    <p:sldId id="604" r:id="rId15"/>
    <p:sldId id="343" r:id="rId16"/>
    <p:sldId id="606" r:id="rId17"/>
    <p:sldId id="461" r:id="rId18"/>
    <p:sldId id="420" r:id="rId19"/>
    <p:sldId id="368" r:id="rId20"/>
  </p:sldIdLst>
  <p:sldSz cx="12188825" cy="6858000"/>
  <p:notesSz cx="6858000" cy="9144000"/>
  <p:embeddedFontLst>
    <p:embeddedFont>
      <p:font typeface="Roboto" panose="02000000000000000000" pitchFamily="2" charset="0"/>
      <p:regular r:id="rId22"/>
      <p:bold r:id="rId23"/>
      <p:italic r:id="rId24"/>
      <p:boldItalic r:id="rId25"/>
    </p:embeddedFont>
    <p:embeddedFont>
      <p:font typeface="Roboto Medium" panose="020000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guide id="3" orient="horz" pos="394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DE354"/>
    <a:srgbClr val="FFFAB2"/>
    <a:srgbClr val="E38194"/>
    <a:srgbClr val="A7E3B3"/>
    <a:srgbClr val="CCFFCC"/>
    <a:srgbClr val="FFFFFF"/>
    <a:srgbClr val="FFC161"/>
    <a:srgbClr val="FFE6CC"/>
    <a:srgbClr val="FFF2CC"/>
    <a:srgbClr val="FDFF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1F375-83D2-49B6-B6D9-1E75FAB2CD22}">
  <a:tblStyle styleId="{F9A1F375-83D2-49B6-B6D9-1E75FAB2CD2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09"/>
    <p:restoredTop sz="94007"/>
  </p:normalViewPr>
  <p:slideViewPr>
    <p:cSldViewPr snapToGrid="0">
      <p:cViewPr varScale="1">
        <p:scale>
          <a:sx n="127" d="100"/>
          <a:sy n="127" d="100"/>
        </p:scale>
        <p:origin x="688" y="184"/>
      </p:cViewPr>
      <p:guideLst>
        <p:guide orient="horz" pos="2160"/>
        <p:guide pos="3839"/>
        <p:guide orient="horz" pos="3945"/>
      </p:guideLst>
    </p:cSldViewPr>
  </p:slideViewPr>
  <p:outlineViewPr>
    <p:cViewPr>
      <p:scale>
        <a:sx n="33" d="100"/>
        <a:sy n="33" d="100"/>
      </p:scale>
      <p:origin x="0" y="0"/>
    </p:cViewPr>
  </p:outlineViewPr>
  <p:notesTextViewPr>
    <p:cViewPr>
      <p:scale>
        <a:sx n="1" d="1"/>
        <a:sy n="1" d="1"/>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5.fntdata"/><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3.fntdata"/><Relationship Id="rId32"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presProps" Target="presProps.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8f58836269_9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I'm Charles Wilson, staff product cybersecurity architect at Torc Robotics.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0" i="0" dirty="0">
              <a:solidFill>
                <a:srgbClr val="000000"/>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This presentation will cover the </a:t>
            </a:r>
            <a:r>
              <a:rPr lang="en-US" sz="1400" b="1" dirty="0"/>
              <a:t>Deprecated Functions – Incorporate Scan </a:t>
            </a:r>
            <a:r>
              <a:rPr lang="en-US" sz="1400" b="0" i="0" dirty="0">
                <a:solidFill>
                  <a:srgbClr val="000000"/>
                </a:solidFill>
                <a:effectLst/>
                <a:latin typeface="Calibri" panose="020F0502020204030204" pitchFamily="34" charset="0"/>
                <a:cs typeface="Calibri" panose="020F0502020204030204" pitchFamily="34" charset="0"/>
              </a:rPr>
              <a:t>activity.</a:t>
            </a:r>
            <a:endParaRPr lang="en-US" sz="1400" dirty="0">
              <a:latin typeface="Calibri" panose="020F0502020204030204" pitchFamily="34" charset="0"/>
              <a:cs typeface="Calibri" panose="020F0502020204030204" pitchFamily="34" charset="0"/>
            </a:endParaRPr>
          </a:p>
        </p:txBody>
      </p:sp>
      <p:sp>
        <p:nvSpPr>
          <p:cNvPr id="871" name="Google Shape;871;g8f58836269_9_4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diagram shows the overall AVCDL training path.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taking this training, it's assumed that you've already completed the </a:t>
            </a:r>
            <a:r>
              <a:rPr lang="en-US" sz="1400" b="1" dirty="0">
                <a:latin typeface="Calibri" panose="020F0502020204030204" pitchFamily="34" charset="0"/>
                <a:cs typeface="Calibri" panose="020F0502020204030204" pitchFamily="34" charset="0"/>
              </a:rPr>
              <a:t>AVCDL Overview </a:t>
            </a:r>
            <a:r>
              <a:rPr lang="en-US" sz="1400" dirty="0">
                <a:latin typeface="Calibri" panose="020F0502020204030204" pitchFamily="34" charset="0"/>
                <a:cs typeface="Calibri" panose="020F0502020204030204" pitchFamily="34" charset="0"/>
              </a:rPr>
              <a:t>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additionally, that you've completed the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Requirements Taxonomy</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Security Requirements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Design Principles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Apply Secure Design</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Settings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Deprecated Functions Overview</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Deprecated Function - Identify Functions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trainings.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training will cover </a:t>
            </a:r>
            <a:r>
              <a:rPr lang="en-US" sz="1400" b="1" dirty="0"/>
              <a:t>Deprecated Function Scanning Incorporation</a:t>
            </a:r>
            <a:r>
              <a:rPr lang="en-US" sz="1400"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05385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F06D203-A8E8-7236-860C-C2C7FAB30A5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6A9F786-C5EE-EC56-1F8E-7F9B2F273B7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C9B21B32-2591-BA66-7082-FA1FCE2708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t>Before getting into scan incorporation, let's briefly review where it fits, in the overall deprecated functions process.</a:t>
            </a:r>
          </a:p>
        </p:txBody>
      </p:sp>
    </p:spTree>
    <p:extLst>
      <p:ext uri="{BB962C8B-B14F-4D97-AF65-F5344CB8AC3E}">
        <p14:creationId xmlns:p14="http://schemas.microsoft.com/office/powerpoint/2010/main" val="1448404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A0CBB7C-EB38-2CB6-0D13-D11B58B73E2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8E2732D-D8D0-D624-9008-FEDFF57093F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9DF1504-5183-61AF-1001-6C7C554957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Here's the deprecated functions process which we previously covered in the </a:t>
            </a:r>
            <a:r>
              <a:rPr lang="en-US" sz="1400" b="1" dirty="0">
                <a:solidFill>
                  <a:srgbClr val="1D1C1D"/>
                </a:solidFill>
                <a:effectLst/>
                <a:latin typeface="Calibri" panose="020F0502020204030204" pitchFamily="34" charset="0"/>
                <a:cs typeface="Calibri" panose="020F0502020204030204" pitchFamily="34" charset="0"/>
              </a:rPr>
              <a:t>Deprecated Functions Overview</a:t>
            </a:r>
            <a:r>
              <a:rPr lang="en-US" sz="1400" b="0" dirty="0">
                <a:solidFill>
                  <a:srgbClr val="1D1C1D"/>
                </a:solidFill>
                <a:effectLst/>
                <a:latin typeface="Calibri" panose="020F0502020204030204" pitchFamily="34" charset="0"/>
                <a:cs typeface="Calibri" panose="020F0502020204030204" pitchFamily="34" charset="0"/>
              </a:rPr>
              <a:t> training</a:t>
            </a:r>
            <a:r>
              <a:rPr lang="en-US" sz="1400" dirty="0">
                <a:solidFill>
                  <a:srgbClr val="1D1C1D"/>
                </a:solidFill>
                <a:effectLst/>
                <a:latin typeface="Calibri" panose="020F0502020204030204" pitchFamily="34" charset="0"/>
                <a:cs typeface="Calibri" panose="020F0502020204030204" pitchFamily="34" charset="0"/>
              </a:rPr>
              <a: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Our focus for this training is going to be on the second activity, that of scanning incorporation.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0235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D51A33E-06FF-3D03-0B92-BC97B55BC05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E4DF951-FA6F-14AC-4EB9-D2600A1EF83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38A95004-5458-9910-0BA4-9BE4650902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Here's the deprecated functions process which we previously covered in the </a:t>
            </a:r>
            <a:r>
              <a:rPr lang="en-US" sz="1400" b="1" strike="sngStrike" dirty="0">
                <a:solidFill>
                  <a:srgbClr val="1D1C1D"/>
                </a:solidFill>
                <a:effectLst/>
                <a:latin typeface="Calibri" panose="020F0502020204030204" pitchFamily="34" charset="0"/>
                <a:cs typeface="Calibri" panose="020F0502020204030204" pitchFamily="34" charset="0"/>
              </a:rPr>
              <a:t>Deprecated Functions Overview</a:t>
            </a:r>
            <a:r>
              <a:rPr lang="en-US" sz="1400" b="0" strike="sngStrike" dirty="0">
                <a:solidFill>
                  <a:srgbClr val="1D1C1D"/>
                </a:solidFill>
                <a:effectLst/>
                <a:latin typeface="Calibri" panose="020F0502020204030204" pitchFamily="34" charset="0"/>
                <a:cs typeface="Calibri" panose="020F0502020204030204" pitchFamily="34" charset="0"/>
              </a:rPr>
              <a:t> training</a:t>
            </a:r>
            <a:r>
              <a:rPr lang="en-US" sz="1400" strike="sngStrike" dirty="0">
                <a:solidFill>
                  <a:srgbClr val="1D1C1D"/>
                </a:solidFill>
                <a:effectLst/>
                <a:latin typeface="Calibri" panose="020F0502020204030204" pitchFamily="34" charset="0"/>
                <a:cs typeface="Calibri" panose="020F0502020204030204" pitchFamily="34" charset="0"/>
              </a:rPr>
              <a: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Our focus for this training is going to be on the second activity, that of scanning incorporation.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064414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D7242B09-60CB-093C-3665-0BE0CBF28CD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5CE8B22D-FCE0-EE21-395B-818BE302EE8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2BA6D2E-FA08-FBD1-5F48-24D2104786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the incorporate scan activity,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DevOps SME takes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deprecated function list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element to be scanned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the build file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makes the changes necessary to the build file to enable scanning.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results in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 updated build file.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the build settings are changed, an updated build settings report is generated. 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 are a few important points to consider when it comes to how the scan is actually incorporated for a particular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First is the embodiment of the deprecated function information.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the previous training on function identification, this information was compiled using the AVCDL deprecated functions catalog template.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was noted that the information could be embodied as a database.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 keep in mind that the source of the information the DevOps SME has to work with is not guaranteed to have a particular embodiment.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Second, when updating the build file, you're doing so based on a particular element, not globally.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avoids excessive scanning in areas which are not of interest.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Third, as with all build process changes, it's important to consider the impact that the addition of the deprecated function scanning has on the build process itself.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Although, it's not anticipated that the scan is going to be time and resource intensive, at scale it may well be.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so, it's important to pre-flight the scan to determine what impact it has and adjust the build timing accordingly.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Treatment of the updated build settings report are covered in the Secure Settings process documented in the Secure Settings Document AVCDL secondary document, with additional detail provided in the Secure Settings Apply Options Procedure, AVCDL tertiary document, and their associated trainings.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564395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4400FB3-94A3-6008-6589-78F78B09C9D7}"/>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4806A78-F0DB-6E0A-F496-6F316A98E11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A4DE098A-B348-1F77-B125-8FDA69ECBA3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let's consider the scanning tool.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There's no single way that deprecated function scanning can be accomplished.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you have a static analyzer or other tool capable of ingesting a list of deprecated functions and applying it against a specific element, that's great.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you write a shell script to perform the same function, that works too.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all a matter of what the organization has made available to accomplish this task.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scanning tool should be able to: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ingest the deprecated function information generated in the Identify Functions activity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avoid foreseeable false positive scenarios such as names in string and comments, or those which are class member functions.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of course, the tool needs to be able to output issues.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output should include: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location of the deprecated function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if the tool is capable of doing so, it should provide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description with the reason for deprecation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recommended replacement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a reference to the source of the deprecation.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33943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8FD66C0-793C-F9A4-A606-EDD3A393E0E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14B8548-806F-0E39-C5B0-26B8B85FB94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F0F8DC3E-D083-751D-859F-34874F8B36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have a look at some typical data that we'd be using to performing the scan in order to motivate the scan incorporation activity.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We'll be using the deprecated functions C++ on Linux workbook, based on the AVCDL template that was covered in the previous training on identifying functions.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3731134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1145D979-1C5F-37E3-1D5C-814139BBE76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83790EAB-DFC1-3EFF-1474-701F638CD45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7B157C44-40FD-E86B-4AEC-DDE7F3489E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mentioned, we’ll be using the C++ on Linux deprecated functions workbook that was used in the identify functions training.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Here’s the deprecated formatting functions sheets from the workbook.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have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an ID</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the function itself</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the header it comes from</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the reason for deprecation</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a suggested replacement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a notes column.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notes column provides pointers back to</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references which we see here, and those references include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the name of the reference</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its description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where it can be found.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When performing the scanning operation, minimally, we minimally require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deprecated function.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we can see from this list that this family of functions.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Their names are virtually identical.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important if you're approaching this using manual scripting, that you take this into consideration.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Because the last thing you want is to see is,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SCANF (DFF-00), show up as being a flagged function for all of</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SCANF family of functions.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Similarly, with SPRINTF</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SNPRINTF.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 don’t consider this sub-string effect, you're going to just have an unwieldy number of false positives.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Beyond identifying deprecated function, it would be nice to know why the function is deprecated, and what the suggested replacement is.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one could get all sorts of fancy in terms of reporting the suggested replacement when you have a particular version of the language that you're considering.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our example, we have replacements that require C++20, C++17, and C++11.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That implies much more sophisticated tooling in order to only report the applicable replacements.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Additionally, having a reference to the particular sources is also useful.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we can see here, the location information provide are URLs.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if that's the case for all the ones that you have, then the tool can go to the notes, look up the particular entry and emit the location into the output.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524378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9D6BA4B-F2CC-7456-C563-FCAAFF596B9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B19F7-EB23-2069-BFF3-F3B32545E2D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E83C649-D857-D4E3-D095-345CF4203E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That covers deprecated function scan incorporation.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Let’s review some of the high points.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145680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 covers deprecated scan incorporation.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Let's review some of the high points.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Summary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First, select the scanner.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may be an existing tool such as a static analyzer, or other off-the-shelf utility.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Alternately, you can create a custom script to perform this activity.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Next, consider false positive scenarios.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especially important if you create a custom script.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using a pre-existing scanner, make sure that it accurately identifies the deprecated functions uniquely.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Next, apply the secure settings process if that's appropriate.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Remember that it’s this process which generates the updated build settings report.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whenever the build is being augmented,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you need to verify that the build will still work within the parameters of the CI/CD system.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41265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28F27A6-95D0-8BD3-DD17-CD0D4A4F1FF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52F5154-86A2-702B-FF05-17F9B520AAE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366F3774-A91B-199C-AA24-BBC1027CA1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materials that were used to cover this example are in the location shown here.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important to note that the workbook includes all the sheets covered in this 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119421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additional information and to get a more in-depth set of references,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Deprecated Functions Incorporate Scan Procedure tertiary document 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Secure Settings Apply Options Procedure tertiary document are both available in the AVCDL GitHub repository.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780262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a:t>
            </a:r>
            <a:r>
              <a:rPr lang="en-US" sz="1400" dirty="0">
                <a:effectLst/>
                <a:latin typeface="Calibri" panose="020F0502020204030204" pitchFamily="34" charset="0"/>
                <a:ea typeface="Calibri" panose="020F0502020204030204" pitchFamily="34" charset="0"/>
                <a:cs typeface="Calibri" panose="020F0502020204030204" pitchFamily="34" charset="0"/>
              </a:rPr>
              <a:t>AVCDL materials, both in source and distribution forms, are available on our GitHub site, as shown here.</a:t>
            </a:r>
          </a:p>
          <a:p>
            <a:pPr marL="0" marR="0" indent="0" algn="just">
              <a:spcBef>
                <a:spcPts val="0"/>
              </a:spcBef>
              <a:spcAft>
                <a:spcPts val="12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Instructions for downloading a ZIP archive are linked to on the repository’s front page.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19874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Videos covering various aspects of the AVCDL are available on our YouTube channel, as shown here.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that all AVCDL materials with the exception of the introductory blog posts are intended for product cybersecurity engineering practitioners.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061892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With this training complete</a:t>
            </a:r>
            <a:r>
              <a:rPr lang="en-US" sz="1400" dirty="0"/>
              <a:t>, if you’ve completed the other trainings covering the </a:t>
            </a:r>
            <a:r>
              <a:rPr lang="en-US" sz="1400" b="1" dirty="0"/>
              <a:t>Deprecated Functions </a:t>
            </a:r>
            <a:r>
              <a:rPr lang="en-US" sz="1400" dirty="0"/>
              <a:t>process activities,  you can proceed to the other trainings at this level, these include:</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Code Reuse</a:t>
            </a:r>
          </a:p>
          <a:p>
            <a:pPr marL="0" marR="0" indent="0" algn="just">
              <a:spcBef>
                <a:spcPts val="0"/>
              </a:spcBef>
              <a:spcAft>
                <a:spcPts val="1200"/>
              </a:spcAft>
              <a:buNone/>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Secure Coding</a:t>
            </a:r>
          </a:p>
        </p:txBody>
      </p:sp>
    </p:spTree>
    <p:extLst>
      <p:ext uri="{BB962C8B-B14F-4D97-AF65-F5344CB8AC3E}">
        <p14:creationId xmlns:p14="http://schemas.microsoft.com/office/powerpoint/2010/main" val="37017396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are the references to the source material used in the creation of this presentation.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6772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507" y="992767"/>
            <a:ext cx="11358000" cy="27369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1" name="Google Shape;11;p2"/>
          <p:cNvSpPr txBox="1">
            <a:spLocks noGrp="1"/>
          </p:cNvSpPr>
          <p:nvPr>
            <p:ph type="subTitle" idx="1"/>
          </p:nvPr>
        </p:nvSpPr>
        <p:spPr>
          <a:xfrm>
            <a:off x="415496" y="3778833"/>
            <a:ext cx="11358000" cy="10569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2" name="Google Shape;12;p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496" y="2867800"/>
            <a:ext cx="11358000" cy="1122300"/>
          </a:xfrm>
          <a:prstGeom prst="rect">
            <a:avLst/>
          </a:prstGeom>
        </p:spPr>
        <p:txBody>
          <a:bodyPr spcFirstLastPara="1" wrap="square" lIns="121875" tIns="121875" rIns="121875" bIns="12187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3"/>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8" name="Google Shape;18;p4"/>
          <p:cNvSpPr txBox="1">
            <a:spLocks noGrp="1"/>
          </p:cNvSpPr>
          <p:nvPr>
            <p:ph type="body" idx="1"/>
          </p:nvPr>
        </p:nvSpPr>
        <p:spPr>
          <a:xfrm>
            <a:off x="415496" y="1536633"/>
            <a:ext cx="11358000" cy="4555200"/>
          </a:xfrm>
          <a:prstGeom prst="rect">
            <a:avLst/>
          </a:prstGeom>
        </p:spPr>
        <p:txBody>
          <a:bodyPr spcFirstLastPara="1" wrap="square" lIns="121875" tIns="121875" rIns="121875" bIns="121875" anchor="t"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19" name="Google Shape;19;p4"/>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p5"/>
          <p:cNvSpPr txBox="1">
            <a:spLocks noGrp="1"/>
          </p:cNvSpPr>
          <p:nvPr>
            <p:ph type="body" idx="1"/>
          </p:nvPr>
        </p:nvSpPr>
        <p:spPr>
          <a:xfrm>
            <a:off x="415497"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3" name="Google Shape;23;p5"/>
          <p:cNvSpPr txBox="1">
            <a:spLocks noGrp="1"/>
          </p:cNvSpPr>
          <p:nvPr>
            <p:ph type="body" idx="2"/>
          </p:nvPr>
        </p:nvSpPr>
        <p:spPr>
          <a:xfrm>
            <a:off x="6441588"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4" name="Google Shape;24;p5"/>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7" name="Google Shape;27;p6"/>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496" y="740800"/>
            <a:ext cx="3743100" cy="1007700"/>
          </a:xfrm>
          <a:prstGeom prst="rect">
            <a:avLst/>
          </a:prstGeom>
        </p:spPr>
        <p:txBody>
          <a:bodyPr spcFirstLastPara="1" wrap="square" lIns="121875" tIns="121875" rIns="121875" bIns="121875" anchor="b" anchorCtr="0">
            <a:noAutofit/>
          </a:bodyPr>
          <a:lstStyle>
            <a:lvl1pPr lvl="0">
              <a:spcBef>
                <a:spcPts val="0"/>
              </a:spcBef>
              <a:spcAft>
                <a:spcPts val="0"/>
              </a:spcAft>
              <a:buSzPts val="3200"/>
              <a:buNone/>
              <a:defRPr sz="3201"/>
            </a:lvl1pPr>
            <a:lvl2pPr lvl="1">
              <a:spcBef>
                <a:spcPts val="0"/>
              </a:spcBef>
              <a:spcAft>
                <a:spcPts val="0"/>
              </a:spcAft>
              <a:buSzPts val="3200"/>
              <a:buNone/>
              <a:defRPr sz="3201"/>
            </a:lvl2pPr>
            <a:lvl3pPr lvl="2">
              <a:spcBef>
                <a:spcPts val="0"/>
              </a:spcBef>
              <a:spcAft>
                <a:spcPts val="0"/>
              </a:spcAft>
              <a:buSzPts val="3200"/>
              <a:buNone/>
              <a:defRPr sz="3201"/>
            </a:lvl3pPr>
            <a:lvl4pPr lvl="3">
              <a:spcBef>
                <a:spcPts val="0"/>
              </a:spcBef>
              <a:spcAft>
                <a:spcPts val="0"/>
              </a:spcAft>
              <a:buSzPts val="3200"/>
              <a:buNone/>
              <a:defRPr sz="3201"/>
            </a:lvl4pPr>
            <a:lvl5pPr lvl="4">
              <a:spcBef>
                <a:spcPts val="0"/>
              </a:spcBef>
              <a:spcAft>
                <a:spcPts val="0"/>
              </a:spcAft>
              <a:buSzPts val="3200"/>
              <a:buNone/>
              <a:defRPr sz="3201"/>
            </a:lvl5pPr>
            <a:lvl6pPr lvl="5">
              <a:spcBef>
                <a:spcPts val="0"/>
              </a:spcBef>
              <a:spcAft>
                <a:spcPts val="0"/>
              </a:spcAft>
              <a:buSzPts val="3200"/>
              <a:buNone/>
              <a:defRPr sz="3201"/>
            </a:lvl6pPr>
            <a:lvl7pPr lvl="6">
              <a:spcBef>
                <a:spcPts val="0"/>
              </a:spcBef>
              <a:spcAft>
                <a:spcPts val="0"/>
              </a:spcAft>
              <a:buSzPts val="3200"/>
              <a:buNone/>
              <a:defRPr sz="3201"/>
            </a:lvl7pPr>
            <a:lvl8pPr lvl="7">
              <a:spcBef>
                <a:spcPts val="0"/>
              </a:spcBef>
              <a:spcAft>
                <a:spcPts val="0"/>
              </a:spcAft>
              <a:buSzPts val="3200"/>
              <a:buNone/>
              <a:defRPr sz="3201"/>
            </a:lvl8pPr>
            <a:lvl9pPr lvl="8">
              <a:spcBef>
                <a:spcPts val="0"/>
              </a:spcBef>
              <a:spcAft>
                <a:spcPts val="0"/>
              </a:spcAft>
              <a:buSzPts val="3200"/>
              <a:buNone/>
              <a:defRPr sz="3201"/>
            </a:lvl9pPr>
          </a:lstStyle>
          <a:p>
            <a:endParaRPr/>
          </a:p>
        </p:txBody>
      </p:sp>
      <p:sp>
        <p:nvSpPr>
          <p:cNvPr id="30" name="Google Shape;30;p7"/>
          <p:cNvSpPr txBox="1">
            <a:spLocks noGrp="1"/>
          </p:cNvSpPr>
          <p:nvPr>
            <p:ph type="body" idx="1"/>
          </p:nvPr>
        </p:nvSpPr>
        <p:spPr>
          <a:xfrm>
            <a:off x="415496" y="1852800"/>
            <a:ext cx="3743100" cy="4239300"/>
          </a:xfrm>
          <a:prstGeom prst="rect">
            <a:avLst/>
          </a:prstGeom>
        </p:spPr>
        <p:txBody>
          <a:bodyPr spcFirstLastPara="1" wrap="square" lIns="121875" tIns="121875" rIns="121875" bIns="121875" anchor="t" anchorCtr="0">
            <a:noAutofit/>
          </a:bodyPr>
          <a:lstStyle>
            <a:lvl1pPr marL="457207" lvl="0" indent="-330205">
              <a:spcBef>
                <a:spcPts val="0"/>
              </a:spcBef>
              <a:spcAft>
                <a:spcPts val="0"/>
              </a:spcAft>
              <a:buSzPts val="1600"/>
              <a:buChar char="●"/>
              <a:defRPr sz="16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31" name="Google Shape;31;p7"/>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503" y="600200"/>
            <a:ext cx="8488200" cy="5454300"/>
          </a:xfrm>
          <a:prstGeom prst="rect">
            <a:avLst/>
          </a:prstGeom>
        </p:spPr>
        <p:txBody>
          <a:bodyPr spcFirstLastPara="1" wrap="square" lIns="121875" tIns="121875" rIns="121875" bIns="121875" anchor="ctr" anchorCtr="0">
            <a:no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4" name="Google Shape;34;p8"/>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400"/>
          </a:p>
        </p:txBody>
      </p:sp>
      <p:sp>
        <p:nvSpPr>
          <p:cNvPr id="37" name="Google Shape;37;p9"/>
          <p:cNvSpPr txBox="1">
            <a:spLocks noGrp="1"/>
          </p:cNvSpPr>
          <p:nvPr>
            <p:ph type="title"/>
          </p:nvPr>
        </p:nvSpPr>
        <p:spPr>
          <a:xfrm>
            <a:off x="353913" y="1644233"/>
            <a:ext cx="5392199" cy="19764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38" name="Google Shape;38;p9"/>
          <p:cNvSpPr txBox="1">
            <a:spLocks noGrp="1"/>
          </p:cNvSpPr>
          <p:nvPr>
            <p:ph type="subTitle" idx="1"/>
          </p:nvPr>
        </p:nvSpPr>
        <p:spPr>
          <a:xfrm>
            <a:off x="353913" y="3737433"/>
            <a:ext cx="5392199" cy="16467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2800"/>
              <a:buNone/>
              <a:defRPr sz="2801"/>
            </a:lvl1pPr>
            <a:lvl2pPr lvl="1" algn="ctr">
              <a:lnSpc>
                <a:spcPct val="100000"/>
              </a:lnSpc>
              <a:spcBef>
                <a:spcPts val="0"/>
              </a:spcBef>
              <a:spcAft>
                <a:spcPts val="0"/>
              </a:spcAft>
              <a:buSzPts val="2800"/>
              <a:buNone/>
              <a:defRPr sz="2801"/>
            </a:lvl2pPr>
            <a:lvl3pPr lvl="2" algn="ctr">
              <a:lnSpc>
                <a:spcPct val="100000"/>
              </a:lnSpc>
              <a:spcBef>
                <a:spcPts val="0"/>
              </a:spcBef>
              <a:spcAft>
                <a:spcPts val="0"/>
              </a:spcAft>
              <a:buSzPts val="2800"/>
              <a:buNone/>
              <a:defRPr sz="2801"/>
            </a:lvl3pPr>
            <a:lvl4pPr lvl="3" algn="ctr">
              <a:lnSpc>
                <a:spcPct val="100000"/>
              </a:lnSpc>
              <a:spcBef>
                <a:spcPts val="0"/>
              </a:spcBef>
              <a:spcAft>
                <a:spcPts val="0"/>
              </a:spcAft>
              <a:buSzPts val="2800"/>
              <a:buNone/>
              <a:defRPr sz="2801"/>
            </a:lvl4pPr>
            <a:lvl5pPr lvl="4" algn="ctr">
              <a:lnSpc>
                <a:spcPct val="100000"/>
              </a:lnSpc>
              <a:spcBef>
                <a:spcPts val="0"/>
              </a:spcBef>
              <a:spcAft>
                <a:spcPts val="0"/>
              </a:spcAft>
              <a:buSzPts val="2800"/>
              <a:buNone/>
              <a:defRPr sz="2801"/>
            </a:lvl5pPr>
            <a:lvl6pPr lvl="5" algn="ctr">
              <a:lnSpc>
                <a:spcPct val="100000"/>
              </a:lnSpc>
              <a:spcBef>
                <a:spcPts val="0"/>
              </a:spcBef>
              <a:spcAft>
                <a:spcPts val="0"/>
              </a:spcAft>
              <a:buSzPts val="2800"/>
              <a:buNone/>
              <a:defRPr sz="2801"/>
            </a:lvl6pPr>
            <a:lvl7pPr lvl="6" algn="ctr">
              <a:lnSpc>
                <a:spcPct val="100000"/>
              </a:lnSpc>
              <a:spcBef>
                <a:spcPts val="0"/>
              </a:spcBef>
              <a:spcAft>
                <a:spcPts val="0"/>
              </a:spcAft>
              <a:buSzPts val="2800"/>
              <a:buNone/>
              <a:defRPr sz="2801"/>
            </a:lvl7pPr>
            <a:lvl8pPr lvl="7" algn="ctr">
              <a:lnSpc>
                <a:spcPct val="100000"/>
              </a:lnSpc>
              <a:spcBef>
                <a:spcPts val="0"/>
              </a:spcBef>
              <a:spcAft>
                <a:spcPts val="0"/>
              </a:spcAft>
              <a:buSzPts val="2800"/>
              <a:buNone/>
              <a:defRPr sz="2801"/>
            </a:lvl8pPr>
            <a:lvl9pPr lvl="8" algn="ctr">
              <a:lnSpc>
                <a:spcPct val="100000"/>
              </a:lnSpc>
              <a:spcBef>
                <a:spcPts val="0"/>
              </a:spcBef>
              <a:spcAft>
                <a:spcPts val="0"/>
              </a:spcAft>
              <a:buSzPts val="2800"/>
              <a:buNone/>
              <a:defRPr sz="2801"/>
            </a:lvl9pPr>
          </a:lstStyle>
          <a:p>
            <a:endParaRPr/>
          </a:p>
        </p:txBody>
      </p:sp>
      <p:sp>
        <p:nvSpPr>
          <p:cNvPr id="39" name="Google Shape;39;p9"/>
          <p:cNvSpPr txBox="1">
            <a:spLocks noGrp="1"/>
          </p:cNvSpPr>
          <p:nvPr>
            <p:ph type="body" idx="2"/>
          </p:nvPr>
        </p:nvSpPr>
        <p:spPr>
          <a:xfrm>
            <a:off x="6584351" y="965433"/>
            <a:ext cx="5114700" cy="4926900"/>
          </a:xfrm>
          <a:prstGeom prst="rect">
            <a:avLst/>
          </a:prstGeom>
        </p:spPr>
        <p:txBody>
          <a:bodyPr spcFirstLastPara="1" wrap="square" lIns="121875" tIns="121875" rIns="121875" bIns="121875" anchor="ctr"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40" name="Google Shape;40;p9"/>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496" y="5640767"/>
            <a:ext cx="7996500" cy="806700"/>
          </a:xfrm>
          <a:prstGeom prst="rect">
            <a:avLst/>
          </a:prstGeom>
        </p:spPr>
        <p:txBody>
          <a:bodyPr spcFirstLastPara="1" wrap="square" lIns="121875" tIns="121875" rIns="121875" bIns="121875" anchor="ctr" anchorCtr="0">
            <a:noAutofit/>
          </a:bodyPr>
          <a:lstStyle>
            <a:lvl1pPr marL="457207" lvl="0" indent="-228604">
              <a:lnSpc>
                <a:spcPct val="100000"/>
              </a:lnSpc>
              <a:spcBef>
                <a:spcPts val="0"/>
              </a:spcBef>
              <a:spcAft>
                <a:spcPts val="0"/>
              </a:spcAft>
              <a:buSzPts val="2400"/>
              <a:buNone/>
              <a:defRPr/>
            </a:lvl1pPr>
          </a:lstStyle>
          <a:p>
            <a:endParaRPr/>
          </a:p>
        </p:txBody>
      </p:sp>
      <p:sp>
        <p:nvSpPr>
          <p:cNvPr id="43" name="Google Shape;43;p10"/>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496" y="1474833"/>
            <a:ext cx="11358000" cy="26181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a:spLocks noGrp="1"/>
          </p:cNvSpPr>
          <p:nvPr>
            <p:ph type="body" idx="1"/>
          </p:nvPr>
        </p:nvSpPr>
        <p:spPr>
          <a:xfrm>
            <a:off x="415496" y="4202967"/>
            <a:ext cx="11358000" cy="1734300"/>
          </a:xfrm>
          <a:prstGeom prst="rect">
            <a:avLst/>
          </a:prstGeom>
        </p:spPr>
        <p:txBody>
          <a:bodyPr spcFirstLastPara="1" wrap="square" lIns="121875" tIns="121875" rIns="121875" bIns="121875" anchor="t" anchorCtr="0">
            <a:noAutofit/>
          </a:bodyPr>
          <a:lstStyle>
            <a:lvl1pPr marL="457207" lvl="0" indent="-381006" algn="ctr">
              <a:spcBef>
                <a:spcPts val="0"/>
              </a:spcBef>
              <a:spcAft>
                <a:spcPts val="0"/>
              </a:spcAft>
              <a:buSzPts val="2400"/>
              <a:buChar char="●"/>
              <a:defRPr/>
            </a:lvl1pPr>
            <a:lvl2pPr marL="914415" lvl="1" indent="-349255" algn="ctr">
              <a:spcBef>
                <a:spcPts val="2099"/>
              </a:spcBef>
              <a:spcAft>
                <a:spcPts val="0"/>
              </a:spcAft>
              <a:buSzPts val="1900"/>
              <a:buChar char="○"/>
              <a:defRPr/>
            </a:lvl2pPr>
            <a:lvl3pPr marL="1371622" lvl="2" indent="-349255" algn="ctr">
              <a:spcBef>
                <a:spcPts val="2099"/>
              </a:spcBef>
              <a:spcAft>
                <a:spcPts val="0"/>
              </a:spcAft>
              <a:buSzPts val="1900"/>
              <a:buChar char="■"/>
              <a:defRPr/>
            </a:lvl3pPr>
            <a:lvl4pPr marL="1828831" lvl="3" indent="-349255" algn="ctr">
              <a:spcBef>
                <a:spcPts val="2099"/>
              </a:spcBef>
              <a:spcAft>
                <a:spcPts val="0"/>
              </a:spcAft>
              <a:buSzPts val="1900"/>
              <a:buChar char="●"/>
              <a:defRPr/>
            </a:lvl4pPr>
            <a:lvl5pPr marL="2286038" lvl="4" indent="-349255" algn="ctr">
              <a:spcBef>
                <a:spcPts val="2099"/>
              </a:spcBef>
              <a:spcAft>
                <a:spcPts val="0"/>
              </a:spcAft>
              <a:buSzPts val="1900"/>
              <a:buChar char="○"/>
              <a:defRPr/>
            </a:lvl5pPr>
            <a:lvl6pPr marL="2743246" lvl="5" indent="-349255" algn="ctr">
              <a:spcBef>
                <a:spcPts val="2099"/>
              </a:spcBef>
              <a:spcAft>
                <a:spcPts val="0"/>
              </a:spcAft>
              <a:buSzPts val="1900"/>
              <a:buChar char="■"/>
              <a:defRPr/>
            </a:lvl6pPr>
            <a:lvl7pPr marL="3200453" lvl="6" indent="-349255" algn="ctr">
              <a:spcBef>
                <a:spcPts val="2099"/>
              </a:spcBef>
              <a:spcAft>
                <a:spcPts val="0"/>
              </a:spcAft>
              <a:buSzPts val="1900"/>
              <a:buChar char="●"/>
              <a:defRPr/>
            </a:lvl7pPr>
            <a:lvl8pPr marL="3657661" lvl="7" indent="-349255" algn="ctr">
              <a:spcBef>
                <a:spcPts val="2099"/>
              </a:spcBef>
              <a:spcAft>
                <a:spcPts val="0"/>
              </a:spcAft>
              <a:buSzPts val="1900"/>
              <a:buChar char="○"/>
              <a:defRPr/>
            </a:lvl8pPr>
            <a:lvl9pPr marL="4114868" lvl="8" indent="-349255" algn="ctr">
              <a:spcBef>
                <a:spcPts val="2099"/>
              </a:spcBef>
              <a:spcAft>
                <a:spcPts val="2099"/>
              </a:spcAft>
              <a:buSzPts val="1900"/>
              <a:buChar char="■"/>
              <a:defRPr/>
            </a:lvl9pPr>
          </a:lstStyle>
          <a:p>
            <a:endParaRPr/>
          </a:p>
        </p:txBody>
      </p:sp>
      <p:sp>
        <p:nvSpPr>
          <p:cNvPr id="47" name="Google Shape;47;p11"/>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C" userDrawn="1">
  <p:cSld name="1_Cover C">
    <p:bg>
      <p:bgPr>
        <a:solidFill>
          <a:srgbClr val="030A14"/>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5623" y="2364060"/>
            <a:ext cx="8915583" cy="3789320"/>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8" name="Google Shape;58;p14"/>
          <p:cNvSpPr txBox="1"/>
          <p:nvPr/>
        </p:nvSpPr>
        <p:spPr>
          <a:xfrm>
            <a:off x="2377441" y="6212114"/>
            <a:ext cx="9355958" cy="417286"/>
          </a:xfrm>
          <a:prstGeom prst="rect">
            <a:avLst/>
          </a:prstGeom>
          <a:noFill/>
          <a:ln>
            <a:noFill/>
          </a:ln>
        </p:spPr>
        <p:txBody>
          <a:bodyPr spcFirstLastPara="1" wrap="square" lIns="0" tIns="0" rIns="0" bIns="0" anchor="b" anchorCtr="0">
            <a:noAutofit/>
          </a:bodyPr>
          <a:lstStyle/>
          <a:p>
            <a:pPr algn="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This work was created by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Torc Robotics</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and is licensed under the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Creative Commons Attribution-Share Alike (CC BY-SA-4.0)</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License.</a:t>
            </a:r>
          </a:p>
          <a:p>
            <a:pPr algn="r"/>
            <a:r>
              <a:rPr lang="en-US" sz="1200" b="1" i="0" u="sng"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hlinkClick r:id="rId2">
                  <a:extLst>
                    <a:ext uri="{A12FA001-AC4F-418D-AE19-62706E023703}">
                      <ahyp:hlinkClr xmlns:ahyp="http://schemas.microsoft.com/office/drawing/2018/hyperlinkcolor" val="tx"/>
                    </a:ext>
                  </a:extLst>
                </a:hlinkClick>
              </a:rPr>
              <a:t>https://creativecommons.org/licenses/by/4.0/legalcode</a:t>
            </a:r>
            <a:endParaRPr lang="en-US" sz="1200" b="0" i="0" u="none"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540"/>
        <p:cNvGrpSpPr/>
        <p:nvPr/>
      </p:nvGrpSpPr>
      <p:grpSpPr>
        <a:xfrm>
          <a:off x="0" y="0"/>
          <a:ext cx="0" cy="0"/>
          <a:chOff x="0" y="0"/>
          <a:chExt cx="0" cy="0"/>
        </a:xfrm>
      </p:grpSpPr>
      <p:sp>
        <p:nvSpPr>
          <p:cNvPr id="541" name="Google Shape;541;p9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2" name="Google Shape;542;p98"/>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3" name="Google Shape;543;p9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45" name="Google Shape;545;p9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endParaRPr sz="1000" dirty="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1872" userDrawn="1">
          <p15:clr>
            <a:srgbClr val="FA7B17"/>
          </p15:clr>
        </p15:guide>
        <p15:guide id="2" pos="5615" userDrawn="1">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6"/>
        <p:cNvGrpSpPr/>
        <p:nvPr/>
      </p:nvGrpSpPr>
      <p:grpSpPr>
        <a:xfrm>
          <a:off x="0" y="0"/>
          <a:ext cx="0" cy="0"/>
          <a:chOff x="0" y="0"/>
          <a:chExt cx="0" cy="0"/>
        </a:xfrm>
      </p:grpSpPr>
      <p:sp>
        <p:nvSpPr>
          <p:cNvPr id="867" name="Google Shape;867;p145"/>
          <p:cNvSpPr txBox="1">
            <a:spLocks noGrp="1"/>
          </p:cNvSpPr>
          <p:nvPr>
            <p:ph type="body" idx="1"/>
          </p:nvPr>
        </p:nvSpPr>
        <p:spPr>
          <a:xfrm>
            <a:off x="415496" y="5640767"/>
            <a:ext cx="7996500" cy="806700"/>
          </a:xfrm>
          <a:prstGeom prst="rect">
            <a:avLst/>
          </a:prstGeom>
        </p:spPr>
        <p:txBody>
          <a:bodyPr spcFirstLastPara="1" wrap="square" lIns="0" tIns="0" rIns="0" bIns="0" anchor="ctr" anchorCtr="0">
            <a:noAutofit/>
          </a:bodyPr>
          <a:lstStyle>
            <a:lvl1pPr marL="457207" lvl="0" indent="-228604" rtl="0">
              <a:lnSpc>
                <a:spcPct val="100000"/>
              </a:lnSpc>
              <a:spcBef>
                <a:spcPts val="0"/>
              </a:spcBef>
              <a:spcAft>
                <a:spcPts val="0"/>
              </a:spcAft>
              <a:buSzPts val="2000"/>
              <a:buNone/>
              <a:defRPr/>
            </a:lvl1pPr>
          </a:lstStyle>
          <a:p>
            <a:endParaRPr/>
          </a:p>
        </p:txBody>
      </p:sp>
      <p:sp>
        <p:nvSpPr>
          <p:cNvPr id="868" name="Google Shape;868;p145"/>
          <p:cNvSpPr txBox="1">
            <a:spLocks noGrp="1"/>
          </p:cNvSpPr>
          <p:nvPr>
            <p:ph type="sldNum" idx="12"/>
          </p:nvPr>
        </p:nvSpPr>
        <p:spPr>
          <a:xfrm>
            <a:off x="11293784" y="6217622"/>
            <a:ext cx="731400" cy="5247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496" y="593367"/>
            <a:ext cx="11358000" cy="763500"/>
          </a:xfrm>
          <a:prstGeom prst="rect">
            <a:avLst/>
          </a:prstGeom>
          <a:noFill/>
          <a:ln>
            <a:noFill/>
          </a:ln>
        </p:spPr>
        <p:txBody>
          <a:bodyPr spcFirstLastPara="1" wrap="square" lIns="121875" tIns="121875" rIns="121875" bIns="121875" anchor="t" anchorCtr="0">
            <a:no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7" name="Google Shape;7;p1"/>
          <p:cNvSpPr txBox="1">
            <a:spLocks noGrp="1"/>
          </p:cNvSpPr>
          <p:nvPr>
            <p:ph type="body" idx="1"/>
          </p:nvPr>
        </p:nvSpPr>
        <p:spPr>
          <a:xfrm>
            <a:off x="415496" y="1536633"/>
            <a:ext cx="11358000" cy="4555200"/>
          </a:xfrm>
          <a:prstGeom prst="rect">
            <a:avLst/>
          </a:prstGeom>
          <a:noFill/>
          <a:ln>
            <a:noFill/>
          </a:ln>
        </p:spPr>
        <p:txBody>
          <a:bodyPr spcFirstLastPara="1" wrap="square" lIns="121875" tIns="121875" rIns="121875" bIns="121875" anchor="t" anchorCtr="0">
            <a:no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2100"/>
              </a:spcBef>
              <a:spcAft>
                <a:spcPts val="0"/>
              </a:spcAft>
              <a:buClr>
                <a:schemeClr val="dk2"/>
              </a:buClr>
              <a:buSzPts val="1900"/>
              <a:buChar char="○"/>
              <a:defRPr sz="1900">
                <a:solidFill>
                  <a:schemeClr val="dk2"/>
                </a:solidFill>
              </a:defRPr>
            </a:lvl2pPr>
            <a:lvl3pPr marL="1371600" lvl="2" indent="-349250">
              <a:lnSpc>
                <a:spcPct val="115000"/>
              </a:lnSpc>
              <a:spcBef>
                <a:spcPts val="2100"/>
              </a:spcBef>
              <a:spcAft>
                <a:spcPts val="0"/>
              </a:spcAft>
              <a:buClr>
                <a:schemeClr val="dk2"/>
              </a:buClr>
              <a:buSzPts val="1900"/>
              <a:buChar char="■"/>
              <a:defRPr sz="1900">
                <a:solidFill>
                  <a:schemeClr val="dk2"/>
                </a:solidFill>
              </a:defRPr>
            </a:lvl3pPr>
            <a:lvl4pPr marL="1828800" lvl="3" indent="-349250">
              <a:lnSpc>
                <a:spcPct val="115000"/>
              </a:lnSpc>
              <a:spcBef>
                <a:spcPts val="2100"/>
              </a:spcBef>
              <a:spcAft>
                <a:spcPts val="0"/>
              </a:spcAft>
              <a:buClr>
                <a:schemeClr val="dk2"/>
              </a:buClr>
              <a:buSzPts val="1900"/>
              <a:buChar char="●"/>
              <a:defRPr sz="1900">
                <a:solidFill>
                  <a:schemeClr val="dk2"/>
                </a:solidFill>
              </a:defRPr>
            </a:lvl4pPr>
            <a:lvl5pPr marL="2286000" lvl="4" indent="-349250">
              <a:lnSpc>
                <a:spcPct val="115000"/>
              </a:lnSpc>
              <a:spcBef>
                <a:spcPts val="2100"/>
              </a:spcBef>
              <a:spcAft>
                <a:spcPts val="0"/>
              </a:spcAft>
              <a:buClr>
                <a:schemeClr val="dk2"/>
              </a:buClr>
              <a:buSzPts val="1900"/>
              <a:buChar char="○"/>
              <a:defRPr sz="1900">
                <a:solidFill>
                  <a:schemeClr val="dk2"/>
                </a:solidFill>
              </a:defRPr>
            </a:lvl5pPr>
            <a:lvl6pPr marL="2743200" lvl="5" indent="-349250">
              <a:lnSpc>
                <a:spcPct val="115000"/>
              </a:lnSpc>
              <a:spcBef>
                <a:spcPts val="2100"/>
              </a:spcBef>
              <a:spcAft>
                <a:spcPts val="0"/>
              </a:spcAft>
              <a:buClr>
                <a:schemeClr val="dk2"/>
              </a:buClr>
              <a:buSzPts val="1900"/>
              <a:buChar char="■"/>
              <a:defRPr sz="1900">
                <a:solidFill>
                  <a:schemeClr val="dk2"/>
                </a:solidFill>
              </a:defRPr>
            </a:lvl6pPr>
            <a:lvl7pPr marL="3200400" lvl="6" indent="-349250">
              <a:lnSpc>
                <a:spcPct val="115000"/>
              </a:lnSpc>
              <a:spcBef>
                <a:spcPts val="2100"/>
              </a:spcBef>
              <a:spcAft>
                <a:spcPts val="0"/>
              </a:spcAft>
              <a:buClr>
                <a:schemeClr val="dk2"/>
              </a:buClr>
              <a:buSzPts val="1900"/>
              <a:buChar char="●"/>
              <a:defRPr sz="1900">
                <a:solidFill>
                  <a:schemeClr val="dk2"/>
                </a:solidFill>
              </a:defRPr>
            </a:lvl7pPr>
            <a:lvl8pPr marL="3657600" lvl="7" indent="-349250">
              <a:lnSpc>
                <a:spcPct val="115000"/>
              </a:lnSpc>
              <a:spcBef>
                <a:spcPts val="2100"/>
              </a:spcBef>
              <a:spcAft>
                <a:spcPts val="0"/>
              </a:spcAft>
              <a:buClr>
                <a:schemeClr val="dk2"/>
              </a:buClr>
              <a:buSzPts val="1900"/>
              <a:buChar char="○"/>
              <a:defRPr sz="1900">
                <a:solidFill>
                  <a:schemeClr val="dk2"/>
                </a:solidFill>
              </a:defRPr>
            </a:lvl8pPr>
            <a:lvl9pPr marL="4114800" lvl="8" indent="-349250">
              <a:lnSpc>
                <a:spcPct val="115000"/>
              </a:lnSpc>
              <a:spcBef>
                <a:spcPts val="2100"/>
              </a:spcBef>
              <a:spcAft>
                <a:spcPts val="2100"/>
              </a:spcAft>
              <a:buClr>
                <a:schemeClr val="dk2"/>
              </a:buClr>
              <a:buSzPts val="1900"/>
              <a:buChar char="■"/>
              <a:defRPr sz="1900">
                <a:solidFill>
                  <a:schemeClr val="dk2"/>
                </a:solidFill>
              </a:defRPr>
            </a:lvl9pPr>
          </a:lstStyle>
          <a:p>
            <a:endParaRPr/>
          </a:p>
        </p:txBody>
      </p:sp>
      <p:sp>
        <p:nvSpPr>
          <p:cNvPr id="8" name="Google Shape;8;p1"/>
          <p:cNvSpPr txBox="1">
            <a:spLocks noGrp="1"/>
          </p:cNvSpPr>
          <p:nvPr>
            <p:ph type="sldNum" idx="12"/>
          </p:nvPr>
        </p:nvSpPr>
        <p:spPr>
          <a:xfrm>
            <a:off x="11293784" y="6217622"/>
            <a:ext cx="731400" cy="524700"/>
          </a:xfrm>
          <a:prstGeom prst="rect">
            <a:avLst/>
          </a:prstGeom>
          <a:noFill/>
          <a:ln>
            <a:noFill/>
          </a:ln>
        </p:spPr>
        <p:txBody>
          <a:bodyPr spcFirstLastPara="1" wrap="square" lIns="121875" tIns="121875" rIns="121875" bIns="121875" anchor="ctr" anchorCtr="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57206" y="1810776"/>
            <a:ext cx="8915492" cy="4132824"/>
          </a:xfrm>
          <a:prstGeom prst="rect">
            <a:avLst/>
          </a:prstGeom>
          <a:noFill/>
          <a:ln>
            <a:noFill/>
          </a:ln>
        </p:spPr>
        <p:txBody>
          <a:bodyPr spcFirstLastPara="1" wrap="square" lIns="0" tIns="0" rIns="0" bIns="0" anchor="t" anchorCtr="0">
            <a:noAutofit/>
          </a:bodyPr>
          <a:lstStyle>
            <a:lvl1pPr marL="457200" marR="0" lvl="0" indent="-228600" algn="l" rtl="0">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Lst>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2"/>
        <p:cNvGrpSpPr/>
        <p:nvPr/>
      </p:nvGrpSpPr>
      <p:grpSpPr>
        <a:xfrm>
          <a:off x="0" y="0"/>
          <a:ext cx="0" cy="0"/>
          <a:chOff x="0" y="0"/>
          <a:chExt cx="0" cy="0"/>
        </a:xfrm>
      </p:grpSpPr>
      <p:sp>
        <p:nvSpPr>
          <p:cNvPr id="483" name="Google Shape;483;p8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84" name="Google Shape;484;p88"/>
          <p:cNvSpPr txBox="1">
            <a:spLocks noGrp="1"/>
          </p:cNvSpPr>
          <p:nvPr>
            <p:ph type="body" idx="1"/>
          </p:nvPr>
        </p:nvSpPr>
        <p:spPr>
          <a:xfrm>
            <a:off x="457205" y="1810776"/>
            <a:ext cx="8915400" cy="41328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85" name="Google Shape;485;p88"/>
          <p:cNvSpPr txBox="1">
            <a:spLocks noGrp="1"/>
          </p:cNvSpPr>
          <p:nvPr>
            <p:ph type="sldNum" idx="12"/>
          </p:nvPr>
        </p:nvSpPr>
        <p:spPr>
          <a:xfrm>
            <a:off x="11406192" y="6333134"/>
            <a:ext cx="731400" cy="525000"/>
          </a:xfrm>
          <a:prstGeom prst="rect">
            <a:avLst/>
          </a:prstGeom>
          <a:noFill/>
          <a:ln>
            <a:noFill/>
          </a:ln>
        </p:spPr>
        <p:txBody>
          <a:bodyPr spcFirstLastPara="1" wrap="square" lIns="91425" tIns="91425" rIns="91425" bIns="91425" anchor="t" anchorCtr="0">
            <a:noAutofit/>
          </a:bodyPr>
          <a:lstStyle>
            <a:lvl1pPr lvl="0" algn="r" rtl="0">
              <a:buNone/>
              <a:defRPr sz="1300">
                <a:solidFill>
                  <a:schemeClr val="dk1"/>
                </a:solidFill>
                <a:latin typeface="Roboto"/>
                <a:ea typeface="Roboto"/>
                <a:cs typeface="Roboto"/>
                <a:sym typeface="Roboto"/>
              </a:defRPr>
            </a:lvl1pPr>
            <a:lvl2pPr lvl="1" algn="r" rtl="0">
              <a:buNone/>
              <a:defRPr sz="1300">
                <a:solidFill>
                  <a:schemeClr val="dk1"/>
                </a:solidFill>
                <a:latin typeface="Roboto"/>
                <a:ea typeface="Roboto"/>
                <a:cs typeface="Roboto"/>
                <a:sym typeface="Roboto"/>
              </a:defRPr>
            </a:lvl2pPr>
            <a:lvl3pPr lvl="2" algn="r" rtl="0">
              <a:buNone/>
              <a:defRPr sz="1300">
                <a:solidFill>
                  <a:schemeClr val="dk1"/>
                </a:solidFill>
                <a:latin typeface="Roboto"/>
                <a:ea typeface="Roboto"/>
                <a:cs typeface="Roboto"/>
                <a:sym typeface="Roboto"/>
              </a:defRPr>
            </a:lvl3pPr>
            <a:lvl4pPr lvl="3" algn="r" rtl="0">
              <a:buNone/>
              <a:defRPr sz="1300">
                <a:solidFill>
                  <a:schemeClr val="dk1"/>
                </a:solidFill>
                <a:latin typeface="Roboto"/>
                <a:ea typeface="Roboto"/>
                <a:cs typeface="Roboto"/>
                <a:sym typeface="Roboto"/>
              </a:defRPr>
            </a:lvl4pPr>
            <a:lvl5pPr lvl="4" algn="r" rtl="0">
              <a:buNone/>
              <a:defRPr sz="1300">
                <a:solidFill>
                  <a:schemeClr val="dk1"/>
                </a:solidFill>
                <a:latin typeface="Roboto"/>
                <a:ea typeface="Roboto"/>
                <a:cs typeface="Roboto"/>
                <a:sym typeface="Roboto"/>
              </a:defRPr>
            </a:lvl5pPr>
            <a:lvl6pPr lvl="5" algn="r" rtl="0">
              <a:buNone/>
              <a:defRPr sz="1300">
                <a:solidFill>
                  <a:schemeClr val="dk1"/>
                </a:solidFill>
                <a:latin typeface="Roboto"/>
                <a:ea typeface="Roboto"/>
                <a:cs typeface="Roboto"/>
                <a:sym typeface="Roboto"/>
              </a:defRPr>
            </a:lvl6pPr>
            <a:lvl7pPr lvl="6" algn="r" rtl="0">
              <a:buNone/>
              <a:defRPr sz="1300">
                <a:solidFill>
                  <a:schemeClr val="dk1"/>
                </a:solidFill>
                <a:latin typeface="Roboto"/>
                <a:ea typeface="Roboto"/>
                <a:cs typeface="Roboto"/>
                <a:sym typeface="Roboto"/>
              </a:defRPr>
            </a:lvl7pPr>
            <a:lvl8pPr lvl="7" algn="r" rtl="0">
              <a:buNone/>
              <a:defRPr sz="1300">
                <a:solidFill>
                  <a:schemeClr val="dk1"/>
                </a:solidFill>
                <a:latin typeface="Roboto"/>
                <a:ea typeface="Roboto"/>
                <a:cs typeface="Roboto"/>
                <a:sym typeface="Roboto"/>
              </a:defRPr>
            </a:lvl8pPr>
            <a:lvl9pPr lvl="8" algn="r" rtl="0">
              <a:buNone/>
              <a:defRPr sz="1300">
                <a:solidFill>
                  <a:schemeClr val="dk1"/>
                </a:solidFill>
                <a:latin typeface="Roboto"/>
                <a:ea typeface="Roboto"/>
                <a:cs typeface="Roboto"/>
                <a:sym typeface="Roboto"/>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742" r:id="rId1"/>
    <p:sldLayoutId id="2147483789" r:id="rId2"/>
  </p:sldLayoutIdLst>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46"/>
          <p:cNvSpPr txBox="1">
            <a:spLocks noGrp="1"/>
          </p:cNvSpPr>
          <p:nvPr>
            <p:ph type="title"/>
          </p:nvPr>
        </p:nvSpPr>
        <p:spPr>
          <a:xfrm>
            <a:off x="668910" y="1815384"/>
            <a:ext cx="10851007" cy="3227235"/>
          </a:xfrm>
          <a:prstGeom prst="rect">
            <a:avLst/>
          </a:prstGeom>
          <a:noFill/>
          <a:ln>
            <a:noFill/>
          </a:ln>
        </p:spPr>
        <p:txBody>
          <a:bodyPr spcFirstLastPara="1" wrap="square" lIns="0" tIns="0" rIns="0" bIns="0" anchor="ctr" anchorCtr="0">
            <a:noAutofit/>
          </a:bodyPr>
          <a:lstStyle/>
          <a:p>
            <a:pPr>
              <a:lnSpc>
                <a:spcPct val="100000"/>
              </a:lnSpc>
            </a:pPr>
            <a:r>
              <a:rPr lang="en" sz="5400" dirty="0"/>
              <a:t>Deprecated Functions –</a:t>
            </a:r>
            <a:br>
              <a:rPr lang="en" sz="5400" dirty="0"/>
            </a:br>
            <a:r>
              <a:rPr lang="en-US" sz="5400" dirty="0"/>
              <a:t>Incorporate Scan</a:t>
            </a:r>
            <a:endParaRPr sz="6600" dirty="0"/>
          </a:p>
        </p:txBody>
      </p:sp>
      <p:sp>
        <p:nvSpPr>
          <p:cNvPr id="2" name="Rectangle 1">
            <a:extLst>
              <a:ext uri="{FF2B5EF4-FFF2-40B4-BE49-F238E27FC236}">
                <a16:creationId xmlns:a16="http://schemas.microsoft.com/office/drawing/2014/main" id="{2FB5F0EE-3344-3E43-B412-5327D36C6F8A}"/>
              </a:ext>
            </a:extLst>
          </p:cNvPr>
          <p:cNvSpPr/>
          <p:nvPr/>
        </p:nvSpPr>
        <p:spPr>
          <a:xfrm>
            <a:off x="10741247" y="5270394"/>
            <a:ext cx="963726" cy="461665"/>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version 4</a:t>
            </a:r>
          </a:p>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2026-04-07</a:t>
            </a:r>
          </a:p>
        </p:txBody>
      </p:sp>
      <p:sp>
        <p:nvSpPr>
          <p:cNvPr id="4" name="Rectangle 3">
            <a:extLst>
              <a:ext uri="{FF2B5EF4-FFF2-40B4-BE49-F238E27FC236}">
                <a16:creationId xmlns:a16="http://schemas.microsoft.com/office/drawing/2014/main" id="{74CD8A9C-5CEA-AD48-B075-78C4F71699EB}"/>
              </a:ext>
            </a:extLst>
          </p:cNvPr>
          <p:cNvSpPr/>
          <p:nvPr/>
        </p:nvSpPr>
        <p:spPr>
          <a:xfrm>
            <a:off x="668909" y="5208838"/>
            <a:ext cx="6374149" cy="523220"/>
          </a:xfrm>
          <a:prstGeom prst="rect">
            <a:avLst/>
          </a:prstGeom>
        </p:spPr>
        <p:txBody>
          <a:bodyPr wrap="square">
            <a:spAutoFit/>
          </a:bodyPr>
          <a:lstStyle/>
          <a:p>
            <a:r>
              <a:rPr lang="en-US" dirty="0">
                <a:solidFill>
                  <a:schemeClr val="accent3">
                    <a:lumMod val="20000"/>
                    <a:lumOff val="80000"/>
                  </a:schemeClr>
                </a:solidFill>
                <a:latin typeface="Roboto" panose="02000000000000000000" pitchFamily="2" charset="0"/>
                <a:ea typeface="Roboto" panose="02000000000000000000" pitchFamily="2" charset="0"/>
              </a:rPr>
              <a:t>Charles Wilson</a:t>
            </a:r>
          </a:p>
          <a:p>
            <a:r>
              <a:rPr lang="en-US" dirty="0">
                <a:solidFill>
                  <a:schemeClr val="accent3">
                    <a:lumMod val="20000"/>
                    <a:lumOff val="80000"/>
                  </a:schemeClr>
                </a:solidFill>
                <a:latin typeface="Roboto" panose="02000000000000000000" pitchFamily="2" charset="0"/>
                <a:ea typeface="Roboto" panose="02000000000000000000" pitchFamily="2" charset="0"/>
              </a:rPr>
              <a:t>Staff Product Cybersecurity Architect</a:t>
            </a:r>
          </a:p>
        </p:txBody>
      </p:sp>
      <p:sp>
        <p:nvSpPr>
          <p:cNvPr id="3" name="Rectangle 2">
            <a:extLst>
              <a:ext uri="{FF2B5EF4-FFF2-40B4-BE49-F238E27FC236}">
                <a16:creationId xmlns:a16="http://schemas.microsoft.com/office/drawing/2014/main" id="{9375FC61-BE70-0263-1C08-9607377D87C2}"/>
              </a:ext>
            </a:extLst>
          </p:cNvPr>
          <p:cNvSpPr/>
          <p:nvPr/>
        </p:nvSpPr>
        <p:spPr>
          <a:xfrm>
            <a:off x="9899855" y="139594"/>
            <a:ext cx="2169184" cy="276999"/>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AVCDL-Implementation-6.1.2</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Training Path</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rcRect/>
          <a:stretch/>
        </p:blipFill>
        <p:spPr>
          <a:xfrm>
            <a:off x="741952" y="326959"/>
            <a:ext cx="10704919" cy="6204081"/>
          </a:xfrm>
          <a:prstGeom prst="rect">
            <a:avLst/>
          </a:prstGeom>
          <a:effectLst/>
        </p:spPr>
      </p:pic>
    </p:spTree>
    <p:extLst>
      <p:ext uri="{BB962C8B-B14F-4D97-AF65-F5344CB8AC3E}">
        <p14:creationId xmlns:p14="http://schemas.microsoft.com/office/powerpoint/2010/main" val="2777678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435D019-8E84-BEF1-6D20-0079C9B9A767}"/>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1A175A47-8003-CA64-DF9A-064FBF3329EE}"/>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Workflow</a:t>
            </a:r>
            <a:endParaRPr sz="6600" dirty="0"/>
          </a:p>
        </p:txBody>
      </p:sp>
    </p:spTree>
    <p:extLst>
      <p:ext uri="{BB962C8B-B14F-4D97-AF65-F5344CB8AC3E}">
        <p14:creationId xmlns:p14="http://schemas.microsoft.com/office/powerpoint/2010/main" val="190089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4E3669D-F86E-FDE7-7E31-F90D50DD3DEE}"/>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C3048004-0C1B-3382-FC33-11D83421F44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Process Workflow</a:t>
            </a:r>
            <a:endParaRPr dirty="0"/>
          </a:p>
        </p:txBody>
      </p:sp>
      <p:pic>
        <p:nvPicPr>
          <p:cNvPr id="2" name="Picture 1">
            <a:extLst>
              <a:ext uri="{FF2B5EF4-FFF2-40B4-BE49-F238E27FC236}">
                <a16:creationId xmlns:a16="http://schemas.microsoft.com/office/drawing/2014/main" id="{4932FD12-A4A6-B467-F336-EC851866F9E1}"/>
              </a:ext>
            </a:extLst>
          </p:cNvPr>
          <p:cNvPicPr>
            <a:picLocks noChangeAspect="1"/>
          </p:cNvPicPr>
          <p:nvPr/>
        </p:nvPicPr>
        <p:blipFill>
          <a:blip r:embed="rId3"/>
          <a:srcRect/>
          <a:stretch/>
        </p:blipFill>
        <p:spPr>
          <a:xfrm>
            <a:off x="60424" y="1651221"/>
            <a:ext cx="12067975" cy="3555556"/>
          </a:xfrm>
          <a:prstGeom prst="rect">
            <a:avLst/>
          </a:prstGeom>
        </p:spPr>
      </p:pic>
    </p:spTree>
    <p:extLst>
      <p:ext uri="{BB962C8B-B14F-4D97-AF65-F5344CB8AC3E}">
        <p14:creationId xmlns:p14="http://schemas.microsoft.com/office/powerpoint/2010/main" val="4278405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20E96E24-5270-533F-AAD7-560C8C9BA9B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0D25475-6CC3-483F-07A3-9D4C4D32EA47}"/>
              </a:ext>
            </a:extLst>
          </p:cNvPr>
          <p:cNvPicPr>
            <a:picLocks noChangeAspect="1"/>
          </p:cNvPicPr>
          <p:nvPr/>
        </p:nvPicPr>
        <p:blipFill>
          <a:blip r:embed="rId3"/>
          <a:srcRect/>
          <a:stretch/>
        </p:blipFill>
        <p:spPr>
          <a:xfrm>
            <a:off x="2362764" y="1651221"/>
            <a:ext cx="3632244" cy="3555556"/>
          </a:xfrm>
          <a:prstGeom prst="rect">
            <a:avLst/>
          </a:prstGeom>
        </p:spPr>
      </p:pic>
      <p:sp>
        <p:nvSpPr>
          <p:cNvPr id="1199" name="Google Shape;1199;p156">
            <a:extLst>
              <a:ext uri="{FF2B5EF4-FFF2-40B4-BE49-F238E27FC236}">
                <a16:creationId xmlns:a16="http://schemas.microsoft.com/office/drawing/2014/main" id="{DA28DC2B-BF39-9C31-CB41-0FFBE278005A}"/>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Process Workflow</a:t>
            </a:r>
            <a:endParaRPr dirty="0"/>
          </a:p>
        </p:txBody>
      </p:sp>
      <p:pic>
        <p:nvPicPr>
          <p:cNvPr id="2" name="Picture 1">
            <a:extLst>
              <a:ext uri="{FF2B5EF4-FFF2-40B4-BE49-F238E27FC236}">
                <a16:creationId xmlns:a16="http://schemas.microsoft.com/office/drawing/2014/main" id="{60D88776-EF4F-2B2F-F7B2-000BF0B52868}"/>
              </a:ext>
            </a:extLst>
          </p:cNvPr>
          <p:cNvPicPr>
            <a:picLocks noChangeAspect="1"/>
          </p:cNvPicPr>
          <p:nvPr/>
        </p:nvPicPr>
        <p:blipFill>
          <a:blip r:embed="rId4">
            <a:alphaModFix amt="10000"/>
          </a:blip>
          <a:srcRect/>
          <a:stretch/>
        </p:blipFill>
        <p:spPr>
          <a:xfrm>
            <a:off x="60424" y="1651221"/>
            <a:ext cx="12067975" cy="3555556"/>
          </a:xfrm>
          <a:prstGeom prst="rect">
            <a:avLst/>
          </a:prstGeom>
        </p:spPr>
      </p:pic>
    </p:spTree>
    <p:extLst>
      <p:ext uri="{BB962C8B-B14F-4D97-AF65-F5344CB8AC3E}">
        <p14:creationId xmlns:p14="http://schemas.microsoft.com/office/powerpoint/2010/main" val="125408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FAA94BC-298C-18D6-2BB8-65F2D81FA8E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012BAC1-E73E-7939-9647-AE281A2943BB}"/>
              </a:ext>
            </a:extLst>
          </p:cNvPr>
          <p:cNvPicPr>
            <a:picLocks noChangeAspect="1"/>
          </p:cNvPicPr>
          <p:nvPr/>
        </p:nvPicPr>
        <p:blipFill>
          <a:blip r:embed="rId3"/>
          <a:srcRect/>
          <a:stretch/>
        </p:blipFill>
        <p:spPr>
          <a:xfrm>
            <a:off x="6094413" y="759292"/>
            <a:ext cx="5454579" cy="5339416"/>
          </a:xfrm>
          <a:prstGeom prst="rect">
            <a:avLst/>
          </a:prstGeom>
        </p:spPr>
      </p:pic>
      <p:sp>
        <p:nvSpPr>
          <p:cNvPr id="1199" name="Google Shape;1199;p156">
            <a:extLst>
              <a:ext uri="{FF2B5EF4-FFF2-40B4-BE49-F238E27FC236}">
                <a16:creationId xmlns:a16="http://schemas.microsoft.com/office/drawing/2014/main" id="{DE102DF6-AAEB-1416-465B-EF11C55A307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Incorporate Scan Activity</a:t>
            </a:r>
            <a:endParaRPr dirty="0"/>
          </a:p>
        </p:txBody>
      </p:sp>
      <p:sp>
        <p:nvSpPr>
          <p:cNvPr id="4" name="TextBox 3">
            <a:extLst>
              <a:ext uri="{FF2B5EF4-FFF2-40B4-BE49-F238E27FC236}">
                <a16:creationId xmlns:a16="http://schemas.microsoft.com/office/drawing/2014/main" id="{3C44F7D0-B8C1-2691-D1A0-1D01DF259643}"/>
              </a:ext>
            </a:extLst>
          </p:cNvPr>
          <p:cNvSpPr txBox="1"/>
          <p:nvPr/>
        </p:nvSpPr>
        <p:spPr>
          <a:xfrm>
            <a:off x="455618" y="1437554"/>
            <a:ext cx="5869235" cy="2277547"/>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Function information embodiment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Element scope</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Build pipeline impact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Reporting</a:t>
            </a:r>
          </a:p>
        </p:txBody>
      </p:sp>
    </p:spTree>
    <p:extLst>
      <p:ext uri="{BB962C8B-B14F-4D97-AF65-F5344CB8AC3E}">
        <p14:creationId xmlns:p14="http://schemas.microsoft.com/office/powerpoint/2010/main" val="1558582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2F3850F6-B1C1-0ADC-6CB9-806335F2BD47}"/>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4A204B92-5EE7-393F-F025-0D2BBB2F2F07}"/>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Scanning Tool</a:t>
            </a:r>
            <a:endParaRPr dirty="0"/>
          </a:p>
        </p:txBody>
      </p:sp>
      <p:sp>
        <p:nvSpPr>
          <p:cNvPr id="2" name="TextBox 1">
            <a:extLst>
              <a:ext uri="{FF2B5EF4-FFF2-40B4-BE49-F238E27FC236}">
                <a16:creationId xmlns:a16="http://schemas.microsoft.com/office/drawing/2014/main" id="{5212DE2E-D191-8534-D747-B6F481693B04}"/>
              </a:ext>
            </a:extLst>
          </p:cNvPr>
          <p:cNvSpPr txBox="1"/>
          <p:nvPr/>
        </p:nvSpPr>
        <p:spPr>
          <a:xfrm>
            <a:off x="455618" y="1437554"/>
            <a:ext cx="6656309" cy="4031873"/>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Ingest deprecated function information</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Avoid false positive scenarios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Output issues</a:t>
            </a:r>
          </a:p>
          <a:p>
            <a:pPr marL="574675" indent="-338138">
              <a:spcAft>
                <a:spcPts val="1200"/>
              </a:spcAft>
              <a:buFont typeface="Wingdings" pitchFamily="2" charset="2"/>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Location</a:t>
            </a:r>
          </a:p>
          <a:p>
            <a:pPr marL="574675" indent="-338138">
              <a:spcAft>
                <a:spcPts val="1200"/>
              </a:spcAft>
              <a:buFont typeface="Wingdings" pitchFamily="2" charset="2"/>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Description</a:t>
            </a:r>
          </a:p>
          <a:p>
            <a:pPr marL="574675" indent="-338138">
              <a:spcAft>
                <a:spcPts val="1200"/>
              </a:spcAft>
              <a:buFont typeface="Wingdings" pitchFamily="2" charset="2"/>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Replacement</a:t>
            </a:r>
          </a:p>
          <a:p>
            <a:pPr marL="574675" indent="-338138">
              <a:spcAft>
                <a:spcPts val="1200"/>
              </a:spcAft>
              <a:buFont typeface="Wingdings" pitchFamily="2" charset="2"/>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References</a:t>
            </a:r>
          </a:p>
        </p:txBody>
      </p:sp>
    </p:spTree>
    <p:extLst>
      <p:ext uri="{BB962C8B-B14F-4D97-AF65-F5344CB8AC3E}">
        <p14:creationId xmlns:p14="http://schemas.microsoft.com/office/powerpoint/2010/main" val="19331894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CE16632-1C39-0DC1-D9F8-0DE9EDB81312}"/>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1DCDC6A0-9D6B-4CEF-EBEC-C10E50A6ACCF}"/>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Example</a:t>
            </a:r>
            <a:endParaRPr sz="6600" dirty="0"/>
          </a:p>
        </p:txBody>
      </p:sp>
    </p:spTree>
    <p:extLst>
      <p:ext uri="{BB962C8B-B14F-4D97-AF65-F5344CB8AC3E}">
        <p14:creationId xmlns:p14="http://schemas.microsoft.com/office/powerpoint/2010/main" val="125398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5A84F33-F7D5-A806-906E-489C71C7FBE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64DDA65-0196-202E-1552-7C0E439BD8E5}"/>
              </a:ext>
            </a:extLst>
          </p:cNvPr>
          <p:cNvPicPr>
            <a:picLocks noChangeAspect="1"/>
          </p:cNvPicPr>
          <p:nvPr/>
        </p:nvPicPr>
        <p:blipFill>
          <a:blip r:embed="rId3"/>
          <a:srcRect/>
          <a:stretch/>
        </p:blipFill>
        <p:spPr>
          <a:xfrm>
            <a:off x="486325" y="1571254"/>
            <a:ext cx="11216173" cy="2356509"/>
          </a:xfrm>
          <a:prstGeom prst="rect">
            <a:avLst/>
          </a:prstGeom>
        </p:spPr>
      </p:pic>
      <p:sp>
        <p:nvSpPr>
          <p:cNvPr id="1199" name="Google Shape;1199;p156">
            <a:extLst>
              <a:ext uri="{FF2B5EF4-FFF2-40B4-BE49-F238E27FC236}">
                <a16:creationId xmlns:a16="http://schemas.microsoft.com/office/drawing/2014/main" id="{E4B8C5E4-1191-5B2A-47C7-985EB97A14C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Deprecated Functions – Formatting</a:t>
            </a:r>
            <a:endParaRPr dirty="0"/>
          </a:p>
        </p:txBody>
      </p:sp>
      <p:pic>
        <p:nvPicPr>
          <p:cNvPr id="2" name="Picture 1">
            <a:extLst>
              <a:ext uri="{FF2B5EF4-FFF2-40B4-BE49-F238E27FC236}">
                <a16:creationId xmlns:a16="http://schemas.microsoft.com/office/drawing/2014/main" id="{09A3B17B-C58F-7FEF-21E1-872AB99868B5}"/>
              </a:ext>
            </a:extLst>
          </p:cNvPr>
          <p:cNvPicPr>
            <a:picLocks noChangeAspect="1"/>
          </p:cNvPicPr>
          <p:nvPr/>
        </p:nvPicPr>
        <p:blipFill>
          <a:blip r:embed="rId4"/>
          <a:srcRect/>
          <a:stretch/>
        </p:blipFill>
        <p:spPr>
          <a:xfrm>
            <a:off x="455618" y="4513934"/>
            <a:ext cx="11292286" cy="1212166"/>
          </a:xfrm>
          <a:prstGeom prst="rect">
            <a:avLst/>
          </a:prstGeom>
        </p:spPr>
      </p:pic>
    </p:spTree>
    <p:extLst>
      <p:ext uri="{BB962C8B-B14F-4D97-AF65-F5344CB8AC3E}">
        <p14:creationId xmlns:p14="http://schemas.microsoft.com/office/powerpoint/2010/main" val="3981764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0234E69-953D-C964-1A44-7AD56D5A6C18}"/>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288F8EFA-BECD-D045-8DF8-934C782EE42C}"/>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Recap</a:t>
            </a:r>
            <a:endParaRPr sz="6600" dirty="0"/>
          </a:p>
        </p:txBody>
      </p:sp>
    </p:spTree>
    <p:extLst>
      <p:ext uri="{BB962C8B-B14F-4D97-AF65-F5344CB8AC3E}">
        <p14:creationId xmlns:p14="http://schemas.microsoft.com/office/powerpoint/2010/main" val="1118057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Summary</a:t>
            </a:r>
            <a:endParaRPr dirty="0"/>
          </a:p>
        </p:txBody>
      </p:sp>
      <p:sp>
        <p:nvSpPr>
          <p:cNvPr id="2" name="TextBox 1">
            <a:extLst>
              <a:ext uri="{FF2B5EF4-FFF2-40B4-BE49-F238E27FC236}">
                <a16:creationId xmlns:a16="http://schemas.microsoft.com/office/drawing/2014/main" id="{7815AB7C-3B20-E395-B8D1-B8413068BE32}"/>
              </a:ext>
            </a:extLst>
          </p:cNvPr>
          <p:cNvSpPr txBox="1"/>
          <p:nvPr/>
        </p:nvSpPr>
        <p:spPr>
          <a:xfrm>
            <a:off x="455618" y="1437554"/>
            <a:ext cx="8166338" cy="2277547"/>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Select the scanner</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Consider false positive scenarios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Apply the </a:t>
            </a:r>
            <a:r>
              <a:rPr lang="en-US" sz="2800" b="1" dirty="0">
                <a:solidFill>
                  <a:schemeClr val="tx1"/>
                </a:solidFill>
                <a:latin typeface="Roboto" panose="02000000000000000000" pitchFamily="2" charset="0"/>
                <a:ea typeface="Roboto" panose="02000000000000000000" pitchFamily="2" charset="0"/>
                <a:cs typeface="Roboto" panose="02000000000000000000" pitchFamily="2" charset="0"/>
              </a:rPr>
              <a:t>Secure Settings </a:t>
            </a: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process if appropriate</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Verify build</a:t>
            </a:r>
          </a:p>
        </p:txBody>
      </p:sp>
    </p:spTree>
    <p:extLst>
      <p:ext uri="{BB962C8B-B14F-4D97-AF65-F5344CB8AC3E}">
        <p14:creationId xmlns:p14="http://schemas.microsoft.com/office/powerpoint/2010/main" val="1703593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725C29D-255F-E78F-7B10-51B1795D53F5}"/>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E6AE96E7-F515-5B95-8C3A-153509652AEE}"/>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Example Materials</a:t>
            </a:r>
            <a:endParaRPr dirty="0"/>
          </a:p>
        </p:txBody>
      </p:sp>
      <p:sp>
        <p:nvSpPr>
          <p:cNvPr id="6" name="TextBox 5">
            <a:extLst>
              <a:ext uri="{FF2B5EF4-FFF2-40B4-BE49-F238E27FC236}">
                <a16:creationId xmlns:a16="http://schemas.microsoft.com/office/drawing/2014/main" id="{5E6414D1-0FD5-FC5C-C853-B8F340BA038D}"/>
              </a:ext>
            </a:extLst>
          </p:cNvPr>
          <p:cNvSpPr txBox="1"/>
          <p:nvPr/>
        </p:nvSpPr>
        <p:spPr>
          <a:xfrm>
            <a:off x="455618" y="1309403"/>
            <a:ext cx="11390018" cy="369332"/>
          </a:xfrm>
          <a:prstGeom prst="rect">
            <a:avLst/>
          </a:prstGeom>
          <a:noFill/>
        </p:spPr>
        <p:txBody>
          <a:bodyPr wrap="square">
            <a:spAutoFit/>
          </a:bodyPr>
          <a:lstStyle/>
          <a:p>
            <a:r>
              <a:rPr lang="en-US" sz="18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&lt;AVCDL&gt;/distribution/reference_documents/working_material/deprecated functions/</a:t>
            </a:r>
          </a:p>
        </p:txBody>
      </p:sp>
    </p:spTree>
    <p:extLst>
      <p:ext uri="{BB962C8B-B14F-4D97-AF65-F5344CB8AC3E}">
        <p14:creationId xmlns:p14="http://schemas.microsoft.com/office/powerpoint/2010/main" val="9699774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97170D5F-8BD9-ECF4-AF82-900DA81B4716}"/>
              </a:ext>
            </a:extLst>
          </p:cNvPr>
          <p:cNvPicPr>
            <a:picLocks noChangeAspect="1"/>
          </p:cNvPicPr>
          <p:nvPr/>
        </p:nvPicPr>
        <p:blipFill>
          <a:blip r:embed="rId3"/>
          <a:srcRect/>
          <a:stretch/>
        </p:blipFill>
        <p:spPr>
          <a:xfrm>
            <a:off x="1283088" y="1240537"/>
            <a:ext cx="4074599" cy="5281294"/>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Further Reading</a:t>
            </a:r>
          </a:p>
        </p:txBody>
      </p:sp>
      <p:pic>
        <p:nvPicPr>
          <p:cNvPr id="2" name="Picture 1">
            <a:extLst>
              <a:ext uri="{FF2B5EF4-FFF2-40B4-BE49-F238E27FC236}">
                <a16:creationId xmlns:a16="http://schemas.microsoft.com/office/drawing/2014/main" id="{6DF71FD5-D6A5-A552-7D60-1AF6DD108067}"/>
              </a:ext>
            </a:extLst>
          </p:cNvPr>
          <p:cNvPicPr>
            <a:picLocks noChangeAspect="1"/>
          </p:cNvPicPr>
          <p:nvPr/>
        </p:nvPicPr>
        <p:blipFill>
          <a:blip r:embed="rId4"/>
          <a:srcRect/>
          <a:stretch/>
        </p:blipFill>
        <p:spPr>
          <a:xfrm>
            <a:off x="6831139" y="1240537"/>
            <a:ext cx="4074598" cy="5281294"/>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868555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a:extLst>
              <a:ext uri="{FF2B5EF4-FFF2-40B4-BE49-F238E27FC236}">
                <a16:creationId xmlns:a16="http://schemas.microsoft.com/office/drawing/2014/main" id="{C2A2ADBF-13F1-8937-91E4-97FBA4F83BB0}"/>
              </a:ext>
            </a:extLst>
          </p:cNvPr>
          <p:cNvPicPr>
            <a:picLocks noChangeAspect="1"/>
          </p:cNvPicPr>
          <p:nvPr/>
        </p:nvPicPr>
        <p:blipFill>
          <a:blip r:embed="rId3"/>
          <a:srcRect/>
          <a:stretch/>
        </p:blipFill>
        <p:spPr>
          <a:xfrm>
            <a:off x="1813953" y="985083"/>
            <a:ext cx="8560918" cy="5778453"/>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on GitHub</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6476383" y="522829"/>
            <a:ext cx="5256824"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cs typeface="Courier New" panose="02070309020205020404" pitchFamily="49" charset="0"/>
              </a:rPr>
              <a:t>https://github.com/AVCDL/AVCDL </a:t>
            </a:r>
          </a:p>
        </p:txBody>
      </p:sp>
    </p:spTree>
    <p:extLst>
      <p:ext uri="{BB962C8B-B14F-4D97-AF65-F5344CB8AC3E}">
        <p14:creationId xmlns:p14="http://schemas.microsoft.com/office/powerpoint/2010/main" val="29934041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a:extLst>
              <a:ext uri="{FF2B5EF4-FFF2-40B4-BE49-F238E27FC236}">
                <a16:creationId xmlns:a16="http://schemas.microsoft.com/office/drawing/2014/main" id="{24875B67-DABD-EC7D-D876-FF0A75BC967B}"/>
              </a:ext>
            </a:extLst>
          </p:cNvPr>
          <p:cNvPicPr>
            <a:picLocks noChangeAspect="1"/>
          </p:cNvPicPr>
          <p:nvPr/>
        </p:nvPicPr>
        <p:blipFill>
          <a:blip r:embed="rId3"/>
          <a:srcRect/>
          <a:stretch/>
        </p:blipFill>
        <p:spPr>
          <a:xfrm>
            <a:off x="1658351" y="985083"/>
            <a:ext cx="8483870" cy="5763705"/>
          </a:xfrm>
          <a:prstGeom prst="rect">
            <a:avLst/>
          </a:prstGeom>
          <a:ln w="12700">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on YouTube</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5900286" y="522828"/>
            <a:ext cx="5832922"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https://youtube.com/@AVCDL</a:t>
            </a:r>
          </a:p>
        </p:txBody>
      </p:sp>
    </p:spTree>
    <p:extLst>
      <p:ext uri="{BB962C8B-B14F-4D97-AF65-F5344CB8AC3E}">
        <p14:creationId xmlns:p14="http://schemas.microsoft.com/office/powerpoint/2010/main" val="4071491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Next Steps</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rcRect/>
          <a:stretch/>
        </p:blipFill>
        <p:spPr>
          <a:xfrm>
            <a:off x="741952" y="326959"/>
            <a:ext cx="10704919" cy="6204081"/>
          </a:xfrm>
          <a:prstGeom prst="rect">
            <a:avLst/>
          </a:prstGeom>
          <a:effectLst/>
        </p:spPr>
      </p:pic>
    </p:spTree>
    <p:extLst>
      <p:ext uri="{BB962C8B-B14F-4D97-AF65-F5344CB8AC3E}">
        <p14:creationId xmlns:p14="http://schemas.microsoft.com/office/powerpoint/2010/main" val="39623094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a:t>
            </a:r>
            <a:endParaRPr dirty="0"/>
          </a:p>
        </p:txBody>
      </p:sp>
      <p:sp>
        <p:nvSpPr>
          <p:cNvPr id="2" name="Google Shape;879;p147">
            <a:extLst>
              <a:ext uri="{FF2B5EF4-FFF2-40B4-BE49-F238E27FC236}">
                <a16:creationId xmlns:a16="http://schemas.microsoft.com/office/drawing/2014/main" id="{EE699A1B-DC13-C84D-9B67-3E4E126EE2B9}"/>
              </a:ext>
            </a:extLst>
          </p:cNvPr>
          <p:cNvSpPr txBox="1">
            <a:spLocks/>
          </p:cNvSpPr>
          <p:nvPr/>
        </p:nvSpPr>
        <p:spPr>
          <a:xfrm>
            <a:off x="455615" y="1146448"/>
            <a:ext cx="11277592" cy="2831544"/>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b="1" dirty="0">
                <a:latin typeface="Roboto" panose="02000000000000000000" pitchFamily="2" charset="0"/>
                <a:ea typeface="Roboto" panose="02000000000000000000" pitchFamily="2" charset="0"/>
                <a:cs typeface="Courier New" panose="02070309020205020404" pitchFamily="49" charset="0"/>
              </a:rPr>
              <a:t>AVCDL primary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Currently Used Deprecated Functions Document </a:t>
            </a:r>
            <a:r>
              <a:rPr lang="en-US" dirty="0">
                <a:latin typeface="Roboto" panose="02000000000000000000" pitchFamily="2" charset="0"/>
                <a:ea typeface="Roboto" panose="02000000000000000000" pitchFamily="2" charset="0"/>
                <a:cs typeface="Courier New" panose="02070309020205020404" pitchFamily="49" charset="0"/>
              </a:rPr>
              <a:t>(AVCDL secondary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Document </a:t>
            </a:r>
            <a:r>
              <a:rPr lang="en-US" dirty="0">
                <a:latin typeface="Roboto" panose="02000000000000000000" pitchFamily="2" charset="0"/>
                <a:ea typeface="Roboto" panose="02000000000000000000" pitchFamily="2" charset="0"/>
                <a:cs typeface="Courier New" panose="02070309020205020404" pitchFamily="49" charset="0"/>
              </a:rPr>
              <a:t>(AVCDL secondary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AVCDL deprecated functions catalog template </a:t>
            </a:r>
            <a:r>
              <a:rPr lang="en-US" dirty="0">
                <a:latin typeface="Roboto" panose="02000000000000000000" pitchFamily="2" charset="0"/>
                <a:ea typeface="Roboto" panose="02000000000000000000" pitchFamily="2" charset="0"/>
                <a:cs typeface="Courier New" panose="02070309020205020404" pitchFamily="49" charset="0"/>
              </a:rPr>
              <a:t>(AVCDL template)</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Deprecated Functions – Identify Functions Procedure </a:t>
            </a:r>
            <a:r>
              <a:rPr lang="en-US" dirty="0">
                <a:latin typeface="Roboto" panose="02000000000000000000" pitchFamily="2" charset="0"/>
                <a:ea typeface="Roboto" panose="02000000000000000000" pitchFamily="2" charset="0"/>
                <a:cs typeface="Courier New" panose="02070309020205020404" pitchFamily="49" charset="0"/>
              </a:rPr>
              <a:t>(AVCDL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 Apply Options Procedure </a:t>
            </a:r>
            <a:r>
              <a:rPr lang="en-US" dirty="0">
                <a:latin typeface="Roboto" panose="02000000000000000000" pitchFamily="2" charset="0"/>
                <a:ea typeface="Roboto" panose="02000000000000000000" pitchFamily="2" charset="0"/>
                <a:cs typeface="Courier New" panose="02070309020205020404" pitchFamily="49" charset="0"/>
              </a:rPr>
              <a:t>(AVCDL tertiary document)</a:t>
            </a:r>
          </a:p>
          <a:p>
            <a:pPr marL="0" indent="0">
              <a:spcBef>
                <a:spcPts val="0"/>
              </a:spcBef>
            </a:pPr>
            <a:endParaRPr lang="en-US" sz="1400" b="1" dirty="0">
              <a:latin typeface="Courier New" panose="02070309020205020404" pitchFamily="49" charset="0"/>
              <a:cs typeface="Courier New" panose="02070309020205020404" pitchFamily="49" charset="0"/>
            </a:endParaRPr>
          </a:p>
        </p:txBody>
      </p:sp>
      <p:sp>
        <p:nvSpPr>
          <p:cNvPr id="3" name="TextBox 2">
            <a:extLst>
              <a:ext uri="{FF2B5EF4-FFF2-40B4-BE49-F238E27FC236}">
                <a16:creationId xmlns:a16="http://schemas.microsoft.com/office/drawing/2014/main" id="{04196100-3210-8F6F-EB91-A22D494DD397}"/>
              </a:ext>
            </a:extLst>
          </p:cNvPr>
          <p:cNvSpPr txBox="1"/>
          <p:nvPr/>
        </p:nvSpPr>
        <p:spPr>
          <a:xfrm>
            <a:off x="11913079" y="5089585"/>
            <a:ext cx="184731" cy="307777"/>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255740004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419513</TotalTime>
  <Words>1810</Words>
  <Application>Microsoft Macintosh PowerPoint</Application>
  <PresentationFormat>Custom</PresentationFormat>
  <Paragraphs>377</Paragraphs>
  <Slides>17</Slides>
  <Notes>17</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17</vt:i4>
      </vt:variant>
    </vt:vector>
  </HeadingPairs>
  <TitlesOfParts>
    <vt:vector size="26" baseType="lpstr">
      <vt:lpstr>Calibri</vt:lpstr>
      <vt:lpstr>Roboto Medium</vt:lpstr>
      <vt:lpstr>Roboto</vt:lpstr>
      <vt:lpstr>Wingdings</vt:lpstr>
      <vt:lpstr>Courier New</vt:lpstr>
      <vt:lpstr>Arial</vt:lpstr>
      <vt:lpstr>Simple Light</vt:lpstr>
      <vt:lpstr>Motional Masters</vt:lpstr>
      <vt:lpstr>Motional Masters</vt:lpstr>
      <vt:lpstr>Deprecated Functions – Incorporate Scan</vt:lpstr>
      <vt:lpstr>Training Path</vt:lpstr>
      <vt:lpstr>Workflow</vt:lpstr>
      <vt:lpstr>Process Workflow</vt:lpstr>
      <vt:lpstr>Process Workflow</vt:lpstr>
      <vt:lpstr>Incorporate Scan Activity</vt:lpstr>
      <vt:lpstr>Scanning Tool</vt:lpstr>
      <vt:lpstr>Example</vt:lpstr>
      <vt:lpstr>Deprecated Functions – Formatting</vt:lpstr>
      <vt:lpstr>Recap</vt:lpstr>
      <vt:lpstr>Summary</vt:lpstr>
      <vt:lpstr>Example Materials</vt:lpstr>
      <vt:lpstr>Further Reading</vt:lpstr>
      <vt:lpstr>AVCDL on GitHub</vt:lpstr>
      <vt:lpstr>AVCDL on YouTube</vt:lpstr>
      <vt:lpstr>Next Steps</vt:lpstr>
      <vt:lpstr>References</vt:lpstr>
    </vt:vector>
  </TitlesOfParts>
  <Manager/>
  <Company>Torc Robotics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Deprecated Functions - Incorporate Scan (training)</dc:title>
  <dc:subject>deprecated functions - scan incorporation</dc:subject>
  <dc:creator>Charles Wilson</dc:creator>
  <cp:keywords>cybersecurity, deprecated functions</cp:keywords>
  <dc:description>This work was created by Torc Robotics and is licensed under the Creative Commons Attribution-Share Alike (CC BY-SA-4.0) License.
https://creativecommons.org/licenses/by/4.0/legalcode 
</dc:description>
  <cp:lastModifiedBy>Charles Wilson</cp:lastModifiedBy>
  <cp:revision>638</cp:revision>
  <cp:lastPrinted>2025-07-24T18:37:57Z</cp:lastPrinted>
  <dcterms:modified xsi:type="dcterms:W3CDTF">2026-04-09T14:21:20Z</dcterms:modified>
  <cp:category>deprecated functions</cp:category>
</cp:coreProperties>
</file>