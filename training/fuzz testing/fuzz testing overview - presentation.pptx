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2"/>
  </p:notesMasterIdLst>
  <p:sldIdLst>
    <p:sldId id="256" r:id="rId4"/>
    <p:sldId id="674" r:id="rId5"/>
    <p:sldId id="654" r:id="rId6"/>
    <p:sldId id="680" r:id="rId7"/>
    <p:sldId id="678" r:id="rId8"/>
    <p:sldId id="648" r:id="rId9"/>
    <p:sldId id="649" r:id="rId10"/>
    <p:sldId id="643" r:id="rId11"/>
    <p:sldId id="607" r:id="rId12"/>
    <p:sldId id="635" r:id="rId13"/>
    <p:sldId id="636" r:id="rId14"/>
    <p:sldId id="637" r:id="rId15"/>
    <p:sldId id="638" r:id="rId16"/>
    <p:sldId id="657" r:id="rId17"/>
    <p:sldId id="639" r:id="rId18"/>
    <p:sldId id="652" r:id="rId19"/>
    <p:sldId id="640" r:id="rId20"/>
    <p:sldId id="641" r:id="rId21"/>
    <p:sldId id="642" r:id="rId22"/>
    <p:sldId id="655" r:id="rId23"/>
    <p:sldId id="603" r:id="rId24"/>
    <p:sldId id="488" r:id="rId25"/>
    <p:sldId id="343" r:id="rId26"/>
    <p:sldId id="676" r:id="rId27"/>
    <p:sldId id="677" r:id="rId28"/>
    <p:sldId id="675" r:id="rId29"/>
    <p:sldId id="368" r:id="rId30"/>
    <p:sldId id="679" r:id="rId31"/>
  </p:sldIdLst>
  <p:sldSz cx="12188825" cy="6858000"/>
  <p:notesSz cx="6858000" cy="9144000"/>
  <p:embeddedFontLst>
    <p:embeddedFont>
      <p:font typeface="Roboto" panose="02000000000000000000" pitchFamily="2" charset="0"/>
      <p:regular r:id="rId33"/>
      <p:bold r:id="rId34"/>
      <p:italic r:id="rId35"/>
      <p:boldItalic r:id="rId36"/>
    </p:embeddedFont>
    <p:embeddedFont>
      <p:font typeface="Roboto Medium" panose="020000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E38194"/>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9"/>
    <p:restoredTop sz="68299"/>
  </p:normalViewPr>
  <p:slideViewPr>
    <p:cSldViewPr snapToGrid="0">
      <p:cViewPr varScale="1">
        <p:scale>
          <a:sx n="135" d="100"/>
          <a:sy n="135" d="100"/>
        </p:scale>
        <p:origin x="1304" y="168"/>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7.fntdata"/><Relationship Id="rId21" Type="http://schemas.openxmlformats.org/officeDocument/2006/relationships/slide" Target="slides/slide18.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4.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an overview of </a:t>
            </a:r>
            <a:r>
              <a:rPr lang="en" sz="1400" b="1" dirty="0"/>
              <a:t>Fuzz Testing</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an overview of </a:t>
            </a:r>
            <a:r>
              <a:rPr lang="en-US" sz="1400" b="1" dirty="0">
                <a:latin typeface="Calibri" panose="020F0502020204030204" pitchFamily="34" charset="0"/>
                <a:cs typeface="Calibri" panose="020F0502020204030204" pitchFamily="34" charset="0"/>
              </a:rPr>
              <a:t>Fuzz Testing</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684F43C-AFAB-53CD-E74A-A5645474020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9DB70FC-5244-0AB4-FEEB-5F419122ABC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9184644-0B65-58CF-2EAB-9C48AA0CA5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think about testing generally, and unit testing specifically, we tend to do so the same way we think about the creation of the code itself.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treat testing like a structured process, not unlike the chess board shown here.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we look at unit testing as our basis,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what we're doing is looking at a single aspect of an element and verifying that it behaves the way we expect it to.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focus on boundary conditions.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Does it handle specific good cases and specific bad cases as expected?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Fuzz testing is a different beast.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fact, although we performed fuzz testing before it had a name, which didn't come along until the late 1980s,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still applied its core mechanism, which is to utilize randomized input data.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Unlike our unit test analog of a chessboard,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fuzz testing is more like a roulette wheel.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modern approach to fuzz testing takes seed inputs that we know are correct,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mutates them, and then in an automated fashion,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feeds those inputs into the specific functions under consideration,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seeing how the system responds.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There's a whole lot more that goes on here, but that's basically what's happening.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 is unlike most of our other approaches to testing.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0296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1119014-D17C-98B5-7BA2-DC73A2BE2AA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5929D11-47BA-1260-A700-ADCB4A8E206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F70D6E1-C3C3-0BAD-590F-4D220DD880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we think about testing generally, and unit testing specifically, we tend to do so the same way we think about the creation of the code itself.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treat testing like a structured process, not unlike the chess board shown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look at unit testing as our basis,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we're doing is looking at a single aspect of an element and verifying that it behaves the way we expect it to.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focus on boundary conditions.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Does it handle specific good cases and specific bad cases as expected?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Fuzz testing is a different beast.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fact, although we performed fuzz testing before it had a name, which didn't come along until the late 1980s,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still applied its core mechanism, which is to utilize randomized input data.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Unlike our unit test analog of a chessboard,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fuzz testing is more like a roulette wheel.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modern approach to fuzz testing takes seed inputs that we know are correct,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mutates them, and then in an automated fashion,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feeds those inputs into the specific functions under consideration,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seeing how the system responds.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There's a whole lot more that goes on here, but that's basically what's happening.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 is unlike most of our other approaches to testing.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0461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D86CB46-E495-354F-B413-C7C40E6C535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D3BDE39-6248-EE22-B697-8E02B4C72F9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02130C7D-CE25-48B5-8014-3C42B2AB13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we think about testing generally, and unit testing specifically, we tend to do so the same way we think about the creation of the code itself.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treat testing like a structured process, not unlike the chess board shown here.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we look at unit testing as our basis,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what we're doing is looking at a single aspect of an element and verifying that it behaves the way we expect it to.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focus on boundary conditions.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Does it handle specific good cases and specific bad cases as expected?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Fuzz testing is a different beast.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fact, although we performed fuzz testing before it had a name, which didn't come along until the late 1980s,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still applied its core mechanism, which is to utilize randomized input data.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Unlike our unit test analog of a chessboard,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fuzz testing is more like a roulette wheel.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modern approach to fuzz testing takes seed inputs that we know are correct,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mutates them, and then in an automated fashion,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feeds those inputs into the specific functions under consideration,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seeing how the system responds.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There's a whole lot more that goes on here, but that's basically what's happening.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is unlike most of our other approaches to testing.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18990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Like most of the activities we undertake in cybersecurity, fuzz testing is not inherently cybersecurity specific.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Fuzz testing is a methodology.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[pause]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how do we use fuzz testing In a cybersecurity context?</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448404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886532A-380C-22B7-BD1C-0AF23EECB76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B310BD2-ED13-4067-0E87-1573701BDC4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402BD7-639E-5887-1C51-D7A3A13459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approach to fuzz testing, from a cybersecurity perspective is straightforward.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focus on cybersecurity-relevant elements.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were to simply take any element of the system and perform fuzz testing on it, it would almost certainly expose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vast majority of those issues (although valid) are not going to be cybersecurity-relevant.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because cybersecurity teams are small, it's important to concentrate the efforts of the cybersecurity team on those areas which they are most qualified to be able to address.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 do we establish which elements are cybersecurity relevant?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guide that by using the results of the attack surface analysis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this analysis which identifies the system’s cybersecurity-relevant elements.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1304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322BDB-CB5D-0C03-0555-46EED654BB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D268CDA-6677-C4D0-88C5-17F47F7C5F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8EE4E46-E858-EFBB-5F74-DE25C0528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With the background material out of the way, we'll now look at the workflow involved in the fuzz testing process and then examine each of the activities it contains.</a:t>
            </a:r>
          </a:p>
        </p:txBody>
      </p:sp>
    </p:spTree>
    <p:extLst>
      <p:ext uri="{BB962C8B-B14F-4D97-AF65-F5344CB8AC3E}">
        <p14:creationId xmlns:p14="http://schemas.microsoft.com/office/powerpoint/2010/main" val="507866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workflow for performing the fuzz testing process is broken down into four discrete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creating the test</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testing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as a result of the testing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The workflow for performing the dynamic analysis process is broken down into four discrete activities.</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 instrumenting the element</a:t>
            </a: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 conducting a triage of the issues identified as a result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dynamic analysis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instrumenting the element</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as a result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9987C0B-F244-033E-9AF2-7B06566965E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2F3E5E-E291-AF33-85C4-E174B8DF89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E5DFBE6-D102-45F1-9011-12DED4B37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dynamic analysis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instrumenting the element</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as a result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46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DE055D-969C-1251-8D4B-9A5D6A6EF8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FCEE36-4BC2-7CF5-2272-6001940871B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DCD742C-D5B3-C0E2-0697-8287358F5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dynamic analysis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instrumenting the element</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conducting a triage of the issues identified as a result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9887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916994B-81A7-FD2F-0DD2-87A0F1D793F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19CD809-9EE9-F786-9A72-ABAC4499553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4ACB8B14-8400-EE26-9BD8-C7664FFD4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Let's now turn our attention to each of the activities that go into the fuzz testing process.</a:t>
            </a:r>
            <a:endParaRPr lang="en-US" sz="11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210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00E1AB-7115-90FD-7437-DFCEAAA40C4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450A65D-F255-0B0B-57E8-D86EE45DB14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3CD2430-2185-2815-4A74-C8DAD4A0C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first activity in the fuzz testing process is that of establishing the settings we'll use.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development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fuzz testing SME,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DevOps SME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build file,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testing framework documentation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establish a set of settings to be used for fuzz testing.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will be put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updated build file.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produce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security options qualifications report.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this diagram seems really information dense, that's because this is the encapsulation of the Secure Settings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not going to cover that here because we have a separate training for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a general note in the context of fuzz testing, we use this activity of settings establishment very loosely.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includes any modifications to the build environment needed to enable fuzz testing.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will be covered in greater detail in the Fuzz Testing – Establish Settings Procedure.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we're impacting the build, it's important to consider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execution time,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footprint.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for this is that since fuzz testing is part of the test suite to be executed, it may be time-bounded.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it's important to consider how that time-bounding will be impacted by the addition of fuzz testing.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same is true for the footprint.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instrumentation that's put into a test and attached to an element, regardless of what the scope of the element is, you may run into boundary conditions for the particular system the code is running on, and you have to be cognizant of that.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whenever you're making changes to the build system.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 sure to preflight the build to ensure that the pieces that you're modifying or tooling you’re adding don't break the build.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7842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Coming back to the Secure Settings process for a moment, here are some references to review for more detail.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 are the Secure Settings Overview training video, and the Secure Settings Document, secondary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8026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step in the fuzz testing process is to create the fuzz test.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testing SME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DevOps SME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updated build file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 unit test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using them create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element fuzz test.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to emphasize that generally we're simply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copying an existing unit test and modifying it to allow the fuzz testing framework to run against the element.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Remember,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focus is specific to cybersecurity.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with all unit testing,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the test scope small.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some cases, this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may be fully automated.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to say that given the build file with the updated settings and knowledge about the element we're intending to fuzz test,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may be feasible to apply automation capable of using this information to generate fuzz tests.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 the other hand, when there exists no unit test, one will need to be written.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Either way, it's important to recognize that tests don't magic themselves into existence.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7242B09-60CB-093C-3665-0BE0CBF28C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CE8B22D-FCE0-EE21-395B-818BE302EE8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2BA6D2E-FA08-FBD1-5F48-24D2104786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activity in the fuzz testing process is that of performing the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build system invokes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 fuzz test which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performs the fuzz testing and generates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fuzz testing output.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we need to think about things like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failure modes.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Depending on how the fuzz testing framework has been utilized, you may have a simple failure such as “this was my expected result, and this is the result that I got.”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could be an exception thrown that the framework catches.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Or the application could just crash.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have to consider all of these various cases when establishing the test.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consideration is that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resource impact.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was addressed in the Establish Settings activity, but it’s worth reiterating.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added the fuzz testing framework to the build system to enable its use, we considered the impact it would have on the build system’s resources.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Those being the time and space requirements of fuzz testing with respect to the overall build system constraints.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Those are definitely going to manifest here and we need to pay attention to that impact as we run the tests that we've created.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final thing to note here is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testing may be performed manually.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may seem obvious, but since there are no actors called out in this diagram, the anticipation may be that only the build system will execute these tests.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But as with all things which are automated, you first run the test manually and then automate it.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64395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588400E-8DF2-7D35-2CC7-63C565307AB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8C7C75E-F25A-7DE9-DEDF-1A37FDFDB54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C4CF5F0-3B82-DBC3-2DF1-B8C3EBC936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final activity in the fuzz testing process, as with so many AVCDL processes, is that of triage.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testing SME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their development SME counterpart will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testing output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triage it.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Any anomalous behavior needing further investigation is put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triaged issues list.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Which is then sent to the threat prioritization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a fuzz testing report is generated.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Some may consider having to put every issue through the threat prioritization process as excessive.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Depending on how the organization implements their processes, it is possible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issues may be entered directly into the issue tracking system instead of passing them to the threat prioritization process when the nature of the issue is unambiguous.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if you're performing triage and discover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tooling is reporting false positives, then you should review the fuzz test and update it appropriately.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2782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02500B6-CC10-84C8-ABDC-BD638F1D5AD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35F4D31-BB3F-01C8-896C-9B094114FCE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F737493-1B2F-17A8-FD0F-8A54920732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three essential pieces of information needed in the fuzz testing report.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the tooling, that is the fuzz testing framework employed.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may seem nonessential but consider that there's not just one fuzz testing report that will ever be generated, there are a multitude of them.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as this information progresses through the threat prioritization process, and is entered into the issue tracking system, even as it's read, it's critical to know the specific tooling being 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extends beyond just its name.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There's a whole host of information needed to identify what was used to perform the analysis.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thing to consider is the documentation of the element.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may have chosen the scope, and conducted the testing based on that scope, but it's important that this be documented in a way that allows others to easily locate it.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 have the results.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in mind that there may only be one issue depending on the failure modes in use.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takeaway is that we need to ensure that we're including all information necessary for someone to both replicate and resolve the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2765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That's an overview of the process used in performing fuzz testing.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review what we’ve covered.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undertake fuzz testing, we want to first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select and enable the tooling.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build the test, keeping in mind that it needs to be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cybersecurity focused.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then run the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Triage the results, and finally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report the findings.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more information, and to get a more in-depth set of references, the </a:t>
            </a:r>
            <a:r>
              <a:rPr lang="en-US" sz="1400" b="1" dirty="0">
                <a:latin typeface="Calibri" panose="020F0502020204030204" pitchFamily="34" charset="0"/>
                <a:cs typeface="Calibri" panose="020F0502020204030204" pitchFamily="34" charset="0"/>
              </a:rPr>
              <a:t>Fuzz Testing Report </a:t>
            </a:r>
            <a:r>
              <a:rPr lang="en-US" sz="1400" b="0" dirty="0">
                <a:latin typeface="Calibri" panose="020F0502020204030204" pitchFamily="34" charset="0"/>
                <a:cs typeface="Calibri" panose="020F0502020204030204" pitchFamily="34" charset="0"/>
              </a:rPr>
              <a:t>and</a:t>
            </a:r>
            <a:r>
              <a:rPr lang="en-US" sz="1400" b="1" dirty="0">
                <a:latin typeface="Calibri" panose="020F0502020204030204" pitchFamily="34" charset="0"/>
                <a:cs typeface="Calibri" panose="020F0502020204030204" pitchFamily="34" charset="0"/>
              </a:rPr>
              <a:t> Attack Surface Analysis Report </a:t>
            </a:r>
            <a:r>
              <a:rPr lang="en-US" sz="1400" dirty="0">
                <a:latin typeface="Calibri" panose="020F0502020204030204" pitchFamily="34" charset="0"/>
                <a:cs typeface="Calibri" panose="020F0502020204030204" pitchFamily="34" charset="0"/>
              </a:rPr>
              <a:t>secondary documents are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 if you’ve completed the other trainings covering the </a:t>
            </a:r>
            <a:r>
              <a:rPr lang="en-US" sz="1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Fuzz Testing </a:t>
            </a: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process activities,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Dynamic Analysis</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034B6CC5-2BBF-C4B4-E5DA-2AEE13815DBA}"/>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FD88C843-0B26-0A07-8EA5-2BC29E239B3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a:extLst>
              <a:ext uri="{FF2B5EF4-FFF2-40B4-BE49-F238E27FC236}">
                <a16:creationId xmlns:a16="http://schemas.microsoft.com/office/drawing/2014/main" id="{47D2698E-86F5-7FC4-924D-4756CE6703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1487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docs.oasis-open.org/sarif/sarif/v2.1.0/os/sarif-v2.1.0-os.pdf"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hyperlink" Target="https://en.wikipedia.org/wiki/Unit_testing" TargetMode="External"/><Relationship Id="rId5" Type="http://schemas.openxmlformats.org/officeDocument/2006/relationships/hyperlink" Target="https://en.wikipedia.org/wiki/Fuzzing" TargetMode="External"/><Relationship Id="rId4" Type="http://schemas.openxmlformats.org/officeDocument/2006/relationships/hyperlink" Target="https://cwe.mitre.org/"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commons.wikimedia.org/wiki/File:13-02-27-spielbank-wiesbaden-by-RalfR-094.jpg" TargetMode="External"/><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Fuzz Testing Overview</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3</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2026-05-04</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37A97D27-02A2-F2AB-2E44-4570BDBFB628}"/>
              </a:ext>
            </a:extLst>
          </p:cNvPr>
          <p:cNvSpPr/>
          <p:nvPr/>
        </p:nvSpPr>
        <p:spPr>
          <a:xfrm>
            <a:off x="9939930" y="139594"/>
            <a:ext cx="2129109"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AVCDL-Implementation-10.1</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186224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6F03F20-507D-D23F-DB6C-1951C8FE079D}"/>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B028FB8F-53D3-B6BE-4526-06C7E5BEF5A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a:t>
            </a:r>
            <a:endParaRPr baseline="30000" dirty="0">
              <a:solidFill>
                <a:srgbClr val="FFFF00"/>
              </a:solidFill>
            </a:endParaRPr>
          </a:p>
        </p:txBody>
      </p:sp>
    </p:spTree>
    <p:extLst>
      <p:ext uri="{BB962C8B-B14F-4D97-AF65-F5344CB8AC3E}">
        <p14:creationId xmlns:p14="http://schemas.microsoft.com/office/powerpoint/2010/main" val="174878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BE5100B-C7CC-C9FE-5076-42DC02981DC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FE08275-6DED-7509-4B7B-34643787201A}"/>
              </a:ext>
            </a:extLst>
          </p:cNvPr>
          <p:cNvPicPr>
            <a:picLocks noChangeAspect="1"/>
          </p:cNvPicPr>
          <p:nvPr/>
        </p:nvPicPr>
        <p:blipFill>
          <a:blip r:embed="rId3"/>
          <a:srcRect t="13200" b="2287"/>
          <a:stretch>
            <a:fillRect/>
          </a:stretch>
        </p:blipFill>
        <p:spPr>
          <a:xfrm>
            <a:off x="1" y="0"/>
            <a:ext cx="12188824" cy="6858000"/>
          </a:xfrm>
          <a:prstGeom prst="rect">
            <a:avLst/>
          </a:prstGeom>
        </p:spPr>
      </p:pic>
      <p:sp>
        <p:nvSpPr>
          <p:cNvPr id="1199" name="Google Shape;1199;p156">
            <a:extLst>
              <a:ext uri="{FF2B5EF4-FFF2-40B4-BE49-F238E27FC236}">
                <a16:creationId xmlns:a16="http://schemas.microsoft.com/office/drawing/2014/main" id="{1049D44F-1ED5-28B0-50C5-47A46715DFC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 </a:t>
            </a:r>
            <a:r>
              <a:rPr lang="en" baseline="30000" dirty="0">
                <a:solidFill>
                  <a:srgbClr val="FFFF00"/>
                </a:solidFill>
              </a:rPr>
              <a:t>*</a:t>
            </a:r>
            <a:endParaRPr baseline="30000" dirty="0">
              <a:solidFill>
                <a:srgbClr val="FFFF00"/>
              </a:solidFill>
            </a:endParaRPr>
          </a:p>
        </p:txBody>
      </p:sp>
      <p:sp>
        <p:nvSpPr>
          <p:cNvPr id="6" name="TextBox 5">
            <a:extLst>
              <a:ext uri="{FF2B5EF4-FFF2-40B4-BE49-F238E27FC236}">
                <a16:creationId xmlns:a16="http://schemas.microsoft.com/office/drawing/2014/main" id="{BE7F5274-CE53-AF13-E2B7-FE1A30F86148}"/>
              </a:ext>
            </a:extLst>
          </p:cNvPr>
          <p:cNvSpPr txBox="1"/>
          <p:nvPr/>
        </p:nvSpPr>
        <p:spPr>
          <a:xfrm>
            <a:off x="1" y="6596390"/>
            <a:ext cx="4480559" cy="261610"/>
          </a:xfrm>
          <a:prstGeom prst="rect">
            <a:avLst/>
          </a:prstGeom>
          <a:noFill/>
        </p:spPr>
        <p:txBody>
          <a:bodyPr wrap="square">
            <a:spAutoFit/>
          </a:bodyPr>
          <a:lstStyle/>
          <a:p>
            <a:r>
              <a:rPr lang="en-US" sz="1100" b="1" dirty="0">
                <a:solidFill>
                  <a:srgbClr val="FFFF00"/>
                </a:solidFill>
              </a:rPr>
              <a:t>* </a:t>
            </a:r>
            <a:r>
              <a:rPr lang="en-US" sz="1100" b="1" i="1" dirty="0">
                <a:solidFill>
                  <a:srgbClr val="FFFF00"/>
                </a:solidFill>
              </a:rPr>
              <a:t>Setup at the start of a chess game </a:t>
            </a:r>
            <a:r>
              <a:rPr lang="en-US" sz="1100" dirty="0">
                <a:solidFill>
                  <a:srgbClr val="FFFF00"/>
                </a:solidFill>
              </a:rPr>
              <a:t>(link in references) </a:t>
            </a:r>
          </a:p>
        </p:txBody>
      </p:sp>
    </p:spTree>
    <p:extLst>
      <p:ext uri="{BB962C8B-B14F-4D97-AF65-F5344CB8AC3E}">
        <p14:creationId xmlns:p14="http://schemas.microsoft.com/office/powerpoint/2010/main" val="2064221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B828936-A55B-5315-1C7A-9DC89DC40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53C916-617A-7CB2-33C1-668E338656B4}"/>
              </a:ext>
            </a:extLst>
          </p:cNvPr>
          <p:cNvPicPr>
            <a:picLocks noChangeAspect="1"/>
          </p:cNvPicPr>
          <p:nvPr/>
        </p:nvPicPr>
        <p:blipFill>
          <a:blip r:embed="rId3"/>
          <a:srcRect l="338" t="556" r="338" b="15658"/>
          <a:stretch>
            <a:fillRect/>
          </a:stretch>
        </p:blipFill>
        <p:spPr>
          <a:xfrm>
            <a:off x="-5764" y="0"/>
            <a:ext cx="12194588" cy="6858000"/>
          </a:xfrm>
          <a:prstGeom prst="rect">
            <a:avLst/>
          </a:prstGeom>
        </p:spPr>
      </p:pic>
      <p:sp>
        <p:nvSpPr>
          <p:cNvPr id="1199" name="Google Shape;1199;p156">
            <a:extLst>
              <a:ext uri="{FF2B5EF4-FFF2-40B4-BE49-F238E27FC236}">
                <a16:creationId xmlns:a16="http://schemas.microsoft.com/office/drawing/2014/main" id="{B8CC3521-1A67-ABED-9F06-2CA02F0DBF8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bg1"/>
                </a:solidFill>
              </a:rPr>
              <a:t>Introduction</a:t>
            </a:r>
            <a:r>
              <a:rPr lang="en" dirty="0">
                <a:solidFill>
                  <a:schemeClr val="tx1"/>
                </a:solidFill>
              </a:rPr>
              <a:t> </a:t>
            </a:r>
            <a:r>
              <a:rPr lang="en" baseline="30000" dirty="0">
                <a:solidFill>
                  <a:schemeClr val="bg2">
                    <a:lumMod val="40000"/>
                    <a:lumOff val="60000"/>
                  </a:schemeClr>
                </a:solidFill>
              </a:rPr>
              <a:t>*</a:t>
            </a:r>
            <a:endParaRPr baseline="30000" dirty="0">
              <a:solidFill>
                <a:schemeClr val="bg2">
                  <a:lumMod val="40000"/>
                  <a:lumOff val="60000"/>
                </a:schemeClr>
              </a:solidFill>
            </a:endParaRPr>
          </a:p>
        </p:txBody>
      </p:sp>
      <p:sp>
        <p:nvSpPr>
          <p:cNvPr id="6" name="TextBox 5">
            <a:extLst>
              <a:ext uri="{FF2B5EF4-FFF2-40B4-BE49-F238E27FC236}">
                <a16:creationId xmlns:a16="http://schemas.microsoft.com/office/drawing/2014/main" id="{F32BC122-3B4E-B8FF-A5B9-F9448C2B49A8}"/>
              </a:ext>
            </a:extLst>
          </p:cNvPr>
          <p:cNvSpPr txBox="1"/>
          <p:nvPr/>
        </p:nvSpPr>
        <p:spPr>
          <a:xfrm>
            <a:off x="1" y="6596390"/>
            <a:ext cx="4480559" cy="261610"/>
          </a:xfrm>
          <a:prstGeom prst="rect">
            <a:avLst/>
          </a:prstGeom>
          <a:noFill/>
        </p:spPr>
        <p:txBody>
          <a:bodyPr wrap="square">
            <a:spAutoFit/>
          </a:bodyPr>
          <a:lstStyle/>
          <a:p>
            <a:r>
              <a:rPr lang="en-US" sz="1100" b="1" dirty="0">
                <a:solidFill>
                  <a:schemeClr val="bg2">
                    <a:lumMod val="40000"/>
                    <a:lumOff val="60000"/>
                  </a:schemeClr>
                </a:solidFill>
              </a:rPr>
              <a:t>* </a:t>
            </a:r>
            <a:r>
              <a:rPr lang="en-US" sz="1100" b="1" i="1" dirty="0">
                <a:solidFill>
                  <a:schemeClr val="bg2">
                    <a:lumMod val="40000"/>
                    <a:lumOff val="60000"/>
                  </a:schemeClr>
                </a:solidFill>
              </a:rPr>
              <a:t>Roulette ball </a:t>
            </a:r>
            <a:r>
              <a:rPr lang="en-US" sz="1100" dirty="0">
                <a:solidFill>
                  <a:schemeClr val="bg2">
                    <a:lumMod val="40000"/>
                    <a:lumOff val="60000"/>
                  </a:schemeClr>
                </a:solidFill>
              </a:rPr>
              <a:t>(link in references) </a:t>
            </a:r>
          </a:p>
        </p:txBody>
      </p:sp>
    </p:spTree>
    <p:extLst>
      <p:ext uri="{BB962C8B-B14F-4D97-AF65-F5344CB8AC3E}">
        <p14:creationId xmlns:p14="http://schemas.microsoft.com/office/powerpoint/2010/main" val="3659576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Approach</a:t>
            </a:r>
            <a:endParaRPr sz="6600" dirty="0"/>
          </a:p>
        </p:txBody>
      </p:sp>
    </p:spTree>
    <p:extLst>
      <p:ext uri="{BB962C8B-B14F-4D97-AF65-F5344CB8AC3E}">
        <p14:creationId xmlns:p14="http://schemas.microsoft.com/office/powerpoint/2010/main" val="190089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71D25F0-0C1B-F6FA-0ECC-AB5A3C529DC4}"/>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F538298-3093-2CFE-90C4-C39479A75CF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Cybersecurity Approach</a:t>
            </a:r>
            <a:endParaRPr dirty="0"/>
          </a:p>
        </p:txBody>
      </p:sp>
      <p:sp>
        <p:nvSpPr>
          <p:cNvPr id="2" name="TextBox 1">
            <a:extLst>
              <a:ext uri="{FF2B5EF4-FFF2-40B4-BE49-F238E27FC236}">
                <a16:creationId xmlns:a16="http://schemas.microsoft.com/office/drawing/2014/main" id="{4A9AAC1A-8013-D326-366B-3C29EF09F35E}"/>
              </a:ext>
            </a:extLst>
          </p:cNvPr>
          <p:cNvSpPr txBox="1"/>
          <p:nvPr/>
        </p:nvSpPr>
        <p:spPr>
          <a:xfrm>
            <a:off x="455617" y="1437554"/>
            <a:ext cx="11277833" cy="1107996"/>
          </a:xfrm>
          <a:prstGeom prst="rect">
            <a:avLst/>
          </a:prstGeom>
          <a:noFill/>
        </p:spPr>
        <p:txBody>
          <a:bodyPr wrap="squar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Focus on cybersecurity-relevant elements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Guided by attack surface analysis</a:t>
            </a:r>
          </a:p>
        </p:txBody>
      </p:sp>
    </p:spTree>
    <p:extLst>
      <p:ext uri="{BB962C8B-B14F-4D97-AF65-F5344CB8AC3E}">
        <p14:creationId xmlns:p14="http://schemas.microsoft.com/office/powerpoint/2010/main" val="93466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39DA21B-89EB-986D-847D-4B42780BEBB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FF19A58-92B6-1DFA-4D72-00089100477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2845624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4DD5FF4-D58F-1BF9-8E1C-367DD4BEA5FB}"/>
              </a:ext>
            </a:extLst>
          </p:cNvPr>
          <p:cNvPicPr>
            <a:picLocks noChangeAspect="1"/>
          </p:cNvPicPr>
          <p:nvPr/>
        </p:nvPicPr>
        <p:blipFill>
          <a:blip r:embed="rId3"/>
          <a:srcRect/>
          <a:stretch/>
        </p:blipFill>
        <p:spPr>
          <a:xfrm>
            <a:off x="238268" y="1625725"/>
            <a:ext cx="11712288" cy="3606549"/>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spTree>
    <p:extLst>
      <p:ext uri="{BB962C8B-B14F-4D97-AF65-F5344CB8AC3E}">
        <p14:creationId xmlns:p14="http://schemas.microsoft.com/office/powerpoint/2010/main" val="4278405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6" name="Picture 5">
            <a:extLst>
              <a:ext uri="{FF2B5EF4-FFF2-40B4-BE49-F238E27FC236}">
                <a16:creationId xmlns:a16="http://schemas.microsoft.com/office/drawing/2014/main" id="{65BDA7F5-1597-7FB3-01E6-3598A841EED7}"/>
              </a:ext>
            </a:extLst>
          </p:cNvPr>
          <p:cNvPicPr>
            <a:picLocks noChangeAspect="1"/>
          </p:cNvPicPr>
          <p:nvPr/>
        </p:nvPicPr>
        <p:blipFill>
          <a:blip r:embed="rId3"/>
          <a:srcRect/>
          <a:stretch/>
        </p:blipFill>
        <p:spPr>
          <a:xfrm>
            <a:off x="238269" y="1625725"/>
            <a:ext cx="3030652" cy="3606549"/>
          </a:xfrm>
          <a:prstGeom prst="rect">
            <a:avLst/>
          </a:prstGeom>
        </p:spPr>
      </p:pic>
      <p:pic>
        <p:nvPicPr>
          <p:cNvPr id="9" name="Picture 8">
            <a:extLst>
              <a:ext uri="{FF2B5EF4-FFF2-40B4-BE49-F238E27FC236}">
                <a16:creationId xmlns:a16="http://schemas.microsoft.com/office/drawing/2014/main" id="{E4DBD81A-1A61-E920-02AB-A015FAC38D09}"/>
              </a:ext>
            </a:extLst>
          </p:cNvPr>
          <p:cNvPicPr>
            <a:picLocks noChangeAspect="1"/>
          </p:cNvPicPr>
          <p:nvPr/>
        </p:nvPicPr>
        <p:blipFill>
          <a:blip r:embed="rId4">
            <a:alphaModFix amt="10000"/>
          </a:blip>
          <a:srcRect/>
          <a:stretch/>
        </p:blipFill>
        <p:spPr>
          <a:xfrm>
            <a:off x="238268" y="1625725"/>
            <a:ext cx="11712288" cy="3606549"/>
          </a:xfrm>
          <a:prstGeom prst="rect">
            <a:avLst/>
          </a:prstGeom>
        </p:spPr>
      </p:pic>
    </p:spTree>
    <p:extLst>
      <p:ext uri="{BB962C8B-B14F-4D97-AF65-F5344CB8AC3E}">
        <p14:creationId xmlns:p14="http://schemas.microsoft.com/office/powerpoint/2010/main" val="2999320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7" name="Picture 6">
            <a:extLst>
              <a:ext uri="{FF2B5EF4-FFF2-40B4-BE49-F238E27FC236}">
                <a16:creationId xmlns:a16="http://schemas.microsoft.com/office/drawing/2014/main" id="{FB07FC00-A3BE-0727-1642-48A51B801757}"/>
              </a:ext>
            </a:extLst>
          </p:cNvPr>
          <p:cNvPicPr>
            <a:picLocks noChangeAspect="1"/>
          </p:cNvPicPr>
          <p:nvPr/>
        </p:nvPicPr>
        <p:blipFill>
          <a:blip r:embed="rId3"/>
          <a:srcRect/>
          <a:stretch/>
        </p:blipFill>
        <p:spPr>
          <a:xfrm>
            <a:off x="2573627" y="1625725"/>
            <a:ext cx="3714529" cy="3606549"/>
          </a:xfrm>
          <a:prstGeom prst="rect">
            <a:avLst/>
          </a:prstGeom>
        </p:spPr>
      </p:pic>
      <p:pic>
        <p:nvPicPr>
          <p:cNvPr id="2" name="Picture 1">
            <a:extLst>
              <a:ext uri="{FF2B5EF4-FFF2-40B4-BE49-F238E27FC236}">
                <a16:creationId xmlns:a16="http://schemas.microsoft.com/office/drawing/2014/main" id="{3AD4E2CD-1FC5-7D4B-9790-EDF843FDB015}"/>
              </a:ext>
            </a:extLst>
          </p:cNvPr>
          <p:cNvPicPr>
            <a:picLocks noChangeAspect="1"/>
          </p:cNvPicPr>
          <p:nvPr/>
        </p:nvPicPr>
        <p:blipFill>
          <a:blip r:embed="rId4">
            <a:alphaModFix amt="10000"/>
          </a:blip>
          <a:srcRect/>
          <a:stretch/>
        </p:blipFill>
        <p:spPr>
          <a:xfrm>
            <a:off x="238268" y="1625725"/>
            <a:ext cx="11712288" cy="3606549"/>
          </a:xfrm>
          <a:prstGeom prst="rect">
            <a:avLst/>
          </a:prstGeom>
        </p:spPr>
      </p:pic>
    </p:spTree>
    <p:extLst>
      <p:ext uri="{BB962C8B-B14F-4D97-AF65-F5344CB8AC3E}">
        <p14:creationId xmlns:p14="http://schemas.microsoft.com/office/powerpoint/2010/main" val="1694418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B2164A-295A-0288-9D11-2D1D1B6D7A8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978AB51-0A05-7CED-E08D-2D4FDCD3DA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8" name="Picture 7">
            <a:extLst>
              <a:ext uri="{FF2B5EF4-FFF2-40B4-BE49-F238E27FC236}">
                <a16:creationId xmlns:a16="http://schemas.microsoft.com/office/drawing/2014/main" id="{3EE13257-C19F-94C4-5416-24672D4E9893}"/>
              </a:ext>
            </a:extLst>
          </p:cNvPr>
          <p:cNvPicPr>
            <a:picLocks noChangeAspect="1"/>
          </p:cNvPicPr>
          <p:nvPr/>
        </p:nvPicPr>
        <p:blipFill>
          <a:blip r:embed="rId3"/>
          <a:srcRect/>
          <a:stretch/>
        </p:blipFill>
        <p:spPr>
          <a:xfrm>
            <a:off x="5566318" y="1625725"/>
            <a:ext cx="2958665" cy="3606549"/>
          </a:xfrm>
          <a:prstGeom prst="rect">
            <a:avLst/>
          </a:prstGeom>
        </p:spPr>
      </p:pic>
      <p:pic>
        <p:nvPicPr>
          <p:cNvPr id="3" name="Picture 2">
            <a:extLst>
              <a:ext uri="{FF2B5EF4-FFF2-40B4-BE49-F238E27FC236}">
                <a16:creationId xmlns:a16="http://schemas.microsoft.com/office/drawing/2014/main" id="{94BB5D3E-B650-7C3E-7356-29DC0590FA43}"/>
              </a:ext>
            </a:extLst>
          </p:cNvPr>
          <p:cNvPicPr>
            <a:picLocks noChangeAspect="1"/>
          </p:cNvPicPr>
          <p:nvPr/>
        </p:nvPicPr>
        <p:blipFill>
          <a:blip r:embed="rId4">
            <a:alphaModFix amt="10000"/>
          </a:blip>
          <a:srcRect/>
          <a:stretch/>
        </p:blipFill>
        <p:spPr>
          <a:xfrm>
            <a:off x="238268" y="1625725"/>
            <a:ext cx="11712288" cy="3606549"/>
          </a:xfrm>
          <a:prstGeom prst="rect">
            <a:avLst/>
          </a:prstGeom>
        </p:spPr>
      </p:pic>
    </p:spTree>
    <p:extLst>
      <p:ext uri="{BB962C8B-B14F-4D97-AF65-F5344CB8AC3E}">
        <p14:creationId xmlns:p14="http://schemas.microsoft.com/office/powerpoint/2010/main" val="3273970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FFD8B6E-37C9-C610-8072-4A447D4CB93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B3929E1-F49D-5C30-C8D4-BB0C7835BE8E}"/>
              </a:ext>
            </a:extLst>
          </p:cNvPr>
          <p:cNvPicPr>
            <a:picLocks noChangeAspect="1"/>
          </p:cNvPicPr>
          <p:nvPr/>
        </p:nvPicPr>
        <p:blipFill>
          <a:blip r:embed="rId3">
            <a:alphaModFix amt="10000"/>
          </a:blip>
          <a:srcRect/>
          <a:stretch/>
        </p:blipFill>
        <p:spPr>
          <a:xfrm>
            <a:off x="238268" y="1625725"/>
            <a:ext cx="11712288" cy="3606549"/>
          </a:xfrm>
          <a:prstGeom prst="rect">
            <a:avLst/>
          </a:prstGeom>
        </p:spPr>
      </p:pic>
      <p:sp>
        <p:nvSpPr>
          <p:cNvPr id="1199" name="Google Shape;1199;p156">
            <a:extLst>
              <a:ext uri="{FF2B5EF4-FFF2-40B4-BE49-F238E27FC236}">
                <a16:creationId xmlns:a16="http://schemas.microsoft.com/office/drawing/2014/main" id="{4894D278-0016-91EE-ADF1-C155A2D7795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13" name="Picture 12">
            <a:extLst>
              <a:ext uri="{FF2B5EF4-FFF2-40B4-BE49-F238E27FC236}">
                <a16:creationId xmlns:a16="http://schemas.microsoft.com/office/drawing/2014/main" id="{137DA9A9-C814-A7C1-CC08-19FAD25BA22C}"/>
              </a:ext>
            </a:extLst>
          </p:cNvPr>
          <p:cNvPicPr>
            <a:picLocks noChangeAspect="1"/>
          </p:cNvPicPr>
          <p:nvPr/>
        </p:nvPicPr>
        <p:blipFill>
          <a:blip r:embed="rId4"/>
          <a:srcRect/>
          <a:stretch/>
        </p:blipFill>
        <p:spPr>
          <a:xfrm>
            <a:off x="7716467" y="1625725"/>
            <a:ext cx="4234089" cy="3606549"/>
          </a:xfrm>
          <a:prstGeom prst="rect">
            <a:avLst/>
          </a:prstGeom>
        </p:spPr>
      </p:pic>
    </p:spTree>
    <p:extLst>
      <p:ext uri="{BB962C8B-B14F-4D97-AF65-F5344CB8AC3E}">
        <p14:creationId xmlns:p14="http://schemas.microsoft.com/office/powerpoint/2010/main" val="2919342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683F98B-0865-389F-7AC7-DB4A13CA4584}"/>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D603143-1F2F-5768-3F3D-390A4DC5B798}"/>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Activities</a:t>
            </a:r>
            <a:endParaRPr sz="6600" dirty="0"/>
          </a:p>
        </p:txBody>
      </p:sp>
    </p:spTree>
    <p:extLst>
      <p:ext uri="{BB962C8B-B14F-4D97-AF65-F5344CB8AC3E}">
        <p14:creationId xmlns:p14="http://schemas.microsoft.com/office/powerpoint/2010/main" val="3803324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05FA8F0-CA02-D0F4-C6EC-ABE2B96C309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C5F5F98-BA62-DD58-04BF-CF03D1FA659F}"/>
              </a:ext>
            </a:extLst>
          </p:cNvPr>
          <p:cNvPicPr>
            <a:picLocks noChangeAspect="1"/>
          </p:cNvPicPr>
          <p:nvPr/>
        </p:nvPicPr>
        <p:blipFill>
          <a:blip r:embed="rId3"/>
          <a:srcRect/>
          <a:stretch/>
        </p:blipFill>
        <p:spPr>
          <a:xfrm>
            <a:off x="6094412" y="759292"/>
            <a:ext cx="4486814" cy="5339416"/>
          </a:xfrm>
          <a:prstGeom prst="rect">
            <a:avLst/>
          </a:prstGeom>
        </p:spPr>
      </p:pic>
      <p:sp>
        <p:nvSpPr>
          <p:cNvPr id="1199" name="Google Shape;1199;p156">
            <a:extLst>
              <a:ext uri="{FF2B5EF4-FFF2-40B4-BE49-F238E27FC236}">
                <a16:creationId xmlns:a16="http://schemas.microsoft.com/office/drawing/2014/main" id="{09AF6A5B-351A-2131-38B9-D4541B16555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 Settings</a:t>
            </a:r>
            <a:endParaRPr dirty="0"/>
          </a:p>
        </p:txBody>
      </p:sp>
      <p:sp>
        <p:nvSpPr>
          <p:cNvPr id="7" name="TextBox 6">
            <a:extLst>
              <a:ext uri="{FF2B5EF4-FFF2-40B4-BE49-F238E27FC236}">
                <a16:creationId xmlns:a16="http://schemas.microsoft.com/office/drawing/2014/main" id="{352C85C5-1303-6DDF-FD4F-D7AE139B0A79}"/>
              </a:ext>
            </a:extLst>
          </p:cNvPr>
          <p:cNvSpPr txBox="1"/>
          <p:nvPr/>
        </p:nvSpPr>
        <p:spPr>
          <a:xfrm>
            <a:off x="455618" y="2582614"/>
            <a:ext cx="2786660"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Execution time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Footprint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Preflight</a:t>
            </a:r>
          </a:p>
        </p:txBody>
      </p:sp>
    </p:spTree>
    <p:extLst>
      <p:ext uri="{BB962C8B-B14F-4D97-AF65-F5344CB8AC3E}">
        <p14:creationId xmlns:p14="http://schemas.microsoft.com/office/powerpoint/2010/main" val="2581357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descr="A document with text on it&#10;&#10;AI-generated content may be incorrect.">
            <a:extLst>
              <a:ext uri="{FF2B5EF4-FFF2-40B4-BE49-F238E27FC236}">
                <a16:creationId xmlns:a16="http://schemas.microsoft.com/office/drawing/2014/main" id="{9AF391E0-343E-BC1F-91F6-B2E02B18B081}"/>
              </a:ext>
            </a:extLst>
          </p:cNvPr>
          <p:cNvPicPr>
            <a:picLocks noChangeAspect="1"/>
          </p:cNvPicPr>
          <p:nvPr/>
        </p:nvPicPr>
        <p:blipFill>
          <a:blip r:embed="rId3"/>
          <a:stretch>
            <a:fillRect/>
          </a:stretch>
        </p:blipFill>
        <p:spPr>
          <a:xfrm>
            <a:off x="7650847" y="1239500"/>
            <a:ext cx="4082604"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a:t>
            </a:r>
          </a:p>
        </p:txBody>
      </p:sp>
      <p:pic>
        <p:nvPicPr>
          <p:cNvPr id="3" name="Picture 2" descr="A screenshot of a computer&#10;&#10;AI-generated content may be incorrect.">
            <a:extLst>
              <a:ext uri="{FF2B5EF4-FFF2-40B4-BE49-F238E27FC236}">
                <a16:creationId xmlns:a16="http://schemas.microsoft.com/office/drawing/2014/main" id="{601CEB04-A119-F7B5-5B2A-9DDB1D0F9C0F}"/>
              </a:ext>
            </a:extLst>
          </p:cNvPr>
          <p:cNvPicPr>
            <a:picLocks noChangeAspect="1"/>
          </p:cNvPicPr>
          <p:nvPr/>
        </p:nvPicPr>
        <p:blipFill>
          <a:blip r:embed="rId4"/>
          <a:stretch>
            <a:fillRect/>
          </a:stretch>
        </p:blipFill>
        <p:spPr>
          <a:xfrm>
            <a:off x="455374" y="1998807"/>
            <a:ext cx="6685929" cy="3764756"/>
          </a:xfrm>
          <a:prstGeom prst="rect">
            <a:avLst/>
          </a:prstGeom>
        </p:spPr>
      </p:pic>
    </p:spTree>
    <p:extLst>
      <p:ext uri="{BB962C8B-B14F-4D97-AF65-F5344CB8AC3E}">
        <p14:creationId xmlns:p14="http://schemas.microsoft.com/office/powerpoint/2010/main" val="2730175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06015F5-2E88-1F8A-1637-A45FADACB9E0}"/>
              </a:ext>
            </a:extLst>
          </p:cNvPr>
          <p:cNvPicPr>
            <a:picLocks noChangeAspect="1"/>
          </p:cNvPicPr>
          <p:nvPr/>
        </p:nvPicPr>
        <p:blipFill>
          <a:blip r:embed="rId3"/>
          <a:srcRect/>
          <a:stretch/>
        </p:blipFill>
        <p:spPr>
          <a:xfrm>
            <a:off x="6094412" y="760264"/>
            <a:ext cx="5497276" cy="5337472"/>
          </a:xfrm>
          <a:prstGeom prst="rect">
            <a:avLst/>
          </a:prstGeom>
        </p:spPr>
      </p:pic>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Create Test</a:t>
            </a:r>
            <a:endParaRPr dirty="0"/>
          </a:p>
        </p:txBody>
      </p:sp>
      <p:sp>
        <p:nvSpPr>
          <p:cNvPr id="8" name="TextBox 7">
            <a:extLst>
              <a:ext uri="{FF2B5EF4-FFF2-40B4-BE49-F238E27FC236}">
                <a16:creationId xmlns:a16="http://schemas.microsoft.com/office/drawing/2014/main" id="{84E40090-A52D-B6A0-D6F7-CEB5203082B3}"/>
              </a:ext>
            </a:extLst>
          </p:cNvPr>
          <p:cNvSpPr txBox="1"/>
          <p:nvPr/>
        </p:nvSpPr>
        <p:spPr>
          <a:xfrm>
            <a:off x="455618" y="2290226"/>
            <a:ext cx="4351191"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Overlay existing test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Focus on cybersecurity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Tightly scope test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Possibly fully automated</a:t>
            </a:r>
          </a:p>
        </p:txBody>
      </p:sp>
    </p:spTree>
    <p:extLst>
      <p:ext uri="{BB962C8B-B14F-4D97-AF65-F5344CB8AC3E}">
        <p14:creationId xmlns:p14="http://schemas.microsoft.com/office/powerpoint/2010/main" val="2458096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FAA94BC-298C-18D6-2BB8-65F2D81FA8E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68E23C8-A968-C328-D023-8AC961E7A180}"/>
              </a:ext>
            </a:extLst>
          </p:cNvPr>
          <p:cNvPicPr>
            <a:picLocks noChangeAspect="1"/>
          </p:cNvPicPr>
          <p:nvPr/>
        </p:nvPicPr>
        <p:blipFill>
          <a:blip r:embed="rId3"/>
          <a:srcRect/>
          <a:stretch/>
        </p:blipFill>
        <p:spPr>
          <a:xfrm>
            <a:off x="6094412" y="759292"/>
            <a:ext cx="4380239" cy="5339416"/>
          </a:xfrm>
          <a:prstGeom prst="rect">
            <a:avLst/>
          </a:prstGeom>
        </p:spPr>
      </p:pic>
      <p:sp>
        <p:nvSpPr>
          <p:cNvPr id="1199" name="Google Shape;1199;p156">
            <a:extLst>
              <a:ext uri="{FF2B5EF4-FFF2-40B4-BE49-F238E27FC236}">
                <a16:creationId xmlns:a16="http://schemas.microsoft.com/office/drawing/2014/main" id="{DE102DF6-AAEB-1416-465B-EF11C55A30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Testing</a:t>
            </a:r>
            <a:endParaRPr dirty="0"/>
          </a:p>
        </p:txBody>
      </p:sp>
      <p:sp>
        <p:nvSpPr>
          <p:cNvPr id="4" name="TextBox 3">
            <a:extLst>
              <a:ext uri="{FF2B5EF4-FFF2-40B4-BE49-F238E27FC236}">
                <a16:creationId xmlns:a16="http://schemas.microsoft.com/office/drawing/2014/main" id="{8B4B8CFC-39D7-561A-001F-37253931D153}"/>
              </a:ext>
            </a:extLst>
          </p:cNvPr>
          <p:cNvSpPr txBox="1"/>
          <p:nvPr/>
        </p:nvSpPr>
        <p:spPr>
          <a:xfrm>
            <a:off x="455618" y="2582614"/>
            <a:ext cx="4883388"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Failure modes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Resource impact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May be performed manually</a:t>
            </a:r>
          </a:p>
        </p:txBody>
      </p:sp>
    </p:spTree>
    <p:extLst>
      <p:ext uri="{BB962C8B-B14F-4D97-AF65-F5344CB8AC3E}">
        <p14:creationId xmlns:p14="http://schemas.microsoft.com/office/powerpoint/2010/main" val="1558582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5699CE-1E0F-BF7F-0057-A53E4800F85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5BBC6EE-7A72-1F3F-314D-7DBE1C324459}"/>
              </a:ext>
            </a:extLst>
          </p:cNvPr>
          <p:cNvPicPr>
            <a:picLocks noChangeAspect="1"/>
          </p:cNvPicPr>
          <p:nvPr/>
        </p:nvPicPr>
        <p:blipFill>
          <a:blip r:embed="rId3"/>
          <a:srcRect/>
          <a:stretch/>
        </p:blipFill>
        <p:spPr>
          <a:xfrm>
            <a:off x="5464731" y="759292"/>
            <a:ext cx="6268476" cy="5339416"/>
          </a:xfrm>
          <a:prstGeom prst="rect">
            <a:avLst/>
          </a:prstGeom>
        </p:spPr>
      </p:pic>
      <p:sp>
        <p:nvSpPr>
          <p:cNvPr id="1199" name="Google Shape;1199;p156">
            <a:extLst>
              <a:ext uri="{FF2B5EF4-FFF2-40B4-BE49-F238E27FC236}">
                <a16:creationId xmlns:a16="http://schemas.microsoft.com/office/drawing/2014/main" id="{67FEA302-B171-4AD2-1728-A84E75BFA59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Triage</a:t>
            </a:r>
            <a:endParaRPr dirty="0"/>
          </a:p>
        </p:txBody>
      </p:sp>
      <p:sp>
        <p:nvSpPr>
          <p:cNvPr id="10" name="TextBox 9">
            <a:extLst>
              <a:ext uri="{FF2B5EF4-FFF2-40B4-BE49-F238E27FC236}">
                <a16:creationId xmlns:a16="http://schemas.microsoft.com/office/drawing/2014/main" id="{5B95A7E2-335D-CA53-1032-4785F756B163}"/>
              </a:ext>
            </a:extLst>
          </p:cNvPr>
          <p:cNvSpPr txBox="1"/>
          <p:nvPr/>
        </p:nvSpPr>
        <p:spPr>
          <a:xfrm>
            <a:off x="455618" y="2875002"/>
            <a:ext cx="4152419"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File issues immediately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False positives</a:t>
            </a:r>
          </a:p>
        </p:txBody>
      </p:sp>
    </p:spTree>
    <p:extLst>
      <p:ext uri="{BB962C8B-B14F-4D97-AF65-F5344CB8AC3E}">
        <p14:creationId xmlns:p14="http://schemas.microsoft.com/office/powerpoint/2010/main" val="1649371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5FCA520-F588-E1F9-CF07-D03814D0DA93}"/>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A08DCD6-6DAD-A56A-AFAA-208B81C2B55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Fuzz Testing Report</a:t>
            </a:r>
            <a:endParaRPr dirty="0"/>
          </a:p>
        </p:txBody>
      </p:sp>
      <p:sp>
        <p:nvSpPr>
          <p:cNvPr id="2" name="TextBox 1">
            <a:extLst>
              <a:ext uri="{FF2B5EF4-FFF2-40B4-BE49-F238E27FC236}">
                <a16:creationId xmlns:a16="http://schemas.microsoft.com/office/drawing/2014/main" id="{7C349E6C-5201-B094-6B95-B17EAA3ED89C}"/>
              </a:ext>
            </a:extLst>
          </p:cNvPr>
          <p:cNvSpPr txBox="1"/>
          <p:nvPr/>
        </p:nvSpPr>
        <p:spPr>
          <a:xfrm>
            <a:off x="455618" y="1437554"/>
            <a:ext cx="1712648"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tooling</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results</a:t>
            </a:r>
          </a:p>
        </p:txBody>
      </p:sp>
    </p:spTree>
    <p:extLst>
      <p:ext uri="{BB962C8B-B14F-4D97-AF65-F5344CB8AC3E}">
        <p14:creationId xmlns:p14="http://schemas.microsoft.com/office/powerpoint/2010/main" val="3831274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11277833" cy="2862322"/>
          </a:xfrm>
          <a:prstGeom prst="rect">
            <a:avLst/>
          </a:prstGeom>
          <a:noFill/>
        </p:spPr>
        <p:txBody>
          <a:bodyPr wrap="squar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Select and enable the tooling</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Build the test (cybersecurity focused)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Run the test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Triage the results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Report the findings</a:t>
            </a:r>
          </a:p>
        </p:txBody>
      </p:sp>
    </p:spTree>
    <p:extLst>
      <p:ext uri="{BB962C8B-B14F-4D97-AF65-F5344CB8AC3E}">
        <p14:creationId xmlns:p14="http://schemas.microsoft.com/office/powerpoint/2010/main" val="170359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7" name="Picture 6">
            <a:extLst>
              <a:ext uri="{FF2B5EF4-FFF2-40B4-BE49-F238E27FC236}">
                <a16:creationId xmlns:a16="http://schemas.microsoft.com/office/drawing/2014/main" id="{811EE96D-315D-3C3C-286F-75C455A7E6F6}"/>
              </a:ext>
            </a:extLst>
          </p:cNvPr>
          <p:cNvPicPr>
            <a:picLocks noChangeAspect="1"/>
          </p:cNvPicPr>
          <p:nvPr/>
        </p:nvPicPr>
        <p:blipFill>
          <a:blip r:embed="rId3"/>
          <a:srcRect/>
          <a:stretch/>
        </p:blipFill>
        <p:spPr>
          <a:xfrm>
            <a:off x="1367573" y="1239499"/>
            <a:ext cx="4082604" cy="5283371"/>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pic>
        <p:nvPicPr>
          <p:cNvPr id="2" name="Picture 1">
            <a:extLst>
              <a:ext uri="{FF2B5EF4-FFF2-40B4-BE49-F238E27FC236}">
                <a16:creationId xmlns:a16="http://schemas.microsoft.com/office/drawing/2014/main" id="{EFC317AE-C7D3-3B0C-D54B-B2A3CFA7323B}"/>
              </a:ext>
            </a:extLst>
          </p:cNvPr>
          <p:cNvPicPr>
            <a:picLocks noChangeAspect="1"/>
          </p:cNvPicPr>
          <p:nvPr/>
        </p:nvPicPr>
        <p:blipFill>
          <a:blip r:embed="rId4"/>
          <a:srcRect/>
          <a:stretch/>
        </p:blipFill>
        <p:spPr>
          <a:xfrm>
            <a:off x="6738648" y="1239501"/>
            <a:ext cx="4082604" cy="5283369"/>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68555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734176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3580906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2750291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2)</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526297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Fuzz Testing Report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a:t>
            </a:r>
            <a:r>
              <a:rPr lang="en-US" dirty="0">
                <a:latin typeface="Roboto" panose="02000000000000000000" pitchFamily="2" charset="0"/>
                <a:ea typeface="Roboto" panose="02000000000000000000" pitchFamily="2" charset="0"/>
                <a:cs typeface="Courier New" panose="02070309020205020404" pitchFamily="49" charset="0"/>
              </a:rPr>
              <a: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Attack Surface Analysis Report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Threat Prioritization Plan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Report Generation </a:t>
            </a:r>
            <a:r>
              <a:rPr lang="en-US" dirty="0">
                <a:latin typeface="Roboto" panose="02000000000000000000" pitchFamily="2" charset="0"/>
                <a:ea typeface="Roboto" panose="02000000000000000000" pitchFamily="2" charset="0"/>
                <a:cs typeface="Courier New" panose="02070309020205020404" pitchFamily="49" charset="0"/>
              </a:rPr>
              <a:t>(AVCDL elaboration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Static Analysis Results Interchange Format (SARIF) Version 2.1.0</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https://docs.oasis-open.org/sarif/sarif/v2.1.0/os/sarif-v2.1.0-os.pdf</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Common Weakness Enumeration (CWE)</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https://cwe.mitre.org/</a:t>
            </a:r>
            <a:r>
              <a:rPr lang="en-US" sz="1400" b="1" dirty="0">
                <a:latin typeface="Courier New" panose="02070309020205020404" pitchFamily="49"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a:p>
            <a:pPr marL="0" indent="0">
              <a:spcBef>
                <a:spcPts val="0"/>
              </a:spcBef>
            </a:pPr>
            <a:r>
              <a:rPr lang="en-US" sz="1800" b="1" dirty="0">
                <a:latin typeface="Roboto" panose="02000000000000000000" pitchFamily="2" charset="0"/>
                <a:ea typeface="Roboto" panose="02000000000000000000" pitchFamily="2" charset="0"/>
                <a:cs typeface="Roboto" panose="02000000000000000000" pitchFamily="2" charset="0"/>
              </a:rPr>
              <a:t>Fuzzing</a:t>
            </a:r>
          </a:p>
          <a:p>
            <a:pPr marL="0" indent="0">
              <a:spcBef>
                <a:spcPts val="0"/>
              </a:spcBef>
            </a:pPr>
            <a:r>
              <a:rPr lang="en-US" sz="1400" b="1" dirty="0">
                <a:latin typeface="Courier New" panose="02070309020205020404" pitchFamily="49" charset="0"/>
                <a:cs typeface="Courier New" panose="02070309020205020404" pitchFamily="49" charset="0"/>
                <a:hlinkClick r:id="rId5"/>
              </a:rPr>
              <a:t>https://en.wikipedia.org/wiki/Fuzzing</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Unit Testing</a:t>
            </a:r>
          </a:p>
          <a:p>
            <a:pPr marL="0" indent="0">
              <a:spcBef>
                <a:spcPts val="0"/>
              </a:spcBef>
            </a:pPr>
            <a:r>
              <a:rPr lang="en-US" sz="1400" b="1" dirty="0">
                <a:latin typeface="Courier New" panose="02070309020205020404" pitchFamily="49" charset="0"/>
                <a:cs typeface="Courier New" panose="02070309020205020404" pitchFamily="49" charset="0"/>
                <a:hlinkClick r:id="rId6"/>
              </a:rPr>
              <a:t>https://en.wikipedia.org/wiki/Unit_testing</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4F1634B1-86AA-5BD3-195B-2A2717BFFBF3}"/>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EDCCD5ED-BC1B-CEDD-2FFC-F2271B788294}"/>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2)</a:t>
            </a:r>
            <a:endParaRPr dirty="0"/>
          </a:p>
        </p:txBody>
      </p:sp>
      <p:sp>
        <p:nvSpPr>
          <p:cNvPr id="2" name="Google Shape;879;p147">
            <a:extLst>
              <a:ext uri="{FF2B5EF4-FFF2-40B4-BE49-F238E27FC236}">
                <a16:creationId xmlns:a16="http://schemas.microsoft.com/office/drawing/2014/main" id="{BE9CA372-1058-6490-21E1-2F9B4660527C}"/>
              </a:ext>
            </a:extLst>
          </p:cNvPr>
          <p:cNvSpPr txBox="1">
            <a:spLocks/>
          </p:cNvSpPr>
          <p:nvPr/>
        </p:nvSpPr>
        <p:spPr>
          <a:xfrm>
            <a:off x="455615" y="1146448"/>
            <a:ext cx="11277592" cy="129266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sz="1800" b="1" dirty="0">
                <a:latin typeface="Roboto" panose="02000000000000000000" pitchFamily="2" charset="0"/>
                <a:ea typeface="Roboto" panose="02000000000000000000" pitchFamily="2" charset="0"/>
                <a:cs typeface="Roboto" panose="02000000000000000000" pitchFamily="2" charset="0"/>
              </a:rPr>
              <a:t>Roulette ball </a:t>
            </a:r>
            <a:r>
              <a:rPr lang="en-US" sz="1800" dirty="0">
                <a:latin typeface="Roboto" panose="02000000000000000000" pitchFamily="2" charset="0"/>
                <a:ea typeface="Roboto" panose="02000000000000000000" pitchFamily="2" charset="0"/>
                <a:cs typeface="Roboto" panose="02000000000000000000" pitchFamily="2" charset="0"/>
              </a:rPr>
              <a:t>[Ralf Roletschek] (CC-BY-SA 3.0)</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https://commons.wikimedia.org/wiki/File:13-02-27-spielbank-wiesbaden-by-RalfR-094.jpg</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Setup at the start of a chess game </a:t>
            </a:r>
            <a:r>
              <a:rPr lang="en-US" sz="1800" dirty="0">
                <a:latin typeface="Roboto" panose="02000000000000000000" pitchFamily="2" charset="0"/>
                <a:ea typeface="Roboto" panose="02000000000000000000" pitchFamily="2" charset="0"/>
                <a:cs typeface="Roboto" panose="02000000000000000000" pitchFamily="2" charset="0"/>
              </a:rPr>
              <a:t>[Bubba73] (CC-BY-SA 3.0)</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https://commons.wikimedia.org/wiki/File:13-02-27-spielbank-wiesbaden-by-RalfR-094.jpg</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18984800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373374</TotalTime>
  <Words>3350</Words>
  <Application>Microsoft Macintosh PowerPoint</Application>
  <PresentationFormat>Custom</PresentationFormat>
  <Paragraphs>731</Paragraphs>
  <Slides>28</Slides>
  <Notes>28</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28</vt:i4>
      </vt:variant>
    </vt:vector>
  </HeadingPairs>
  <TitlesOfParts>
    <vt:vector size="36" baseType="lpstr">
      <vt:lpstr>Calibri</vt:lpstr>
      <vt:lpstr>Roboto Medium</vt:lpstr>
      <vt:lpstr>Roboto</vt:lpstr>
      <vt:lpstr>Courier New</vt:lpstr>
      <vt:lpstr>Arial</vt:lpstr>
      <vt:lpstr>Simple Light</vt:lpstr>
      <vt:lpstr>Motional Masters</vt:lpstr>
      <vt:lpstr>Motional Masters</vt:lpstr>
      <vt:lpstr>Fuzz Testing Overview</vt:lpstr>
      <vt:lpstr>Training Path</vt:lpstr>
      <vt:lpstr>Introduction</vt:lpstr>
      <vt:lpstr>Introduction *</vt:lpstr>
      <vt:lpstr>Introduction *</vt:lpstr>
      <vt:lpstr>Approach</vt:lpstr>
      <vt:lpstr>Cybersecurity Approach</vt:lpstr>
      <vt:lpstr>Workflow</vt:lpstr>
      <vt:lpstr>Process Workflow</vt:lpstr>
      <vt:lpstr>Process Workflow</vt:lpstr>
      <vt:lpstr>Process Workflow</vt:lpstr>
      <vt:lpstr>Process Workflow</vt:lpstr>
      <vt:lpstr>Process Workflow</vt:lpstr>
      <vt:lpstr>Activities</vt:lpstr>
      <vt:lpstr>Establish Settings</vt:lpstr>
      <vt:lpstr>Secure Settings</vt:lpstr>
      <vt:lpstr>Create Test</vt:lpstr>
      <vt:lpstr>Perform Testing</vt:lpstr>
      <vt:lpstr>Triage</vt:lpstr>
      <vt:lpstr>Fuzz Testing Report</vt:lpstr>
      <vt:lpstr>Recap</vt:lpstr>
      <vt:lpstr>Summary</vt:lpstr>
      <vt:lpstr>Further Reading</vt:lpstr>
      <vt:lpstr>AVCDL on GitHub</vt:lpstr>
      <vt:lpstr>AVCDL on YouTube</vt:lpstr>
      <vt:lpstr>Next Steps</vt:lpstr>
      <vt:lpstr>References (1 of 2)</vt:lpstr>
      <vt:lpstr>References (2 of 2)</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 Testing Overview (training)</dc:title>
  <dc:subject>fuzz testing process overview</dc:subject>
  <dc:creator>Charles Wilson</dc:creator>
  <cp:keywords>cybersecurity, fuzz testing</cp:keywords>
  <dc:description>This work was created by Torc Robotics and is licensed under the Creative Commons Attribution-Share Alike (CC BY-SA-4.0) License.
https://creativecommons.org/licenses/by/4.0/legalcode 
</dc:description>
  <cp:lastModifiedBy>Charles Wilson</cp:lastModifiedBy>
  <cp:revision>611</cp:revision>
  <cp:lastPrinted>2025-07-24T18:37:57Z</cp:lastPrinted>
  <dcterms:modified xsi:type="dcterms:W3CDTF">2026-05-08T14:08:36Z</dcterms:modified>
  <cp:category>fuzz testing</cp:category>
</cp:coreProperties>
</file>