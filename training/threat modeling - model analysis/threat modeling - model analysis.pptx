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91" r:id="rId1"/>
  </p:sldMasterIdLst>
  <p:notesMasterIdLst>
    <p:notesMasterId r:id="rId37"/>
  </p:notesMasterIdLst>
  <p:sldIdLst>
    <p:sldId id="256" r:id="rId2"/>
    <p:sldId id="306" r:id="rId3"/>
    <p:sldId id="585" r:id="rId4"/>
    <p:sldId id="308" r:id="rId5"/>
    <p:sldId id="589" r:id="rId6"/>
    <p:sldId id="584" r:id="rId7"/>
    <p:sldId id="583" r:id="rId8"/>
    <p:sldId id="607" r:id="rId9"/>
    <p:sldId id="621" r:id="rId10"/>
    <p:sldId id="620" r:id="rId11"/>
    <p:sldId id="604" r:id="rId12"/>
    <p:sldId id="622" r:id="rId13"/>
    <p:sldId id="539" r:id="rId14"/>
    <p:sldId id="577" r:id="rId15"/>
    <p:sldId id="580" r:id="rId16"/>
    <p:sldId id="581" r:id="rId17"/>
    <p:sldId id="545" r:id="rId18"/>
    <p:sldId id="567" r:id="rId19"/>
    <p:sldId id="573" r:id="rId20"/>
    <p:sldId id="575" r:id="rId21"/>
    <p:sldId id="612" r:id="rId22"/>
    <p:sldId id="605" r:id="rId23"/>
    <p:sldId id="611" r:id="rId24"/>
    <p:sldId id="617" r:id="rId25"/>
    <p:sldId id="608" r:id="rId26"/>
    <p:sldId id="609" r:id="rId27"/>
    <p:sldId id="618" r:id="rId28"/>
    <p:sldId id="615" r:id="rId29"/>
    <p:sldId id="613" r:id="rId30"/>
    <p:sldId id="619" r:id="rId31"/>
    <p:sldId id="614" r:id="rId32"/>
    <p:sldId id="606" r:id="rId33"/>
    <p:sldId id="461" r:id="rId34"/>
    <p:sldId id="420" r:id="rId35"/>
    <p:sldId id="368" r:id="rId36"/>
  </p:sldIdLst>
  <p:sldSz cx="12188825" cy="6858000"/>
  <p:notesSz cx="6858000" cy="9144000"/>
  <p:embeddedFontLst>
    <p:embeddedFont>
      <p:font typeface="Roboto" panose="02000000000000000000" pitchFamily="2" charset="0"/>
      <p:regular r:id="rId38"/>
      <p:bold r:id="rId39"/>
      <p:italic r:id="rId40"/>
      <p:boldItalic r:id="rId41"/>
    </p:embeddedFont>
    <p:embeddedFont>
      <p:font typeface="Roboto Medium" panose="020F0502020204030204" pitchFamily="34" charset="0"/>
      <p:regular r:id="rId42"/>
      <p:bold r:id="rId43"/>
      <p:italic r:id="rId44"/>
      <p:boldItalic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guide id="3" orient="horz" pos="3945" userDrawn="1">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AB2"/>
    <a:srgbClr val="BA93DC"/>
    <a:srgbClr val="906FAC"/>
    <a:srgbClr val="A7E3B3"/>
    <a:srgbClr val="FFFFFF"/>
    <a:srgbClr val="4DE354"/>
    <a:srgbClr val="E38194"/>
    <a:srgbClr val="FFE6CC"/>
    <a:srgbClr val="FFF2CC"/>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9A1F375-83D2-49B6-B6D9-1E75FAB2CD22}">
  <a:tblStyle styleId="{F9A1F375-83D2-49B6-B6D9-1E75FAB2CD2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8003"/>
    <p:restoredTop sz="73265"/>
  </p:normalViewPr>
  <p:slideViewPr>
    <p:cSldViewPr snapToGrid="0">
      <p:cViewPr varScale="1">
        <p:scale>
          <a:sx n="173" d="100"/>
          <a:sy n="173" d="100"/>
        </p:scale>
        <p:origin x="352" y="192"/>
      </p:cViewPr>
      <p:guideLst>
        <p:guide orient="horz" pos="2160"/>
        <p:guide pos="3839"/>
        <p:guide orient="horz" pos="3945"/>
      </p:guideLst>
    </p:cSldViewPr>
  </p:slideViewPr>
  <p:notesTextViewPr>
    <p:cViewPr>
      <p:scale>
        <a:sx n="1" d="1"/>
        <a:sy n="1" d="1"/>
      </p:scale>
      <p:origin x="0" y="0"/>
    </p:cViewPr>
  </p:notesTextViewPr>
  <p:sorterViewPr>
    <p:cViewPr>
      <p:scale>
        <a:sx n="130" d="100"/>
        <a:sy n="13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9"/>
        <p:cNvGrpSpPr/>
        <p:nvPr/>
      </p:nvGrpSpPr>
      <p:grpSpPr>
        <a:xfrm>
          <a:off x="0" y="0"/>
          <a:ext cx="0" cy="0"/>
          <a:chOff x="0" y="0"/>
          <a:chExt cx="0" cy="0"/>
        </a:xfrm>
      </p:grpSpPr>
      <p:sp>
        <p:nvSpPr>
          <p:cNvPr id="870" name="Google Shape;870;g8f58836269_9_4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I'm Charles Wilson, Staff Product Cybersecurity Architect at Torc Robotics.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n-US" sz="1400" b="0" i="0" dirty="0">
              <a:solidFill>
                <a:srgbClr val="000000"/>
              </a:solidFill>
              <a:effectLst/>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400" b="0" i="0" dirty="0">
                <a:solidFill>
                  <a:srgbClr val="000000"/>
                </a:solidFill>
                <a:effectLst/>
                <a:latin typeface="Calibri" panose="020F0502020204030204" pitchFamily="34" charset="0"/>
                <a:cs typeface="Calibri" panose="020F0502020204030204" pitchFamily="34" charset="0"/>
              </a:rPr>
              <a:t>This presentation will cover an overview of threat model analysis.</a:t>
            </a:r>
            <a:endParaRPr lang="en-US" sz="1400" dirty="0">
              <a:latin typeface="Calibri" panose="020F0502020204030204" pitchFamily="34" charset="0"/>
              <a:cs typeface="Calibri" panose="020F0502020204030204" pitchFamily="34" charset="0"/>
            </a:endParaRPr>
          </a:p>
        </p:txBody>
      </p:sp>
      <p:sp>
        <p:nvSpPr>
          <p:cNvPr id="871" name="Google Shape;871;g8f58836269_9_432:notes"/>
          <p:cNvSpPr>
            <a:spLocks noGrp="1" noRot="1" noChangeAspect="1"/>
          </p:cNvSpPr>
          <p:nvPr>
            <p:ph type="sldImg" idx="2"/>
          </p:nvPr>
        </p:nvSpPr>
        <p:spPr>
          <a:xfrm>
            <a:off x="382588" y="685800"/>
            <a:ext cx="60928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diagram shows the overall AVCDL training path.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If you're taking this training, it's assumed that you've already completed the AVCDL overview 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additionally, that you've completed the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requirements taxonomy</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security requirements</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secure design principles</a:t>
            </a: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apply secure design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dirty="0">
                <a:latin typeface="Calibri" panose="020F0502020204030204" pitchFamily="34" charset="0"/>
                <a:cs typeface="Calibri" panose="020F0502020204030204" pitchFamily="34" charset="0"/>
              </a:rPr>
              <a:t>threat prioritization plan training.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Additionally, you should have completed the threat modeling overview and model creation trainings.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training will cover threat model analysis.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53854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36301617-5E10-8AC8-C2BD-037B2E5A1E94}"/>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BA323960-849D-46A6-D2A8-DF3850020D8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9428C825-6727-09B7-3403-52A328181C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Before getting into threat model analysis, let's briefly review where it fits in the overall threat modeling process.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6507613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Here’s the threat modeling process with its three individual activities,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285750" lvl="0" indent="-285750" algn="l" rtl="0">
              <a:spcBef>
                <a:spcPts val="0"/>
              </a:spcBef>
              <a:spcAft>
                <a:spcPts val="0"/>
              </a:spcAft>
            </a:pPr>
            <a:r>
              <a:rPr lang="en-US" sz="1400" dirty="0">
                <a:solidFill>
                  <a:srgbClr val="1D1C1D"/>
                </a:solidFill>
                <a:effectLst/>
                <a:latin typeface="Arial" panose="020B0604020202020204" pitchFamily="34" charset="0"/>
              </a:rPr>
              <a:t>model creation</a:t>
            </a:r>
          </a:p>
          <a:p>
            <a:pPr marL="285750" lvl="0" indent="-285750" algn="l" rtl="0">
              <a:spcBef>
                <a:spcPts val="0"/>
              </a:spcBef>
              <a:spcAft>
                <a:spcPts val="0"/>
              </a:spcAft>
            </a:pPr>
            <a:r>
              <a:rPr lang="en-US" sz="1400" dirty="0">
                <a:solidFill>
                  <a:srgbClr val="1D1C1D"/>
                </a:solidFill>
                <a:effectLst/>
                <a:latin typeface="Arial" panose="020B0604020202020204" pitchFamily="34" charset="0"/>
              </a:rPr>
              <a:t>model analysis</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and</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285750" lvl="0" indent="-285750" algn="l" rtl="0">
              <a:spcBef>
                <a:spcPts val="0"/>
              </a:spcBef>
              <a:spcAft>
                <a:spcPts val="0"/>
              </a:spcAft>
            </a:pPr>
            <a:r>
              <a:rPr lang="en-US" sz="1400" dirty="0">
                <a:solidFill>
                  <a:srgbClr val="1D1C1D"/>
                </a:solidFill>
                <a:effectLst/>
                <a:latin typeface="Arial" panose="020B0604020202020204" pitchFamily="34" charset="0"/>
              </a:rPr>
              <a:t>threat candidate triage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r>
              <a:rPr lang="en-US" sz="1400" dirty="0">
                <a:solidFill>
                  <a:srgbClr val="1D1C1D"/>
                </a:solidFill>
                <a:effectLst/>
                <a:latin typeface="Arial" panose="020B0604020202020204" pitchFamily="34" charset="0"/>
              </a:rPr>
              <a:t>Let’s consider the model analysis activity.</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p:txBody>
      </p:sp>
    </p:spTree>
    <p:extLst>
      <p:ext uri="{BB962C8B-B14F-4D97-AF65-F5344CB8AC3E}">
        <p14:creationId xmlns:p14="http://schemas.microsoft.com/office/powerpoint/2010/main" val="10505606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CC20AF3-C1CB-AEE4-5191-DDD85342A7D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18D6B43-4BAF-B20A-332A-A0BFDAA1AF0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77F34776-7E02-5371-8E77-43519DA63E6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In the threat model analysis activity,</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The threat modeling SME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takes the threat model</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and updated development requirements</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and performs an analysis which results in the creation of</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a set of threat candidates.</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Returning to the NIST threat modeling lifecycle, we see that threat model analysis corresponds to</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identification activity of the lifecycle.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774635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8DCA37A3-59F2-8287-DAB5-F77B1E0B8E77}"/>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A68C8B30-8BE6-250E-FD56-053AE7FECDB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EDDA0FE-D68C-85C0-9ABF-E9821E6923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In the threat model analysis activity,</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The threat modeling SME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takes the threat model</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and performs an analysis which results in the creation of</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a set of threat candidates.</a:t>
            </a:r>
          </a:p>
          <a:p>
            <a:pPr marL="0" lvl="0" indent="0" algn="l" rtl="0">
              <a:spcBef>
                <a:spcPts val="0"/>
              </a:spcBef>
              <a:spcAft>
                <a:spcPts val="0"/>
              </a:spcAft>
              <a:buNone/>
            </a:pPr>
            <a:endParaRPr lang="en-US" sz="1400" strike="sng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solidFill>
                  <a:srgbClr val="1D1C1D"/>
                </a:solidFill>
                <a:effectLst/>
                <a:latin typeface="Calibri" panose="020F0502020204030204" pitchFamily="34" charset="0"/>
                <a:cs typeface="Calibri" panose="020F0502020204030204" pitchFamily="34" charset="0"/>
              </a:rPr>
              <a:t>[break]</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Returning to the NIST threat modeling lifecycle, we see that threat model analysis corresponds to</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solidFill>
                  <a:srgbClr val="1D1C1D"/>
                </a:solidFill>
                <a:effectLst/>
                <a:latin typeface="Calibri" panose="020F0502020204030204" pitchFamily="34" charset="0"/>
                <a:cs typeface="Calibri" panose="020F0502020204030204" pitchFamily="34" charset="0"/>
              </a:rPr>
              <a:t>the identification activity of the lifecycle.</a:t>
            </a:r>
          </a:p>
          <a:p>
            <a:pPr marL="0" lvl="0" indent="0" algn="l" rtl="0">
              <a:spcBef>
                <a:spcPts val="0"/>
              </a:spcBef>
              <a:spcAft>
                <a:spcPts val="0"/>
              </a:spcAft>
              <a:buNone/>
            </a:pPr>
            <a:endParaRPr lang="en-US" sz="1400" dirty="0">
              <a:solidFill>
                <a:srgbClr val="1D1C1D"/>
              </a:solidFill>
              <a:effectLst/>
              <a:latin typeface="Arial" panose="020B0604020202020204" pitchFamily="34" charset="0"/>
            </a:endParaRPr>
          </a:p>
        </p:txBody>
      </p:sp>
    </p:spTree>
    <p:extLst>
      <p:ext uri="{BB962C8B-B14F-4D97-AF65-F5344CB8AC3E}">
        <p14:creationId xmlns:p14="http://schemas.microsoft.com/office/powerpoint/2010/main" val="42466911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4247D57B-D3C1-FBD5-8470-DE43A9B8D227}"/>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66588DE-DE3F-E395-175A-E1C6C3AC09A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BD67340F-6A34-1DFB-E1D9-1A1802235F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work our way through the same example used in threat model creation to illustrate how the threat modeling analysis activity is undertaken.</a:t>
            </a:r>
          </a:p>
        </p:txBody>
      </p:sp>
    </p:spTree>
    <p:extLst>
      <p:ext uri="{BB962C8B-B14F-4D97-AF65-F5344CB8AC3E}">
        <p14:creationId xmlns:p14="http://schemas.microsoft.com/office/powerpoint/2010/main" val="2604393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932A806-1565-65B5-48E1-FC5B330F819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A1AF27DD-1446-2FCF-2B57-F365561D8B5D}"/>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5F274E2D-C13E-ECBA-4345-A998C64D9D7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Recall that from the threat modeling model creation video, we took a simple example system,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created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Three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Increasingly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refined DFDs from it.</a:t>
            </a:r>
          </a:p>
        </p:txBody>
      </p:sp>
    </p:spTree>
    <p:extLst>
      <p:ext uri="{BB962C8B-B14F-4D97-AF65-F5344CB8AC3E}">
        <p14:creationId xmlns:p14="http://schemas.microsoft.com/office/powerpoint/2010/main" val="24524857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DEAB1F00-467A-C1DF-768B-51E2C35D314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4237A7F-06CA-BDB4-5DE3-4BD28B494FE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BA19E4CD-30DB-64CF-CB77-EAFAC46C11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Working with the Development SME, we took those DFDs and extracted features from them.</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This was done for the</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strike="noStrike" dirty="0">
                <a:latin typeface="Calibri" panose="020F0502020204030204" pitchFamily="34" charset="0"/>
                <a:cs typeface="Calibri" panose="020F0502020204030204" pitchFamily="34" charset="0"/>
              </a:rPr>
              <a:t>data flows</a:t>
            </a:r>
          </a:p>
          <a:p>
            <a:pPr marL="285750" lvl="0" indent="-285750" algn="l" rtl="0">
              <a:spcBef>
                <a:spcPts val="0"/>
              </a:spcBef>
              <a:spcAft>
                <a:spcPts val="0"/>
              </a:spcAft>
            </a:pPr>
            <a:r>
              <a:rPr lang="en-US" sz="1400" strike="sngStrike" dirty="0">
                <a:latin typeface="Calibri" panose="020F0502020204030204" pitchFamily="34" charset="0"/>
                <a:cs typeface="Calibri" panose="020F0502020204030204" pitchFamily="34" charset="0"/>
              </a:rPr>
              <a:t>resources</a:t>
            </a:r>
          </a:p>
          <a:p>
            <a:pPr marL="285750" lvl="0" indent="-285750" algn="l" rtl="0">
              <a:spcBef>
                <a:spcPts val="0"/>
              </a:spcBef>
              <a:spcAft>
                <a:spcPts val="0"/>
              </a:spcAft>
            </a:pPr>
            <a:r>
              <a:rPr lang="en-US" sz="1400" strike="sngStrike" dirty="0">
                <a:latin typeface="Calibri" panose="020F0502020204030204" pitchFamily="34" charset="0"/>
                <a:cs typeface="Calibri" panose="020F0502020204030204" pitchFamily="34" charset="0"/>
              </a:rPr>
              <a:t>interactors</a:t>
            </a:r>
          </a:p>
          <a:p>
            <a:pPr marL="285750" lvl="0" indent="-285750" algn="l" rtl="0">
              <a:spcBef>
                <a:spcPts val="0"/>
              </a:spcBef>
              <a:spcAft>
                <a:spcPts val="0"/>
              </a:spcAft>
            </a:pPr>
            <a:r>
              <a:rPr lang="en-US" sz="1400" strike="sngStrike" dirty="0">
                <a:latin typeface="Calibri" panose="020F0502020204030204" pitchFamily="34" charset="0"/>
                <a:cs typeface="Calibri" panose="020F0502020204030204" pitchFamily="34" charset="0"/>
              </a:rPr>
              <a:t>boundaries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and finally, the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strike="sngStrike" dirty="0">
                <a:latin typeface="Calibri" panose="020F0502020204030204" pitchFamily="34" charset="0"/>
                <a:cs typeface="Calibri" panose="020F0502020204030204" pitchFamily="34" charset="0"/>
              </a:rPr>
              <a:t>processes</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913115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921FC85-837D-9F93-16EB-35115B3DB2AE}"/>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40EA54E9-77DA-53A4-9B46-5ED6EF6EB205}"/>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E63B53AA-9066-3E0C-1EE8-C3F1F9119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Working with the Development SME, we took those DFDs and extracted features from them.</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sngStrike" dirty="0">
                <a:latin typeface="Calibri" panose="020F0502020204030204" pitchFamily="34" charset="0"/>
                <a:cs typeface="Calibri" panose="020F0502020204030204" pitchFamily="34" charset="0"/>
              </a:rPr>
              <a:t>This was done for the</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strike="sngStrike" dirty="0">
                <a:latin typeface="Calibri" panose="020F0502020204030204" pitchFamily="34" charset="0"/>
                <a:cs typeface="Calibri" panose="020F0502020204030204" pitchFamily="34" charset="0"/>
              </a:rPr>
              <a:t>data flows</a:t>
            </a:r>
          </a:p>
          <a:p>
            <a:pPr marL="285750" lvl="0" indent="-285750" algn="l" rtl="0">
              <a:spcBef>
                <a:spcPts val="0"/>
              </a:spcBef>
              <a:spcAft>
                <a:spcPts val="0"/>
              </a:spcAft>
            </a:pPr>
            <a:r>
              <a:rPr lang="en-US" sz="1400" strike="noStrike" dirty="0">
                <a:latin typeface="Calibri" panose="020F0502020204030204" pitchFamily="34" charset="0"/>
                <a:cs typeface="Calibri" panose="020F0502020204030204" pitchFamily="34" charset="0"/>
              </a:rPr>
              <a:t>resources</a:t>
            </a:r>
          </a:p>
          <a:p>
            <a:pPr marL="285750" lvl="0" indent="-285750" algn="l" rtl="0">
              <a:spcBef>
                <a:spcPts val="0"/>
              </a:spcBef>
              <a:spcAft>
                <a:spcPts val="0"/>
              </a:spcAft>
            </a:pPr>
            <a:r>
              <a:rPr lang="en-US" sz="1400" strike="noStrike" dirty="0">
                <a:latin typeface="Calibri" panose="020F0502020204030204" pitchFamily="34" charset="0"/>
                <a:cs typeface="Calibri" panose="020F0502020204030204" pitchFamily="34" charset="0"/>
              </a:rPr>
              <a:t>interactors</a:t>
            </a:r>
          </a:p>
          <a:p>
            <a:pPr marL="285750" lvl="0" indent="-285750" algn="l" rtl="0">
              <a:spcBef>
                <a:spcPts val="0"/>
              </a:spcBef>
              <a:spcAft>
                <a:spcPts val="0"/>
              </a:spcAft>
            </a:pPr>
            <a:r>
              <a:rPr lang="en-US" sz="1400" strike="noStrike" dirty="0">
                <a:latin typeface="Calibri" panose="020F0502020204030204" pitchFamily="34" charset="0"/>
                <a:cs typeface="Calibri" panose="020F0502020204030204" pitchFamily="34" charset="0"/>
              </a:rPr>
              <a:t>boundaries</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and finally, the</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285750" lvl="0" indent="-285750" algn="l" rtl="0">
              <a:spcBef>
                <a:spcPts val="0"/>
              </a:spcBef>
              <a:spcAft>
                <a:spcPts val="0"/>
              </a:spcAft>
            </a:pPr>
            <a:r>
              <a:rPr lang="en-US" sz="1400" strike="noStrike" dirty="0">
                <a:latin typeface="Calibri" panose="020F0502020204030204" pitchFamily="34" charset="0"/>
                <a:cs typeface="Calibri" panose="020F0502020204030204" pitchFamily="34" charset="0"/>
              </a:rPr>
              <a:t>processes</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14566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AA07D9B8-83C7-4F55-0F6E-9F2E97AD873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C902978F-4A08-CD4E-808F-CD18688FD2E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FE1EBFD8-5DE5-BA04-63C3-B0167C0BDC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let's take a moment to review the generalized cybersecurity approach and how we’ll apply it.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Here’s the general cybersecurity activity workflow.</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start with an element feature which in the case of threat modeling is the embodied by the element’s threat model.</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Both the element and activity are constrained by cybersecurity requirements.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activity produces a set of issues where cybersecurity requirements have been violated.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then either attach these requirements to the element if not already present, or verify they are being applied if they are.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Keep in mind that you can have constraints in place that aren’t implemented.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628967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4BFA610-8FE2-FC19-2CC1-15C16E09D36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1E3466F4-FDDC-16F9-B825-A872AEC8B3C1}"/>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D48F5650-E453-3ACE-1574-0F34A9ACA1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use cybersecurity requirements as constraints in threat modeling analysis because the AVCDL's threat modeling approach is based on its cybersecurity requirements taxonomy.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not to say that other bases of threat modeling analysis are not possible, merely that this is the one that's supplied with the AVCDL.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a given organization’s threat modeling basis, there will be a set of constraints.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Those constraints should have a mapping into the cybersecurity requirements, because the cybersecurity requirements are attached to the functional requirements, and that’s what the developers will have to implement.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 threat modeling methodology which does not point back to a set of cybersecurity requirements would be neither useful nor implementable by development.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So, here we are with our cybersecurity requirements.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not the full set of AVCDL cybersecurity requirements, because not all cybersecurity requirements lend themselves to a treatment within the context of threat modeling, specifically threat modeling where we're using a data flow diagram in order to represent the system.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a subset of the global cybersecurity requirements catalog provided with the AVCDL which can be reasoned on within the context of the information contained in a DFD.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only about a third of the total number of those global cybersecurity requirements.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we'll see, we're not going to even use all of these, because not all of them are going to be applicable to our example.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One thing that stands out when looking at this set of requirements in the context of the example, is that when the model was created, logging was not included.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going back and checking with the Development SME, yes, this system does implement logging.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Because of that, before we actually do our analysis, we need to step back and revise the threat model to include this information.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53771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DFBD5C5-BB31-34AC-98B6-D20732DD5424}"/>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25D1AFFD-8F68-14F7-9BA2-3B62C47A814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75D9F7C8-86FA-A534-3305-E44A2FFE64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let's look at each of the DFDs that were created and see where logging needs to be added.</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10630857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6F7E7AC-FE8F-420B-C383-98CDE8D4CF19}"/>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A7CCD41B-C5A8-EBC6-0B46-581D7F72B5EA}"/>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25450CBB-1E8E-F434-A216-54995C8C86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At the highest level, we've established in consultation with the development team that yes, there is an audit log, and it's being used for both the core service and the console interface and here we see it in place. </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[pause]</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We have a new resource, ESR 5. </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[pause]</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We have one way data flows from both the core service and the console interface. </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[pause]</a:t>
            </a:r>
          </a:p>
          <a:p>
            <a:pPr marL="0" lvl="0" indent="0" algn="l" rtl="0">
              <a:spcBef>
                <a:spcPts val="0"/>
              </a:spcBef>
              <a:spcAft>
                <a:spcPts val="0"/>
              </a:spcAft>
              <a:buNone/>
            </a:pPr>
            <a:endParaRPr lang="en-US" sz="1400" dirty="0">
              <a:cs typeface="Calibri" panose="020F0502020204030204" pitchFamily="34" charset="0"/>
            </a:endParaRPr>
          </a:p>
          <a:p>
            <a:pPr marL="0" lvl="0" indent="0" algn="l" rtl="0">
              <a:spcBef>
                <a:spcPts val="0"/>
              </a:spcBef>
              <a:spcAft>
                <a:spcPts val="0"/>
              </a:spcAft>
              <a:buNone/>
            </a:pPr>
            <a:r>
              <a:rPr lang="en-US" sz="1400" dirty="0">
                <a:cs typeface="Calibri" panose="020F0502020204030204" pitchFamily="34" charset="0"/>
              </a:rPr>
              <a:t>There's no additional boundary here because, as you can see, the audit log is a trusted resource that technically we own within this context.</a:t>
            </a:r>
          </a:p>
          <a:p>
            <a:pPr marL="0" lvl="0" indent="0" algn="l" rtl="0">
              <a:spcBef>
                <a:spcPts val="0"/>
              </a:spcBef>
              <a:spcAft>
                <a:spcPts val="0"/>
              </a:spcAft>
              <a:buNone/>
            </a:pPr>
            <a:endParaRPr lang="en-US" sz="1400" dirty="0">
              <a:cs typeface="Calibri" panose="020F0502020204030204" pitchFamily="34" charset="0"/>
            </a:endParaRPr>
          </a:p>
        </p:txBody>
      </p:sp>
    </p:spTree>
    <p:extLst>
      <p:ext uri="{BB962C8B-B14F-4D97-AF65-F5344CB8AC3E}">
        <p14:creationId xmlns:p14="http://schemas.microsoft.com/office/powerpoint/2010/main" val="203195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47F59B05-CBBB-2261-B38B-5C3E0C599F2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7961EA5B-5767-BF67-DF6A-032D619D3AF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1D8B282-D74F-774C-D66F-B07F9BC3C2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is to be expected at level 2, the audit log is actually being managed by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 log manager, and this log manager is a third party piece of software.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not part of the operating system.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Because of that, we have not only the log manager, which is now mediating the audit log, but we have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 new boundary layer between</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core service,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log manager, 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console interface.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8699730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6E14D5B-E8E4-E8E3-A6B9-9BF946AD178B}"/>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43A3EEE3-67B0-03EA-392F-A90708BA2C76}"/>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C3EAF94A-65AD-2564-CA09-C3412AEADE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the last of our big picture DFDs, the level 3 DFD, shows that the log manager is actually using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file system to manage the audit log.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also have an extension of</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our OS boundary to include not only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database manager, but also</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log manager.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562094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3D3AE674-4928-3AC2-B564-9C7D5A09C536}"/>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BBECDA00-1106-89E5-917E-101FDE7737C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69970F33-4CD2-B33A-D2E6-A6EDB03BC3E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only operating system-related DFD we need to update is that of the filesystem, because, as mentioned for the Level 3 DFD it’s managing the access to the audit log itself. </a:t>
            </a:r>
          </a:p>
        </p:txBody>
      </p:sp>
    </p:spTree>
    <p:extLst>
      <p:ext uri="{BB962C8B-B14F-4D97-AF65-F5344CB8AC3E}">
        <p14:creationId xmlns:p14="http://schemas.microsoft.com/office/powerpoint/2010/main" val="10726342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ED51D031-783D-4FA1-5CDB-B2FF80A530C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319744CA-13EC-1167-BFE5-7BAB5DCD3A76}"/>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7F605404-6B25-DE64-8B4D-17615A5E3A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Here's the update for both the core service and console interface initialization processes.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see the audit log off of both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core service 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console interface.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are specialized versions from the level 1 DFD.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0410471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1C70361-C8C9-7385-1C57-65309DB663A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743EDED-0245-688B-3616-A9C69C0B34D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C738DACF-990D-8877-54BD-8881BE116DD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Here's the core service configuration workflow.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Both the core service and console interface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write to the audit log.</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817278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D89866E9-38B7-6246-5C03-DA2C43737AA4}"/>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7666CB77-EFDA-34BB-0950-0A89A6EDA0A7}"/>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A623558A-7263-6644-F7F8-7BFB9501F75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here is the final update for our logs, it’s for the normal operation workflow, where the core service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logs what it's doing.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 note here, the web server has been noted previously as a third party component, and as we can see, it is not using this audit log.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that might be an issue for design, but from the standpoint of what we're considering here, it doesn't write to the audit log.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There is another problem here though, and that is one that's been described before to motivate the increased resolution of the levels 2 and 3 DFDs.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that was to add the bits and pieces that were missing so that we could see data flows that weren't exposed previously.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 different approach not taken when the model was created was that of greater abstraction.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have here a flow, or communication sequence that goes from the core service to the web server to the web browser, and vice versa.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What we don't have is a way to talk about the web browser communicating directly with the core service.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We've got HTTP communication between the web server and browser and IPC communication between the server and the core service, but nothing between showing the application level messaging and data that's being passed.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So, let's look at what that additional workflow looks like.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824102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17E7BDB3-356A-6BD5-6693-3A58B2E76D5D}"/>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AD1217B2-4357-0E38-85E6-88F8F8EDBBBE}"/>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9FE7A5D6-051B-B4D4-000F-66F1FF0543F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 is the normal operation at its most abstract level.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where we can reason about the type of communication that's going on between the core service and the web browser itself.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Note that the core service boundary shown here could have been the machine boundary.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arbitrary which we 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that we've gotten the diagramming covered, let's look at what the implications are for the DFD entity lists.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685995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1430EBC-5608-B8C0-10B0-8E2C0949C66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339C4C96-8F99-38B1-A342-EB6F45C0EBA4}"/>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E937F0A9-815C-1768-93CA-25B798A5E7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Here are entity updates. </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As you can see, we've got our resource, the audit log.</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our process, the log manager.</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our boundary, the log boundary. </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There are seven new data flows dealing specifically with the audit log,</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and two for the end-to-end communication between the web browser and core service. </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All this information gets put into an updated revision of the threat model. </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You might be wondering why this diversion in order to update the threat model when this is a video about threat model analysis.</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Well, making sure that you're working with the right information is a normal part of the analysis activity. </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And updating the model, if it needs to be updated, is critical to performing a proper analysis. </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You don't just take what's there and blindly do the analysis activity thinking, well, they gave me this, I'm just going to do it. </a:t>
            </a:r>
          </a:p>
          <a:p>
            <a:pPr marL="0" lvl="0" indent="0" algn="l" rtl="0">
              <a:spcBef>
                <a:spcPts val="0"/>
              </a:spcBef>
              <a:spcAft>
                <a:spcPts val="0"/>
              </a:spcAft>
              <a:buNone/>
            </a:pPr>
            <a:endParaRPr lang="en-US" sz="1400" strike="no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strike="noStrike" dirty="0">
                <a:latin typeface="Calibri" panose="020F0502020204030204" pitchFamily="34" charset="0"/>
                <a:cs typeface="Calibri" panose="020F0502020204030204" pitchFamily="34" charset="0"/>
              </a:rPr>
              <a:t>That's not a responsible approach.</a:t>
            </a:r>
          </a:p>
          <a:p>
            <a:pPr marL="0" lvl="0" indent="0" algn="l" rtl="0">
              <a:spcBef>
                <a:spcPts val="0"/>
              </a:spcBef>
              <a:spcAft>
                <a:spcPts val="0"/>
              </a:spcAft>
              <a:buNone/>
            </a:pPr>
            <a:endParaRPr lang="en-US" sz="1400" strike="sngStrike"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853463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BAE6D836-33F4-2649-09B8-616B3E17FF72}"/>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36F82BE-40FD-8A1F-C0F3-ADA85D86576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F32029C6-EA7C-6121-A8F6-29B55F27A9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Now with all the material up-to-date, let's proceed with the analysis. </a:t>
            </a:r>
          </a:p>
        </p:txBody>
      </p:sp>
    </p:spTree>
    <p:extLst>
      <p:ext uri="{BB962C8B-B14F-4D97-AF65-F5344CB8AC3E}">
        <p14:creationId xmlns:p14="http://schemas.microsoft.com/office/powerpoint/2010/main" val="13824030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7E8EC5FC-F5EF-7451-DD3B-794091428833}"/>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0AAC1726-6622-9E63-448E-28870EABB896}"/>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39C91A90-6C3C-186D-4B76-297DE19890C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methodology we'll use to do the threat modeling analysis is to take the element features which is the DFD,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cybersecurity constraint information embodied in the attributes that we've collected for each of the entities in that DFD,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our cybersecurity constraints represented by the subset of the cybersecurity requirements.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we're going to individually apply the requirements to each of the data flows and reason on them based on the information that we have regarding the data flow, the source and destination and the trust boundary crossed.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330270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9CB9F3FA-1A63-1A90-006B-B090ABEA2305}"/>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22FCD3FC-501E-FFD6-01A4-F789A5AA2778}"/>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A0D0D8B2-3DE5-46A2-889D-484E01D9B1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 are all of our operating system DFDs.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mentioned in the model creation video, these are not going to be considered in our analysis, since the focus of our analysis is the element.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Be aware that it's important to document these DFDs because we do need to do a separate analysis of the operating system, and these DFDs inform that analysis.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0067052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A56B188-FE03-F04F-0240-CBE9FF8FCB81}"/>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C02D5D0-21E4-00A4-E171-9DF76AA5718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C6E252C6-F703-E757-8F70-87B9DA7A061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Here are all of our operating system DFDs.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mentioned in the model creation video, these are not going to be considered in our analysis, since our analysis focus is on the element.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Be aware that it's important to document these DFDs because we do need to do a separate analysis of the operating system, and these DFDs inform that analysis.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Workflow DFDs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That leaves us with the element’s workflow DFDs.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could do a complete analysis on each and every one of these data flows, but let's assume that your organization doesn't have infinite time or infinite resources to explore this.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way to get the most impact from your analysis is to look at those things that are at the trust boundaries.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you can see here, the vast number of entities within these workflows are trusted.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So, what we’ll do is focus on those workflows where we have untrusted entities.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one we're going to be looking at from this example are in the normal operation workflow.</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520367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7DA6457-FCF0-6487-5AFA-0290F3001E41}"/>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3A3718A5-7227-64C8-8F09-D12F33AFA99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082DA8F1-4D84-9EB0-BB3D-51F04C46B4B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mentioned earlier, we're going to take our DFD, just our data flows in this case.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our requirements and perform the analysis by looking at each data flow in turn considering what the applicable requirements are, then determine whether those requirements are met.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We'll make that determination by looking at the various attributes of each of the data flows and possibly the attributes of the source and destination entities.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Where there is either a lack of information, or a violation of the requirement, we'll generate an issue.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Our focus is on the core service, web server, and web browser data flows, which are crossing either the core service or machine boundary.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core service is, of course, the trusted portion of the element.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 interacts with a third-party web server, which has a lower trust level, and finally communicates to the outside world, that is to the web browser.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There are four data flows, the ones between the core service and web server are using the systems IPC protocol.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those between the web server and web browser are using the HTTP protocol.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protocols have distinct behavioral characteristics.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can't simply say, we've got a data flow, and things are happening.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protocol is important because it speaks to how we're going to be reasoning on the applicability of the requirements.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Now in reviewing our applicable cybersecurity requirements, we can quickly eliminate all of them until we get to the last three.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are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communication crossing a trust boundary shall ensure data confidentiality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communication crossing a trust boundary shall ensure data integrity</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and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	communication crossing a trust boundary shall be authenticated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These are the three requirements we'll apply to our selected data flows.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There’s an interesting thing to note here.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we look at the attributes provided in threat model creation we have gaps.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But, as noted, gaps should not be unexpected.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One gap that is unexpected is in ESD 10, the core service to web server data flow.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can see that it doesn't show that we have an authenticated source.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This is a trusted entity, so it is considered to be authenticated by definition.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So, we're going to have to go back and adjust some attributes.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Since it doesn't impact the rest of our analysis, we don't have to do anything more elaborate in terms of the threat model itself.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Just recognize the fact that there are certain things that may have been left out, which are simply clerical errors, if you will.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the other attributes however, if something isn't provided, then assume that that it's a no.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Another thing to note is that the safety criticality attribute informs us as to what we prioritize, rather than something that we actually reason on.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In the same way that we deprioritize the operating system workflows because all of those flows are handled separately, and that we aren't looking immediately at the workflows which are in our trust zone, we look at safety criticality and ask, we've got all of these things, which ones are safety critical?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make sure to address those first, because you have to prioritize the issues to be mitigated.</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best way to do so is to take the safety critical ones first, then address the remainder.</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484210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FFAC54BC-4A6D-F64B-722E-70A37C1726A2}"/>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ED0E03AF-3505-AD0A-C4C9-D03368FB16FF}"/>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5A8371D5-2361-19F3-742A-092679C06C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Having done the analysis, we found ten issues.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Because of the nature of the issues, they're fairly straightforward to deal with.</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For the integrity check, we have an attribute for every one of the entities in question here, and the integrity check is set to none for all of them.</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Similarly, encryption is set to none.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So, the concepts of having integrity and confidentiality are basically thrown out the window.</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When it comes to authentication, we want to ensure that both ends are authenticated.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And if, as shown here with our data, we don't have an assertion that we have authentication at one end or the other, then that's something that we need to look into.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As you can see here, we have an ID for each of the issues.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have a data flow ID to tie us back to where we're talking about, and we have the cybersecurity requirement ID.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We have the issue, which is essentially the inverse of the requirement, and we have notes, which tell us what in particular is causing the problem.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Note that the provided issues template doesn't have fields for the original functional requirement or any of that information because that's something we get from the threat model metadata. </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336316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C9D6BA4B-F2CC-7456-C563-FCAAFF596B9A}"/>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918B19F7-EB23-2069-BFF3-F3B32545E2DB}"/>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1E83C649-D857-D4E3-D095-345CF4203E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a:t>We’ve seen how to translate a block diagram of the element into a series of DFD views.</a:t>
            </a:r>
          </a:p>
          <a:p>
            <a:pPr marL="0" lvl="0" indent="0" algn="l" rtl="0">
              <a:spcBef>
                <a:spcPts val="0"/>
              </a:spcBef>
              <a:spcAft>
                <a:spcPts val="0"/>
              </a:spcAft>
              <a:buNone/>
            </a:pPr>
            <a:endParaRPr lang="en-US"/>
          </a:p>
          <a:p>
            <a:pPr marL="0" lvl="0" indent="0" algn="l" rtl="0">
              <a:spcBef>
                <a:spcPts val="0"/>
              </a:spcBef>
              <a:spcAft>
                <a:spcPts val="0"/>
              </a:spcAft>
              <a:buNone/>
            </a:pPr>
            <a:r>
              <a:rPr lang="en-US"/>
              <a:t>We’ve covered what the attributes for each DFD entity type are and how they are motivated.</a:t>
            </a:r>
          </a:p>
          <a:p>
            <a:pPr marL="0" lvl="0" indent="0" algn="l" rtl="0">
              <a:spcBef>
                <a:spcPts val="0"/>
              </a:spcBef>
              <a:spcAft>
                <a:spcPts val="0"/>
              </a:spcAft>
              <a:buNone/>
            </a:pPr>
            <a:endParaRPr lang="en-US"/>
          </a:p>
          <a:p>
            <a:pPr marL="0" lvl="0" indent="0" algn="l" rtl="0">
              <a:spcBef>
                <a:spcPts val="0"/>
              </a:spcBef>
              <a:spcAft>
                <a:spcPts val="0"/>
              </a:spcAft>
              <a:buNone/>
            </a:pPr>
            <a:r>
              <a:rPr lang="en-US"/>
              <a:t>We’ve worked through a realistic example system.</a:t>
            </a:r>
          </a:p>
          <a:p>
            <a:pPr marL="0" lvl="0" indent="0" algn="l" rtl="0">
              <a:spcBef>
                <a:spcPts val="0"/>
              </a:spcBef>
              <a:spcAft>
                <a:spcPts val="0"/>
              </a:spcAft>
              <a:buNone/>
            </a:pPr>
            <a:endParaRPr lang="en-US"/>
          </a:p>
          <a:p>
            <a:pPr marL="0" lvl="0" indent="0" algn="l" rtl="0">
              <a:spcBef>
                <a:spcPts val="0"/>
              </a:spcBef>
              <a:spcAft>
                <a:spcPts val="0"/>
              </a:spcAft>
              <a:buNone/>
            </a:pPr>
            <a:r>
              <a:rPr lang="en-US"/>
              <a:t>We’ve motivated why having a series of simple targeted views is superior to a single big bang DFD.</a:t>
            </a:r>
          </a:p>
          <a:p>
            <a:pPr marL="0" lvl="0" indent="0" algn="l" rtl="0">
              <a:spcBef>
                <a:spcPts val="0"/>
              </a:spcBef>
              <a:spcAft>
                <a:spcPts val="0"/>
              </a:spcAft>
              <a:buNone/>
            </a:pPr>
            <a:endParaRPr lang="en-US"/>
          </a:p>
          <a:p>
            <a:pPr marL="0" lvl="0" indent="0" algn="l" rtl="0">
              <a:spcBef>
                <a:spcPts val="0"/>
              </a:spcBef>
              <a:spcAft>
                <a:spcPts val="0"/>
              </a:spcAft>
              <a:buNone/>
            </a:pPr>
            <a:r>
              <a:rPr lang="en-US"/>
              <a:t>[pause]</a:t>
            </a:r>
          </a:p>
          <a:p>
            <a:pPr marL="0" lvl="0" indent="0" algn="l" rtl="0">
              <a:spcBef>
                <a:spcPts val="0"/>
              </a:spcBef>
              <a:spcAft>
                <a:spcPts val="0"/>
              </a:spcAft>
              <a:buNone/>
            </a:pPr>
            <a:endParaRPr lang="en-US"/>
          </a:p>
          <a:p>
            <a:pPr marL="0" lvl="0" indent="0" algn="l" rtl="0">
              <a:spcBef>
                <a:spcPts val="0"/>
              </a:spcBef>
              <a:spcAft>
                <a:spcPts val="0"/>
              </a:spcAft>
              <a:buNone/>
            </a:pPr>
            <a:r>
              <a:rPr lang="en-US"/>
              <a:t>That covers the basics of how you would create a DFD-based threat model.</a:t>
            </a:r>
          </a:p>
          <a:p>
            <a:pPr marL="0" lvl="0" indent="0" algn="l" rtl="0">
              <a:spcBef>
                <a:spcPts val="0"/>
              </a:spcBef>
              <a:spcAft>
                <a:spcPts val="0"/>
              </a:spcAft>
              <a:buNone/>
            </a:pPr>
            <a:endParaRPr lang="en-US"/>
          </a:p>
          <a:p>
            <a:pPr marL="0" lvl="0" indent="0" algn="l" rtl="0">
              <a:spcBef>
                <a:spcPts val="0"/>
              </a:spcBef>
              <a:spcAft>
                <a:spcPts val="0"/>
              </a:spcAft>
              <a:buNone/>
            </a:pPr>
            <a:r>
              <a:rPr lang="en-US"/>
              <a:t>This is not to say that all questions could possibly be answered.</a:t>
            </a:r>
          </a:p>
          <a:p>
            <a:pPr marL="0" lvl="0" indent="0" algn="l" rtl="0">
              <a:spcBef>
                <a:spcPts val="0"/>
              </a:spcBef>
              <a:spcAft>
                <a:spcPts val="0"/>
              </a:spcAft>
              <a:buNone/>
            </a:pPr>
            <a:endParaRPr lang="en-US"/>
          </a:p>
          <a:p>
            <a:pPr marL="0" lvl="0" indent="0" algn="l" rtl="0">
              <a:spcBef>
                <a:spcPts val="0"/>
              </a:spcBef>
              <a:spcAft>
                <a:spcPts val="0"/>
              </a:spcAft>
              <a:buNone/>
            </a:pPr>
            <a:r>
              <a:rPr lang="en-US"/>
              <a:t>However, the materials that have been provided should cover most things.</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41456808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1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When undertaking threat modeling analysis, it's important to take a practical approach. </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Remember to review the DFDs. </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People make mistakes, and DFDs are no exception. </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If you find issues in the DFDs, correct them right then and there.</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When you're deciding what to analyze, focus on the element workflows. </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Remember that the operating system flows are something that are common to all elements.</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They should be analyzed together.</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If you add a new entity that's going to be working with the operating system, then that should go into the operating system DFD set and analyzed there, so that you have a coherent analysis for the operating system itself, regardless of what elements you adding to it.</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Perform the analysis ordered by trust level and criticality. </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Don't spend a lot of effort straight away on things where there is no issue of trust. </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If an entity is trusted, then its actions cannot be prevented. </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Focus on those areas where there is a disparity in trust.</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Special attention needs to be given to the most critical items.</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Remember that this is not a one-shot activity and that you have to keep this up-to-date based on changes to the design.</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[pause]</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Finally, you don't need special tooling to do threat modeling. </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It can be really helpful to have automated tools but trusting automated tools simply because they're automated is not appropriate. </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You need to know what's being analyzed.</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You need to understand how the analysis is being undertaken</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And you need to appreciate the limitations of the tooling. </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If you can perform threat modeling, as shown here, in a very manual manner, you can do so in an automated manner. </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100" dirty="0">
                <a:latin typeface="Calibri" panose="020F0502020204030204" pitchFamily="34" charset="0"/>
                <a:cs typeface="Calibri" panose="020F0502020204030204" pitchFamily="34" charset="0"/>
              </a:rPr>
              <a:t>If all you can do is use the automated tool, and you don't understand what the fundamentals are, then your effectiveness as a cybersecurity threat modeling SME will be greatly hampered.</a:t>
            </a:r>
          </a:p>
          <a:p>
            <a:pPr marL="0" lvl="0" indent="0" algn="l" rtl="0">
              <a:spcBef>
                <a:spcPts val="0"/>
              </a:spcBef>
              <a:spcAft>
                <a:spcPts val="0"/>
              </a:spcAft>
              <a:buNone/>
            </a:pPr>
            <a:endParaRPr lang="en-US" sz="1100" dirty="0">
              <a:latin typeface="Calibri" panose="020F0502020204030204" pitchFamily="34" charset="0"/>
              <a:cs typeface="Calibri" panose="020F0502020204030204" pitchFamily="34" charset="0"/>
            </a:endParaRPr>
          </a:p>
          <a:p>
            <a:pPr marL="158750" indent="0">
              <a:buNone/>
            </a:pPr>
            <a:endParaRPr lang="en-US" dirty="0"/>
          </a:p>
        </p:txBody>
      </p:sp>
    </p:spTree>
    <p:extLst>
      <p:ext uri="{BB962C8B-B14F-4D97-AF65-F5344CB8AC3E}">
        <p14:creationId xmlns:p14="http://schemas.microsoft.com/office/powerpoint/2010/main" val="11905828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a:extLst>
            <a:ext uri="{FF2B5EF4-FFF2-40B4-BE49-F238E27FC236}">
              <a16:creationId xmlns:a16="http://schemas.microsoft.com/office/drawing/2014/main" id="{228F27A6-95D0-8BD3-DD17-CD0D4A4F1FFC}"/>
            </a:ext>
          </a:extLst>
        </p:cNvPr>
        <p:cNvGrpSpPr/>
        <p:nvPr/>
      </p:nvGrpSpPr>
      <p:grpSpPr>
        <a:xfrm>
          <a:off x="0" y="0"/>
          <a:ext cx="0" cy="0"/>
          <a:chOff x="0" y="0"/>
          <a:chExt cx="0" cy="0"/>
        </a:xfrm>
      </p:grpSpPr>
      <p:sp>
        <p:nvSpPr>
          <p:cNvPr id="1196" name="Google Shape;1196;g9ac6590046_0_272:notes">
            <a:extLst>
              <a:ext uri="{FF2B5EF4-FFF2-40B4-BE49-F238E27FC236}">
                <a16:creationId xmlns:a16="http://schemas.microsoft.com/office/drawing/2014/main" id="{D52F5154-86A2-702B-FF05-17F9B520AAE0}"/>
              </a:ext>
            </a:extLst>
          </p:cNvPr>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a:extLst>
              <a:ext uri="{FF2B5EF4-FFF2-40B4-BE49-F238E27FC236}">
                <a16:creationId xmlns:a16="http://schemas.microsoft.com/office/drawing/2014/main" id="{366F3774-A91B-199C-AA24-BBC1027CA1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solidFill>
                <a:srgbClr val="1D1C1D"/>
              </a:solidFill>
              <a:effectLst/>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The materials that were used to cover this example are in this location shown here.</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It's important to note that this includes the DFDs, as well as the threat model, model creation, and issue tracking workbooks.</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31194210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All </a:t>
            </a:r>
            <a:r>
              <a:rPr lang="en-US" sz="1400" dirty="0">
                <a:effectLst/>
                <a:latin typeface="Calibri" panose="020F0502020204030204" pitchFamily="34" charset="0"/>
                <a:ea typeface="Calibri" panose="020F0502020204030204" pitchFamily="34" charset="0"/>
                <a:cs typeface="Calibri" panose="020F0502020204030204" pitchFamily="34" charset="0"/>
              </a:rPr>
              <a:t>AVCDL materials, both in source and distribution forms, are available on our GitHub site, as shown here.</a:t>
            </a:r>
          </a:p>
          <a:p>
            <a:pPr marL="0" marR="0" indent="0" algn="just">
              <a:spcBef>
                <a:spcPts val="0"/>
              </a:spcBef>
              <a:spcAft>
                <a:spcPts val="1200"/>
              </a:spcAft>
              <a:buNone/>
            </a:pP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Because of the size of the repository, it's recommended that you either clone the repository or download a ZIP archive of it, if you're not familiar with using git.</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Instructions for downloading a ZIP archive are linked to on the repository’s front page. </a:t>
            </a:r>
            <a:endParaRPr lang="en-US" sz="1400" dirty="0">
              <a:effectLst/>
              <a:latin typeface="Calibri" panose="020F0502020204030204" pitchFamily="34" charset="0"/>
              <a:ea typeface="Calibri" panose="020F0502020204030204" pitchFamily="34" charset="0"/>
              <a:cs typeface="Calibri" panose="020F0502020204030204" pitchFamily="34" charset="0"/>
            </a:endParaRPr>
          </a:p>
          <a:p>
            <a:pPr marL="0" lvl="0" indent="0" algn="l" rtl="0">
              <a:spcBef>
                <a:spcPts val="0"/>
              </a:spcBef>
              <a:spcAft>
                <a:spcPts val="0"/>
              </a:spcAft>
              <a:buNone/>
            </a:pPr>
            <a:endParaRPr sz="1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219874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 set of training videos have been created to cover various aspects of the AVCDL that follow the training path found in the AVCDL primary document.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It's important to note that all AVCDL materials except for the introductory blog posts are intended for product cybersecurity engineering practitioners.</a:t>
            </a:r>
          </a:p>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31061892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9ac6590046_0_272: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9ac6590046_0_2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 final training in the threat modeling sequence is </a:t>
            </a:r>
            <a:r>
              <a:rPr lang="en-US" sz="14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threat candidate triage</a:t>
            </a: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pPr marL="0" marR="0" indent="0" algn="just">
              <a:spcBef>
                <a:spcPts val="0"/>
              </a:spcBef>
              <a:spcAft>
                <a:spcPts val="1200"/>
              </a:spcAft>
              <a:buNone/>
            </a:pPr>
            <a:endPar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p>
            <a:pPr marL="0" marR="0" indent="0" algn="just">
              <a:spcBef>
                <a:spcPts val="0"/>
              </a:spcBef>
              <a:spcAft>
                <a:spcPts val="1200"/>
              </a:spcAft>
              <a:buNone/>
            </a:pPr>
            <a:r>
              <a:rPr lang="en-US" sz="14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Once you have completed all the trainings related to </a:t>
            </a:r>
            <a:r>
              <a:rPr lang="en-US" sz="14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threat modeling</a:t>
            </a:r>
            <a:r>
              <a:rPr lang="en-US" sz="1400" dirty="0"/>
              <a:t>, you can proceed to one of the other trainings at this level.</a:t>
            </a:r>
          </a:p>
          <a:p>
            <a:pPr marL="0" marR="0" indent="0" algn="just">
              <a:spcBef>
                <a:spcPts val="0"/>
              </a:spcBef>
              <a:spcAft>
                <a:spcPts val="1200"/>
              </a:spcAft>
              <a:buNone/>
            </a:pPr>
            <a:endParaRPr lang="en-US" sz="1400" dirty="0"/>
          </a:p>
          <a:p>
            <a:pPr marL="0" marR="0" indent="0" algn="just">
              <a:spcBef>
                <a:spcPts val="0"/>
              </a:spcBef>
              <a:spcAft>
                <a:spcPts val="1200"/>
              </a:spcAft>
              <a:buNone/>
            </a:pPr>
            <a:r>
              <a:rPr lang="en-US" sz="1400" dirty="0"/>
              <a:t>These are:</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Attack Surface Analysis</a:t>
            </a:r>
          </a:p>
          <a:p>
            <a:pPr marL="285750" marR="0" indent="-285750" algn="just">
              <a:spcBef>
                <a:spcPts val="0"/>
              </a:spcBef>
              <a:spcAft>
                <a:spcPts val="1200"/>
              </a:spcAft>
            </a:pPr>
            <a:r>
              <a:rPr lang="en-US" sz="1400" b="1" dirty="0"/>
              <a:t>Penetration Testing</a:t>
            </a:r>
          </a:p>
          <a:p>
            <a:pPr marL="285750" marR="0" indent="-285750" algn="just">
              <a:spcBef>
                <a:spcPts val="0"/>
              </a:spcBef>
              <a:spcAft>
                <a:spcPts val="1200"/>
              </a:spcAft>
            </a:pPr>
            <a:endParaRPr lang="en-US" sz="1400" dirty="0"/>
          </a:p>
          <a:p>
            <a:pPr marL="0" marR="0" indent="0" algn="just">
              <a:spcBef>
                <a:spcPts val="0"/>
              </a:spcBef>
              <a:spcAft>
                <a:spcPts val="1200"/>
              </a:spcAft>
              <a:buNone/>
            </a:pPr>
            <a:r>
              <a:rPr lang="en-US" sz="1400" dirty="0"/>
              <a:t>and</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Vulnerability Identification</a:t>
            </a:r>
          </a:p>
          <a:p>
            <a:pPr marL="285750" marR="0" indent="-285750" algn="just">
              <a:spcBef>
                <a:spcPts val="0"/>
              </a:spcBef>
              <a:spcAft>
                <a:spcPts val="1200"/>
              </a:spcAft>
            </a:pPr>
            <a:endParaRPr lang="en-US" sz="1400" dirty="0"/>
          </a:p>
          <a:p>
            <a:pPr marL="0" marR="0" lvl="0" indent="0" algn="just" defTabSz="914400" rtl="0" eaLnBrk="1" fontAlgn="auto" latinLnBrk="0" hangingPunct="1">
              <a:lnSpc>
                <a:spcPct val="100000"/>
              </a:lnSpc>
              <a:spcBef>
                <a:spcPts val="0"/>
              </a:spcBef>
              <a:spcAft>
                <a:spcPts val="1200"/>
              </a:spcAft>
              <a:buClr>
                <a:srgbClr val="000000"/>
              </a:buClr>
              <a:buSzPts val="1100"/>
              <a:buFont typeface="Arial"/>
              <a:buNone/>
              <a:tabLst/>
              <a:defRPr/>
            </a:pPr>
            <a:r>
              <a:rPr lang="en-US" sz="1400" dirty="0"/>
              <a:t>Additionally, if you’ve completed </a:t>
            </a:r>
            <a:r>
              <a:rPr lang="en-US" sz="1400" b="1" dirty="0"/>
              <a:t>Secure Coding </a:t>
            </a:r>
            <a:r>
              <a:rPr lang="en-US" sz="1400" dirty="0"/>
              <a:t>and its prerequisites you can also proceed to</a:t>
            </a:r>
          </a:p>
          <a:p>
            <a:pPr marL="0" marR="0" indent="0" algn="just">
              <a:spcBef>
                <a:spcPts val="0"/>
              </a:spcBef>
              <a:spcAft>
                <a:spcPts val="1200"/>
              </a:spcAft>
              <a:buNone/>
            </a:pPr>
            <a:endParaRPr lang="en-US" sz="1400" dirty="0"/>
          </a:p>
          <a:p>
            <a:pPr marL="285750" marR="0" indent="-285750" algn="just">
              <a:spcBef>
                <a:spcPts val="0"/>
              </a:spcBef>
              <a:spcAft>
                <a:spcPts val="1200"/>
              </a:spcAft>
            </a:pPr>
            <a:r>
              <a:rPr lang="en-US" sz="1400" b="1" dirty="0"/>
              <a:t>Static analysis</a:t>
            </a:r>
          </a:p>
          <a:p>
            <a:pPr marL="285750" marR="0" indent="-285750" algn="just">
              <a:spcBef>
                <a:spcPts val="0"/>
              </a:spcBef>
              <a:spcAft>
                <a:spcPts val="1200"/>
              </a:spcAft>
            </a:pPr>
            <a:r>
              <a:rPr lang="en-US" sz="1400" b="1" dirty="0"/>
              <a:t>Dynamic analysis</a:t>
            </a:r>
          </a:p>
          <a:p>
            <a:pPr marL="285750" marR="0" indent="-285750" algn="just">
              <a:spcBef>
                <a:spcPts val="0"/>
              </a:spcBef>
              <a:spcAft>
                <a:spcPts val="1200"/>
              </a:spcAft>
            </a:pPr>
            <a:r>
              <a:rPr lang="en-US" sz="1400" b="1" dirty="0"/>
              <a:t>Fuzz testing</a:t>
            </a:r>
          </a:p>
          <a:p>
            <a:pPr marL="285750" marR="0" indent="-285750" algn="just">
              <a:spcBef>
                <a:spcPts val="0"/>
              </a:spcBef>
              <a:spcAft>
                <a:spcPts val="1200"/>
              </a:spcAft>
            </a:pPr>
            <a:endParaRPr lang="en-US" sz="1400" dirty="0"/>
          </a:p>
          <a:p>
            <a:pPr marL="0" marR="0" indent="0" algn="just">
              <a:spcBef>
                <a:spcPts val="0"/>
              </a:spcBef>
              <a:spcAft>
                <a:spcPts val="1200"/>
              </a:spcAft>
              <a:buNone/>
            </a:pPr>
            <a:r>
              <a:rPr lang="en-US" sz="1400" dirty="0"/>
              <a:t>and</a:t>
            </a:r>
          </a:p>
          <a:p>
            <a:pPr marL="285750" marR="0" indent="-285750" algn="just">
              <a:spcBef>
                <a:spcPts val="0"/>
              </a:spcBef>
              <a:spcAft>
                <a:spcPts val="1200"/>
              </a:spcAft>
            </a:pPr>
            <a:endParaRPr lang="en-US" sz="1400" dirty="0"/>
          </a:p>
          <a:p>
            <a:pPr marL="285750" marR="0" indent="-285750" algn="just">
              <a:spcBef>
                <a:spcPts val="0"/>
              </a:spcBef>
              <a:spcAft>
                <a:spcPts val="1200"/>
              </a:spcAft>
            </a:pPr>
            <a:r>
              <a:rPr lang="en-US" sz="1400" b="1" dirty="0"/>
              <a:t>Secure Code Review</a:t>
            </a:r>
          </a:p>
        </p:txBody>
      </p:sp>
    </p:spTree>
    <p:extLst>
      <p:ext uri="{BB962C8B-B14F-4D97-AF65-F5344CB8AC3E}">
        <p14:creationId xmlns:p14="http://schemas.microsoft.com/office/powerpoint/2010/main" val="370173961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bd8f7373d4_0_397:notes"/>
          <p:cNvSpPr>
            <a:spLocks noGrp="1" noRot="1" noChangeAspect="1"/>
          </p:cNvSpPr>
          <p:nvPr>
            <p:ph type="sldImg" idx="2"/>
          </p:nvPr>
        </p:nvSpPr>
        <p:spPr>
          <a:xfrm>
            <a:off x="382588" y="685800"/>
            <a:ext cx="6094412"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6" name="Google Shape;876;gbd8f7373d4_0_3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400" dirty="0">
                <a:latin typeface="Calibri" panose="020F0502020204030204" pitchFamily="34" charset="0"/>
                <a:cs typeface="Calibri" panose="020F0502020204030204" pitchFamily="34" charset="0"/>
              </a:rPr>
              <a:t>Script:</a:t>
            </a:r>
          </a:p>
          <a:p>
            <a:pPr marL="0" lvl="0" indent="0" algn="l" rtl="0">
              <a:spcBef>
                <a:spcPts val="0"/>
              </a:spcBef>
              <a:spcAft>
                <a:spcPts val="0"/>
              </a:spcAft>
              <a:buNone/>
            </a:pPr>
            <a:endParaRPr lang="en-US" sz="1400" dirty="0">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Here are references to the source material used in the creation of this presentation.</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They'll also be included in the video description.</a:t>
            </a:r>
          </a:p>
          <a:p>
            <a:pPr marL="158750" indent="0" algn="l">
              <a:buNone/>
            </a:pPr>
            <a:endParaRPr lang="en-US" sz="1400" dirty="0">
              <a:solidFill>
                <a:srgbClr val="1D1C1D"/>
              </a:solidFill>
              <a:effectLst/>
              <a:latin typeface="Calibri" panose="020F0502020204030204" pitchFamily="34" charset="0"/>
              <a:cs typeface="Calibri" panose="020F0502020204030204" pitchFamily="34" charset="0"/>
            </a:endParaRPr>
          </a:p>
          <a:p>
            <a:pPr marL="158750" indent="0" algn="l">
              <a:buNone/>
            </a:pPr>
            <a:r>
              <a:rPr lang="en-US" sz="1400" dirty="0">
                <a:solidFill>
                  <a:srgbClr val="1D1C1D"/>
                </a:solidFill>
                <a:effectLst/>
                <a:latin typeface="Calibri" panose="020F0502020204030204" pitchFamily="34" charset="0"/>
                <a:cs typeface="Calibri" panose="020F0502020204030204" pitchFamily="34" charset="0"/>
              </a:rPr>
              <a:t>Additionally, this presentation’s source material will be provided on the AVCDL GitHub repository.</a:t>
            </a:r>
          </a:p>
        </p:txBody>
      </p:sp>
    </p:spTree>
    <p:extLst>
      <p:ext uri="{BB962C8B-B14F-4D97-AF65-F5344CB8AC3E}">
        <p14:creationId xmlns:p14="http://schemas.microsoft.com/office/powerpoint/2010/main" val="46677278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over C" userDrawn="1">
  <p:cSld name="1_Cover C">
    <p:bg>
      <p:bgPr>
        <a:solidFill>
          <a:srgbClr val="030A14"/>
        </a:solid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455623" y="2364060"/>
            <a:ext cx="8915583" cy="3789320"/>
          </a:xfrm>
          <a:prstGeom prst="rect">
            <a:avLst/>
          </a:prstGeom>
          <a:noFill/>
          <a:ln>
            <a:noFill/>
          </a:ln>
        </p:spPr>
        <p:txBody>
          <a:bodyPr spcFirstLastPara="1" wrap="square" lIns="0" tIns="0" rIns="0" bIns="0" anchor="ctr" anchorCtr="0">
            <a:noAutofit/>
          </a:bodyPr>
          <a:lstStyle>
            <a:lvl1pPr lvl="0" algn="l">
              <a:lnSpc>
                <a:spcPct val="80000"/>
              </a:lnSpc>
              <a:spcBef>
                <a:spcPts val="0"/>
              </a:spcBef>
              <a:spcAft>
                <a:spcPts val="0"/>
              </a:spcAft>
              <a:buClr>
                <a:schemeClr val="lt1"/>
              </a:buClr>
              <a:buSzPts val="9600"/>
              <a:buFont typeface="Roboto"/>
              <a:buNone/>
              <a:defRPr sz="9600" b="0" i="0" cap="none">
                <a:solidFill>
                  <a:schemeClr val="lt1"/>
                </a:solidFill>
                <a:latin typeface="Roboto"/>
                <a:ea typeface="Roboto"/>
                <a:cs typeface="Roboto"/>
                <a:sym typeface="Robot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8" name="Google Shape;58;p14"/>
          <p:cNvSpPr txBox="1"/>
          <p:nvPr/>
        </p:nvSpPr>
        <p:spPr>
          <a:xfrm>
            <a:off x="2554515" y="6212114"/>
            <a:ext cx="9178884" cy="417286"/>
          </a:xfrm>
          <a:prstGeom prst="rect">
            <a:avLst/>
          </a:prstGeom>
          <a:noFill/>
          <a:ln>
            <a:noFill/>
          </a:ln>
        </p:spPr>
        <p:txBody>
          <a:bodyPr spcFirstLastPara="1" wrap="square" lIns="0" tIns="0" rIns="0" bIns="0" anchor="b" anchorCtr="0">
            <a:noAutofit/>
          </a:bodyPr>
          <a:lstStyle/>
          <a:p>
            <a:pPr algn="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This work was created by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Torc Robotics</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and is licensed under the </a:t>
            </a:r>
            <a:r>
              <a:rPr lang="en-US" sz="1200" b="1" i="0" u="none" strike="noStrike" cap="none" dirty="0">
                <a:solidFill>
                  <a:schemeClr val="bg1"/>
                </a:solidFill>
                <a:effectLst/>
                <a:latin typeface="Roboto" panose="02000000000000000000" pitchFamily="2" charset="0"/>
                <a:ea typeface="Roboto" panose="02000000000000000000" pitchFamily="2" charset="0"/>
                <a:cs typeface="Arial"/>
                <a:sym typeface="Arial"/>
              </a:rPr>
              <a:t>Creative Commons Attribution-Share Alike (CC BY-SA-4.0)</a:t>
            </a:r>
            <a:r>
              <a:rPr lang="en-US" sz="1200" b="0" i="0" u="none" strike="noStrike" cap="none" dirty="0">
                <a:solidFill>
                  <a:schemeClr val="bg1"/>
                </a:solidFill>
                <a:effectLst/>
                <a:latin typeface="Roboto" panose="02000000000000000000" pitchFamily="2" charset="0"/>
                <a:ea typeface="Roboto" panose="02000000000000000000" pitchFamily="2" charset="0"/>
                <a:cs typeface="Arial"/>
                <a:sym typeface="Arial"/>
              </a:rPr>
              <a:t> License.</a:t>
            </a:r>
          </a:p>
          <a:p>
            <a:pPr algn="r"/>
            <a:r>
              <a:rPr lang="en-US" sz="1200" b="1" i="0" u="sng"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hlinkClick r:id="rId2">
                  <a:extLst>
                    <a:ext uri="{A12FA001-AC4F-418D-AE19-62706E023703}">
                      <ahyp:hlinkClr xmlns:ahyp="http://schemas.microsoft.com/office/drawing/2018/hyperlinkcolor" val="tx"/>
                    </a:ext>
                  </a:extLst>
                </a:hlinkClick>
              </a:rPr>
              <a:t>https://creativecommons.org/licenses/by/4.0/legalcode</a:t>
            </a:r>
            <a:endParaRPr lang="en-US" sz="1200" b="0" i="0" u="none" strike="noStrike" cap="none" dirty="0">
              <a:solidFill>
                <a:schemeClr val="bg1"/>
              </a:solidFill>
              <a:effectLst/>
              <a:latin typeface="Courier New" panose="02070309020205020404" pitchFamily="49" charset="0"/>
              <a:ea typeface="Roboto" panose="02000000000000000000" pitchFamily="2" charset="0"/>
              <a:cs typeface="Courier New" panose="02070309020205020404" pitchFamily="49" charset="0"/>
              <a:sym typeface="Arial"/>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WHITE 1Col Title | Text">
  <p:cSld name="WHITE 1Col Title | Text">
    <p:spTree>
      <p:nvGrpSpPr>
        <p:cNvPr id="1" name="Shape 540"/>
        <p:cNvGrpSpPr/>
        <p:nvPr/>
      </p:nvGrpSpPr>
      <p:grpSpPr>
        <a:xfrm>
          <a:off x="0" y="0"/>
          <a:ext cx="0" cy="0"/>
          <a:chOff x="0" y="0"/>
          <a:chExt cx="0" cy="0"/>
        </a:xfrm>
      </p:grpSpPr>
      <p:sp>
        <p:nvSpPr>
          <p:cNvPr id="541" name="Google Shape;541;p98"/>
          <p:cNvSpPr txBox="1">
            <a:spLocks noGrp="1"/>
          </p:cNvSpPr>
          <p:nvPr>
            <p:ph type="title"/>
          </p:nvPr>
        </p:nvSpPr>
        <p:spPr>
          <a:xfrm>
            <a:off x="455616" y="460684"/>
            <a:ext cx="11160121" cy="521207"/>
          </a:xfrm>
          <a:prstGeom prst="rect">
            <a:avLst/>
          </a:prstGeom>
          <a:noFill/>
          <a:ln>
            <a:noFill/>
          </a:ln>
        </p:spPr>
        <p:txBody>
          <a:bodyPr spcFirstLastPara="1" wrap="square" lIns="0" tIns="0" rIns="0" bIns="0" anchor="ctr" anchorCtr="0">
            <a:noAutofit/>
          </a:bodyPr>
          <a:lstStyle>
            <a:lvl1pPr lvl="0" algn="l" rtl="0">
              <a:lnSpc>
                <a:spcPct val="80000"/>
              </a:lnSpc>
              <a:spcBef>
                <a:spcPts val="0"/>
              </a:spcBef>
              <a:spcAft>
                <a:spcPts val="0"/>
              </a:spcAft>
              <a:buClr>
                <a:schemeClr val="dk1"/>
              </a:buClr>
              <a:buSzPts val="3200"/>
              <a:buFont typeface="Roboto Medium"/>
              <a:buNone/>
              <a:defRPr b="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dirty="0"/>
          </a:p>
        </p:txBody>
      </p:sp>
      <p:sp>
        <p:nvSpPr>
          <p:cNvPr id="542" name="Google Shape;542;p98"/>
          <p:cNvSpPr txBox="1">
            <a:spLocks noGrp="1"/>
          </p:cNvSpPr>
          <p:nvPr>
            <p:ph type="body" idx="1"/>
          </p:nvPr>
        </p:nvSpPr>
        <p:spPr>
          <a:xfrm>
            <a:off x="455616" y="1071563"/>
            <a:ext cx="11160120" cy="5443537"/>
          </a:xfrm>
          <a:prstGeom prst="rect">
            <a:avLst/>
          </a:prstGeom>
          <a:noFill/>
          <a:ln>
            <a:noFill/>
          </a:ln>
        </p:spPr>
        <p:txBody>
          <a:bodyPr spcFirstLastPara="1" wrap="square" lIns="0" tIns="0" rIns="0" bIns="0" anchor="t" anchorCtr="0">
            <a:noAutofit/>
          </a:bodyPr>
          <a:lstStyle>
            <a:lvl1pPr marL="457207" lvl="0" indent="-228604" algn="l" rtl="0">
              <a:spcBef>
                <a:spcPts val="1800"/>
              </a:spcBef>
              <a:spcAft>
                <a:spcPts val="0"/>
              </a:spcAft>
              <a:buClr>
                <a:schemeClr val="dk1"/>
              </a:buClr>
              <a:buSzPts val="2000"/>
              <a:buFont typeface="Roboto"/>
              <a:buNone/>
              <a:defRPr sz="2800" b="0" i="0">
                <a:latin typeface="Roboto"/>
                <a:ea typeface="Roboto"/>
                <a:cs typeface="Roboto"/>
                <a:sym typeface="Roboto"/>
              </a:defRPr>
            </a:lvl1pPr>
            <a:lvl2pPr marL="914415" lvl="1" indent="-342906" algn="l" rtl="0">
              <a:spcBef>
                <a:spcPts val="600"/>
              </a:spcBef>
              <a:spcAft>
                <a:spcPts val="0"/>
              </a:spcAft>
              <a:buClr>
                <a:schemeClr val="dk1"/>
              </a:buClr>
              <a:buSzPts val="1800"/>
              <a:buChar char="•"/>
              <a:defRPr b="0" i="0">
                <a:latin typeface="Roboto"/>
                <a:ea typeface="Roboto"/>
                <a:cs typeface="Roboto"/>
                <a:sym typeface="Roboto"/>
              </a:defRPr>
            </a:lvl2pPr>
            <a:lvl3pPr marL="1371622" lvl="2" indent="-330205" algn="l" rtl="0">
              <a:spcBef>
                <a:spcPts val="600"/>
              </a:spcBef>
              <a:spcAft>
                <a:spcPts val="0"/>
              </a:spcAft>
              <a:buClr>
                <a:schemeClr val="dk1"/>
              </a:buClr>
              <a:buSzPts val="1600"/>
              <a:buChar char="−"/>
              <a:defRPr b="0" i="0">
                <a:latin typeface="Roboto"/>
                <a:ea typeface="Roboto"/>
                <a:cs typeface="Roboto"/>
                <a:sym typeface="Roboto"/>
              </a:defRPr>
            </a:lvl3pPr>
            <a:lvl4pPr marL="1828831" lvl="3" indent="-317506" algn="l" rtl="0">
              <a:spcBef>
                <a:spcPts val="300"/>
              </a:spcBef>
              <a:spcAft>
                <a:spcPts val="0"/>
              </a:spcAft>
              <a:buClr>
                <a:schemeClr val="dk1"/>
              </a:buClr>
              <a:buSzPts val="1400"/>
              <a:buChar char="•"/>
              <a:defRPr b="0" i="0">
                <a:latin typeface="Roboto"/>
                <a:ea typeface="Roboto"/>
                <a:cs typeface="Roboto"/>
                <a:sym typeface="Roboto"/>
              </a:defRPr>
            </a:lvl4pPr>
            <a:lvl5pPr marL="2286038" lvl="4" indent="-304805" algn="l" rtl="0">
              <a:spcBef>
                <a:spcPts val="300"/>
              </a:spcBef>
              <a:spcAft>
                <a:spcPts val="0"/>
              </a:spcAft>
              <a:buClr>
                <a:schemeClr val="dk1"/>
              </a:buClr>
              <a:buSzPts val="1200"/>
              <a:buChar char="−"/>
              <a:defRPr b="0" i="0">
                <a:latin typeface="Roboto"/>
                <a:ea typeface="Roboto"/>
                <a:cs typeface="Roboto"/>
                <a:sym typeface="Roboto"/>
              </a:defRPr>
            </a:lvl5pPr>
            <a:lvl6pPr marL="2743246" lvl="5" indent="-304805" algn="l" rtl="0">
              <a:spcBef>
                <a:spcPts val="360"/>
              </a:spcBef>
              <a:spcAft>
                <a:spcPts val="0"/>
              </a:spcAft>
              <a:buClr>
                <a:schemeClr val="dk1"/>
              </a:buClr>
              <a:buSzPts val="1200"/>
              <a:buFont typeface="Roboto"/>
              <a:buChar char="•"/>
              <a:defRPr sz="1200">
                <a:latin typeface="Roboto"/>
                <a:ea typeface="Roboto"/>
                <a:cs typeface="Roboto"/>
                <a:sym typeface="Roboto"/>
              </a:defRPr>
            </a:lvl6pPr>
            <a:lvl7pPr marL="3200453" lvl="6" indent="-304805" algn="l" rtl="0">
              <a:spcBef>
                <a:spcPts val="360"/>
              </a:spcBef>
              <a:spcAft>
                <a:spcPts val="0"/>
              </a:spcAft>
              <a:buClr>
                <a:schemeClr val="dk1"/>
              </a:buClr>
              <a:buSzPts val="1200"/>
              <a:buFont typeface="Roboto"/>
              <a:buChar char="•"/>
              <a:defRPr sz="1200">
                <a:latin typeface="Roboto"/>
                <a:ea typeface="Roboto"/>
                <a:cs typeface="Roboto"/>
                <a:sym typeface="Roboto"/>
              </a:defRPr>
            </a:lvl7pPr>
            <a:lvl8pPr marL="3657661" lvl="7" indent="-304805" algn="l" rtl="0">
              <a:spcBef>
                <a:spcPts val="360"/>
              </a:spcBef>
              <a:spcAft>
                <a:spcPts val="0"/>
              </a:spcAft>
              <a:buClr>
                <a:schemeClr val="dk1"/>
              </a:buClr>
              <a:buSzPts val="1200"/>
              <a:buFont typeface="Roboto"/>
              <a:buChar char="•"/>
              <a:defRPr sz="1200">
                <a:latin typeface="Roboto"/>
                <a:ea typeface="Roboto"/>
                <a:cs typeface="Roboto"/>
                <a:sym typeface="Roboto"/>
              </a:defRPr>
            </a:lvl8pPr>
            <a:lvl9pPr marL="4114868" lvl="8" indent="-304805" algn="l" rtl="0">
              <a:spcBef>
                <a:spcPts val="360"/>
              </a:spcBef>
              <a:spcAft>
                <a:spcPts val="0"/>
              </a:spcAft>
              <a:buClr>
                <a:schemeClr val="dk1"/>
              </a:buClr>
              <a:buSzPts val="1200"/>
              <a:buFont typeface="Roboto"/>
              <a:buChar char="•"/>
              <a:defRPr sz="1200">
                <a:latin typeface="Roboto"/>
                <a:ea typeface="Roboto"/>
                <a:cs typeface="Roboto"/>
                <a:sym typeface="Roboto"/>
              </a:defRPr>
            </a:lvl9pPr>
          </a:lstStyle>
          <a:p>
            <a:endParaRPr dirty="0"/>
          </a:p>
        </p:txBody>
      </p:sp>
      <p:sp>
        <p:nvSpPr>
          <p:cNvPr id="545" name="Google Shape;545;p98"/>
          <p:cNvSpPr txBox="1"/>
          <p:nvPr/>
        </p:nvSpPr>
        <p:spPr>
          <a:xfrm>
            <a:off x="8194350" y="6400800"/>
            <a:ext cx="3244500" cy="228600"/>
          </a:xfrm>
          <a:prstGeom prst="rect">
            <a:avLst/>
          </a:prstGeom>
          <a:noFill/>
          <a:ln>
            <a:noFill/>
          </a:ln>
        </p:spPr>
        <p:txBody>
          <a:bodyPr spcFirstLastPara="1" wrap="square" lIns="91426" tIns="91426" rIns="91426" bIns="91426" anchor="t" anchorCtr="0">
            <a:noAutofit/>
          </a:bodyPr>
          <a:lstStyle/>
          <a:p>
            <a:pPr marL="0" lvl="0" indent="0" algn="r" rtl="0">
              <a:spcBef>
                <a:spcPts val="0"/>
              </a:spcBef>
              <a:spcAft>
                <a:spcPts val="0"/>
              </a:spcAft>
              <a:buNone/>
            </a:pPr>
            <a:endParaRPr sz="1000" dirty="0">
              <a:solidFill>
                <a:schemeClr val="dk1"/>
              </a:solidFill>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extLst>
    <p:ext uri="{DCECCB84-F9BA-43D5-87BE-67443E8EF086}">
      <p15:sldGuideLst xmlns:p15="http://schemas.microsoft.com/office/powerpoint/2012/main">
        <p15:guide id="1" orient="horz" pos="1872" userDrawn="1">
          <p15:clr>
            <a:srgbClr val="FA7B17"/>
          </p15:clr>
        </p15:guide>
        <p15:guide id="2" pos="5615" userDrawn="1">
          <p15:clr>
            <a:srgbClr val="FA7B17"/>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A745EA7-AFDB-D704-3CDB-08F90106DA56}"/>
              </a:ext>
            </a:extLst>
          </p:cNvPr>
          <p:cNvSpPr>
            <a:spLocks noGrp="1"/>
          </p:cNvSpPr>
          <p:nvPr>
            <p:ph type="sldNum" idx="10"/>
          </p:nvPr>
        </p:nvSpPr>
        <p:spPr/>
        <p:txBody>
          <a:bodyPr/>
          <a:lstStyle/>
          <a:p>
            <a:fld id="{00000000-1234-1234-1234-123412341234}" type="slidenum">
              <a:rPr lang="en" smtClean="0"/>
              <a:pPr/>
              <a:t>‹#›</a:t>
            </a:fld>
            <a:endParaRPr lang="en"/>
          </a:p>
        </p:txBody>
      </p:sp>
      <p:sp>
        <p:nvSpPr>
          <p:cNvPr id="4" name="Google Shape;873;p146">
            <a:extLst>
              <a:ext uri="{FF2B5EF4-FFF2-40B4-BE49-F238E27FC236}">
                <a16:creationId xmlns:a16="http://schemas.microsoft.com/office/drawing/2014/main" id="{6008B77D-0DC8-122B-4ECB-27691B2279A8}"/>
              </a:ext>
            </a:extLst>
          </p:cNvPr>
          <p:cNvSpPr txBox="1">
            <a:spLocks noGrp="1"/>
          </p:cNvSpPr>
          <p:nvPr>
            <p:ph type="title" hasCustomPrompt="1"/>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Click to add title</a:t>
            </a:r>
            <a:endParaRPr sz="6600" dirty="0"/>
          </a:p>
        </p:txBody>
      </p:sp>
    </p:spTree>
    <p:extLst>
      <p:ext uri="{BB962C8B-B14F-4D97-AF65-F5344CB8AC3E}">
        <p14:creationId xmlns:p14="http://schemas.microsoft.com/office/powerpoint/2010/main" val="35722641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5618" y="460685"/>
            <a:ext cx="11152976" cy="524543"/>
          </a:xfrm>
          <a:prstGeom prst="rect">
            <a:avLst/>
          </a:prstGeom>
          <a:noFill/>
          <a:ln>
            <a:noFill/>
          </a:ln>
        </p:spPr>
        <p:txBody>
          <a:bodyPr spcFirstLastPara="1" wrap="square" lIns="0" tIns="0" rIns="0" bIns="0" anchor="ctr" anchorCtr="0">
            <a:noAutofit/>
          </a:bodyPr>
          <a:lstStyle>
            <a:lvl1pPr marR="0" lvl="0" algn="l" rtl="0">
              <a:lnSpc>
                <a:spcPct val="80000"/>
              </a:lnSpc>
              <a:spcBef>
                <a:spcPts val="0"/>
              </a:spcBef>
              <a:spcAft>
                <a:spcPts val="0"/>
              </a:spcAft>
              <a:buClr>
                <a:schemeClr val="dk1"/>
              </a:buClr>
              <a:buSzPts val="3200"/>
              <a:buFont typeface="Roboto Medium"/>
              <a:buNone/>
              <a:defRPr sz="3200" b="0" i="0" u="none" strike="noStrike" cap="none">
                <a:solidFill>
                  <a:schemeClr val="dk1"/>
                </a:solidFill>
                <a:latin typeface="Roboto Medium"/>
                <a:ea typeface="Roboto Medium"/>
                <a:cs typeface="Roboto Medium"/>
                <a:sym typeface="Roboto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52" name="Google Shape;52;p13"/>
          <p:cNvSpPr txBox="1">
            <a:spLocks noGrp="1"/>
          </p:cNvSpPr>
          <p:nvPr>
            <p:ph type="body" idx="1"/>
          </p:nvPr>
        </p:nvSpPr>
        <p:spPr>
          <a:xfrm>
            <a:off x="457206" y="1178719"/>
            <a:ext cx="11151388" cy="5350669"/>
          </a:xfrm>
          <a:prstGeom prst="rect">
            <a:avLst/>
          </a:prstGeom>
          <a:noFill/>
          <a:ln>
            <a:noFill/>
          </a:ln>
        </p:spPr>
        <p:txBody>
          <a:bodyPr spcFirstLastPara="1" wrap="square" lIns="0" tIns="0" rIns="0" bIns="0" anchor="t" anchorCtr="0">
            <a:noAutofit/>
          </a:bodyPr>
          <a:lstStyle>
            <a:lvl1pPr marL="457200" marR="0" lvl="0" indent="-228600" algn="l" rtl="0">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6pPr>
            <a:lvl7pPr marL="3200400" marR="0" lvl="6" indent="-397891"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7pPr>
            <a:lvl8pPr marL="3657600" marR="0" lvl="7"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8pPr>
            <a:lvl9pPr marL="4114800" marR="0" lvl="8" indent="-397890" algn="l" rtl="0">
              <a:spcBef>
                <a:spcPts val="533"/>
              </a:spcBef>
              <a:spcAft>
                <a:spcPts val="0"/>
              </a:spcAft>
              <a:buClr>
                <a:schemeClr val="dk1"/>
              </a:buClr>
              <a:buSzPts val="2666"/>
              <a:buFont typeface="Arial"/>
              <a:buChar char="•"/>
              <a:defRPr sz="2666" b="0" i="0" u="none" strike="noStrike" cap="none">
                <a:solidFill>
                  <a:schemeClr val="dk1"/>
                </a:solidFill>
                <a:latin typeface="Poppins Medium"/>
                <a:ea typeface="Poppins Medium"/>
                <a:cs typeface="Poppins Medium"/>
                <a:sym typeface="Poppins Medium"/>
              </a:defRPr>
            </a:lvl9pPr>
          </a:lstStyle>
          <a:p>
            <a:endParaRPr dirty="0"/>
          </a:p>
        </p:txBody>
      </p:sp>
    </p:spTree>
  </p:cSld>
  <p:clrMap bg1="lt1" tx1="dk1" bg2="dk2" tx2="lt2" accent1="accent1" accent2="accent2" accent3="accent3" accent4="accent4" accent5="accent5" accent6="accent6" hlink="hlink" folHlink="folHlink"/>
  <p:sldLayoutIdLst>
    <p:sldLayoutId id="2147483659" r:id="rId1"/>
    <p:sldLayoutId id="2147483742" r:id="rId2"/>
    <p:sldLayoutId id="2147483793" r:id="rId3"/>
  </p:sldLayoutIdLst>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guide id="3" pos="287" userDrawn="1">
          <p15:clr>
            <a:srgbClr val="F26B43"/>
          </p15:clr>
        </p15:guide>
        <p15:guide id="4" orient="horz" pos="288" userDrawn="1">
          <p15:clr>
            <a:srgbClr val="F26B43"/>
          </p15:clr>
        </p15:guide>
        <p15:guide id="5" orient="horz" pos="4032" userDrawn="1">
          <p15:clr>
            <a:srgbClr val="F26B43"/>
          </p15:clr>
        </p15:guide>
        <p15:guide id="6" pos="7391" userDrawn="1">
          <p15:clr>
            <a:srgbClr val="F26B43"/>
          </p15:clr>
        </p15:guide>
        <p15:guide id="7" orient="horz" pos="3888" userDrawn="1">
          <p15:clr>
            <a:srgbClr val="F26B43"/>
          </p15:clr>
        </p15:guide>
        <p15:guide id="8" orient="horz" pos="4176" userDrawn="1">
          <p15:clr>
            <a:srgbClr val="F26B43"/>
          </p15:clr>
        </p15:guide>
        <p15:guide id="9" orient="horz" pos="374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3.png"/><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hyperlink" Target="https://github.com/nutonomy/AVCDL" TargetMode="External"/><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hyperlink" Target="https://csrc.nist.gov/publications/detail/sp/800-154/draf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146"/>
          <p:cNvSpPr txBox="1">
            <a:spLocks noGrp="1"/>
          </p:cNvSpPr>
          <p:nvPr>
            <p:ph type="title"/>
          </p:nvPr>
        </p:nvSpPr>
        <p:spPr>
          <a:xfrm>
            <a:off x="668910" y="1815384"/>
            <a:ext cx="10851007" cy="3227235"/>
          </a:xfrm>
          <a:prstGeom prst="rect">
            <a:avLst/>
          </a:prstGeom>
          <a:noFill/>
          <a:ln>
            <a:noFill/>
          </a:ln>
        </p:spPr>
        <p:txBody>
          <a:bodyPr spcFirstLastPara="1" wrap="square" lIns="0" tIns="0" rIns="0" bIns="0" anchor="ctr" anchorCtr="0">
            <a:noAutofit/>
          </a:bodyPr>
          <a:lstStyle/>
          <a:p>
            <a:pPr>
              <a:lnSpc>
                <a:spcPct val="100000"/>
              </a:lnSpc>
            </a:pPr>
            <a:r>
              <a:rPr lang="en" sz="5400" dirty="0"/>
              <a:t>Threat Model Analysis</a:t>
            </a:r>
            <a:endParaRPr sz="6600" dirty="0"/>
          </a:p>
        </p:txBody>
      </p:sp>
      <p:sp>
        <p:nvSpPr>
          <p:cNvPr id="2" name="Rectangle 1">
            <a:extLst>
              <a:ext uri="{FF2B5EF4-FFF2-40B4-BE49-F238E27FC236}">
                <a16:creationId xmlns:a16="http://schemas.microsoft.com/office/drawing/2014/main" id="{2FB5F0EE-3344-3E43-B412-5327D36C6F8A}"/>
              </a:ext>
            </a:extLst>
          </p:cNvPr>
          <p:cNvSpPr/>
          <p:nvPr/>
        </p:nvSpPr>
        <p:spPr>
          <a:xfrm>
            <a:off x="10741247" y="5270394"/>
            <a:ext cx="963726" cy="461665"/>
          </a:xfrm>
          <a:prstGeom prst="rect">
            <a:avLst/>
          </a:prstGeom>
        </p:spPr>
        <p:txBody>
          <a:bodyPr wrap="none">
            <a:spAutoFit/>
          </a:bodyPr>
          <a:lstStyle/>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version 2</a:t>
            </a:r>
          </a:p>
          <a:p>
            <a:pPr algn="r"/>
            <a:r>
              <a:rPr lang="en-US" sz="1200" dirty="0">
                <a:solidFill>
                  <a:schemeClr val="accent3">
                    <a:lumMod val="20000"/>
                    <a:lumOff val="80000"/>
                  </a:schemeClr>
                </a:solidFill>
                <a:latin typeface="Roboto" panose="02000000000000000000" pitchFamily="2" charset="0"/>
                <a:ea typeface="Roboto" panose="02000000000000000000" pitchFamily="2" charset="0"/>
              </a:rPr>
              <a:t>2025-06-06</a:t>
            </a:r>
          </a:p>
        </p:txBody>
      </p:sp>
      <p:sp>
        <p:nvSpPr>
          <p:cNvPr id="4" name="Rectangle 3">
            <a:extLst>
              <a:ext uri="{FF2B5EF4-FFF2-40B4-BE49-F238E27FC236}">
                <a16:creationId xmlns:a16="http://schemas.microsoft.com/office/drawing/2014/main" id="{74CD8A9C-5CEA-AD48-B075-78C4F71699EB}"/>
              </a:ext>
            </a:extLst>
          </p:cNvPr>
          <p:cNvSpPr/>
          <p:nvPr/>
        </p:nvSpPr>
        <p:spPr>
          <a:xfrm>
            <a:off x="668909" y="5208838"/>
            <a:ext cx="6374149" cy="523220"/>
          </a:xfrm>
          <a:prstGeom prst="rect">
            <a:avLst/>
          </a:prstGeom>
        </p:spPr>
        <p:txBody>
          <a:bodyPr wrap="square">
            <a:spAutoFit/>
          </a:bodyPr>
          <a:lstStyle/>
          <a:p>
            <a:r>
              <a:rPr lang="en-US" dirty="0">
                <a:solidFill>
                  <a:schemeClr val="accent3">
                    <a:lumMod val="20000"/>
                    <a:lumOff val="80000"/>
                  </a:schemeClr>
                </a:solidFill>
                <a:latin typeface="Roboto" panose="02000000000000000000" pitchFamily="2" charset="0"/>
                <a:ea typeface="Roboto" panose="02000000000000000000" pitchFamily="2" charset="0"/>
              </a:rPr>
              <a:t>Charles Wilson</a:t>
            </a:r>
          </a:p>
          <a:p>
            <a:r>
              <a:rPr lang="en-US" dirty="0">
                <a:solidFill>
                  <a:schemeClr val="accent3">
                    <a:lumMod val="20000"/>
                    <a:lumOff val="80000"/>
                  </a:schemeClr>
                </a:solidFill>
                <a:latin typeface="Roboto" panose="02000000000000000000" pitchFamily="2" charset="0"/>
                <a:ea typeface="Roboto" panose="02000000000000000000" pitchFamily="2" charset="0"/>
              </a:rPr>
              <a:t>Staff Product Cybersecurity Architect</a:t>
            </a: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Training Path</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2777678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C325CF8B-3AEB-C8FB-3B39-B59C981CF1F6}"/>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FEF81D3F-911E-5203-7C36-A9224AF4232C}"/>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Introduction</a:t>
            </a:r>
            <a:endParaRPr sz="6600" dirty="0"/>
          </a:p>
        </p:txBody>
      </p:sp>
    </p:spTree>
    <p:extLst>
      <p:ext uri="{BB962C8B-B14F-4D97-AF65-F5344CB8AC3E}">
        <p14:creationId xmlns:p14="http://schemas.microsoft.com/office/powerpoint/2010/main" val="925773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8" name="Picture 7" descr="A diagram of a diagram&#10;&#10;AI-generated content may be incorrect.">
            <a:extLst>
              <a:ext uri="{FF2B5EF4-FFF2-40B4-BE49-F238E27FC236}">
                <a16:creationId xmlns:a16="http://schemas.microsoft.com/office/drawing/2014/main" id="{C713250B-755C-6D01-452E-FEB414F67DAA}"/>
              </a:ext>
            </a:extLst>
          </p:cNvPr>
          <p:cNvPicPr>
            <a:picLocks noChangeAspect="1"/>
          </p:cNvPicPr>
          <p:nvPr/>
        </p:nvPicPr>
        <p:blipFill>
          <a:blip r:embed="rId3"/>
          <a:stretch>
            <a:fillRect/>
          </a:stretch>
        </p:blipFill>
        <p:spPr>
          <a:xfrm>
            <a:off x="227820" y="1509482"/>
            <a:ext cx="11731433" cy="4317167"/>
          </a:xfrm>
          <a:prstGeom prst="rect">
            <a:avLst/>
          </a:prstGeom>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Threat Modeling Process</a:t>
            </a:r>
            <a:endParaRPr dirty="0"/>
          </a:p>
        </p:txBody>
      </p:sp>
    </p:spTree>
    <p:extLst>
      <p:ext uri="{BB962C8B-B14F-4D97-AF65-F5344CB8AC3E}">
        <p14:creationId xmlns:p14="http://schemas.microsoft.com/office/powerpoint/2010/main" val="3876755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6B301566-E791-0500-29C1-CD6133A46E5E}"/>
            </a:ext>
          </a:extLst>
        </p:cNvPr>
        <p:cNvGrpSpPr/>
        <p:nvPr/>
      </p:nvGrpSpPr>
      <p:grpSpPr>
        <a:xfrm>
          <a:off x="0" y="0"/>
          <a:ext cx="0" cy="0"/>
          <a:chOff x="0" y="0"/>
          <a:chExt cx="0" cy="0"/>
        </a:xfrm>
      </p:grpSpPr>
      <p:pic>
        <p:nvPicPr>
          <p:cNvPr id="8" name="Picture 7" descr="A diagram of a diagram&#10;&#10;AI-generated content may be incorrect.">
            <a:extLst>
              <a:ext uri="{FF2B5EF4-FFF2-40B4-BE49-F238E27FC236}">
                <a16:creationId xmlns:a16="http://schemas.microsoft.com/office/drawing/2014/main" id="{863D31E7-1EDB-6012-EA29-0360C8D10CF5}"/>
              </a:ext>
            </a:extLst>
          </p:cNvPr>
          <p:cNvPicPr>
            <a:picLocks noChangeAspect="1"/>
          </p:cNvPicPr>
          <p:nvPr/>
        </p:nvPicPr>
        <p:blipFill>
          <a:blip r:embed="rId3">
            <a:alphaModFix amt="10000"/>
          </a:blip>
          <a:stretch>
            <a:fillRect/>
          </a:stretch>
        </p:blipFill>
        <p:spPr>
          <a:xfrm>
            <a:off x="227820" y="1509482"/>
            <a:ext cx="11731433" cy="4317167"/>
          </a:xfrm>
          <a:prstGeom prst="rect">
            <a:avLst/>
          </a:prstGeom>
        </p:spPr>
      </p:pic>
      <p:sp>
        <p:nvSpPr>
          <p:cNvPr id="1199" name="Google Shape;1199;p156">
            <a:extLst>
              <a:ext uri="{FF2B5EF4-FFF2-40B4-BE49-F238E27FC236}">
                <a16:creationId xmlns:a16="http://schemas.microsoft.com/office/drawing/2014/main" id="{91855C93-68FA-717F-6239-B161A3029FA2}"/>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Model Analysis Activity</a:t>
            </a:r>
            <a:endParaRPr dirty="0"/>
          </a:p>
        </p:txBody>
      </p:sp>
      <p:pic>
        <p:nvPicPr>
          <p:cNvPr id="3" name="Picture 2" descr="A diagram of a sme&#10;&#10;AI-generated content may be incorrect.">
            <a:extLst>
              <a:ext uri="{FF2B5EF4-FFF2-40B4-BE49-F238E27FC236}">
                <a16:creationId xmlns:a16="http://schemas.microsoft.com/office/drawing/2014/main" id="{DE65720B-3C31-9FA5-E61A-B36570239BFE}"/>
              </a:ext>
            </a:extLst>
          </p:cNvPr>
          <p:cNvPicPr>
            <a:picLocks noChangeAspect="1"/>
          </p:cNvPicPr>
          <p:nvPr/>
        </p:nvPicPr>
        <p:blipFill>
          <a:blip r:embed="rId4"/>
          <a:stretch>
            <a:fillRect/>
          </a:stretch>
        </p:blipFill>
        <p:spPr>
          <a:xfrm>
            <a:off x="3228605" y="1509482"/>
            <a:ext cx="4795808" cy="4317167"/>
          </a:xfrm>
          <a:prstGeom prst="rect">
            <a:avLst/>
          </a:prstGeom>
        </p:spPr>
      </p:pic>
    </p:spTree>
    <p:extLst>
      <p:ext uri="{BB962C8B-B14F-4D97-AF65-F5344CB8AC3E}">
        <p14:creationId xmlns:p14="http://schemas.microsoft.com/office/powerpoint/2010/main" val="1712214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B60D722D-5EBC-3199-33FB-3F6490A4DB9C}"/>
            </a:ext>
          </a:extLst>
        </p:cNvPr>
        <p:cNvGrpSpPr/>
        <p:nvPr/>
      </p:nvGrpSpPr>
      <p:grpSpPr>
        <a:xfrm>
          <a:off x="0" y="0"/>
          <a:ext cx="0" cy="0"/>
          <a:chOff x="0" y="0"/>
          <a:chExt cx="0" cy="0"/>
        </a:xfrm>
      </p:grpSpPr>
      <p:pic>
        <p:nvPicPr>
          <p:cNvPr id="3" name="Picture 2" descr="A diagram of a diagram&#10;&#10;AI-generated content may be incorrect.">
            <a:extLst>
              <a:ext uri="{FF2B5EF4-FFF2-40B4-BE49-F238E27FC236}">
                <a16:creationId xmlns:a16="http://schemas.microsoft.com/office/drawing/2014/main" id="{9CEF2FF7-0040-D13F-7E96-53B38BDE8C8E}"/>
              </a:ext>
            </a:extLst>
          </p:cNvPr>
          <p:cNvPicPr>
            <a:picLocks noChangeAspect="1"/>
          </p:cNvPicPr>
          <p:nvPr/>
        </p:nvPicPr>
        <p:blipFill>
          <a:blip r:embed="rId3">
            <a:alphaModFix amt="10000"/>
          </a:blip>
          <a:stretch>
            <a:fillRect/>
          </a:stretch>
        </p:blipFill>
        <p:spPr>
          <a:xfrm>
            <a:off x="227820" y="1509482"/>
            <a:ext cx="11731433" cy="4317167"/>
          </a:xfrm>
          <a:prstGeom prst="rect">
            <a:avLst/>
          </a:prstGeom>
        </p:spPr>
      </p:pic>
      <p:sp>
        <p:nvSpPr>
          <p:cNvPr id="1199" name="Google Shape;1199;p156">
            <a:extLst>
              <a:ext uri="{FF2B5EF4-FFF2-40B4-BE49-F238E27FC236}">
                <a16:creationId xmlns:a16="http://schemas.microsoft.com/office/drawing/2014/main" id="{FB544F1F-EE48-DCF6-7A48-802847F97C11}"/>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Model Analysis Activity</a:t>
            </a:r>
            <a:endParaRPr dirty="0"/>
          </a:p>
        </p:txBody>
      </p:sp>
      <p:pic>
        <p:nvPicPr>
          <p:cNvPr id="2" name="Picture 1">
            <a:extLst>
              <a:ext uri="{FF2B5EF4-FFF2-40B4-BE49-F238E27FC236}">
                <a16:creationId xmlns:a16="http://schemas.microsoft.com/office/drawing/2014/main" id="{16E7EBAC-C4B6-58AD-84A9-4B3AF3B46A43}"/>
              </a:ext>
            </a:extLst>
          </p:cNvPr>
          <p:cNvPicPr>
            <a:picLocks noChangeAspect="1"/>
          </p:cNvPicPr>
          <p:nvPr/>
        </p:nvPicPr>
        <p:blipFill>
          <a:blip r:embed="rId4"/>
          <a:stretch>
            <a:fillRect/>
          </a:stretch>
        </p:blipFill>
        <p:spPr>
          <a:xfrm>
            <a:off x="8366647" y="2060369"/>
            <a:ext cx="3251341" cy="3288149"/>
          </a:xfrm>
          <a:prstGeom prst="rect">
            <a:avLst/>
          </a:prstGeom>
        </p:spPr>
      </p:pic>
      <p:pic>
        <p:nvPicPr>
          <p:cNvPr id="4" name="Picture 3" descr="A diagram of a sme&#10;&#10;AI-generated content may be incorrect.">
            <a:extLst>
              <a:ext uri="{FF2B5EF4-FFF2-40B4-BE49-F238E27FC236}">
                <a16:creationId xmlns:a16="http://schemas.microsoft.com/office/drawing/2014/main" id="{B660C1DF-A5FC-569F-ABFB-F95C84032342}"/>
              </a:ext>
            </a:extLst>
          </p:cNvPr>
          <p:cNvPicPr>
            <a:picLocks noChangeAspect="1"/>
          </p:cNvPicPr>
          <p:nvPr/>
        </p:nvPicPr>
        <p:blipFill>
          <a:blip r:embed="rId5"/>
          <a:stretch>
            <a:fillRect/>
          </a:stretch>
        </p:blipFill>
        <p:spPr>
          <a:xfrm>
            <a:off x="3228605" y="1509482"/>
            <a:ext cx="4795808" cy="4317167"/>
          </a:xfrm>
          <a:prstGeom prst="rect">
            <a:avLst/>
          </a:prstGeom>
        </p:spPr>
      </p:pic>
    </p:spTree>
    <p:extLst>
      <p:ext uri="{BB962C8B-B14F-4D97-AF65-F5344CB8AC3E}">
        <p14:creationId xmlns:p14="http://schemas.microsoft.com/office/powerpoint/2010/main" val="9349300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A8F13723-17E7-33FC-25C7-8AB956DD08ED}"/>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79490EA9-EC37-D30B-39BD-4FE1D8EFA3CC}"/>
              </a:ext>
            </a:extLst>
          </p:cNvPr>
          <p:cNvSpPr txBox="1">
            <a:spLocks noGrp="1"/>
          </p:cNvSpPr>
          <p:nvPr>
            <p:ph type="title"/>
          </p:nvPr>
        </p:nvSpPr>
        <p:spPr>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Example</a:t>
            </a:r>
            <a:endParaRPr sz="6600" dirty="0"/>
          </a:p>
        </p:txBody>
      </p:sp>
    </p:spTree>
    <p:extLst>
      <p:ext uri="{BB962C8B-B14F-4D97-AF65-F5344CB8AC3E}">
        <p14:creationId xmlns:p14="http://schemas.microsoft.com/office/powerpoint/2010/main" val="36685217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C1D368DC-1B49-87D9-ECA6-26C97F028965}"/>
            </a:ext>
          </a:extLst>
        </p:cNvPr>
        <p:cNvGrpSpPr/>
        <p:nvPr/>
      </p:nvGrpSpPr>
      <p:grpSpPr>
        <a:xfrm>
          <a:off x="0" y="0"/>
          <a:ext cx="0" cy="0"/>
          <a:chOff x="0" y="0"/>
          <a:chExt cx="0" cy="0"/>
        </a:xfrm>
      </p:grpSpPr>
      <p:pic>
        <p:nvPicPr>
          <p:cNvPr id="5" name="Picture 4" descr="A diagram of a diagram&#10;&#10;AI-generated content may be incorrect.">
            <a:extLst>
              <a:ext uri="{FF2B5EF4-FFF2-40B4-BE49-F238E27FC236}">
                <a16:creationId xmlns:a16="http://schemas.microsoft.com/office/drawing/2014/main" id="{BDDE4241-22EE-90B0-E2DE-C27C1D63F3EB}"/>
              </a:ext>
            </a:extLst>
          </p:cNvPr>
          <p:cNvPicPr>
            <a:picLocks noChangeAspect="1"/>
          </p:cNvPicPr>
          <p:nvPr/>
        </p:nvPicPr>
        <p:blipFill>
          <a:blip r:embed="rId3"/>
          <a:stretch>
            <a:fillRect/>
          </a:stretch>
        </p:blipFill>
        <p:spPr>
          <a:xfrm>
            <a:off x="7137279" y="4587375"/>
            <a:ext cx="4595928" cy="1999164"/>
          </a:xfrm>
          <a:prstGeom prst="rect">
            <a:avLst/>
          </a:prstGeom>
        </p:spPr>
      </p:pic>
      <p:sp>
        <p:nvSpPr>
          <p:cNvPr id="1199" name="Google Shape;1199;p156">
            <a:extLst>
              <a:ext uri="{FF2B5EF4-FFF2-40B4-BE49-F238E27FC236}">
                <a16:creationId xmlns:a16="http://schemas.microsoft.com/office/drawing/2014/main" id="{C8CFCCE3-1072-EA95-C213-D78A6C776406}"/>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Block Diagram to DFDs </a:t>
            </a:r>
            <a:endParaRPr dirty="0"/>
          </a:p>
        </p:txBody>
      </p:sp>
      <p:pic>
        <p:nvPicPr>
          <p:cNvPr id="2" name="Picture 1" descr="A diagram of a diagram&#10;&#10;AI-generated content may be incorrect.">
            <a:extLst>
              <a:ext uri="{FF2B5EF4-FFF2-40B4-BE49-F238E27FC236}">
                <a16:creationId xmlns:a16="http://schemas.microsoft.com/office/drawing/2014/main" id="{6B491322-FB69-F31B-C916-5DBD25773750}"/>
              </a:ext>
            </a:extLst>
          </p:cNvPr>
          <p:cNvPicPr>
            <a:picLocks noChangeAspect="1"/>
          </p:cNvPicPr>
          <p:nvPr/>
        </p:nvPicPr>
        <p:blipFill>
          <a:blip r:embed="rId4"/>
          <a:stretch>
            <a:fillRect/>
          </a:stretch>
        </p:blipFill>
        <p:spPr>
          <a:xfrm>
            <a:off x="8223496" y="2432963"/>
            <a:ext cx="3509711" cy="1997520"/>
          </a:xfrm>
          <a:prstGeom prst="rect">
            <a:avLst/>
          </a:prstGeom>
        </p:spPr>
      </p:pic>
      <p:pic>
        <p:nvPicPr>
          <p:cNvPr id="3" name="Picture 2" descr="A diagram of a computer system&#10;&#10;AI-generated content may be incorrect.">
            <a:extLst>
              <a:ext uri="{FF2B5EF4-FFF2-40B4-BE49-F238E27FC236}">
                <a16:creationId xmlns:a16="http://schemas.microsoft.com/office/drawing/2014/main" id="{89802566-32C0-ACEF-FAA9-0B9F7072CA45}"/>
              </a:ext>
            </a:extLst>
          </p:cNvPr>
          <p:cNvPicPr>
            <a:picLocks noChangeAspect="1"/>
          </p:cNvPicPr>
          <p:nvPr/>
        </p:nvPicPr>
        <p:blipFill>
          <a:blip r:embed="rId5"/>
          <a:stretch>
            <a:fillRect/>
          </a:stretch>
        </p:blipFill>
        <p:spPr>
          <a:xfrm>
            <a:off x="9435243" y="273691"/>
            <a:ext cx="2282067" cy="2002380"/>
          </a:xfrm>
          <a:prstGeom prst="rect">
            <a:avLst/>
          </a:prstGeom>
        </p:spPr>
      </p:pic>
      <p:pic>
        <p:nvPicPr>
          <p:cNvPr id="4" name="Picture 3">
            <a:extLst>
              <a:ext uri="{FF2B5EF4-FFF2-40B4-BE49-F238E27FC236}">
                <a16:creationId xmlns:a16="http://schemas.microsoft.com/office/drawing/2014/main" id="{B0BC8C44-E0E5-56F0-00D0-277157D37A3D}"/>
              </a:ext>
            </a:extLst>
          </p:cNvPr>
          <p:cNvPicPr>
            <a:picLocks noChangeAspect="1"/>
          </p:cNvPicPr>
          <p:nvPr/>
        </p:nvPicPr>
        <p:blipFill>
          <a:blip r:embed="rId6"/>
          <a:stretch>
            <a:fillRect/>
          </a:stretch>
        </p:blipFill>
        <p:spPr>
          <a:xfrm>
            <a:off x="455618" y="1575772"/>
            <a:ext cx="5612666" cy="4510703"/>
          </a:xfrm>
          <a:prstGeom prst="rect">
            <a:avLst/>
          </a:prstGeom>
        </p:spPr>
      </p:pic>
      <p:sp>
        <p:nvSpPr>
          <p:cNvPr id="6" name="Right Arrow 5">
            <a:extLst>
              <a:ext uri="{FF2B5EF4-FFF2-40B4-BE49-F238E27FC236}">
                <a16:creationId xmlns:a16="http://schemas.microsoft.com/office/drawing/2014/main" id="{2FF3B394-9A64-31B1-CC7A-3571C54F8366}"/>
              </a:ext>
            </a:extLst>
          </p:cNvPr>
          <p:cNvSpPr/>
          <p:nvPr/>
        </p:nvSpPr>
        <p:spPr>
          <a:xfrm>
            <a:off x="6436518" y="2993231"/>
            <a:ext cx="1243013" cy="871537"/>
          </a:xfrm>
          <a:prstGeom prst="rightArrow">
            <a:avLst/>
          </a:prstGeom>
          <a:solidFill>
            <a:schemeClr val="bg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56879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E658F8AF-C36E-1A43-9CF0-6384DF97994D}"/>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1B1DD145-886F-3CEF-A950-DE7C20D55DEC}"/>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Model Details</a:t>
            </a:r>
            <a:endParaRPr dirty="0"/>
          </a:p>
        </p:txBody>
      </p:sp>
      <p:sp>
        <p:nvSpPr>
          <p:cNvPr id="11" name="TextBox 10">
            <a:extLst>
              <a:ext uri="{FF2B5EF4-FFF2-40B4-BE49-F238E27FC236}">
                <a16:creationId xmlns:a16="http://schemas.microsoft.com/office/drawing/2014/main" id="{5B604603-0811-17A1-901B-96FB5C6F38D1}"/>
              </a:ext>
            </a:extLst>
          </p:cNvPr>
          <p:cNvSpPr txBox="1"/>
          <p:nvPr/>
        </p:nvSpPr>
        <p:spPr>
          <a:xfrm>
            <a:off x="3960562" y="534370"/>
            <a:ext cx="1068637" cy="307777"/>
          </a:xfrm>
          <a:prstGeom prst="rect">
            <a:avLst/>
          </a:prstGeom>
          <a:noFill/>
        </p:spPr>
        <p:txBody>
          <a:bodyPr wrap="square" rtlCol="0">
            <a:spAutoFit/>
          </a:bodyPr>
          <a:lstStyle/>
          <a:p>
            <a:r>
              <a:rPr lang="en-US" dirty="0">
                <a:solidFill>
                  <a:srgbClr val="0070C0"/>
                </a:solidFill>
                <a:latin typeface="Roboto" panose="02000000000000000000" pitchFamily="2" charset="0"/>
                <a:ea typeface="Roboto" panose="02000000000000000000" pitchFamily="2" charset="0"/>
                <a:cs typeface="Roboto" panose="02000000000000000000" pitchFamily="2" charset="0"/>
              </a:rPr>
              <a:t>data flows</a:t>
            </a:r>
          </a:p>
        </p:txBody>
      </p:sp>
      <p:pic>
        <p:nvPicPr>
          <p:cNvPr id="4" name="Picture 3" descr="A table of information with text&#10;&#10;AI-generated content may be incorrect.">
            <a:extLst>
              <a:ext uri="{FF2B5EF4-FFF2-40B4-BE49-F238E27FC236}">
                <a16:creationId xmlns:a16="http://schemas.microsoft.com/office/drawing/2014/main" id="{67DE2AD0-50F9-6322-5DBD-D76D3F4EF36B}"/>
              </a:ext>
            </a:extLst>
          </p:cNvPr>
          <p:cNvPicPr>
            <a:picLocks noChangeAspect="1"/>
          </p:cNvPicPr>
          <p:nvPr/>
        </p:nvPicPr>
        <p:blipFill>
          <a:blip r:embed="rId3"/>
          <a:stretch>
            <a:fillRect/>
          </a:stretch>
        </p:blipFill>
        <p:spPr>
          <a:xfrm>
            <a:off x="3960807" y="842147"/>
            <a:ext cx="7772400" cy="5555169"/>
          </a:xfrm>
          <a:prstGeom prst="rect">
            <a:avLst/>
          </a:prstGeom>
          <a:effectLst>
            <a:outerShdw blurRad="50800" dist="38100" dir="2700000" algn="tl" rotWithShape="0">
              <a:srgbClr val="00B050">
                <a:alpha val="40000"/>
              </a:srgbClr>
            </a:outerShdw>
          </a:effectLst>
        </p:spPr>
      </p:pic>
    </p:spTree>
    <p:extLst>
      <p:ext uri="{BB962C8B-B14F-4D97-AF65-F5344CB8AC3E}">
        <p14:creationId xmlns:p14="http://schemas.microsoft.com/office/powerpoint/2010/main" val="1510016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5D437FF5-F567-905A-1FE0-BEB3D4F3C283}"/>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0E53C687-11C3-4C36-70DF-8CADD1858DF5}"/>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Model Details</a:t>
            </a:r>
            <a:endParaRPr dirty="0"/>
          </a:p>
        </p:txBody>
      </p:sp>
      <p:pic>
        <p:nvPicPr>
          <p:cNvPr id="6" name="Picture 5" descr="A screenshot of a computer&#10;&#10;AI-generated content may be incorrect.">
            <a:extLst>
              <a:ext uri="{FF2B5EF4-FFF2-40B4-BE49-F238E27FC236}">
                <a16:creationId xmlns:a16="http://schemas.microsoft.com/office/drawing/2014/main" id="{FB17342D-CB15-38F8-ECE9-11AE350A2841}"/>
              </a:ext>
            </a:extLst>
          </p:cNvPr>
          <p:cNvPicPr>
            <a:picLocks noChangeAspect="1"/>
          </p:cNvPicPr>
          <p:nvPr/>
        </p:nvPicPr>
        <p:blipFill>
          <a:blip r:embed="rId3"/>
          <a:stretch>
            <a:fillRect/>
          </a:stretch>
        </p:blipFill>
        <p:spPr>
          <a:xfrm>
            <a:off x="455618" y="3608357"/>
            <a:ext cx="4257675" cy="532209"/>
          </a:xfrm>
          <a:prstGeom prst="rect">
            <a:avLst/>
          </a:prstGeom>
          <a:effectLst>
            <a:outerShdw blurRad="50800" dist="38100" dir="2700000" algn="tl" rotWithShape="0">
              <a:srgbClr val="00B050">
                <a:alpha val="40000"/>
              </a:srgbClr>
            </a:outerShdw>
          </a:effectLst>
        </p:spPr>
      </p:pic>
      <p:pic>
        <p:nvPicPr>
          <p:cNvPr id="8" name="Picture 7" descr="A close-up of a sign&#10;&#10;AI-generated content may be incorrect.">
            <a:extLst>
              <a:ext uri="{FF2B5EF4-FFF2-40B4-BE49-F238E27FC236}">
                <a16:creationId xmlns:a16="http://schemas.microsoft.com/office/drawing/2014/main" id="{F0BC6FAE-7C64-F808-2B7C-C1EE0C24EBF9}"/>
              </a:ext>
            </a:extLst>
          </p:cNvPr>
          <p:cNvPicPr>
            <a:picLocks noChangeAspect="1"/>
          </p:cNvPicPr>
          <p:nvPr/>
        </p:nvPicPr>
        <p:blipFill>
          <a:blip r:embed="rId4"/>
          <a:stretch>
            <a:fillRect/>
          </a:stretch>
        </p:blipFill>
        <p:spPr>
          <a:xfrm>
            <a:off x="455618" y="2813595"/>
            <a:ext cx="2584451" cy="225868"/>
          </a:xfrm>
          <a:prstGeom prst="rect">
            <a:avLst/>
          </a:prstGeom>
          <a:effectLst>
            <a:outerShdw blurRad="50800" dist="38100" dir="2700000" algn="tl" rotWithShape="0">
              <a:srgbClr val="00B050">
                <a:alpha val="40000"/>
              </a:srgbClr>
            </a:outerShdw>
          </a:effectLst>
        </p:spPr>
      </p:pic>
      <p:pic>
        <p:nvPicPr>
          <p:cNvPr id="10" name="Picture 9" descr="A table with text and words&#10;&#10;AI-generated content may be incorrect.">
            <a:extLst>
              <a:ext uri="{FF2B5EF4-FFF2-40B4-BE49-F238E27FC236}">
                <a16:creationId xmlns:a16="http://schemas.microsoft.com/office/drawing/2014/main" id="{AA3FA1C3-12B9-D427-6820-0A3D5FF8661B}"/>
              </a:ext>
            </a:extLst>
          </p:cNvPr>
          <p:cNvPicPr>
            <a:picLocks noChangeAspect="1"/>
          </p:cNvPicPr>
          <p:nvPr/>
        </p:nvPicPr>
        <p:blipFill>
          <a:blip r:embed="rId5"/>
          <a:stretch>
            <a:fillRect/>
          </a:stretch>
        </p:blipFill>
        <p:spPr>
          <a:xfrm>
            <a:off x="455618" y="4709460"/>
            <a:ext cx="4852188" cy="1149305"/>
          </a:xfrm>
          <a:prstGeom prst="rect">
            <a:avLst/>
          </a:prstGeom>
          <a:effectLst>
            <a:outerShdw blurRad="50800" dist="38100" dir="2700000" algn="tl" rotWithShape="0">
              <a:srgbClr val="00B050">
                <a:alpha val="40000"/>
              </a:srgbClr>
            </a:outerShdw>
          </a:effectLst>
        </p:spPr>
      </p:pic>
      <p:pic>
        <p:nvPicPr>
          <p:cNvPr id="3" name="Picture 2">
            <a:extLst>
              <a:ext uri="{FF2B5EF4-FFF2-40B4-BE49-F238E27FC236}">
                <a16:creationId xmlns:a16="http://schemas.microsoft.com/office/drawing/2014/main" id="{417827BB-FC4E-484D-7534-580870F73E26}"/>
              </a:ext>
            </a:extLst>
          </p:cNvPr>
          <p:cNvPicPr>
            <a:picLocks noChangeAspect="1"/>
          </p:cNvPicPr>
          <p:nvPr/>
        </p:nvPicPr>
        <p:blipFill>
          <a:blip r:embed="rId6"/>
          <a:stretch>
            <a:fillRect/>
          </a:stretch>
        </p:blipFill>
        <p:spPr>
          <a:xfrm>
            <a:off x="455618" y="1600637"/>
            <a:ext cx="7772400" cy="682650"/>
          </a:xfrm>
          <a:prstGeom prst="rect">
            <a:avLst/>
          </a:prstGeom>
          <a:effectLst>
            <a:outerShdw blurRad="50800" dist="38100" dir="2700000" algn="tl" rotWithShape="0">
              <a:srgbClr val="00B050">
                <a:alpha val="40000"/>
              </a:srgbClr>
            </a:outerShdw>
          </a:effectLst>
        </p:spPr>
      </p:pic>
      <p:sp>
        <p:nvSpPr>
          <p:cNvPr id="14" name="TextBox 13">
            <a:extLst>
              <a:ext uri="{FF2B5EF4-FFF2-40B4-BE49-F238E27FC236}">
                <a16:creationId xmlns:a16="http://schemas.microsoft.com/office/drawing/2014/main" id="{865BBD93-3206-E138-5AF7-6787271EC0DB}"/>
              </a:ext>
            </a:extLst>
          </p:cNvPr>
          <p:cNvSpPr txBox="1"/>
          <p:nvPr/>
        </p:nvSpPr>
        <p:spPr>
          <a:xfrm>
            <a:off x="455618" y="1292860"/>
            <a:ext cx="1001806" cy="307777"/>
          </a:xfrm>
          <a:prstGeom prst="rect">
            <a:avLst/>
          </a:prstGeom>
          <a:noFill/>
        </p:spPr>
        <p:txBody>
          <a:bodyPr wrap="square" rtlCol="0">
            <a:spAutoFit/>
          </a:bodyPr>
          <a:lstStyle/>
          <a:p>
            <a:r>
              <a:rPr lang="en-US" dirty="0">
                <a:solidFill>
                  <a:srgbClr val="0070C0"/>
                </a:solidFill>
                <a:latin typeface="Roboto" panose="02000000000000000000" pitchFamily="2" charset="0"/>
                <a:ea typeface="Roboto" panose="02000000000000000000" pitchFamily="2" charset="0"/>
                <a:cs typeface="Roboto" panose="02000000000000000000" pitchFamily="2" charset="0"/>
              </a:rPr>
              <a:t>resources</a:t>
            </a:r>
          </a:p>
        </p:txBody>
      </p:sp>
      <p:sp>
        <p:nvSpPr>
          <p:cNvPr id="15" name="TextBox 14">
            <a:extLst>
              <a:ext uri="{FF2B5EF4-FFF2-40B4-BE49-F238E27FC236}">
                <a16:creationId xmlns:a16="http://schemas.microsoft.com/office/drawing/2014/main" id="{70637DA7-2470-144A-6E34-AF844A7E4BCD}"/>
              </a:ext>
            </a:extLst>
          </p:cNvPr>
          <p:cNvSpPr txBox="1"/>
          <p:nvPr/>
        </p:nvSpPr>
        <p:spPr>
          <a:xfrm>
            <a:off x="460169" y="2505818"/>
            <a:ext cx="1062318" cy="307777"/>
          </a:xfrm>
          <a:prstGeom prst="rect">
            <a:avLst/>
          </a:prstGeom>
          <a:noFill/>
        </p:spPr>
        <p:txBody>
          <a:bodyPr wrap="square" rtlCol="0">
            <a:spAutoFit/>
          </a:bodyPr>
          <a:lstStyle/>
          <a:p>
            <a:r>
              <a:rPr lang="en-US" dirty="0">
                <a:solidFill>
                  <a:srgbClr val="0070C0"/>
                </a:solidFill>
                <a:latin typeface="Roboto" panose="02000000000000000000" pitchFamily="2" charset="0"/>
                <a:ea typeface="Roboto" panose="02000000000000000000" pitchFamily="2" charset="0"/>
                <a:cs typeface="Roboto" panose="02000000000000000000" pitchFamily="2" charset="0"/>
              </a:rPr>
              <a:t>interactors</a:t>
            </a:r>
          </a:p>
        </p:txBody>
      </p:sp>
      <p:sp>
        <p:nvSpPr>
          <p:cNvPr id="16" name="TextBox 15">
            <a:extLst>
              <a:ext uri="{FF2B5EF4-FFF2-40B4-BE49-F238E27FC236}">
                <a16:creationId xmlns:a16="http://schemas.microsoft.com/office/drawing/2014/main" id="{33C8948B-6818-3252-C26C-AB8D974DB2EB}"/>
              </a:ext>
            </a:extLst>
          </p:cNvPr>
          <p:cNvSpPr txBox="1"/>
          <p:nvPr/>
        </p:nvSpPr>
        <p:spPr>
          <a:xfrm>
            <a:off x="455617" y="3323910"/>
            <a:ext cx="1148895" cy="307777"/>
          </a:xfrm>
          <a:prstGeom prst="rect">
            <a:avLst/>
          </a:prstGeom>
          <a:noFill/>
        </p:spPr>
        <p:txBody>
          <a:bodyPr wrap="square" rtlCol="0">
            <a:spAutoFit/>
          </a:bodyPr>
          <a:lstStyle/>
          <a:p>
            <a:r>
              <a:rPr lang="en-US" dirty="0">
                <a:solidFill>
                  <a:srgbClr val="0070C0"/>
                </a:solidFill>
                <a:latin typeface="Roboto" panose="02000000000000000000" pitchFamily="2" charset="0"/>
                <a:ea typeface="Roboto" panose="02000000000000000000" pitchFamily="2" charset="0"/>
                <a:cs typeface="Roboto" panose="02000000000000000000" pitchFamily="2" charset="0"/>
              </a:rPr>
              <a:t>boundaries</a:t>
            </a:r>
          </a:p>
        </p:txBody>
      </p:sp>
      <p:sp>
        <p:nvSpPr>
          <p:cNvPr id="17" name="TextBox 16">
            <a:extLst>
              <a:ext uri="{FF2B5EF4-FFF2-40B4-BE49-F238E27FC236}">
                <a16:creationId xmlns:a16="http://schemas.microsoft.com/office/drawing/2014/main" id="{13436AD4-5620-81B1-C7D9-1ED4AE482673}"/>
              </a:ext>
            </a:extLst>
          </p:cNvPr>
          <p:cNvSpPr txBox="1"/>
          <p:nvPr/>
        </p:nvSpPr>
        <p:spPr>
          <a:xfrm>
            <a:off x="455617" y="4401683"/>
            <a:ext cx="1066869" cy="307777"/>
          </a:xfrm>
          <a:prstGeom prst="rect">
            <a:avLst/>
          </a:prstGeom>
          <a:noFill/>
        </p:spPr>
        <p:txBody>
          <a:bodyPr wrap="square" rtlCol="0">
            <a:spAutoFit/>
          </a:bodyPr>
          <a:lstStyle/>
          <a:p>
            <a:r>
              <a:rPr lang="en-US" dirty="0">
                <a:solidFill>
                  <a:srgbClr val="0070C0"/>
                </a:solidFill>
                <a:latin typeface="Roboto" panose="02000000000000000000" pitchFamily="2" charset="0"/>
                <a:ea typeface="Roboto" panose="02000000000000000000" pitchFamily="2" charset="0"/>
                <a:cs typeface="Roboto" panose="02000000000000000000" pitchFamily="2" charset="0"/>
              </a:rPr>
              <a:t>processes</a:t>
            </a:r>
          </a:p>
        </p:txBody>
      </p:sp>
    </p:spTree>
    <p:extLst>
      <p:ext uri="{BB962C8B-B14F-4D97-AF65-F5344CB8AC3E}">
        <p14:creationId xmlns:p14="http://schemas.microsoft.com/office/powerpoint/2010/main" val="26013902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29FD1ADC-A41E-5608-09A2-8022F95C1919}"/>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69C98E94-3D7D-138E-044B-8468EF203792}"/>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Generalized Cybersecurity Approach</a:t>
            </a:r>
            <a:endParaRPr dirty="0"/>
          </a:p>
        </p:txBody>
      </p:sp>
      <p:pic>
        <p:nvPicPr>
          <p:cNvPr id="6" name="Picture 5" descr="A black background with arrows pointing to the right&#10;&#10;AI-generated content may be incorrect.">
            <a:extLst>
              <a:ext uri="{FF2B5EF4-FFF2-40B4-BE49-F238E27FC236}">
                <a16:creationId xmlns:a16="http://schemas.microsoft.com/office/drawing/2014/main" id="{0B34CB91-E04A-D13A-605C-24A92E4613A1}"/>
              </a:ext>
            </a:extLst>
          </p:cNvPr>
          <p:cNvPicPr>
            <a:picLocks noChangeAspect="1"/>
          </p:cNvPicPr>
          <p:nvPr/>
        </p:nvPicPr>
        <p:blipFill>
          <a:blip r:embed="rId3"/>
          <a:stretch>
            <a:fillRect/>
          </a:stretch>
        </p:blipFill>
        <p:spPr>
          <a:xfrm>
            <a:off x="2880927" y="1979514"/>
            <a:ext cx="6426969" cy="3400418"/>
          </a:xfrm>
          <a:prstGeom prst="rect">
            <a:avLst/>
          </a:prstGeom>
        </p:spPr>
      </p:pic>
    </p:spTree>
    <p:extLst>
      <p:ext uri="{BB962C8B-B14F-4D97-AF65-F5344CB8AC3E}">
        <p14:creationId xmlns:p14="http://schemas.microsoft.com/office/powerpoint/2010/main" val="3698560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CB93FEC1-C25F-261A-B547-F68AEF82DAA7}"/>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975A9E4B-15A4-82BA-A107-BD8D79BF716D}"/>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Applicable Cybersecurity Requirements</a:t>
            </a:r>
            <a:endParaRPr dirty="0"/>
          </a:p>
        </p:txBody>
      </p:sp>
      <p:pic>
        <p:nvPicPr>
          <p:cNvPr id="4" name="Picture 3" descr="A screenshot of a document&#10;&#10;AI-generated content may be incorrect.">
            <a:extLst>
              <a:ext uri="{FF2B5EF4-FFF2-40B4-BE49-F238E27FC236}">
                <a16:creationId xmlns:a16="http://schemas.microsoft.com/office/drawing/2014/main" id="{88E6EC89-296A-986D-2596-7C94081F3752}"/>
              </a:ext>
            </a:extLst>
          </p:cNvPr>
          <p:cNvPicPr>
            <a:picLocks noChangeAspect="1"/>
          </p:cNvPicPr>
          <p:nvPr/>
        </p:nvPicPr>
        <p:blipFill>
          <a:blip r:embed="rId3"/>
          <a:stretch>
            <a:fillRect/>
          </a:stretch>
        </p:blipFill>
        <p:spPr>
          <a:xfrm>
            <a:off x="2731870" y="1328492"/>
            <a:ext cx="6725084" cy="5068824"/>
          </a:xfrm>
          <a:prstGeom prst="rect">
            <a:avLst/>
          </a:prstGeom>
        </p:spPr>
      </p:pic>
    </p:spTree>
    <p:extLst>
      <p:ext uri="{BB962C8B-B14F-4D97-AF65-F5344CB8AC3E}">
        <p14:creationId xmlns:p14="http://schemas.microsoft.com/office/powerpoint/2010/main" val="2211026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E1B1A8D-6D65-5616-673D-FE44D1D72AC0}"/>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1601EA53-051A-7A83-4D75-A5029ABAE1F9}"/>
              </a:ext>
            </a:extLst>
          </p:cNvPr>
          <p:cNvSpPr txBox="1">
            <a:spLocks noGrp="1"/>
          </p:cNvSpPr>
          <p:nvPr>
            <p:ph type="title"/>
          </p:nvPr>
        </p:nvSpPr>
        <p:spPr>
          <a:xfrm>
            <a:off x="0" y="0"/>
            <a:ext cx="12188825" cy="6858000"/>
          </a:xfrm>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Updating DFDs</a:t>
            </a:r>
            <a:endParaRPr sz="6600" dirty="0"/>
          </a:p>
        </p:txBody>
      </p:sp>
    </p:spTree>
    <p:extLst>
      <p:ext uri="{BB962C8B-B14F-4D97-AF65-F5344CB8AC3E}">
        <p14:creationId xmlns:p14="http://schemas.microsoft.com/office/powerpoint/2010/main" val="62015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8AA20FA8-A30F-7F69-A4D5-3767F9BE1DAE}"/>
            </a:ext>
          </a:extLst>
        </p:cNvPr>
        <p:cNvGrpSpPr/>
        <p:nvPr/>
      </p:nvGrpSpPr>
      <p:grpSpPr>
        <a:xfrm>
          <a:off x="0" y="0"/>
          <a:ext cx="0" cy="0"/>
          <a:chOff x="0" y="0"/>
          <a:chExt cx="0" cy="0"/>
        </a:xfrm>
      </p:grpSpPr>
      <p:pic>
        <p:nvPicPr>
          <p:cNvPr id="8" name="Picture 7" descr="A diagram of a computer&#10;&#10;AI-generated content may be incorrect.">
            <a:extLst>
              <a:ext uri="{FF2B5EF4-FFF2-40B4-BE49-F238E27FC236}">
                <a16:creationId xmlns:a16="http://schemas.microsoft.com/office/drawing/2014/main" id="{9927E141-DE23-32E6-4E46-1E095557839B}"/>
              </a:ext>
            </a:extLst>
          </p:cNvPr>
          <p:cNvPicPr>
            <a:picLocks noChangeAspect="1"/>
          </p:cNvPicPr>
          <p:nvPr/>
        </p:nvPicPr>
        <p:blipFill>
          <a:blip r:embed="rId3"/>
          <a:stretch>
            <a:fillRect/>
          </a:stretch>
        </p:blipFill>
        <p:spPr>
          <a:xfrm>
            <a:off x="2558770" y="460683"/>
            <a:ext cx="6761693" cy="6107336"/>
          </a:xfrm>
          <a:prstGeom prst="rect">
            <a:avLst/>
          </a:prstGeom>
        </p:spPr>
      </p:pic>
      <p:sp>
        <p:nvSpPr>
          <p:cNvPr id="1199" name="Google Shape;1199;p156">
            <a:extLst>
              <a:ext uri="{FF2B5EF4-FFF2-40B4-BE49-F238E27FC236}">
                <a16:creationId xmlns:a16="http://schemas.microsoft.com/office/drawing/2014/main" id="{8C2C1E4F-DEFF-F5AF-2F5F-7F540AEC1D22}"/>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Level 1 DFD</a:t>
            </a:r>
            <a:endParaRPr dirty="0"/>
          </a:p>
        </p:txBody>
      </p:sp>
    </p:spTree>
    <p:extLst>
      <p:ext uri="{BB962C8B-B14F-4D97-AF65-F5344CB8AC3E}">
        <p14:creationId xmlns:p14="http://schemas.microsoft.com/office/powerpoint/2010/main" val="25714505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D0895AC-F933-44CC-9527-925743674517}"/>
            </a:ext>
          </a:extLst>
        </p:cNvPr>
        <p:cNvGrpSpPr/>
        <p:nvPr/>
      </p:nvGrpSpPr>
      <p:grpSpPr>
        <a:xfrm>
          <a:off x="0" y="0"/>
          <a:ext cx="0" cy="0"/>
          <a:chOff x="0" y="0"/>
          <a:chExt cx="0" cy="0"/>
        </a:xfrm>
      </p:grpSpPr>
      <p:pic>
        <p:nvPicPr>
          <p:cNvPr id="8" name="Picture 7" descr="A diagram of a network&#10;&#10;AI-generated content may be incorrect.">
            <a:extLst>
              <a:ext uri="{FF2B5EF4-FFF2-40B4-BE49-F238E27FC236}">
                <a16:creationId xmlns:a16="http://schemas.microsoft.com/office/drawing/2014/main" id="{276A78EA-2E6C-4A04-6CDF-2F8491A1DFF4}"/>
              </a:ext>
            </a:extLst>
          </p:cNvPr>
          <p:cNvPicPr>
            <a:picLocks noChangeAspect="1"/>
          </p:cNvPicPr>
          <p:nvPr/>
        </p:nvPicPr>
        <p:blipFill>
          <a:blip r:embed="rId3"/>
          <a:stretch>
            <a:fillRect/>
          </a:stretch>
        </p:blipFill>
        <p:spPr>
          <a:xfrm>
            <a:off x="1192463" y="985083"/>
            <a:ext cx="10432288" cy="5668210"/>
          </a:xfrm>
          <a:prstGeom prst="rect">
            <a:avLst/>
          </a:prstGeom>
        </p:spPr>
      </p:pic>
      <p:sp>
        <p:nvSpPr>
          <p:cNvPr id="1199" name="Google Shape;1199;p156">
            <a:extLst>
              <a:ext uri="{FF2B5EF4-FFF2-40B4-BE49-F238E27FC236}">
                <a16:creationId xmlns:a16="http://schemas.microsoft.com/office/drawing/2014/main" id="{27ECFF03-86DE-8ADD-717B-AF2C8062A55D}"/>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Level 2 DFD</a:t>
            </a:r>
            <a:endParaRPr dirty="0"/>
          </a:p>
        </p:txBody>
      </p:sp>
    </p:spTree>
    <p:extLst>
      <p:ext uri="{BB962C8B-B14F-4D97-AF65-F5344CB8AC3E}">
        <p14:creationId xmlns:p14="http://schemas.microsoft.com/office/powerpoint/2010/main" val="31516016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A7D1B2D2-20B2-63C3-4B35-A8DDE13249A5}"/>
            </a:ext>
          </a:extLst>
        </p:cNvPr>
        <p:cNvGrpSpPr/>
        <p:nvPr/>
      </p:nvGrpSpPr>
      <p:grpSpPr>
        <a:xfrm>
          <a:off x="0" y="0"/>
          <a:ext cx="0" cy="0"/>
          <a:chOff x="0" y="0"/>
          <a:chExt cx="0" cy="0"/>
        </a:xfrm>
      </p:grpSpPr>
      <p:pic>
        <p:nvPicPr>
          <p:cNvPr id="4" name="Picture 3" descr="A diagram of a network&#10;&#10;AI-generated content may be incorrect.">
            <a:extLst>
              <a:ext uri="{FF2B5EF4-FFF2-40B4-BE49-F238E27FC236}">
                <a16:creationId xmlns:a16="http://schemas.microsoft.com/office/drawing/2014/main" id="{D06BDBCA-CF94-3D21-B2E8-C6802F774E29}"/>
              </a:ext>
            </a:extLst>
          </p:cNvPr>
          <p:cNvPicPr>
            <a:picLocks noChangeAspect="1"/>
          </p:cNvPicPr>
          <p:nvPr/>
        </p:nvPicPr>
        <p:blipFill>
          <a:blip r:embed="rId3"/>
          <a:stretch>
            <a:fillRect/>
          </a:stretch>
        </p:blipFill>
        <p:spPr>
          <a:xfrm>
            <a:off x="270999" y="1285686"/>
            <a:ext cx="12241815" cy="5071878"/>
          </a:xfrm>
          <a:prstGeom prst="rect">
            <a:avLst/>
          </a:prstGeom>
        </p:spPr>
      </p:pic>
      <p:sp>
        <p:nvSpPr>
          <p:cNvPr id="1199" name="Google Shape;1199;p156">
            <a:extLst>
              <a:ext uri="{FF2B5EF4-FFF2-40B4-BE49-F238E27FC236}">
                <a16:creationId xmlns:a16="http://schemas.microsoft.com/office/drawing/2014/main" id="{5007AB9A-35BA-3621-06DB-81247BD6920F}"/>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Level 3 DFD</a:t>
            </a:r>
            <a:endParaRPr dirty="0"/>
          </a:p>
        </p:txBody>
      </p:sp>
    </p:spTree>
    <p:extLst>
      <p:ext uri="{BB962C8B-B14F-4D97-AF65-F5344CB8AC3E}">
        <p14:creationId xmlns:p14="http://schemas.microsoft.com/office/powerpoint/2010/main" val="31227422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2DAEFBEE-FF18-D622-FB1D-24B844D4D0B7}"/>
            </a:ext>
          </a:extLst>
        </p:cNvPr>
        <p:cNvGrpSpPr/>
        <p:nvPr/>
      </p:nvGrpSpPr>
      <p:grpSpPr>
        <a:xfrm>
          <a:off x="0" y="0"/>
          <a:ext cx="0" cy="0"/>
          <a:chOff x="0" y="0"/>
          <a:chExt cx="0" cy="0"/>
        </a:xfrm>
      </p:grpSpPr>
      <p:pic>
        <p:nvPicPr>
          <p:cNvPr id="5" name="Picture 4" descr="A diagram of a computer&#10;&#10;AI-generated content may be incorrect.">
            <a:extLst>
              <a:ext uri="{FF2B5EF4-FFF2-40B4-BE49-F238E27FC236}">
                <a16:creationId xmlns:a16="http://schemas.microsoft.com/office/drawing/2014/main" id="{2109C4A2-4547-26E6-1E14-2AF38A8B5BB9}"/>
              </a:ext>
            </a:extLst>
          </p:cNvPr>
          <p:cNvPicPr>
            <a:picLocks noChangeAspect="1"/>
          </p:cNvPicPr>
          <p:nvPr/>
        </p:nvPicPr>
        <p:blipFill>
          <a:blip r:embed="rId3"/>
          <a:stretch>
            <a:fillRect/>
          </a:stretch>
        </p:blipFill>
        <p:spPr>
          <a:xfrm>
            <a:off x="3387008" y="1090000"/>
            <a:ext cx="5882063" cy="5492611"/>
          </a:xfrm>
          <a:prstGeom prst="rect">
            <a:avLst/>
          </a:prstGeom>
        </p:spPr>
      </p:pic>
      <p:sp>
        <p:nvSpPr>
          <p:cNvPr id="1199" name="Google Shape;1199;p156">
            <a:extLst>
              <a:ext uri="{FF2B5EF4-FFF2-40B4-BE49-F238E27FC236}">
                <a16:creationId xmlns:a16="http://schemas.microsoft.com/office/drawing/2014/main" id="{E6DF59E3-495C-EE9B-DC46-AA5F11517154}"/>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Filesystem</a:t>
            </a:r>
            <a:endParaRPr dirty="0"/>
          </a:p>
        </p:txBody>
      </p:sp>
    </p:spTree>
    <p:extLst>
      <p:ext uri="{BB962C8B-B14F-4D97-AF65-F5344CB8AC3E}">
        <p14:creationId xmlns:p14="http://schemas.microsoft.com/office/powerpoint/2010/main" val="32373828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EC4560B-A09D-DD32-EADA-E774871AF76E}"/>
            </a:ext>
          </a:extLst>
        </p:cNvPr>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1D18A1B3-9AE2-B37A-7849-B4DD1BDECA06}"/>
              </a:ext>
            </a:extLst>
          </p:cNvPr>
          <p:cNvPicPr>
            <a:picLocks noChangeAspect="1"/>
          </p:cNvPicPr>
          <p:nvPr/>
        </p:nvPicPr>
        <p:blipFill>
          <a:blip r:embed="rId3"/>
          <a:stretch>
            <a:fillRect/>
          </a:stretch>
        </p:blipFill>
        <p:spPr>
          <a:xfrm>
            <a:off x="1506227" y="1676846"/>
            <a:ext cx="3516512" cy="3809554"/>
          </a:xfrm>
          <a:prstGeom prst="rect">
            <a:avLst/>
          </a:prstGeom>
        </p:spPr>
      </p:pic>
      <p:sp>
        <p:nvSpPr>
          <p:cNvPr id="1199" name="Google Shape;1199;p156">
            <a:extLst>
              <a:ext uri="{FF2B5EF4-FFF2-40B4-BE49-F238E27FC236}">
                <a16:creationId xmlns:a16="http://schemas.microsoft.com/office/drawing/2014/main" id="{AC1B8B07-48AD-A04E-86DB-7896068D8B23}"/>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Core Service / Console Interface Initialization</a:t>
            </a:r>
            <a:endParaRPr dirty="0"/>
          </a:p>
        </p:txBody>
      </p:sp>
      <p:pic>
        <p:nvPicPr>
          <p:cNvPr id="2" name="Picture 1" descr="A screenshot of a computer&#10;&#10;AI-generated content may be incorrect.">
            <a:extLst>
              <a:ext uri="{FF2B5EF4-FFF2-40B4-BE49-F238E27FC236}">
                <a16:creationId xmlns:a16="http://schemas.microsoft.com/office/drawing/2014/main" id="{BB53C12A-518F-18CD-C20D-FBA49C4545E3}"/>
              </a:ext>
            </a:extLst>
          </p:cNvPr>
          <p:cNvPicPr>
            <a:picLocks noChangeAspect="1"/>
          </p:cNvPicPr>
          <p:nvPr/>
        </p:nvPicPr>
        <p:blipFill>
          <a:blip r:embed="rId4"/>
          <a:stretch>
            <a:fillRect/>
          </a:stretch>
        </p:blipFill>
        <p:spPr>
          <a:xfrm>
            <a:off x="7166086" y="1660357"/>
            <a:ext cx="3246745" cy="3826043"/>
          </a:xfrm>
          <a:prstGeom prst="rect">
            <a:avLst/>
          </a:prstGeom>
        </p:spPr>
      </p:pic>
    </p:spTree>
    <p:extLst>
      <p:ext uri="{BB962C8B-B14F-4D97-AF65-F5344CB8AC3E}">
        <p14:creationId xmlns:p14="http://schemas.microsoft.com/office/powerpoint/2010/main" val="33666210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CA65DB47-C033-BCA2-5E8C-66E0BA6C953E}"/>
            </a:ext>
          </a:extLst>
        </p:cNvPr>
        <p:cNvGrpSpPr/>
        <p:nvPr/>
      </p:nvGrpSpPr>
      <p:grpSpPr>
        <a:xfrm>
          <a:off x="0" y="0"/>
          <a:ext cx="0" cy="0"/>
          <a:chOff x="0" y="0"/>
          <a:chExt cx="0" cy="0"/>
        </a:xfrm>
      </p:grpSpPr>
      <p:pic>
        <p:nvPicPr>
          <p:cNvPr id="4" name="Picture 3" descr="A diagram of a computer&#10;&#10;AI-generated content may be incorrect.">
            <a:extLst>
              <a:ext uri="{FF2B5EF4-FFF2-40B4-BE49-F238E27FC236}">
                <a16:creationId xmlns:a16="http://schemas.microsoft.com/office/drawing/2014/main" id="{0FEE9964-2341-8736-3BA2-3DFCB00FA02F}"/>
              </a:ext>
            </a:extLst>
          </p:cNvPr>
          <p:cNvPicPr>
            <a:picLocks noChangeAspect="1"/>
          </p:cNvPicPr>
          <p:nvPr/>
        </p:nvPicPr>
        <p:blipFill>
          <a:blip r:embed="rId3"/>
          <a:stretch>
            <a:fillRect/>
          </a:stretch>
        </p:blipFill>
        <p:spPr>
          <a:xfrm>
            <a:off x="3425584" y="288978"/>
            <a:ext cx="5306669" cy="5999050"/>
          </a:xfrm>
          <a:prstGeom prst="rect">
            <a:avLst/>
          </a:prstGeom>
        </p:spPr>
      </p:pic>
      <p:sp>
        <p:nvSpPr>
          <p:cNvPr id="1199" name="Google Shape;1199;p156">
            <a:extLst>
              <a:ext uri="{FF2B5EF4-FFF2-40B4-BE49-F238E27FC236}">
                <a16:creationId xmlns:a16="http://schemas.microsoft.com/office/drawing/2014/main" id="{380F6442-589D-F4C2-A5F2-91546BE4A450}"/>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Core Service Configuration</a:t>
            </a:r>
            <a:endParaRPr dirty="0"/>
          </a:p>
        </p:txBody>
      </p:sp>
    </p:spTree>
    <p:extLst>
      <p:ext uri="{BB962C8B-B14F-4D97-AF65-F5344CB8AC3E}">
        <p14:creationId xmlns:p14="http://schemas.microsoft.com/office/powerpoint/2010/main" val="12924639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5A7B8A2B-2A75-E813-C7D1-8904BED53A18}"/>
            </a:ext>
          </a:extLst>
        </p:cNvPr>
        <p:cNvGrpSpPr/>
        <p:nvPr/>
      </p:nvGrpSpPr>
      <p:grpSpPr>
        <a:xfrm>
          <a:off x="0" y="0"/>
          <a:ext cx="0" cy="0"/>
          <a:chOff x="0" y="0"/>
          <a:chExt cx="0" cy="0"/>
        </a:xfrm>
      </p:grpSpPr>
      <p:pic>
        <p:nvPicPr>
          <p:cNvPr id="4" name="Picture 3" descr="A diagram of a service&#10;&#10;AI-generated content may be incorrect.">
            <a:extLst>
              <a:ext uri="{FF2B5EF4-FFF2-40B4-BE49-F238E27FC236}">
                <a16:creationId xmlns:a16="http://schemas.microsoft.com/office/drawing/2014/main" id="{CD12DFF9-EAA9-35D3-F4C9-DC32EB256707}"/>
              </a:ext>
            </a:extLst>
          </p:cNvPr>
          <p:cNvPicPr>
            <a:picLocks noChangeAspect="1"/>
          </p:cNvPicPr>
          <p:nvPr/>
        </p:nvPicPr>
        <p:blipFill>
          <a:blip r:embed="rId3"/>
          <a:stretch>
            <a:fillRect/>
          </a:stretch>
        </p:blipFill>
        <p:spPr>
          <a:xfrm>
            <a:off x="2181725" y="1782266"/>
            <a:ext cx="7412371" cy="3452807"/>
          </a:xfrm>
          <a:prstGeom prst="rect">
            <a:avLst/>
          </a:prstGeom>
        </p:spPr>
      </p:pic>
      <p:sp>
        <p:nvSpPr>
          <p:cNvPr id="1199" name="Google Shape;1199;p156">
            <a:extLst>
              <a:ext uri="{FF2B5EF4-FFF2-40B4-BE49-F238E27FC236}">
                <a16:creationId xmlns:a16="http://schemas.microsoft.com/office/drawing/2014/main" id="{A6CDC77C-1E1D-5A83-A3FC-F6F8B65E448F}"/>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Normal Operation</a:t>
            </a:r>
            <a:endParaRPr dirty="0"/>
          </a:p>
        </p:txBody>
      </p:sp>
    </p:spTree>
    <p:extLst>
      <p:ext uri="{BB962C8B-B14F-4D97-AF65-F5344CB8AC3E}">
        <p14:creationId xmlns:p14="http://schemas.microsoft.com/office/powerpoint/2010/main" val="13982255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5E0258E3-6E50-00C1-8F0D-B8EA88880CA0}"/>
            </a:ext>
          </a:extLst>
        </p:cNvPr>
        <p:cNvGrpSpPr/>
        <p:nvPr/>
      </p:nvGrpSpPr>
      <p:grpSpPr>
        <a:xfrm>
          <a:off x="0" y="0"/>
          <a:ext cx="0" cy="0"/>
          <a:chOff x="0" y="0"/>
          <a:chExt cx="0" cy="0"/>
        </a:xfrm>
      </p:grpSpPr>
      <p:pic>
        <p:nvPicPr>
          <p:cNvPr id="6" name="Picture 5" descr="A diagram of a service&#10;&#10;AI-generated content may be incorrect.">
            <a:extLst>
              <a:ext uri="{FF2B5EF4-FFF2-40B4-BE49-F238E27FC236}">
                <a16:creationId xmlns:a16="http://schemas.microsoft.com/office/drawing/2014/main" id="{C67C23C3-D25F-D5F5-4A2D-DF5C37DCF4E5}"/>
              </a:ext>
            </a:extLst>
          </p:cNvPr>
          <p:cNvPicPr>
            <a:picLocks noChangeAspect="1"/>
          </p:cNvPicPr>
          <p:nvPr/>
        </p:nvPicPr>
        <p:blipFill>
          <a:blip r:embed="rId3"/>
          <a:stretch>
            <a:fillRect/>
          </a:stretch>
        </p:blipFill>
        <p:spPr>
          <a:xfrm>
            <a:off x="2181726" y="1782265"/>
            <a:ext cx="5383640" cy="3453969"/>
          </a:xfrm>
          <a:prstGeom prst="rect">
            <a:avLst/>
          </a:prstGeom>
        </p:spPr>
      </p:pic>
      <p:sp>
        <p:nvSpPr>
          <p:cNvPr id="1199" name="Google Shape;1199;p156">
            <a:extLst>
              <a:ext uri="{FF2B5EF4-FFF2-40B4-BE49-F238E27FC236}">
                <a16:creationId xmlns:a16="http://schemas.microsoft.com/office/drawing/2014/main" id="{02C7EAA7-4014-F430-D8F7-D1D0F3719055}"/>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Normal Operation – End-to-End</a:t>
            </a:r>
            <a:endParaRPr dirty="0"/>
          </a:p>
        </p:txBody>
      </p:sp>
    </p:spTree>
    <p:extLst>
      <p:ext uri="{BB962C8B-B14F-4D97-AF65-F5344CB8AC3E}">
        <p14:creationId xmlns:p14="http://schemas.microsoft.com/office/powerpoint/2010/main" val="22835729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577C4661-2C5D-F6E7-F690-B1405B451057}"/>
            </a:ext>
          </a:extLst>
        </p:cNvPr>
        <p:cNvGrpSpPr/>
        <p:nvPr/>
      </p:nvGrpSpPr>
      <p:grpSpPr>
        <a:xfrm>
          <a:off x="0" y="0"/>
          <a:ext cx="0" cy="0"/>
          <a:chOff x="0" y="0"/>
          <a:chExt cx="0" cy="0"/>
        </a:xfrm>
      </p:grpSpPr>
      <p:pic>
        <p:nvPicPr>
          <p:cNvPr id="6" name="Picture 5" descr="A screenshot of a document&#10;&#10;AI-generated content may be incorrect.">
            <a:extLst>
              <a:ext uri="{FF2B5EF4-FFF2-40B4-BE49-F238E27FC236}">
                <a16:creationId xmlns:a16="http://schemas.microsoft.com/office/drawing/2014/main" id="{A57A4DC2-1914-F1CA-6CAE-7CE93E5B4E92}"/>
              </a:ext>
            </a:extLst>
          </p:cNvPr>
          <p:cNvPicPr>
            <a:picLocks noChangeAspect="1"/>
          </p:cNvPicPr>
          <p:nvPr/>
        </p:nvPicPr>
        <p:blipFill>
          <a:blip r:embed="rId3"/>
          <a:srcRect l="40684" r="108"/>
          <a:stretch>
            <a:fillRect/>
          </a:stretch>
        </p:blipFill>
        <p:spPr>
          <a:xfrm>
            <a:off x="4418251" y="4584788"/>
            <a:ext cx="7315200" cy="1908881"/>
          </a:xfrm>
          <a:prstGeom prst="rect">
            <a:avLst/>
          </a:prstGeom>
        </p:spPr>
      </p:pic>
      <p:pic>
        <p:nvPicPr>
          <p:cNvPr id="5" name="Picture 4" descr="A screenshot of a document&#10;&#10;AI-generated content may be incorrect.">
            <a:extLst>
              <a:ext uri="{FF2B5EF4-FFF2-40B4-BE49-F238E27FC236}">
                <a16:creationId xmlns:a16="http://schemas.microsoft.com/office/drawing/2014/main" id="{9EB37515-1D1D-7546-3010-283EF2FDD8C1}"/>
              </a:ext>
            </a:extLst>
          </p:cNvPr>
          <p:cNvPicPr>
            <a:picLocks noChangeAspect="1"/>
          </p:cNvPicPr>
          <p:nvPr/>
        </p:nvPicPr>
        <p:blipFill>
          <a:blip r:embed="rId3"/>
          <a:srcRect l="17" r="68896"/>
          <a:stretch>
            <a:fillRect/>
          </a:stretch>
        </p:blipFill>
        <p:spPr>
          <a:xfrm>
            <a:off x="449434" y="4584788"/>
            <a:ext cx="3840480" cy="1908881"/>
          </a:xfrm>
          <a:prstGeom prst="rect">
            <a:avLst/>
          </a:prstGeom>
        </p:spPr>
      </p:pic>
      <p:sp>
        <p:nvSpPr>
          <p:cNvPr id="1199" name="Google Shape;1199;p156">
            <a:extLst>
              <a:ext uri="{FF2B5EF4-FFF2-40B4-BE49-F238E27FC236}">
                <a16:creationId xmlns:a16="http://schemas.microsoft.com/office/drawing/2014/main" id="{76EAD9C4-B5B5-EDB8-8ECB-9291413C6133}"/>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Entity Updates</a:t>
            </a:r>
            <a:endParaRPr dirty="0"/>
          </a:p>
        </p:txBody>
      </p:sp>
      <p:pic>
        <p:nvPicPr>
          <p:cNvPr id="10" name="Picture 9">
            <a:extLst>
              <a:ext uri="{FF2B5EF4-FFF2-40B4-BE49-F238E27FC236}">
                <a16:creationId xmlns:a16="http://schemas.microsoft.com/office/drawing/2014/main" id="{864CC63A-F603-6B55-8914-90A2BD3C4ABB}"/>
              </a:ext>
            </a:extLst>
          </p:cNvPr>
          <p:cNvPicPr>
            <a:picLocks noChangeAspect="1"/>
          </p:cNvPicPr>
          <p:nvPr/>
        </p:nvPicPr>
        <p:blipFill>
          <a:blip r:embed="rId4"/>
          <a:srcRect l="-1" r="24237"/>
          <a:stretch>
            <a:fillRect/>
          </a:stretch>
        </p:blipFill>
        <p:spPr>
          <a:xfrm>
            <a:off x="449433" y="3680341"/>
            <a:ext cx="6366675" cy="322957"/>
          </a:xfrm>
          <a:prstGeom prst="rect">
            <a:avLst/>
          </a:prstGeom>
        </p:spPr>
      </p:pic>
      <p:pic>
        <p:nvPicPr>
          <p:cNvPr id="12" name="Picture 11">
            <a:extLst>
              <a:ext uri="{FF2B5EF4-FFF2-40B4-BE49-F238E27FC236}">
                <a16:creationId xmlns:a16="http://schemas.microsoft.com/office/drawing/2014/main" id="{2CFA0197-ACA8-39F5-D41B-05D87AB09339}"/>
              </a:ext>
            </a:extLst>
          </p:cNvPr>
          <p:cNvPicPr>
            <a:picLocks noChangeAspect="1"/>
          </p:cNvPicPr>
          <p:nvPr/>
        </p:nvPicPr>
        <p:blipFill>
          <a:blip r:embed="rId5"/>
          <a:srcRect l="-3" r="20707"/>
          <a:stretch>
            <a:fillRect/>
          </a:stretch>
        </p:blipFill>
        <p:spPr>
          <a:xfrm>
            <a:off x="458578" y="2683369"/>
            <a:ext cx="7662672" cy="322957"/>
          </a:xfrm>
          <a:prstGeom prst="rect">
            <a:avLst/>
          </a:prstGeom>
        </p:spPr>
      </p:pic>
      <p:pic>
        <p:nvPicPr>
          <p:cNvPr id="14" name="Picture 13">
            <a:extLst>
              <a:ext uri="{FF2B5EF4-FFF2-40B4-BE49-F238E27FC236}">
                <a16:creationId xmlns:a16="http://schemas.microsoft.com/office/drawing/2014/main" id="{E58201A5-E2FF-52D8-E01F-3E3C0DB1B71F}"/>
              </a:ext>
            </a:extLst>
          </p:cNvPr>
          <p:cNvPicPr>
            <a:picLocks noChangeAspect="1"/>
          </p:cNvPicPr>
          <p:nvPr/>
        </p:nvPicPr>
        <p:blipFill>
          <a:blip r:embed="rId6"/>
          <a:srcRect l="1" r="15660" b="-45"/>
          <a:stretch>
            <a:fillRect/>
          </a:stretch>
        </p:blipFill>
        <p:spPr>
          <a:xfrm>
            <a:off x="449433" y="1598959"/>
            <a:ext cx="11164824" cy="502920"/>
          </a:xfrm>
          <a:prstGeom prst="rect">
            <a:avLst/>
          </a:prstGeom>
        </p:spPr>
      </p:pic>
      <p:sp>
        <p:nvSpPr>
          <p:cNvPr id="15" name="TextBox 14">
            <a:extLst>
              <a:ext uri="{FF2B5EF4-FFF2-40B4-BE49-F238E27FC236}">
                <a16:creationId xmlns:a16="http://schemas.microsoft.com/office/drawing/2014/main" id="{711F7710-E58E-893E-4C61-09C4569A8E49}"/>
              </a:ext>
            </a:extLst>
          </p:cNvPr>
          <p:cNvSpPr txBox="1"/>
          <p:nvPr/>
        </p:nvSpPr>
        <p:spPr>
          <a:xfrm>
            <a:off x="449433" y="4277011"/>
            <a:ext cx="1071462" cy="307777"/>
          </a:xfrm>
          <a:prstGeom prst="rect">
            <a:avLst/>
          </a:prstGeom>
          <a:noFill/>
        </p:spPr>
        <p:txBody>
          <a:bodyPr wrap="square" rtlCol="0">
            <a:spAutoFit/>
          </a:bodyPr>
          <a:lstStyle/>
          <a:p>
            <a:r>
              <a:rPr lang="en-US" dirty="0">
                <a:solidFill>
                  <a:srgbClr val="0070C0"/>
                </a:solidFill>
                <a:latin typeface="Roboto" panose="02000000000000000000" pitchFamily="2" charset="0"/>
                <a:ea typeface="Roboto" panose="02000000000000000000" pitchFamily="2" charset="0"/>
                <a:cs typeface="Roboto" panose="02000000000000000000" pitchFamily="2" charset="0"/>
              </a:rPr>
              <a:t>data flows</a:t>
            </a:r>
          </a:p>
        </p:txBody>
      </p:sp>
      <p:sp>
        <p:nvSpPr>
          <p:cNvPr id="16" name="TextBox 15">
            <a:extLst>
              <a:ext uri="{FF2B5EF4-FFF2-40B4-BE49-F238E27FC236}">
                <a16:creationId xmlns:a16="http://schemas.microsoft.com/office/drawing/2014/main" id="{E990C7E5-1167-1686-2C5E-4AADBB34AD45}"/>
              </a:ext>
            </a:extLst>
          </p:cNvPr>
          <p:cNvSpPr txBox="1"/>
          <p:nvPr/>
        </p:nvSpPr>
        <p:spPr>
          <a:xfrm>
            <a:off x="455618" y="1292860"/>
            <a:ext cx="1001806" cy="307777"/>
          </a:xfrm>
          <a:prstGeom prst="rect">
            <a:avLst/>
          </a:prstGeom>
          <a:noFill/>
        </p:spPr>
        <p:txBody>
          <a:bodyPr wrap="square" rtlCol="0">
            <a:spAutoFit/>
          </a:bodyPr>
          <a:lstStyle/>
          <a:p>
            <a:r>
              <a:rPr lang="en-US" dirty="0">
                <a:solidFill>
                  <a:srgbClr val="0070C0"/>
                </a:solidFill>
                <a:latin typeface="Roboto" panose="02000000000000000000" pitchFamily="2" charset="0"/>
                <a:ea typeface="Roboto" panose="02000000000000000000" pitchFamily="2" charset="0"/>
                <a:cs typeface="Roboto" panose="02000000000000000000" pitchFamily="2" charset="0"/>
              </a:rPr>
              <a:t>resources</a:t>
            </a:r>
          </a:p>
        </p:txBody>
      </p:sp>
      <p:sp>
        <p:nvSpPr>
          <p:cNvPr id="17" name="TextBox 16">
            <a:extLst>
              <a:ext uri="{FF2B5EF4-FFF2-40B4-BE49-F238E27FC236}">
                <a16:creationId xmlns:a16="http://schemas.microsoft.com/office/drawing/2014/main" id="{789B00DE-5629-592A-233A-6924C52F37ED}"/>
              </a:ext>
            </a:extLst>
          </p:cNvPr>
          <p:cNvSpPr txBox="1"/>
          <p:nvPr/>
        </p:nvSpPr>
        <p:spPr>
          <a:xfrm>
            <a:off x="458578" y="3355350"/>
            <a:ext cx="1154562" cy="307777"/>
          </a:xfrm>
          <a:prstGeom prst="rect">
            <a:avLst/>
          </a:prstGeom>
          <a:noFill/>
        </p:spPr>
        <p:txBody>
          <a:bodyPr wrap="square" rtlCol="0">
            <a:spAutoFit/>
          </a:bodyPr>
          <a:lstStyle/>
          <a:p>
            <a:r>
              <a:rPr lang="en-US" dirty="0">
                <a:solidFill>
                  <a:srgbClr val="0070C0"/>
                </a:solidFill>
                <a:latin typeface="Roboto" panose="02000000000000000000" pitchFamily="2" charset="0"/>
                <a:ea typeface="Roboto" panose="02000000000000000000" pitchFamily="2" charset="0"/>
                <a:cs typeface="Roboto" panose="02000000000000000000" pitchFamily="2" charset="0"/>
              </a:rPr>
              <a:t>boundaries</a:t>
            </a:r>
          </a:p>
        </p:txBody>
      </p:sp>
      <p:sp>
        <p:nvSpPr>
          <p:cNvPr id="18" name="TextBox 17">
            <a:extLst>
              <a:ext uri="{FF2B5EF4-FFF2-40B4-BE49-F238E27FC236}">
                <a16:creationId xmlns:a16="http://schemas.microsoft.com/office/drawing/2014/main" id="{F65B4ED4-2F23-0BB1-97E8-DA31D7856BBC}"/>
              </a:ext>
            </a:extLst>
          </p:cNvPr>
          <p:cNvSpPr txBox="1"/>
          <p:nvPr/>
        </p:nvSpPr>
        <p:spPr>
          <a:xfrm>
            <a:off x="449432" y="2373558"/>
            <a:ext cx="1071463" cy="307777"/>
          </a:xfrm>
          <a:prstGeom prst="rect">
            <a:avLst/>
          </a:prstGeom>
          <a:noFill/>
        </p:spPr>
        <p:txBody>
          <a:bodyPr wrap="square" rtlCol="0">
            <a:spAutoFit/>
          </a:bodyPr>
          <a:lstStyle/>
          <a:p>
            <a:r>
              <a:rPr lang="en-US" dirty="0">
                <a:solidFill>
                  <a:srgbClr val="0070C0"/>
                </a:solidFill>
                <a:latin typeface="Roboto" panose="02000000000000000000" pitchFamily="2" charset="0"/>
                <a:ea typeface="Roboto" panose="02000000000000000000" pitchFamily="2" charset="0"/>
                <a:cs typeface="Roboto" panose="02000000000000000000" pitchFamily="2" charset="0"/>
              </a:rPr>
              <a:t>processes</a:t>
            </a:r>
          </a:p>
        </p:txBody>
      </p:sp>
    </p:spTree>
    <p:extLst>
      <p:ext uri="{BB962C8B-B14F-4D97-AF65-F5344CB8AC3E}">
        <p14:creationId xmlns:p14="http://schemas.microsoft.com/office/powerpoint/2010/main" val="23528586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59D0E8D7-4614-B156-003B-2B0B11EBD836}"/>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48A33A7D-1839-F02D-FA3A-444B05CC0D80}"/>
              </a:ext>
            </a:extLst>
          </p:cNvPr>
          <p:cNvSpPr txBox="1">
            <a:spLocks noGrp="1"/>
          </p:cNvSpPr>
          <p:nvPr>
            <p:ph type="title"/>
          </p:nvPr>
        </p:nvSpPr>
        <p:spPr>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Analysis</a:t>
            </a:r>
            <a:endParaRPr sz="6600" dirty="0"/>
          </a:p>
        </p:txBody>
      </p:sp>
    </p:spTree>
    <p:extLst>
      <p:ext uri="{BB962C8B-B14F-4D97-AF65-F5344CB8AC3E}">
        <p14:creationId xmlns:p14="http://schemas.microsoft.com/office/powerpoint/2010/main" val="27188651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4F297AA4-C322-003A-0144-78D2BB77EEDC}"/>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99D53604-2DB9-8F23-572C-1F3146035072}"/>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Methodology</a:t>
            </a:r>
            <a:endParaRPr dirty="0"/>
          </a:p>
        </p:txBody>
      </p:sp>
      <p:pic>
        <p:nvPicPr>
          <p:cNvPr id="12" name="Picture 11" descr="A screenshot of a document&#10;&#10;AI-generated content may be incorrect.">
            <a:extLst>
              <a:ext uri="{FF2B5EF4-FFF2-40B4-BE49-F238E27FC236}">
                <a16:creationId xmlns:a16="http://schemas.microsoft.com/office/drawing/2014/main" id="{82FAC194-D6AB-660F-3966-A5C51B73553F}"/>
              </a:ext>
            </a:extLst>
          </p:cNvPr>
          <p:cNvPicPr>
            <a:picLocks noChangeAspect="1"/>
          </p:cNvPicPr>
          <p:nvPr/>
        </p:nvPicPr>
        <p:blipFill>
          <a:blip r:embed="rId3"/>
          <a:stretch>
            <a:fillRect/>
          </a:stretch>
        </p:blipFill>
        <p:spPr>
          <a:xfrm>
            <a:off x="7028547" y="2849207"/>
            <a:ext cx="4704904" cy="3546176"/>
          </a:xfrm>
          <a:prstGeom prst="rect">
            <a:avLst/>
          </a:prstGeom>
        </p:spPr>
      </p:pic>
      <p:grpSp>
        <p:nvGrpSpPr>
          <p:cNvPr id="16" name="Group 15">
            <a:extLst>
              <a:ext uri="{FF2B5EF4-FFF2-40B4-BE49-F238E27FC236}">
                <a16:creationId xmlns:a16="http://schemas.microsoft.com/office/drawing/2014/main" id="{3451617F-7107-25AF-88D7-9A8C1A0DF6E6}"/>
              </a:ext>
            </a:extLst>
          </p:cNvPr>
          <p:cNvGrpSpPr/>
          <p:nvPr/>
        </p:nvGrpSpPr>
        <p:grpSpPr>
          <a:xfrm>
            <a:off x="455374" y="1317855"/>
            <a:ext cx="11288684" cy="1198580"/>
            <a:chOff x="455374" y="1317855"/>
            <a:chExt cx="11288684" cy="1198580"/>
          </a:xfrm>
        </p:grpSpPr>
        <p:pic>
          <p:nvPicPr>
            <p:cNvPr id="7" name="Picture 6" descr="A table of data with text&#10;&#10;AI-generated content may be incorrect.">
              <a:extLst>
                <a:ext uri="{FF2B5EF4-FFF2-40B4-BE49-F238E27FC236}">
                  <a16:creationId xmlns:a16="http://schemas.microsoft.com/office/drawing/2014/main" id="{8C9266A8-15D4-D921-917C-BE864FEC1566}"/>
                </a:ext>
              </a:extLst>
            </p:cNvPr>
            <p:cNvPicPr>
              <a:picLocks noChangeAspect="1"/>
            </p:cNvPicPr>
            <p:nvPr/>
          </p:nvPicPr>
          <p:blipFill>
            <a:blip r:embed="rId4"/>
            <a:srcRect l="-7" t="19220" r="69211" b="76676"/>
            <a:stretch>
              <a:fillRect/>
            </a:stretch>
          </p:blipFill>
          <p:spPr>
            <a:xfrm>
              <a:off x="455374" y="1813491"/>
              <a:ext cx="3840480" cy="365760"/>
            </a:xfrm>
            <a:prstGeom prst="rect">
              <a:avLst/>
            </a:prstGeom>
          </p:spPr>
        </p:pic>
        <p:pic>
          <p:nvPicPr>
            <p:cNvPr id="8" name="Picture 7" descr="A table of data with text&#10;&#10;AI-generated content may be incorrect.">
              <a:extLst>
                <a:ext uri="{FF2B5EF4-FFF2-40B4-BE49-F238E27FC236}">
                  <a16:creationId xmlns:a16="http://schemas.microsoft.com/office/drawing/2014/main" id="{17251F14-0D16-E734-624B-663CB67E0101}"/>
                </a:ext>
              </a:extLst>
            </p:cNvPr>
            <p:cNvPicPr>
              <a:picLocks noChangeAspect="1"/>
            </p:cNvPicPr>
            <p:nvPr/>
          </p:nvPicPr>
          <p:blipFill>
            <a:blip r:embed="rId4"/>
            <a:srcRect l="41058" t="19220" r="-83" b="76676"/>
            <a:stretch>
              <a:fillRect/>
            </a:stretch>
          </p:blipFill>
          <p:spPr>
            <a:xfrm>
              <a:off x="4383138" y="1813490"/>
              <a:ext cx="7360920" cy="365760"/>
            </a:xfrm>
            <a:prstGeom prst="rect">
              <a:avLst/>
            </a:prstGeom>
          </p:spPr>
        </p:pic>
        <p:pic>
          <p:nvPicPr>
            <p:cNvPr id="9" name="Picture 8" descr="A table of data with text&#10;&#10;AI-generated content may be incorrect.">
              <a:extLst>
                <a:ext uri="{FF2B5EF4-FFF2-40B4-BE49-F238E27FC236}">
                  <a16:creationId xmlns:a16="http://schemas.microsoft.com/office/drawing/2014/main" id="{61DF4DC9-F845-D347-DD67-86DC6C4C530A}"/>
                </a:ext>
              </a:extLst>
            </p:cNvPr>
            <p:cNvPicPr>
              <a:picLocks noChangeAspect="1"/>
            </p:cNvPicPr>
            <p:nvPr/>
          </p:nvPicPr>
          <p:blipFill>
            <a:blip r:embed="rId4"/>
            <a:srcRect l="-7" t="26402" r="69211" b="69494"/>
            <a:stretch>
              <a:fillRect/>
            </a:stretch>
          </p:blipFill>
          <p:spPr>
            <a:xfrm>
              <a:off x="455374" y="2150675"/>
              <a:ext cx="3840480" cy="365760"/>
            </a:xfrm>
            <a:prstGeom prst="rect">
              <a:avLst/>
            </a:prstGeom>
          </p:spPr>
        </p:pic>
        <p:pic>
          <p:nvPicPr>
            <p:cNvPr id="10" name="Picture 9" descr="A table of data with text&#10;&#10;AI-generated content may be incorrect.">
              <a:extLst>
                <a:ext uri="{FF2B5EF4-FFF2-40B4-BE49-F238E27FC236}">
                  <a16:creationId xmlns:a16="http://schemas.microsoft.com/office/drawing/2014/main" id="{D3D5D656-4EB2-55FB-3737-A9A47BB27D0B}"/>
                </a:ext>
              </a:extLst>
            </p:cNvPr>
            <p:cNvPicPr>
              <a:picLocks noChangeAspect="1"/>
            </p:cNvPicPr>
            <p:nvPr/>
          </p:nvPicPr>
          <p:blipFill>
            <a:blip r:embed="rId4"/>
            <a:srcRect l="41058" t="26402" r="-83" b="69494"/>
            <a:stretch>
              <a:fillRect/>
            </a:stretch>
          </p:blipFill>
          <p:spPr>
            <a:xfrm>
              <a:off x="4383138" y="2150674"/>
              <a:ext cx="7360920" cy="365760"/>
            </a:xfrm>
            <a:prstGeom prst="rect">
              <a:avLst/>
            </a:prstGeom>
          </p:spPr>
        </p:pic>
        <p:pic>
          <p:nvPicPr>
            <p:cNvPr id="5" name="Picture 4" descr="A table of data with text&#10;&#10;AI-generated content may be incorrect.">
              <a:extLst>
                <a:ext uri="{FF2B5EF4-FFF2-40B4-BE49-F238E27FC236}">
                  <a16:creationId xmlns:a16="http://schemas.microsoft.com/office/drawing/2014/main" id="{3FF693C0-2A3C-9ABB-733A-693DE9F4F1FC}"/>
                </a:ext>
              </a:extLst>
            </p:cNvPr>
            <p:cNvPicPr>
              <a:picLocks noChangeAspect="1"/>
            </p:cNvPicPr>
            <p:nvPr/>
          </p:nvPicPr>
          <p:blipFill>
            <a:blip r:embed="rId4"/>
            <a:srcRect l="-6" t="-2" r="69211" b="93846"/>
            <a:stretch>
              <a:fillRect/>
            </a:stretch>
          </p:blipFill>
          <p:spPr>
            <a:xfrm>
              <a:off x="455374" y="1317855"/>
              <a:ext cx="3840480" cy="548640"/>
            </a:xfrm>
            <a:prstGeom prst="rect">
              <a:avLst/>
            </a:prstGeom>
          </p:spPr>
        </p:pic>
        <p:pic>
          <p:nvPicPr>
            <p:cNvPr id="6" name="Picture 5" descr="A table of data with text&#10;&#10;AI-generated content may be incorrect.">
              <a:extLst>
                <a:ext uri="{FF2B5EF4-FFF2-40B4-BE49-F238E27FC236}">
                  <a16:creationId xmlns:a16="http://schemas.microsoft.com/office/drawing/2014/main" id="{81A3F08A-A9CB-13D5-C094-2060CE5A31EB}"/>
                </a:ext>
              </a:extLst>
            </p:cNvPr>
            <p:cNvPicPr>
              <a:picLocks noChangeAspect="1"/>
            </p:cNvPicPr>
            <p:nvPr/>
          </p:nvPicPr>
          <p:blipFill>
            <a:blip r:embed="rId4"/>
            <a:srcRect l="41058" t="-2" r="-83" b="93846"/>
            <a:stretch>
              <a:fillRect/>
            </a:stretch>
          </p:blipFill>
          <p:spPr>
            <a:xfrm>
              <a:off x="4383138" y="1322002"/>
              <a:ext cx="7360920" cy="548640"/>
            </a:xfrm>
            <a:prstGeom prst="rect">
              <a:avLst/>
            </a:prstGeom>
          </p:spPr>
        </p:pic>
        <p:sp>
          <p:nvSpPr>
            <p:cNvPr id="15" name="Rectangle 14">
              <a:extLst>
                <a:ext uri="{FF2B5EF4-FFF2-40B4-BE49-F238E27FC236}">
                  <a16:creationId xmlns:a16="http://schemas.microsoft.com/office/drawing/2014/main" id="{47EADECA-1799-41F8-4532-09B1CFE34C5A}"/>
                </a:ext>
              </a:extLst>
            </p:cNvPr>
            <p:cNvSpPr/>
            <p:nvPr/>
          </p:nvSpPr>
          <p:spPr>
            <a:xfrm>
              <a:off x="7529512" y="2085976"/>
              <a:ext cx="100013" cy="789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7" name="Picture 16" descr="A red dotted line with blue text&#10;&#10;AI-generated content may be incorrect.">
            <a:extLst>
              <a:ext uri="{FF2B5EF4-FFF2-40B4-BE49-F238E27FC236}">
                <a16:creationId xmlns:a16="http://schemas.microsoft.com/office/drawing/2014/main" id="{2540D0E6-36F0-0549-5764-71C284C9D4CA}"/>
              </a:ext>
            </a:extLst>
          </p:cNvPr>
          <p:cNvPicPr>
            <a:picLocks noChangeAspect="1"/>
          </p:cNvPicPr>
          <p:nvPr/>
        </p:nvPicPr>
        <p:blipFill>
          <a:blip r:embed="rId5"/>
          <a:stretch>
            <a:fillRect/>
          </a:stretch>
        </p:blipFill>
        <p:spPr>
          <a:xfrm>
            <a:off x="2277268" y="3229262"/>
            <a:ext cx="2657874" cy="2164269"/>
          </a:xfrm>
          <a:prstGeom prst="rect">
            <a:avLst/>
          </a:prstGeom>
        </p:spPr>
      </p:pic>
    </p:spTree>
    <p:extLst>
      <p:ext uri="{BB962C8B-B14F-4D97-AF65-F5344CB8AC3E}">
        <p14:creationId xmlns:p14="http://schemas.microsoft.com/office/powerpoint/2010/main" val="30470786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EA4CC8BA-611A-26A9-9233-E8D6805E82D9}"/>
            </a:ext>
          </a:extLst>
        </p:cNvPr>
        <p:cNvGrpSpPr/>
        <p:nvPr/>
      </p:nvGrpSpPr>
      <p:grpSpPr>
        <a:xfrm>
          <a:off x="0" y="0"/>
          <a:ext cx="0" cy="0"/>
          <a:chOff x="0" y="0"/>
          <a:chExt cx="0" cy="0"/>
        </a:xfrm>
      </p:grpSpPr>
      <p:pic>
        <p:nvPicPr>
          <p:cNvPr id="6" name="Picture 5" descr="A diagram of a computer&#10;&#10;AI-generated content may be incorrect.">
            <a:extLst>
              <a:ext uri="{FF2B5EF4-FFF2-40B4-BE49-F238E27FC236}">
                <a16:creationId xmlns:a16="http://schemas.microsoft.com/office/drawing/2014/main" id="{7E9FD352-2ABB-A9F5-4646-84E45C6BBA1F}"/>
              </a:ext>
            </a:extLst>
          </p:cNvPr>
          <p:cNvPicPr>
            <a:picLocks noChangeAspect="1"/>
          </p:cNvPicPr>
          <p:nvPr/>
        </p:nvPicPr>
        <p:blipFill>
          <a:blip r:embed="rId3"/>
          <a:stretch>
            <a:fillRect/>
          </a:stretch>
        </p:blipFill>
        <p:spPr>
          <a:xfrm>
            <a:off x="212347" y="1190754"/>
            <a:ext cx="5882063" cy="5492611"/>
          </a:xfrm>
          <a:prstGeom prst="rect">
            <a:avLst/>
          </a:prstGeom>
        </p:spPr>
      </p:pic>
      <p:sp>
        <p:nvSpPr>
          <p:cNvPr id="1199" name="Google Shape;1199;p156">
            <a:extLst>
              <a:ext uri="{FF2B5EF4-FFF2-40B4-BE49-F238E27FC236}">
                <a16:creationId xmlns:a16="http://schemas.microsoft.com/office/drawing/2014/main" id="{692FB583-33E2-34DD-64F4-18E2527C22B8}"/>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OS DFDs</a:t>
            </a:r>
            <a:endParaRPr dirty="0"/>
          </a:p>
        </p:txBody>
      </p:sp>
      <p:pic>
        <p:nvPicPr>
          <p:cNvPr id="2" name="Picture 1" descr="Blue text on a black background&#10;&#10;AI-generated content may be incorrect.">
            <a:extLst>
              <a:ext uri="{FF2B5EF4-FFF2-40B4-BE49-F238E27FC236}">
                <a16:creationId xmlns:a16="http://schemas.microsoft.com/office/drawing/2014/main" id="{10E464CD-5CCC-4972-FD1A-748A0FC8A61C}"/>
              </a:ext>
            </a:extLst>
          </p:cNvPr>
          <p:cNvPicPr>
            <a:picLocks noChangeAspect="1"/>
          </p:cNvPicPr>
          <p:nvPr/>
        </p:nvPicPr>
        <p:blipFill>
          <a:blip r:embed="rId4"/>
          <a:stretch>
            <a:fillRect/>
          </a:stretch>
        </p:blipFill>
        <p:spPr>
          <a:xfrm>
            <a:off x="8848940" y="5202442"/>
            <a:ext cx="2884511" cy="1149114"/>
          </a:xfrm>
          <a:prstGeom prst="rect">
            <a:avLst/>
          </a:prstGeom>
        </p:spPr>
      </p:pic>
      <p:pic>
        <p:nvPicPr>
          <p:cNvPr id="3" name="Picture 2" descr="Blue text on a black background&#10;&#10;AI-generated content may be incorrect.">
            <a:extLst>
              <a:ext uri="{FF2B5EF4-FFF2-40B4-BE49-F238E27FC236}">
                <a16:creationId xmlns:a16="http://schemas.microsoft.com/office/drawing/2014/main" id="{63B680D5-7C12-1D06-4B7F-009A5E38A396}"/>
              </a:ext>
            </a:extLst>
          </p:cNvPr>
          <p:cNvPicPr>
            <a:picLocks noChangeAspect="1"/>
          </p:cNvPicPr>
          <p:nvPr/>
        </p:nvPicPr>
        <p:blipFill>
          <a:blip r:embed="rId5"/>
          <a:stretch>
            <a:fillRect/>
          </a:stretch>
        </p:blipFill>
        <p:spPr>
          <a:xfrm>
            <a:off x="9064712" y="3196898"/>
            <a:ext cx="2668739" cy="1137115"/>
          </a:xfrm>
          <a:prstGeom prst="rect">
            <a:avLst/>
          </a:prstGeom>
        </p:spPr>
      </p:pic>
      <p:pic>
        <p:nvPicPr>
          <p:cNvPr id="4" name="Picture 3" descr="A white circle with black text&#10;&#10;AI-generated content may be incorrect.">
            <a:extLst>
              <a:ext uri="{FF2B5EF4-FFF2-40B4-BE49-F238E27FC236}">
                <a16:creationId xmlns:a16="http://schemas.microsoft.com/office/drawing/2014/main" id="{B4049BDA-6A06-AD6F-CEC5-3C5C007A3E9A}"/>
              </a:ext>
            </a:extLst>
          </p:cNvPr>
          <p:cNvPicPr>
            <a:picLocks noChangeAspect="1"/>
          </p:cNvPicPr>
          <p:nvPr/>
        </p:nvPicPr>
        <p:blipFill>
          <a:blip r:embed="rId6"/>
          <a:stretch>
            <a:fillRect/>
          </a:stretch>
        </p:blipFill>
        <p:spPr>
          <a:xfrm>
            <a:off x="7131722" y="1190755"/>
            <a:ext cx="4601729" cy="1137714"/>
          </a:xfrm>
          <a:prstGeom prst="rect">
            <a:avLst/>
          </a:prstGeom>
        </p:spPr>
      </p:pic>
      <p:pic>
        <p:nvPicPr>
          <p:cNvPr id="5" name="Picture 4" descr="A screen shot of a computer&#10;&#10;AI-generated content may be incorrect.">
            <a:extLst>
              <a:ext uri="{FF2B5EF4-FFF2-40B4-BE49-F238E27FC236}">
                <a16:creationId xmlns:a16="http://schemas.microsoft.com/office/drawing/2014/main" id="{A6D59881-2EA6-473B-D624-CA13A5DDEB98}"/>
              </a:ext>
            </a:extLst>
          </p:cNvPr>
          <p:cNvPicPr>
            <a:picLocks noChangeAspect="1"/>
          </p:cNvPicPr>
          <p:nvPr/>
        </p:nvPicPr>
        <p:blipFill>
          <a:blip r:embed="rId7"/>
          <a:stretch>
            <a:fillRect/>
          </a:stretch>
        </p:blipFill>
        <p:spPr>
          <a:xfrm>
            <a:off x="5295548" y="1291740"/>
            <a:ext cx="3250509" cy="4947432"/>
          </a:xfrm>
          <a:prstGeom prst="rect">
            <a:avLst/>
          </a:prstGeom>
        </p:spPr>
      </p:pic>
    </p:spTree>
    <p:extLst>
      <p:ext uri="{BB962C8B-B14F-4D97-AF65-F5344CB8AC3E}">
        <p14:creationId xmlns:p14="http://schemas.microsoft.com/office/powerpoint/2010/main" val="24506775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3BA6955-FE1E-F8B0-B8F9-AC4259BF9323}"/>
            </a:ext>
          </a:extLst>
        </p:cNvPr>
        <p:cNvGrpSpPr/>
        <p:nvPr/>
      </p:nvGrpSpPr>
      <p:grpSpPr>
        <a:xfrm>
          <a:off x="0" y="0"/>
          <a:ext cx="0" cy="0"/>
          <a:chOff x="0" y="0"/>
          <a:chExt cx="0" cy="0"/>
        </a:xfrm>
      </p:grpSpPr>
      <p:pic>
        <p:nvPicPr>
          <p:cNvPr id="9" name="Picture 8" descr="A screenshot of a computer&#10;&#10;AI-generated content may be incorrect.">
            <a:extLst>
              <a:ext uri="{FF2B5EF4-FFF2-40B4-BE49-F238E27FC236}">
                <a16:creationId xmlns:a16="http://schemas.microsoft.com/office/drawing/2014/main" id="{BF58E9D3-E9FE-3AA0-AC48-30DBF512DC3D}"/>
              </a:ext>
            </a:extLst>
          </p:cNvPr>
          <p:cNvPicPr>
            <a:picLocks noChangeAspect="1"/>
          </p:cNvPicPr>
          <p:nvPr/>
        </p:nvPicPr>
        <p:blipFill>
          <a:blip r:embed="rId3"/>
          <a:stretch>
            <a:fillRect/>
          </a:stretch>
        </p:blipFill>
        <p:spPr>
          <a:xfrm>
            <a:off x="5311044" y="2650180"/>
            <a:ext cx="3516512" cy="3809554"/>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D4902FC7-D94C-A55C-6034-C9A3FF1EB679}"/>
              </a:ext>
            </a:extLst>
          </p:cNvPr>
          <p:cNvPicPr>
            <a:picLocks noChangeAspect="1"/>
          </p:cNvPicPr>
          <p:nvPr/>
        </p:nvPicPr>
        <p:blipFill>
          <a:blip r:embed="rId4"/>
          <a:stretch>
            <a:fillRect/>
          </a:stretch>
        </p:blipFill>
        <p:spPr>
          <a:xfrm>
            <a:off x="8678655" y="2631480"/>
            <a:ext cx="3246745" cy="3826043"/>
          </a:xfrm>
          <a:prstGeom prst="rect">
            <a:avLst/>
          </a:prstGeom>
        </p:spPr>
      </p:pic>
      <p:pic>
        <p:nvPicPr>
          <p:cNvPr id="7" name="Picture 6" descr="A diagram of a service&#10;&#10;AI-generated content may be incorrect.">
            <a:extLst>
              <a:ext uri="{FF2B5EF4-FFF2-40B4-BE49-F238E27FC236}">
                <a16:creationId xmlns:a16="http://schemas.microsoft.com/office/drawing/2014/main" id="{EE36589A-F817-C224-44D2-1E79DC289CBE}"/>
              </a:ext>
            </a:extLst>
          </p:cNvPr>
          <p:cNvPicPr>
            <a:picLocks noChangeAspect="1"/>
          </p:cNvPicPr>
          <p:nvPr/>
        </p:nvPicPr>
        <p:blipFill>
          <a:blip r:embed="rId5"/>
          <a:stretch>
            <a:fillRect/>
          </a:stretch>
        </p:blipFill>
        <p:spPr>
          <a:xfrm>
            <a:off x="3800297" y="-275310"/>
            <a:ext cx="7412371" cy="3452807"/>
          </a:xfrm>
          <a:prstGeom prst="rect">
            <a:avLst/>
          </a:prstGeom>
        </p:spPr>
      </p:pic>
      <p:pic>
        <p:nvPicPr>
          <p:cNvPr id="6" name="Picture 5" descr="A diagram of a computer&#10;&#10;AI-generated content may be incorrect.">
            <a:extLst>
              <a:ext uri="{FF2B5EF4-FFF2-40B4-BE49-F238E27FC236}">
                <a16:creationId xmlns:a16="http://schemas.microsoft.com/office/drawing/2014/main" id="{A6F48897-5FEC-2AE8-F85C-E798A650796E}"/>
              </a:ext>
            </a:extLst>
          </p:cNvPr>
          <p:cNvPicPr>
            <a:picLocks noChangeAspect="1"/>
          </p:cNvPicPr>
          <p:nvPr/>
        </p:nvPicPr>
        <p:blipFill>
          <a:blip r:embed="rId6"/>
          <a:stretch>
            <a:fillRect/>
          </a:stretch>
        </p:blipFill>
        <p:spPr>
          <a:xfrm>
            <a:off x="153276" y="311107"/>
            <a:ext cx="5306669" cy="5999050"/>
          </a:xfrm>
          <a:prstGeom prst="rect">
            <a:avLst/>
          </a:prstGeom>
        </p:spPr>
      </p:pic>
      <p:sp>
        <p:nvSpPr>
          <p:cNvPr id="1199" name="Google Shape;1199;p156">
            <a:extLst>
              <a:ext uri="{FF2B5EF4-FFF2-40B4-BE49-F238E27FC236}">
                <a16:creationId xmlns:a16="http://schemas.microsoft.com/office/drawing/2014/main" id="{ED7E3972-72BD-9ECE-AD8D-0D5BB2636A53}"/>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Workflow DFDs</a:t>
            </a:r>
            <a:endParaRPr dirty="0"/>
          </a:p>
        </p:txBody>
      </p:sp>
    </p:spTree>
    <p:extLst>
      <p:ext uri="{BB962C8B-B14F-4D97-AF65-F5344CB8AC3E}">
        <p14:creationId xmlns:p14="http://schemas.microsoft.com/office/powerpoint/2010/main" val="30010480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945BCEF-C0D9-C48D-755A-5196B073FD56}"/>
            </a:ext>
          </a:extLst>
        </p:cNvPr>
        <p:cNvGrpSpPr/>
        <p:nvPr/>
      </p:nvGrpSpPr>
      <p:grpSpPr>
        <a:xfrm>
          <a:off x="0" y="0"/>
          <a:ext cx="0" cy="0"/>
          <a:chOff x="0" y="0"/>
          <a:chExt cx="0" cy="0"/>
        </a:xfrm>
      </p:grpSpPr>
      <p:pic>
        <p:nvPicPr>
          <p:cNvPr id="4" name="Picture 3" descr="A diagram of a service&#10;&#10;AI-generated content may be incorrect.">
            <a:extLst>
              <a:ext uri="{FF2B5EF4-FFF2-40B4-BE49-F238E27FC236}">
                <a16:creationId xmlns:a16="http://schemas.microsoft.com/office/drawing/2014/main" id="{4138DFEC-2EE7-8B15-E91E-8ED35C97A7A5}"/>
              </a:ext>
            </a:extLst>
          </p:cNvPr>
          <p:cNvPicPr>
            <a:picLocks noChangeAspect="1"/>
          </p:cNvPicPr>
          <p:nvPr/>
        </p:nvPicPr>
        <p:blipFill>
          <a:blip r:embed="rId3"/>
          <a:stretch>
            <a:fillRect/>
          </a:stretch>
        </p:blipFill>
        <p:spPr>
          <a:xfrm>
            <a:off x="0" y="3059118"/>
            <a:ext cx="6711550" cy="3126353"/>
          </a:xfrm>
          <a:prstGeom prst="rect">
            <a:avLst/>
          </a:prstGeom>
        </p:spPr>
      </p:pic>
      <p:sp>
        <p:nvSpPr>
          <p:cNvPr id="1199" name="Google Shape;1199;p156">
            <a:extLst>
              <a:ext uri="{FF2B5EF4-FFF2-40B4-BE49-F238E27FC236}">
                <a16:creationId xmlns:a16="http://schemas.microsoft.com/office/drawing/2014/main" id="{C9CD2452-7F81-CD80-BAC4-7B12976EF091}"/>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Normal Operation Analysis</a:t>
            </a:r>
            <a:endParaRPr dirty="0"/>
          </a:p>
        </p:txBody>
      </p:sp>
      <p:pic>
        <p:nvPicPr>
          <p:cNvPr id="12" name="Picture 11" descr="A screenshot of a document&#10;&#10;AI-generated content may be incorrect.">
            <a:extLst>
              <a:ext uri="{FF2B5EF4-FFF2-40B4-BE49-F238E27FC236}">
                <a16:creationId xmlns:a16="http://schemas.microsoft.com/office/drawing/2014/main" id="{753AB1CA-BAED-2752-CEE8-40D76D81DF34}"/>
              </a:ext>
            </a:extLst>
          </p:cNvPr>
          <p:cNvPicPr>
            <a:picLocks noChangeAspect="1"/>
          </p:cNvPicPr>
          <p:nvPr/>
        </p:nvPicPr>
        <p:blipFill>
          <a:blip r:embed="rId4"/>
          <a:stretch>
            <a:fillRect/>
          </a:stretch>
        </p:blipFill>
        <p:spPr>
          <a:xfrm>
            <a:off x="7028547" y="2849207"/>
            <a:ext cx="4704904" cy="3546176"/>
          </a:xfrm>
          <a:prstGeom prst="rect">
            <a:avLst/>
          </a:prstGeom>
        </p:spPr>
      </p:pic>
      <p:grpSp>
        <p:nvGrpSpPr>
          <p:cNvPr id="2" name="Group 1">
            <a:extLst>
              <a:ext uri="{FF2B5EF4-FFF2-40B4-BE49-F238E27FC236}">
                <a16:creationId xmlns:a16="http://schemas.microsoft.com/office/drawing/2014/main" id="{83C48776-D5AF-3A6E-6802-814C99D06E17}"/>
              </a:ext>
            </a:extLst>
          </p:cNvPr>
          <p:cNvGrpSpPr/>
          <p:nvPr/>
        </p:nvGrpSpPr>
        <p:grpSpPr>
          <a:xfrm>
            <a:off x="455374" y="1088027"/>
            <a:ext cx="11288684" cy="1198580"/>
            <a:chOff x="455374" y="1317855"/>
            <a:chExt cx="11288684" cy="1198580"/>
          </a:xfrm>
        </p:grpSpPr>
        <p:pic>
          <p:nvPicPr>
            <p:cNvPr id="3" name="Picture 2" descr="A table of data with text&#10;&#10;AI-generated content may be incorrect.">
              <a:extLst>
                <a:ext uri="{FF2B5EF4-FFF2-40B4-BE49-F238E27FC236}">
                  <a16:creationId xmlns:a16="http://schemas.microsoft.com/office/drawing/2014/main" id="{537F3950-C400-7AC2-6F5A-3DE8E308379F}"/>
                </a:ext>
              </a:extLst>
            </p:cNvPr>
            <p:cNvPicPr>
              <a:picLocks noChangeAspect="1"/>
            </p:cNvPicPr>
            <p:nvPr/>
          </p:nvPicPr>
          <p:blipFill>
            <a:blip r:embed="rId5"/>
            <a:srcRect l="-7" t="19220" r="69211" b="76676"/>
            <a:stretch>
              <a:fillRect/>
            </a:stretch>
          </p:blipFill>
          <p:spPr>
            <a:xfrm>
              <a:off x="455374" y="1813491"/>
              <a:ext cx="3840480" cy="365760"/>
            </a:xfrm>
            <a:prstGeom prst="rect">
              <a:avLst/>
            </a:prstGeom>
          </p:spPr>
        </p:pic>
        <p:pic>
          <p:nvPicPr>
            <p:cNvPr id="11" name="Picture 10" descr="A table of data with text&#10;&#10;AI-generated content may be incorrect.">
              <a:extLst>
                <a:ext uri="{FF2B5EF4-FFF2-40B4-BE49-F238E27FC236}">
                  <a16:creationId xmlns:a16="http://schemas.microsoft.com/office/drawing/2014/main" id="{1D1D66E4-30FB-2E0F-A99E-FED04AC5197C}"/>
                </a:ext>
              </a:extLst>
            </p:cNvPr>
            <p:cNvPicPr>
              <a:picLocks noChangeAspect="1"/>
            </p:cNvPicPr>
            <p:nvPr/>
          </p:nvPicPr>
          <p:blipFill>
            <a:blip r:embed="rId5"/>
            <a:srcRect l="41058" t="19220" r="-83" b="76676"/>
            <a:stretch>
              <a:fillRect/>
            </a:stretch>
          </p:blipFill>
          <p:spPr>
            <a:xfrm>
              <a:off x="4383138" y="1813490"/>
              <a:ext cx="7360920" cy="365760"/>
            </a:xfrm>
            <a:prstGeom prst="rect">
              <a:avLst/>
            </a:prstGeom>
          </p:spPr>
        </p:pic>
        <p:pic>
          <p:nvPicPr>
            <p:cNvPr id="13" name="Picture 12" descr="A table of data with text&#10;&#10;AI-generated content may be incorrect.">
              <a:extLst>
                <a:ext uri="{FF2B5EF4-FFF2-40B4-BE49-F238E27FC236}">
                  <a16:creationId xmlns:a16="http://schemas.microsoft.com/office/drawing/2014/main" id="{35794B6E-C416-72D1-6225-36BD29FC9C60}"/>
                </a:ext>
              </a:extLst>
            </p:cNvPr>
            <p:cNvPicPr>
              <a:picLocks noChangeAspect="1"/>
            </p:cNvPicPr>
            <p:nvPr/>
          </p:nvPicPr>
          <p:blipFill>
            <a:blip r:embed="rId5"/>
            <a:srcRect l="-7" t="26402" r="69211" b="69494"/>
            <a:stretch>
              <a:fillRect/>
            </a:stretch>
          </p:blipFill>
          <p:spPr>
            <a:xfrm>
              <a:off x="455374" y="2150675"/>
              <a:ext cx="3840480" cy="365760"/>
            </a:xfrm>
            <a:prstGeom prst="rect">
              <a:avLst/>
            </a:prstGeom>
          </p:spPr>
        </p:pic>
        <p:pic>
          <p:nvPicPr>
            <p:cNvPr id="14" name="Picture 13" descr="A table of data with text&#10;&#10;AI-generated content may be incorrect.">
              <a:extLst>
                <a:ext uri="{FF2B5EF4-FFF2-40B4-BE49-F238E27FC236}">
                  <a16:creationId xmlns:a16="http://schemas.microsoft.com/office/drawing/2014/main" id="{91C952A6-6E2B-B423-D4E9-DA8BD7479688}"/>
                </a:ext>
              </a:extLst>
            </p:cNvPr>
            <p:cNvPicPr>
              <a:picLocks noChangeAspect="1"/>
            </p:cNvPicPr>
            <p:nvPr/>
          </p:nvPicPr>
          <p:blipFill>
            <a:blip r:embed="rId5"/>
            <a:srcRect l="41058" t="26402" r="-83" b="69494"/>
            <a:stretch>
              <a:fillRect/>
            </a:stretch>
          </p:blipFill>
          <p:spPr>
            <a:xfrm>
              <a:off x="4383138" y="2150674"/>
              <a:ext cx="7360920" cy="365760"/>
            </a:xfrm>
            <a:prstGeom prst="rect">
              <a:avLst/>
            </a:prstGeom>
          </p:spPr>
        </p:pic>
        <p:pic>
          <p:nvPicPr>
            <p:cNvPr id="17" name="Picture 16" descr="A table of data with text&#10;&#10;AI-generated content may be incorrect.">
              <a:extLst>
                <a:ext uri="{FF2B5EF4-FFF2-40B4-BE49-F238E27FC236}">
                  <a16:creationId xmlns:a16="http://schemas.microsoft.com/office/drawing/2014/main" id="{2F8FB204-1901-3197-873A-6D92247A9850}"/>
                </a:ext>
              </a:extLst>
            </p:cNvPr>
            <p:cNvPicPr>
              <a:picLocks noChangeAspect="1"/>
            </p:cNvPicPr>
            <p:nvPr/>
          </p:nvPicPr>
          <p:blipFill>
            <a:blip r:embed="rId5"/>
            <a:srcRect l="-6" t="-2" r="69211" b="93846"/>
            <a:stretch>
              <a:fillRect/>
            </a:stretch>
          </p:blipFill>
          <p:spPr>
            <a:xfrm>
              <a:off x="455374" y="1317855"/>
              <a:ext cx="3840480" cy="548640"/>
            </a:xfrm>
            <a:prstGeom prst="rect">
              <a:avLst/>
            </a:prstGeom>
          </p:spPr>
        </p:pic>
        <p:pic>
          <p:nvPicPr>
            <p:cNvPr id="18" name="Picture 17" descr="A table of data with text&#10;&#10;AI-generated content may be incorrect.">
              <a:extLst>
                <a:ext uri="{FF2B5EF4-FFF2-40B4-BE49-F238E27FC236}">
                  <a16:creationId xmlns:a16="http://schemas.microsoft.com/office/drawing/2014/main" id="{E7B3BA00-5E9A-3298-F8C0-E868FA90DC07}"/>
                </a:ext>
              </a:extLst>
            </p:cNvPr>
            <p:cNvPicPr>
              <a:picLocks noChangeAspect="1"/>
            </p:cNvPicPr>
            <p:nvPr/>
          </p:nvPicPr>
          <p:blipFill>
            <a:blip r:embed="rId5"/>
            <a:srcRect l="41058" t="-2" r="-83" b="93846"/>
            <a:stretch>
              <a:fillRect/>
            </a:stretch>
          </p:blipFill>
          <p:spPr>
            <a:xfrm>
              <a:off x="4383138" y="1322002"/>
              <a:ext cx="7360920" cy="548640"/>
            </a:xfrm>
            <a:prstGeom prst="rect">
              <a:avLst/>
            </a:prstGeom>
          </p:spPr>
        </p:pic>
        <p:sp>
          <p:nvSpPr>
            <p:cNvPr id="19" name="Rectangle 18">
              <a:extLst>
                <a:ext uri="{FF2B5EF4-FFF2-40B4-BE49-F238E27FC236}">
                  <a16:creationId xmlns:a16="http://schemas.microsoft.com/office/drawing/2014/main" id="{50CDDA23-D76B-EA6A-1EDD-C45C36CDC04E}"/>
                </a:ext>
              </a:extLst>
            </p:cNvPr>
            <p:cNvSpPr/>
            <p:nvPr/>
          </p:nvSpPr>
          <p:spPr>
            <a:xfrm>
              <a:off x="7529512" y="2085976"/>
              <a:ext cx="100013" cy="789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069829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0C150EC4-469E-3B54-0422-50CCC137C678}"/>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29EE7499-C677-1D65-8C42-70F0BDAC7612}"/>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Issues</a:t>
            </a:r>
            <a:endParaRPr dirty="0"/>
          </a:p>
        </p:txBody>
      </p:sp>
      <p:pic>
        <p:nvPicPr>
          <p:cNvPr id="5" name="Picture 4" descr="A close-up of a document&#10;&#10;AI-generated content may be incorrect.">
            <a:extLst>
              <a:ext uri="{FF2B5EF4-FFF2-40B4-BE49-F238E27FC236}">
                <a16:creationId xmlns:a16="http://schemas.microsoft.com/office/drawing/2014/main" id="{C8719DD0-FEEF-B8A5-362B-A161E453FD4E}"/>
              </a:ext>
            </a:extLst>
          </p:cNvPr>
          <p:cNvPicPr>
            <a:picLocks noChangeAspect="1"/>
          </p:cNvPicPr>
          <p:nvPr/>
        </p:nvPicPr>
        <p:blipFill>
          <a:blip r:embed="rId3"/>
          <a:stretch>
            <a:fillRect/>
          </a:stretch>
        </p:blipFill>
        <p:spPr>
          <a:xfrm>
            <a:off x="5632688" y="4018325"/>
            <a:ext cx="6100763" cy="2378991"/>
          </a:xfrm>
          <a:prstGeom prst="rect">
            <a:avLst/>
          </a:prstGeom>
        </p:spPr>
      </p:pic>
      <p:pic>
        <p:nvPicPr>
          <p:cNvPr id="2" name="Picture 1" descr="A diagram of a service&#10;&#10;AI-generated content may be incorrect.">
            <a:extLst>
              <a:ext uri="{FF2B5EF4-FFF2-40B4-BE49-F238E27FC236}">
                <a16:creationId xmlns:a16="http://schemas.microsoft.com/office/drawing/2014/main" id="{56F8796D-2F73-7FB5-8B8D-F2DD0BE030A6}"/>
              </a:ext>
            </a:extLst>
          </p:cNvPr>
          <p:cNvPicPr>
            <a:picLocks noChangeAspect="1"/>
          </p:cNvPicPr>
          <p:nvPr/>
        </p:nvPicPr>
        <p:blipFill>
          <a:blip r:embed="rId4"/>
          <a:stretch>
            <a:fillRect/>
          </a:stretch>
        </p:blipFill>
        <p:spPr>
          <a:xfrm>
            <a:off x="0" y="1766542"/>
            <a:ext cx="6711550" cy="3126353"/>
          </a:xfrm>
          <a:prstGeom prst="rect">
            <a:avLst/>
          </a:prstGeom>
        </p:spPr>
      </p:pic>
      <p:grpSp>
        <p:nvGrpSpPr>
          <p:cNvPr id="3" name="Group 2">
            <a:extLst>
              <a:ext uri="{FF2B5EF4-FFF2-40B4-BE49-F238E27FC236}">
                <a16:creationId xmlns:a16="http://schemas.microsoft.com/office/drawing/2014/main" id="{8C05B0E0-C024-5FCE-5158-C56AE9F381D9}"/>
              </a:ext>
            </a:extLst>
          </p:cNvPr>
          <p:cNvGrpSpPr/>
          <p:nvPr/>
        </p:nvGrpSpPr>
        <p:grpSpPr>
          <a:xfrm>
            <a:off x="455374" y="1088027"/>
            <a:ext cx="11288684" cy="1198580"/>
            <a:chOff x="455374" y="1317855"/>
            <a:chExt cx="11288684" cy="1198580"/>
          </a:xfrm>
        </p:grpSpPr>
        <p:pic>
          <p:nvPicPr>
            <p:cNvPr id="4" name="Picture 3" descr="A table of data with text&#10;&#10;AI-generated content may be incorrect.">
              <a:extLst>
                <a:ext uri="{FF2B5EF4-FFF2-40B4-BE49-F238E27FC236}">
                  <a16:creationId xmlns:a16="http://schemas.microsoft.com/office/drawing/2014/main" id="{4AD14D75-3355-7E24-8082-DB980780E1D4}"/>
                </a:ext>
              </a:extLst>
            </p:cNvPr>
            <p:cNvPicPr>
              <a:picLocks noChangeAspect="1"/>
            </p:cNvPicPr>
            <p:nvPr/>
          </p:nvPicPr>
          <p:blipFill>
            <a:blip r:embed="rId5"/>
            <a:srcRect l="-7" t="19220" r="69211" b="76676"/>
            <a:stretch>
              <a:fillRect/>
            </a:stretch>
          </p:blipFill>
          <p:spPr>
            <a:xfrm>
              <a:off x="455374" y="1813491"/>
              <a:ext cx="3840480" cy="365760"/>
            </a:xfrm>
            <a:prstGeom prst="rect">
              <a:avLst/>
            </a:prstGeom>
          </p:spPr>
        </p:pic>
        <p:pic>
          <p:nvPicPr>
            <p:cNvPr id="6" name="Picture 5" descr="A table of data with text&#10;&#10;AI-generated content may be incorrect.">
              <a:extLst>
                <a:ext uri="{FF2B5EF4-FFF2-40B4-BE49-F238E27FC236}">
                  <a16:creationId xmlns:a16="http://schemas.microsoft.com/office/drawing/2014/main" id="{BCA93ED7-190E-A045-40B2-5787545D8DDB}"/>
                </a:ext>
              </a:extLst>
            </p:cNvPr>
            <p:cNvPicPr>
              <a:picLocks noChangeAspect="1"/>
            </p:cNvPicPr>
            <p:nvPr/>
          </p:nvPicPr>
          <p:blipFill>
            <a:blip r:embed="rId5"/>
            <a:srcRect l="41058" t="19220" r="-83" b="76676"/>
            <a:stretch>
              <a:fillRect/>
            </a:stretch>
          </p:blipFill>
          <p:spPr>
            <a:xfrm>
              <a:off x="4383138" y="1813490"/>
              <a:ext cx="7360920" cy="365760"/>
            </a:xfrm>
            <a:prstGeom prst="rect">
              <a:avLst/>
            </a:prstGeom>
          </p:spPr>
        </p:pic>
        <p:pic>
          <p:nvPicPr>
            <p:cNvPr id="7" name="Picture 6" descr="A table of data with text&#10;&#10;AI-generated content may be incorrect.">
              <a:extLst>
                <a:ext uri="{FF2B5EF4-FFF2-40B4-BE49-F238E27FC236}">
                  <a16:creationId xmlns:a16="http://schemas.microsoft.com/office/drawing/2014/main" id="{2F15F43C-C565-D5B1-4EC0-40F8225EB637}"/>
                </a:ext>
              </a:extLst>
            </p:cNvPr>
            <p:cNvPicPr>
              <a:picLocks noChangeAspect="1"/>
            </p:cNvPicPr>
            <p:nvPr/>
          </p:nvPicPr>
          <p:blipFill>
            <a:blip r:embed="rId5"/>
            <a:srcRect l="-7" t="26402" r="69211" b="69494"/>
            <a:stretch>
              <a:fillRect/>
            </a:stretch>
          </p:blipFill>
          <p:spPr>
            <a:xfrm>
              <a:off x="455374" y="2150675"/>
              <a:ext cx="3840480" cy="365760"/>
            </a:xfrm>
            <a:prstGeom prst="rect">
              <a:avLst/>
            </a:prstGeom>
          </p:spPr>
        </p:pic>
        <p:pic>
          <p:nvPicPr>
            <p:cNvPr id="8" name="Picture 7" descr="A table of data with text&#10;&#10;AI-generated content may be incorrect.">
              <a:extLst>
                <a:ext uri="{FF2B5EF4-FFF2-40B4-BE49-F238E27FC236}">
                  <a16:creationId xmlns:a16="http://schemas.microsoft.com/office/drawing/2014/main" id="{8D21D04C-2455-4A0D-8074-0AB0CF22D0AC}"/>
                </a:ext>
              </a:extLst>
            </p:cNvPr>
            <p:cNvPicPr>
              <a:picLocks noChangeAspect="1"/>
            </p:cNvPicPr>
            <p:nvPr/>
          </p:nvPicPr>
          <p:blipFill>
            <a:blip r:embed="rId5"/>
            <a:srcRect l="41058" t="26402" r="-83" b="69494"/>
            <a:stretch>
              <a:fillRect/>
            </a:stretch>
          </p:blipFill>
          <p:spPr>
            <a:xfrm>
              <a:off x="4383138" y="2150674"/>
              <a:ext cx="7360920" cy="365760"/>
            </a:xfrm>
            <a:prstGeom prst="rect">
              <a:avLst/>
            </a:prstGeom>
          </p:spPr>
        </p:pic>
        <p:pic>
          <p:nvPicPr>
            <p:cNvPr id="9" name="Picture 8" descr="A table of data with text&#10;&#10;AI-generated content may be incorrect.">
              <a:extLst>
                <a:ext uri="{FF2B5EF4-FFF2-40B4-BE49-F238E27FC236}">
                  <a16:creationId xmlns:a16="http://schemas.microsoft.com/office/drawing/2014/main" id="{DEFD7969-6DA4-AF0A-957B-B1DEF15A267C}"/>
                </a:ext>
              </a:extLst>
            </p:cNvPr>
            <p:cNvPicPr>
              <a:picLocks noChangeAspect="1"/>
            </p:cNvPicPr>
            <p:nvPr/>
          </p:nvPicPr>
          <p:blipFill>
            <a:blip r:embed="rId5"/>
            <a:srcRect l="-6" t="-2" r="69211" b="93846"/>
            <a:stretch>
              <a:fillRect/>
            </a:stretch>
          </p:blipFill>
          <p:spPr>
            <a:xfrm>
              <a:off x="455374" y="1317855"/>
              <a:ext cx="3840480" cy="548640"/>
            </a:xfrm>
            <a:prstGeom prst="rect">
              <a:avLst/>
            </a:prstGeom>
          </p:spPr>
        </p:pic>
        <p:pic>
          <p:nvPicPr>
            <p:cNvPr id="10" name="Picture 9" descr="A table of data with text&#10;&#10;AI-generated content may be incorrect.">
              <a:extLst>
                <a:ext uri="{FF2B5EF4-FFF2-40B4-BE49-F238E27FC236}">
                  <a16:creationId xmlns:a16="http://schemas.microsoft.com/office/drawing/2014/main" id="{B68C1646-089E-57C4-DA98-B84ED7F63DAC}"/>
                </a:ext>
              </a:extLst>
            </p:cNvPr>
            <p:cNvPicPr>
              <a:picLocks noChangeAspect="1"/>
            </p:cNvPicPr>
            <p:nvPr/>
          </p:nvPicPr>
          <p:blipFill>
            <a:blip r:embed="rId5"/>
            <a:srcRect l="41058" t="-2" r="-83" b="93846"/>
            <a:stretch>
              <a:fillRect/>
            </a:stretch>
          </p:blipFill>
          <p:spPr>
            <a:xfrm>
              <a:off x="4383138" y="1322002"/>
              <a:ext cx="7360920" cy="548640"/>
            </a:xfrm>
            <a:prstGeom prst="rect">
              <a:avLst/>
            </a:prstGeom>
          </p:spPr>
        </p:pic>
        <p:sp>
          <p:nvSpPr>
            <p:cNvPr id="11" name="Rectangle 10">
              <a:extLst>
                <a:ext uri="{FF2B5EF4-FFF2-40B4-BE49-F238E27FC236}">
                  <a16:creationId xmlns:a16="http://schemas.microsoft.com/office/drawing/2014/main" id="{64AAE6BF-3362-B052-7CC3-8D63854F6458}"/>
                </a:ext>
              </a:extLst>
            </p:cNvPr>
            <p:cNvSpPr/>
            <p:nvPr/>
          </p:nvSpPr>
          <p:spPr>
            <a:xfrm>
              <a:off x="7529512" y="2085976"/>
              <a:ext cx="100013" cy="789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7431094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0234E69-953D-C964-1A44-7AD56D5A6C18}"/>
            </a:ext>
          </a:extLst>
        </p:cNvPr>
        <p:cNvGrpSpPr/>
        <p:nvPr/>
      </p:nvGrpSpPr>
      <p:grpSpPr>
        <a:xfrm>
          <a:off x="0" y="0"/>
          <a:ext cx="0" cy="0"/>
          <a:chOff x="0" y="0"/>
          <a:chExt cx="0" cy="0"/>
        </a:xfrm>
      </p:grpSpPr>
      <p:sp>
        <p:nvSpPr>
          <p:cNvPr id="7" name="Google Shape;873;p146">
            <a:extLst>
              <a:ext uri="{FF2B5EF4-FFF2-40B4-BE49-F238E27FC236}">
                <a16:creationId xmlns:a16="http://schemas.microsoft.com/office/drawing/2014/main" id="{288F8EFA-BECD-D045-8DF8-934C782EE42C}"/>
              </a:ext>
            </a:extLst>
          </p:cNvPr>
          <p:cNvSpPr txBox="1">
            <a:spLocks noGrp="1"/>
          </p:cNvSpPr>
          <p:nvPr>
            <p:ph type="title"/>
          </p:nvPr>
        </p:nvSpPr>
        <p:spPr>
          <a:prstGeom prst="rect">
            <a:avLst/>
          </a:prstGeom>
          <a:gradFill>
            <a:gsLst>
              <a:gs pos="99000">
                <a:schemeClr val="accent3">
                  <a:lumMod val="60000"/>
                  <a:lumOff val="40000"/>
                </a:schemeClr>
              </a:gs>
              <a:gs pos="0">
                <a:srgbClr val="7030A0"/>
              </a:gs>
            </a:gsLst>
            <a:lin ang="2700000" scaled="0"/>
          </a:gradFill>
          <a:ln>
            <a:noFill/>
          </a:ln>
        </p:spPr>
        <p:txBody>
          <a:bodyPr spcFirstLastPara="1" wrap="square" lIns="0" tIns="0" rIns="0" bIns="0" anchor="ctr" anchorCtr="0">
            <a:noAutofit/>
          </a:bodyPr>
          <a:lstStyle/>
          <a:p>
            <a:pPr algn="ctr">
              <a:lnSpc>
                <a:spcPct val="100000"/>
              </a:lnSpc>
            </a:pPr>
            <a:r>
              <a:rPr lang="en" sz="5400" dirty="0"/>
              <a:t>Recap</a:t>
            </a:r>
            <a:endParaRPr sz="6600" dirty="0"/>
          </a:p>
        </p:txBody>
      </p:sp>
    </p:spTree>
    <p:extLst>
      <p:ext uri="{BB962C8B-B14F-4D97-AF65-F5344CB8AC3E}">
        <p14:creationId xmlns:p14="http://schemas.microsoft.com/office/powerpoint/2010/main" val="11180574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ED0EA-7D7C-7963-11D9-60FD08358C11}"/>
              </a:ext>
            </a:extLst>
          </p:cNvPr>
          <p:cNvSpPr>
            <a:spLocks noGrp="1"/>
          </p:cNvSpPr>
          <p:nvPr>
            <p:ph type="title"/>
          </p:nvPr>
        </p:nvSpPr>
        <p:spPr/>
        <p:txBody>
          <a:bodyPr/>
          <a:lstStyle/>
          <a:p>
            <a:r>
              <a:rPr lang="en-US" dirty="0"/>
              <a:t>Practical Approach</a:t>
            </a:r>
          </a:p>
        </p:txBody>
      </p:sp>
      <p:sp>
        <p:nvSpPr>
          <p:cNvPr id="3" name="Text Placeholder 2">
            <a:extLst>
              <a:ext uri="{FF2B5EF4-FFF2-40B4-BE49-F238E27FC236}">
                <a16:creationId xmlns:a16="http://schemas.microsoft.com/office/drawing/2014/main" id="{1FF2AFBE-2FA7-F4A4-1DFD-C1718A5E5615}"/>
              </a:ext>
            </a:extLst>
          </p:cNvPr>
          <p:cNvSpPr>
            <a:spLocks noGrp="1"/>
          </p:cNvSpPr>
          <p:nvPr>
            <p:ph type="body" idx="1"/>
          </p:nvPr>
        </p:nvSpPr>
        <p:spPr/>
        <p:txBody>
          <a:bodyPr/>
          <a:lstStyle/>
          <a:p>
            <a:pPr marL="571503" indent="-342900">
              <a:lnSpc>
                <a:spcPct val="150000"/>
              </a:lnSpc>
              <a:spcBef>
                <a:spcPts val="0"/>
              </a:spcBef>
              <a:buFont typeface="Arial" panose="020B0604020202020204" pitchFamily="34" charset="0"/>
              <a:buChar char="•"/>
            </a:pPr>
            <a:r>
              <a:rPr lang="en-US" dirty="0"/>
              <a:t>Review the DFDs</a:t>
            </a:r>
          </a:p>
          <a:p>
            <a:pPr marL="571503" indent="-342900">
              <a:lnSpc>
                <a:spcPct val="150000"/>
              </a:lnSpc>
              <a:spcBef>
                <a:spcPts val="0"/>
              </a:spcBef>
              <a:buFont typeface="Arial" panose="020B0604020202020204" pitchFamily="34" charset="0"/>
              <a:buChar char="•"/>
            </a:pPr>
            <a:r>
              <a:rPr lang="en-US" dirty="0"/>
              <a:t>Focus on element workflows</a:t>
            </a:r>
          </a:p>
          <a:p>
            <a:pPr marL="571503" indent="-342900">
              <a:lnSpc>
                <a:spcPct val="150000"/>
              </a:lnSpc>
              <a:spcBef>
                <a:spcPts val="0"/>
              </a:spcBef>
              <a:buFont typeface="Arial" panose="020B0604020202020204" pitchFamily="34" charset="0"/>
              <a:buChar char="•"/>
            </a:pPr>
            <a:r>
              <a:rPr lang="en-US" dirty="0"/>
              <a:t>Perform analysis ordered by trust level and criticality</a:t>
            </a:r>
          </a:p>
          <a:p>
            <a:pPr marL="571503" indent="-342900">
              <a:lnSpc>
                <a:spcPct val="150000"/>
              </a:lnSpc>
              <a:spcBef>
                <a:spcPts val="0"/>
              </a:spcBef>
              <a:buFont typeface="Arial" panose="020B0604020202020204" pitchFamily="34" charset="0"/>
              <a:buChar char="•"/>
            </a:pPr>
            <a:r>
              <a:rPr lang="en-US" dirty="0"/>
              <a:t>Keep it up-to-date</a:t>
            </a:r>
          </a:p>
          <a:p>
            <a:pPr marL="571503" indent="-342900">
              <a:lnSpc>
                <a:spcPct val="150000"/>
              </a:lnSpc>
              <a:spcBef>
                <a:spcPts val="0"/>
              </a:spcBef>
              <a:buFont typeface="Arial" panose="020B0604020202020204" pitchFamily="34" charset="0"/>
              <a:buChar char="•"/>
            </a:pPr>
            <a:r>
              <a:rPr lang="en-US" dirty="0"/>
              <a:t>No special tooling required</a:t>
            </a:r>
          </a:p>
          <a:p>
            <a:pPr marL="571503" indent="-342900">
              <a:spcBef>
                <a:spcPts val="0"/>
              </a:spcBef>
              <a:buFont typeface="Arial" panose="020B0604020202020204" pitchFamily="34" charset="0"/>
              <a:buChar char="•"/>
            </a:pPr>
            <a:endParaRPr lang="en-US" dirty="0"/>
          </a:p>
        </p:txBody>
      </p:sp>
    </p:spTree>
    <p:extLst>
      <p:ext uri="{BB962C8B-B14F-4D97-AF65-F5344CB8AC3E}">
        <p14:creationId xmlns:p14="http://schemas.microsoft.com/office/powerpoint/2010/main" val="259354611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98">
          <a:extLst>
            <a:ext uri="{FF2B5EF4-FFF2-40B4-BE49-F238E27FC236}">
              <a16:creationId xmlns:a16="http://schemas.microsoft.com/office/drawing/2014/main" id="{3725C29D-255F-E78F-7B10-51B1795D53F5}"/>
            </a:ext>
          </a:extLst>
        </p:cNvPr>
        <p:cNvGrpSpPr/>
        <p:nvPr/>
      </p:nvGrpSpPr>
      <p:grpSpPr>
        <a:xfrm>
          <a:off x="0" y="0"/>
          <a:ext cx="0" cy="0"/>
          <a:chOff x="0" y="0"/>
          <a:chExt cx="0" cy="0"/>
        </a:xfrm>
      </p:grpSpPr>
      <p:sp>
        <p:nvSpPr>
          <p:cNvPr id="1199" name="Google Shape;1199;p156">
            <a:extLst>
              <a:ext uri="{FF2B5EF4-FFF2-40B4-BE49-F238E27FC236}">
                <a16:creationId xmlns:a16="http://schemas.microsoft.com/office/drawing/2014/main" id="{E6AE96E7-F515-5B95-8C3A-153509652AEE}"/>
              </a:ext>
            </a:extLst>
          </p:cNvPr>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Example Materials</a:t>
            </a:r>
            <a:endParaRPr dirty="0"/>
          </a:p>
        </p:txBody>
      </p:sp>
      <p:sp>
        <p:nvSpPr>
          <p:cNvPr id="6" name="TextBox 5">
            <a:extLst>
              <a:ext uri="{FF2B5EF4-FFF2-40B4-BE49-F238E27FC236}">
                <a16:creationId xmlns:a16="http://schemas.microsoft.com/office/drawing/2014/main" id="{5E6414D1-0FD5-FC5C-C853-B8F340BA038D}"/>
              </a:ext>
            </a:extLst>
          </p:cNvPr>
          <p:cNvSpPr txBox="1"/>
          <p:nvPr/>
        </p:nvSpPr>
        <p:spPr>
          <a:xfrm>
            <a:off x="455618" y="1309403"/>
            <a:ext cx="10452446" cy="400110"/>
          </a:xfrm>
          <a:prstGeom prst="rect">
            <a:avLst/>
          </a:prstGeom>
          <a:noFill/>
        </p:spPr>
        <p:txBody>
          <a:bodyPr wrap="square">
            <a:spAutoFit/>
          </a:bodyPr>
          <a:lstStyle/>
          <a:p>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&lt;AVCDL&gt;/source/reference_documents/working_material/example system/</a:t>
            </a:r>
          </a:p>
        </p:txBody>
      </p:sp>
    </p:spTree>
    <p:extLst>
      <p:ext uri="{BB962C8B-B14F-4D97-AF65-F5344CB8AC3E}">
        <p14:creationId xmlns:p14="http://schemas.microsoft.com/office/powerpoint/2010/main" val="9699774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C2A2ADBF-13F1-8937-91E4-97FBA4F83BB0}"/>
              </a:ext>
            </a:extLst>
          </p:cNvPr>
          <p:cNvPicPr>
            <a:picLocks noChangeAspect="1"/>
          </p:cNvPicPr>
          <p:nvPr/>
        </p:nvPicPr>
        <p:blipFill>
          <a:blip r:embed="rId3"/>
          <a:stretch>
            <a:fillRect/>
          </a:stretch>
        </p:blipFill>
        <p:spPr>
          <a:xfrm>
            <a:off x="1573706" y="985083"/>
            <a:ext cx="9041411" cy="5778453"/>
          </a:xfrm>
          <a:prstGeom prst="rect">
            <a:avLst/>
          </a:prstGeom>
          <a:ln>
            <a:solidFill>
              <a:schemeClr val="tx1"/>
            </a:solidFill>
          </a:ln>
          <a:effectLst>
            <a:outerShdw blurRad="50800" dist="38100" dir="2700000" algn="tl" rotWithShape="0">
              <a:prstClr val="black">
                <a:alpha val="40000"/>
              </a:prstClr>
            </a:outerShdw>
          </a:effectLst>
        </p:spPr>
      </p:pic>
      <p:sp>
        <p:nvSpPr>
          <p:cNvPr id="1199" name="Google Shape;1199;p156"/>
          <p:cNvSpPr txBox="1">
            <a:spLocks noGrp="1"/>
          </p:cNvSpPr>
          <p:nvPr>
            <p:ph type="title"/>
          </p:nvPr>
        </p:nvSpPr>
        <p:spPr>
          <a:xfrm>
            <a:off x="455618" y="460684"/>
            <a:ext cx="11277833" cy="524399"/>
          </a:xfrm>
          <a:prstGeom prst="rect">
            <a:avLst/>
          </a:prstGeom>
        </p:spPr>
        <p:txBody>
          <a:bodyPr spcFirstLastPara="1" wrap="square" lIns="0" tIns="0" rIns="0" bIns="0" anchor="ctr" anchorCtr="0">
            <a:noAutofit/>
          </a:bodyPr>
          <a:lstStyle/>
          <a:p>
            <a:pPr>
              <a:lnSpc>
                <a:spcPct val="100000"/>
              </a:lnSpc>
            </a:pPr>
            <a:r>
              <a:rPr lang="en" dirty="0"/>
              <a:t>AVCDL on GitHub</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6476383" y="522829"/>
            <a:ext cx="5256824"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cs typeface="Courier New" panose="02070309020205020404" pitchFamily="49" charset="0"/>
              </a:rPr>
              <a:t>https://github.com/AVCDL/AVCDL </a:t>
            </a:r>
          </a:p>
        </p:txBody>
      </p:sp>
    </p:spTree>
    <p:extLst>
      <p:ext uri="{BB962C8B-B14F-4D97-AF65-F5344CB8AC3E}">
        <p14:creationId xmlns:p14="http://schemas.microsoft.com/office/powerpoint/2010/main" val="29934041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3"/>
            <a:ext cx="11277833" cy="5244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None/>
            </a:pPr>
            <a:r>
              <a:rPr lang="en" dirty="0"/>
              <a:t>AVCDL on YouTube</a:t>
            </a:r>
            <a:endParaRPr dirty="0"/>
          </a:p>
        </p:txBody>
      </p:sp>
      <p:sp>
        <p:nvSpPr>
          <p:cNvPr id="2" name="Rectangle 1">
            <a:extLst>
              <a:ext uri="{FF2B5EF4-FFF2-40B4-BE49-F238E27FC236}">
                <a16:creationId xmlns:a16="http://schemas.microsoft.com/office/drawing/2014/main" id="{4038D5AC-F2CE-EEDF-F93C-BC5BEDC13283}"/>
              </a:ext>
            </a:extLst>
          </p:cNvPr>
          <p:cNvSpPr/>
          <p:nvPr/>
        </p:nvSpPr>
        <p:spPr>
          <a:xfrm>
            <a:off x="5900286" y="522828"/>
            <a:ext cx="5832922" cy="400110"/>
          </a:xfrm>
          <a:prstGeom prst="rect">
            <a:avLst/>
          </a:prstGeom>
        </p:spPr>
        <p:txBody>
          <a:bodyPr wrap="square">
            <a:spAutoFit/>
          </a:bodyPr>
          <a:lstStyle/>
          <a:p>
            <a:pPr algn="r">
              <a:spcAft>
                <a:spcPts val="1200"/>
              </a:spcAft>
            </a:pPr>
            <a:r>
              <a:rPr lang="en-US" sz="2000" b="1" dirty="0">
                <a:solidFill>
                  <a:srgbClr val="0070C0"/>
                </a:solidFill>
                <a:latin typeface="Courier New" panose="02070309020205020404" pitchFamily="49" charset="0"/>
                <a:ea typeface="Roboto" panose="02000000000000000000" pitchFamily="2" charset="0"/>
                <a:cs typeface="Courier New" panose="02070309020205020404" pitchFamily="49" charset="0"/>
              </a:rPr>
              <a:t>https://youtube.com/@AVCDL/playlists </a:t>
            </a:r>
          </a:p>
        </p:txBody>
      </p:sp>
      <p:pic>
        <p:nvPicPr>
          <p:cNvPr id="5" name="Picture 4">
            <a:extLst>
              <a:ext uri="{FF2B5EF4-FFF2-40B4-BE49-F238E27FC236}">
                <a16:creationId xmlns:a16="http://schemas.microsoft.com/office/drawing/2014/main" id="{5EB83915-CD51-8649-DDBF-0EC12D74976D}"/>
              </a:ext>
            </a:extLst>
          </p:cNvPr>
          <p:cNvPicPr>
            <a:picLocks noChangeAspect="1"/>
          </p:cNvPicPr>
          <p:nvPr/>
        </p:nvPicPr>
        <p:blipFill>
          <a:blip r:embed="rId3"/>
          <a:stretch>
            <a:fillRect/>
          </a:stretch>
        </p:blipFill>
        <p:spPr>
          <a:xfrm>
            <a:off x="1774162" y="985084"/>
            <a:ext cx="8252248" cy="5783298"/>
          </a:xfrm>
          <a:prstGeom prst="rect">
            <a:avLst/>
          </a:prstGeom>
          <a:ln>
            <a:solidFill>
              <a:schemeClr val="tx1"/>
            </a:solid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40714915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156"/>
          <p:cNvSpPr txBox="1">
            <a:spLocks noGrp="1"/>
          </p:cNvSpPr>
          <p:nvPr>
            <p:ph type="title"/>
          </p:nvPr>
        </p:nvSpPr>
        <p:spPr>
          <a:xfrm>
            <a:off x="455617" y="460684"/>
            <a:ext cx="11277833" cy="524399"/>
          </a:xfrm>
          <a:prstGeom prst="rect">
            <a:avLst/>
          </a:prstGeom>
        </p:spPr>
        <p:txBody>
          <a:bodyPr spcFirstLastPara="1" wrap="square" lIns="0" tIns="0" rIns="0" bIns="0" anchor="ctr" anchorCtr="0">
            <a:noAutofit/>
          </a:bodyPr>
          <a:lstStyle/>
          <a:p>
            <a:pPr>
              <a:lnSpc>
                <a:spcPct val="100000"/>
              </a:lnSpc>
            </a:pPr>
            <a:r>
              <a:rPr lang="en" dirty="0"/>
              <a:t>Next Steps</a:t>
            </a:r>
            <a:endParaRPr dirty="0"/>
          </a:p>
        </p:txBody>
      </p:sp>
      <p:pic>
        <p:nvPicPr>
          <p:cNvPr id="7" name="Picture 6">
            <a:extLst>
              <a:ext uri="{FF2B5EF4-FFF2-40B4-BE49-F238E27FC236}">
                <a16:creationId xmlns:a16="http://schemas.microsoft.com/office/drawing/2014/main" id="{C52B1944-9D2E-B660-DF63-98B36A597D37}"/>
              </a:ext>
            </a:extLst>
          </p:cNvPr>
          <p:cNvPicPr>
            <a:picLocks noChangeAspect="1"/>
          </p:cNvPicPr>
          <p:nvPr/>
        </p:nvPicPr>
        <p:blipFill>
          <a:blip r:embed="rId3"/>
          <a:stretch>
            <a:fillRect/>
          </a:stretch>
        </p:blipFill>
        <p:spPr>
          <a:xfrm>
            <a:off x="741952" y="326959"/>
            <a:ext cx="10704920" cy="6204081"/>
          </a:xfrm>
          <a:prstGeom prst="rect">
            <a:avLst/>
          </a:prstGeom>
          <a:effectLst/>
        </p:spPr>
      </p:pic>
    </p:spTree>
    <p:extLst>
      <p:ext uri="{BB962C8B-B14F-4D97-AF65-F5344CB8AC3E}">
        <p14:creationId xmlns:p14="http://schemas.microsoft.com/office/powerpoint/2010/main" val="39623094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877"/>
        <p:cNvGrpSpPr/>
        <p:nvPr/>
      </p:nvGrpSpPr>
      <p:grpSpPr>
        <a:xfrm>
          <a:off x="0" y="0"/>
          <a:ext cx="0" cy="0"/>
          <a:chOff x="0" y="0"/>
          <a:chExt cx="0" cy="0"/>
        </a:xfrm>
      </p:grpSpPr>
      <p:sp>
        <p:nvSpPr>
          <p:cNvPr id="878" name="Google Shape;878;p147"/>
          <p:cNvSpPr txBox="1">
            <a:spLocks noGrp="1"/>
          </p:cNvSpPr>
          <p:nvPr>
            <p:ph type="title"/>
          </p:nvPr>
        </p:nvSpPr>
        <p:spPr>
          <a:xfrm>
            <a:off x="455617" y="460684"/>
            <a:ext cx="11277590" cy="524399"/>
          </a:xfrm>
          <a:prstGeom prst="rect">
            <a:avLst/>
          </a:prstGeom>
        </p:spPr>
        <p:txBody>
          <a:bodyPr spcFirstLastPara="1" wrap="square" lIns="0" tIns="0" rIns="0" bIns="0" anchor="ctr" anchorCtr="0">
            <a:noAutofit/>
          </a:bodyPr>
          <a:lstStyle/>
          <a:p>
            <a:pPr>
              <a:lnSpc>
                <a:spcPct val="100000"/>
              </a:lnSpc>
            </a:pPr>
            <a:r>
              <a:rPr lang="en" dirty="0"/>
              <a:t>References</a:t>
            </a:r>
            <a:endParaRPr dirty="0"/>
          </a:p>
        </p:txBody>
      </p:sp>
      <p:sp>
        <p:nvSpPr>
          <p:cNvPr id="2" name="Google Shape;879;p147">
            <a:extLst>
              <a:ext uri="{FF2B5EF4-FFF2-40B4-BE49-F238E27FC236}">
                <a16:creationId xmlns:a16="http://schemas.microsoft.com/office/drawing/2014/main" id="{EE699A1B-DC13-C84D-9B67-3E4E126EE2B9}"/>
              </a:ext>
            </a:extLst>
          </p:cNvPr>
          <p:cNvSpPr txBox="1">
            <a:spLocks/>
          </p:cNvSpPr>
          <p:nvPr/>
        </p:nvSpPr>
        <p:spPr>
          <a:xfrm>
            <a:off x="455616" y="1146448"/>
            <a:ext cx="11277592" cy="4124206"/>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L="457200" marR="0" lvl="0" indent="-228600" algn="l" rtl="0">
              <a:lnSpc>
                <a:spcPct val="100000"/>
              </a:lnSpc>
              <a:spcBef>
                <a:spcPts val="1800"/>
              </a:spcBef>
              <a:spcAft>
                <a:spcPts val="0"/>
              </a:spcAft>
              <a:buClr>
                <a:schemeClr val="dk1"/>
              </a:buClr>
              <a:buSzPts val="2000"/>
              <a:buFont typeface="Roboto"/>
              <a:buNone/>
              <a:defRPr sz="2000" b="0" i="0" u="none" strike="noStrike" cap="none">
                <a:solidFill>
                  <a:schemeClr val="dk1"/>
                </a:solidFill>
                <a:latin typeface="Roboto"/>
                <a:ea typeface="Roboto"/>
                <a:cs typeface="Roboto"/>
                <a:sym typeface="Roboto"/>
              </a:defRPr>
            </a:lvl1pPr>
            <a:lvl2pPr marL="914400" marR="0" lvl="1" indent="-342900" algn="l" rtl="0">
              <a:lnSpc>
                <a:spcPct val="100000"/>
              </a:lnSpc>
              <a:spcBef>
                <a:spcPts val="600"/>
              </a:spcBef>
              <a:spcAft>
                <a:spcPts val="0"/>
              </a:spcAft>
              <a:buClr>
                <a:schemeClr val="dk1"/>
              </a:buClr>
              <a:buSzPts val="1800"/>
              <a:buFont typeface="Arial"/>
              <a:buChar char="•"/>
              <a:defRPr sz="1800" b="0" i="0" u="none" strike="noStrike" cap="none">
                <a:solidFill>
                  <a:schemeClr val="dk1"/>
                </a:solidFill>
                <a:latin typeface="Roboto"/>
                <a:ea typeface="Roboto"/>
                <a:cs typeface="Roboto"/>
                <a:sym typeface="Roboto"/>
              </a:defRPr>
            </a:lvl2pPr>
            <a:lvl3pPr marL="1371600" marR="0" lvl="2" indent="-330200" algn="l" rtl="0">
              <a:lnSpc>
                <a:spcPct val="100000"/>
              </a:lnSpc>
              <a:spcBef>
                <a:spcPts val="600"/>
              </a:spcBef>
              <a:spcAft>
                <a:spcPts val="0"/>
              </a:spcAft>
              <a:buClr>
                <a:schemeClr val="dk1"/>
              </a:buClr>
              <a:buSzPts val="1600"/>
              <a:buFont typeface="Merriweather Sans"/>
              <a:buChar char="−"/>
              <a:defRPr sz="1600" b="0" i="0" u="none" strike="noStrike" cap="none">
                <a:solidFill>
                  <a:schemeClr val="dk1"/>
                </a:solidFill>
                <a:latin typeface="Roboto"/>
                <a:ea typeface="Roboto"/>
                <a:cs typeface="Roboto"/>
                <a:sym typeface="Roboto"/>
              </a:defRPr>
            </a:lvl3pPr>
            <a:lvl4pPr marL="1828800" marR="0" lvl="3" indent="-317500" algn="l" rtl="0">
              <a:lnSpc>
                <a:spcPct val="100000"/>
              </a:lnSpc>
              <a:spcBef>
                <a:spcPts val="300"/>
              </a:spcBef>
              <a:spcAft>
                <a:spcPts val="0"/>
              </a:spcAft>
              <a:buClr>
                <a:schemeClr val="dk1"/>
              </a:buClr>
              <a:buSzPts val="1400"/>
              <a:buFont typeface="Arial"/>
              <a:buChar char="•"/>
              <a:defRPr sz="1400" b="0" i="0" u="none" strike="noStrike" cap="none">
                <a:solidFill>
                  <a:schemeClr val="dk1"/>
                </a:solidFill>
                <a:latin typeface="Roboto"/>
                <a:ea typeface="Roboto"/>
                <a:cs typeface="Roboto"/>
                <a:sym typeface="Roboto"/>
              </a:defRPr>
            </a:lvl4pPr>
            <a:lvl5pPr marL="2286000" marR="0" lvl="4" indent="-304800" algn="l" rtl="0">
              <a:lnSpc>
                <a:spcPct val="100000"/>
              </a:lnSpc>
              <a:spcBef>
                <a:spcPts val="300"/>
              </a:spcBef>
              <a:spcAft>
                <a:spcPts val="0"/>
              </a:spcAft>
              <a:buClr>
                <a:schemeClr val="dk1"/>
              </a:buClr>
              <a:buSzPts val="1200"/>
              <a:buFont typeface="Merriweather Sans"/>
              <a:buChar char="−"/>
              <a:defRPr sz="1200" b="0" i="0" u="none" strike="noStrike" cap="none">
                <a:solidFill>
                  <a:schemeClr val="dk1"/>
                </a:solidFill>
                <a:latin typeface="Roboto"/>
                <a:ea typeface="Roboto"/>
                <a:cs typeface="Roboto"/>
                <a:sym typeface="Roboto"/>
              </a:defRPr>
            </a:lvl5pPr>
            <a:lvl6pPr marL="2743200" marR="0" lvl="5"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6pPr>
            <a:lvl7pPr marL="3200400" marR="0" lvl="6"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7pPr>
            <a:lvl8pPr marL="3657600" marR="0" lvl="7"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8pPr>
            <a:lvl9pPr marL="4114800" marR="0" lvl="8" indent="-304800" algn="l" rtl="0">
              <a:lnSpc>
                <a:spcPct val="100000"/>
              </a:lnSpc>
              <a:spcBef>
                <a:spcPts val="360"/>
              </a:spcBef>
              <a:spcAft>
                <a:spcPts val="0"/>
              </a:spcAft>
              <a:buClr>
                <a:schemeClr val="dk1"/>
              </a:buClr>
              <a:buSzPts val="1200"/>
              <a:buFont typeface="Roboto"/>
              <a:buChar char="•"/>
              <a:defRPr sz="1200" b="0" i="0" u="none" strike="noStrike" cap="none">
                <a:solidFill>
                  <a:schemeClr val="dk1"/>
                </a:solidFill>
                <a:latin typeface="Roboto"/>
                <a:ea typeface="Roboto"/>
                <a:cs typeface="Roboto"/>
                <a:sym typeface="Roboto"/>
              </a:defRPr>
            </a:lvl9pPr>
          </a:lstStyle>
          <a:p>
            <a:pPr marL="0" indent="0">
              <a:spcBef>
                <a:spcPts val="0"/>
              </a:spcBef>
            </a:pPr>
            <a:r>
              <a:rPr lang="en-US" b="1" dirty="0">
                <a:latin typeface="Roboto" panose="02000000000000000000" pitchFamily="2" charset="0"/>
                <a:ea typeface="Roboto" panose="02000000000000000000" pitchFamily="2" charset="0"/>
                <a:cs typeface="Courier New" panose="02070309020205020404" pitchFamily="49" charset="0"/>
              </a:rPr>
              <a:t>AVCDL (GitHub)</a:t>
            </a: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3"/>
              </a:rPr>
              <a:t>https://github.com/AVCDL/AVCDL</a:t>
            </a:r>
            <a:r>
              <a:rPr lang="en-US" sz="1400" b="1" dirty="0">
                <a:latin typeface="Courier New" panose="02070309020205020404" pitchFamily="49" charset="0"/>
                <a:cs typeface="Courier New" panose="02070309020205020404" pitchFamily="49" charset="0"/>
              </a:rPr>
              <a:t> </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Cybersecurity Engineering Approach (AVCDL secondary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Element Cybersecurity Relevancy (AVCDL secondary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Security Requirements Taxonomy (AVCDL secondary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Threat Modeling – Analysis Procedure (AVCDL tertiary document)</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AVCDL threat modeling model template (AVCDL template)</a:t>
            </a:r>
          </a:p>
          <a:p>
            <a:pPr marL="0" indent="0">
              <a:spcBef>
                <a:spcPts val="0"/>
              </a:spcBef>
              <a:spcAft>
                <a:spcPts val="1200"/>
              </a:spcAft>
            </a:pPr>
            <a:r>
              <a:rPr lang="en-US" b="1" dirty="0">
                <a:latin typeface="Roboto" panose="02000000000000000000" pitchFamily="2" charset="0"/>
                <a:ea typeface="Roboto" panose="02000000000000000000" pitchFamily="2" charset="0"/>
                <a:cs typeface="Courier New" panose="02070309020205020404" pitchFamily="49" charset="0"/>
              </a:rPr>
              <a:t>AVCDL threat modeling analysis template (AVCDL template)</a:t>
            </a:r>
          </a:p>
          <a:p>
            <a:pPr marL="0" indent="0">
              <a:spcBef>
                <a:spcPts val="0"/>
              </a:spcBef>
            </a:pPr>
            <a:r>
              <a:rPr lang="en-US" b="1" dirty="0">
                <a:latin typeface="Roboto" panose="02000000000000000000" pitchFamily="2" charset="0"/>
                <a:ea typeface="Roboto" panose="02000000000000000000" pitchFamily="2" charset="0"/>
              </a:rPr>
              <a:t>Guide to Data-Centric System Threat Modeling</a:t>
            </a:r>
            <a:endParaRPr lang="en-US" b="1" dirty="0">
              <a:latin typeface="Roboto" panose="02000000000000000000" pitchFamily="2" charset="0"/>
              <a:ea typeface="Roboto" panose="02000000000000000000" pitchFamily="2" charset="0"/>
              <a:cs typeface="Courier New" panose="02070309020205020404" pitchFamily="49" charset="0"/>
            </a:endParaRPr>
          </a:p>
          <a:p>
            <a:pPr marL="0" indent="0">
              <a:spcBef>
                <a:spcPts val="0"/>
              </a:spcBef>
              <a:spcAft>
                <a:spcPts val="1200"/>
              </a:spcAft>
            </a:pPr>
            <a:r>
              <a:rPr lang="en-US" sz="1400" b="1" dirty="0">
                <a:latin typeface="Courier New" panose="02070309020205020404" pitchFamily="49" charset="0"/>
                <a:cs typeface="Courier New" panose="02070309020205020404" pitchFamily="49" charset="0"/>
                <a:hlinkClick r:id="rId4"/>
              </a:rPr>
              <a:t>https://csrc.nist.gov/publications/detail/sp/800-154/draft</a:t>
            </a:r>
            <a:r>
              <a:rPr lang="en-US" sz="1400" b="1"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2557400049"/>
      </p:ext>
    </p:extLst>
  </p:cSld>
  <p:clrMapOvr>
    <a:masterClrMapping/>
  </p:clrMapOvr>
</p:sld>
</file>

<file path=ppt/theme/theme1.xml><?xml version="1.0" encoding="utf-8"?>
<a:theme xmlns:a="http://schemas.openxmlformats.org/drawingml/2006/main" name="Motional Masters">
  <a:themeElements>
    <a:clrScheme name="Motional">
      <a:dk1>
        <a:srgbClr val="000000"/>
      </a:dk1>
      <a:lt1>
        <a:srgbClr val="FFFFFF"/>
      </a:lt1>
      <a:dk2>
        <a:srgbClr val="092871"/>
      </a:dk2>
      <a:lt2>
        <a:srgbClr val="5B48F6"/>
      </a:lt2>
      <a:accent1>
        <a:srgbClr val="C9EAF1"/>
      </a:accent1>
      <a:accent2>
        <a:srgbClr val="ADB9E3"/>
      </a:accent2>
      <a:accent3>
        <a:srgbClr val="00F6FF"/>
      </a:accent3>
      <a:accent4>
        <a:srgbClr val="D2DCDC"/>
      </a:accent4>
      <a:accent5>
        <a:srgbClr val="828791"/>
      </a:accent5>
      <a:accent6>
        <a:srgbClr val="404449"/>
      </a:accent6>
      <a:hlink>
        <a:srgbClr val="0000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238979</TotalTime>
  <Words>4034</Words>
  <Application>Microsoft Macintosh PowerPoint</Application>
  <PresentationFormat>Custom</PresentationFormat>
  <Paragraphs>686</Paragraphs>
  <Slides>35</Slides>
  <Notes>35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35</vt:i4>
      </vt:variant>
    </vt:vector>
  </HeadingPairs>
  <TitlesOfParts>
    <vt:vector size="41" baseType="lpstr">
      <vt:lpstr>Roboto</vt:lpstr>
      <vt:lpstr>Calibri</vt:lpstr>
      <vt:lpstr>Courier New</vt:lpstr>
      <vt:lpstr>Arial</vt:lpstr>
      <vt:lpstr>Roboto Medium</vt:lpstr>
      <vt:lpstr>Motional Masters</vt:lpstr>
      <vt:lpstr>Threat Model Analysis</vt:lpstr>
      <vt:lpstr>Training Path</vt:lpstr>
      <vt:lpstr>Introduction</vt:lpstr>
      <vt:lpstr>Threat Modeling Process</vt:lpstr>
      <vt:lpstr>Model Analysis Activity</vt:lpstr>
      <vt:lpstr>Model Analysis Activity</vt:lpstr>
      <vt:lpstr>Example</vt:lpstr>
      <vt:lpstr>Block Diagram to DFDs </vt:lpstr>
      <vt:lpstr>Model Details</vt:lpstr>
      <vt:lpstr>Model Details</vt:lpstr>
      <vt:lpstr>Generalized Cybersecurity Approach</vt:lpstr>
      <vt:lpstr>Applicable Cybersecurity Requirements</vt:lpstr>
      <vt:lpstr>Updating DFDs</vt:lpstr>
      <vt:lpstr>Level 1 DFD</vt:lpstr>
      <vt:lpstr>Level 2 DFD</vt:lpstr>
      <vt:lpstr>Level 3 DFD</vt:lpstr>
      <vt:lpstr>Filesystem</vt:lpstr>
      <vt:lpstr>Core Service / Console Interface Initialization</vt:lpstr>
      <vt:lpstr>Core Service Configuration</vt:lpstr>
      <vt:lpstr>Normal Operation</vt:lpstr>
      <vt:lpstr>Normal Operation – End-to-End</vt:lpstr>
      <vt:lpstr>Entity Updates</vt:lpstr>
      <vt:lpstr>Analysis</vt:lpstr>
      <vt:lpstr>Methodology</vt:lpstr>
      <vt:lpstr>OS DFDs</vt:lpstr>
      <vt:lpstr>Workflow DFDs</vt:lpstr>
      <vt:lpstr>Normal Operation Analysis</vt:lpstr>
      <vt:lpstr>Issues</vt:lpstr>
      <vt:lpstr>Recap</vt:lpstr>
      <vt:lpstr>Practical Approach</vt:lpstr>
      <vt:lpstr>Example Materials</vt:lpstr>
      <vt:lpstr>AVCDL on GitHub</vt:lpstr>
      <vt:lpstr>AVCDL on YouTube</vt:lpstr>
      <vt:lpstr>Next Steps</vt:lpstr>
      <vt:lpstr>References</vt:lpstr>
    </vt:vector>
  </TitlesOfParts>
  <Manager/>
  <Company>Torc Robotics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Threat Model Analysis (training)</dc:title>
  <dc:subject>threat modeling - model analysis</dc:subject>
  <dc:creator>Charles Wilson</dc:creator>
  <cp:keywords>cybersecurity, threat modeling</cp:keywords>
  <dc:description>This work was created by Torc Robotics and is licensed under the Creative Commons Attribution-Share Alike (CC BY-SA-4.0) License.
https://creativecommons.org/licenses/by/4.0/legalcode
</dc:description>
  <cp:lastModifiedBy>Charles Wilson</cp:lastModifiedBy>
  <cp:revision>443</cp:revision>
  <cp:lastPrinted>2023-05-08T17:44:42Z</cp:lastPrinted>
  <dcterms:modified xsi:type="dcterms:W3CDTF">2025-06-10T20:29:11Z</dcterms:modified>
  <cp:category>cybersecurity</cp:category>
</cp:coreProperties>
</file>