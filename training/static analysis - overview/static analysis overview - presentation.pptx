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0"/>
  </p:notesMasterIdLst>
  <p:sldIdLst>
    <p:sldId id="256" r:id="rId4"/>
    <p:sldId id="306" r:id="rId5"/>
    <p:sldId id="654" r:id="rId6"/>
    <p:sldId id="648" r:id="rId7"/>
    <p:sldId id="649" r:id="rId8"/>
    <p:sldId id="656" r:id="rId9"/>
    <p:sldId id="643" r:id="rId10"/>
    <p:sldId id="607" r:id="rId11"/>
    <p:sldId id="635" r:id="rId12"/>
    <p:sldId id="636" r:id="rId13"/>
    <p:sldId id="638" r:id="rId14"/>
    <p:sldId id="657" r:id="rId15"/>
    <p:sldId id="639" r:id="rId16"/>
    <p:sldId id="652" r:id="rId17"/>
    <p:sldId id="658" r:id="rId18"/>
    <p:sldId id="659" r:id="rId19"/>
    <p:sldId id="641" r:id="rId20"/>
    <p:sldId id="642" r:id="rId21"/>
    <p:sldId id="655" r:id="rId22"/>
    <p:sldId id="603" r:id="rId23"/>
    <p:sldId id="488" r:id="rId24"/>
    <p:sldId id="343" r:id="rId25"/>
    <p:sldId id="606" r:id="rId26"/>
    <p:sldId id="461" r:id="rId27"/>
    <p:sldId id="420" r:id="rId28"/>
    <p:sldId id="368" r:id="rId29"/>
  </p:sldIdLst>
  <p:sldSz cx="12188825" cy="6858000"/>
  <p:notesSz cx="6858000" cy="9144000"/>
  <p:embeddedFontLst>
    <p:embeddedFont>
      <p:font typeface="Roboto" panose="02000000000000000000" pitchFamily="2" charset="0"/>
      <p:regular r:id="rId31"/>
      <p:bold r:id="rId32"/>
      <p:italic r:id="rId33"/>
      <p:boldItalic r:id="rId34"/>
    </p:embeddedFont>
    <p:embeddedFont>
      <p:font typeface="Roboto Medium" panose="020000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58"/>
    <p:restoredTop sz="59970"/>
  </p:normalViewPr>
  <p:slideViewPr>
    <p:cSldViewPr snapToGrid="0">
      <p:cViewPr varScale="1">
        <p:scale>
          <a:sx n="138" d="100"/>
          <a:sy n="138" d="100"/>
        </p:scale>
        <p:origin x="672" y="184"/>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6.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a:t>
            </a:r>
            <a:r>
              <a:rPr lang="en" sz="1400" b="1" dirty="0"/>
              <a:t>Static Analysis</a:t>
            </a:r>
            <a:r>
              <a:rPr lang="en-US" sz="1400" b="0" i="0" dirty="0">
                <a:solidFill>
                  <a:srgbClr val="000000"/>
                </a:solidFill>
                <a:effectLst/>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an overview of </a:t>
            </a:r>
            <a:r>
              <a:rPr lang="en-US" sz="1400" b="1" dirty="0">
                <a:latin typeface="Calibri" panose="020F0502020204030204" pitchFamily="34" charset="0"/>
                <a:cs typeface="Calibri" panose="020F0502020204030204" pitchFamily="34" charset="0"/>
              </a:rPr>
              <a:t>Static Analysis</a:t>
            </a:r>
            <a:r>
              <a:rPr lang="en-US" sz="1400"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684F43C-AFAB-53CD-E74A-A5645474020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9DB70FC-5244-0AB4-FEEB-5F419122ABC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9184644-0B65-58CF-2EAB-9C48AA0CA5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Long before hundred million line programs became a thing, a motivation for static analysis existed in hardware, and it's exemplified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a 1960’s era computer backplane.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ever needed a visual metaphor for spaghetti code, this does a good job.</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can even see some patches that have been applied.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a real mess.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order to determine what's gone wrong, you have to poke around until you find where the fault 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Sadly, much of the time, we treat software in the same manner.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would be a lot easier if we could systematically analyze code and identify issues that typically arise in highly complex systems.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That's where static analysis comes into play.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Using static analysis, we’re able to look at either the entirety of the system or an individual element within the system and reason on it without ever needing to run the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 hardware, no test suites, just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we do this in the development phase, because if we look at the research, we find that it’s between a hundred and a thousand times more cost effective to correct an issue in the development phase compared to during verification or once released.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0296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look at the mechanism that static analysis uses to accomplish its task.</a:t>
            </a:r>
          </a:p>
        </p:txBody>
      </p:sp>
    </p:spTree>
    <p:extLst>
      <p:ext uri="{BB962C8B-B14F-4D97-AF65-F5344CB8AC3E}">
        <p14:creationId xmlns:p14="http://schemas.microsoft.com/office/powerpoint/2010/main" val="1448404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886532A-380C-22B7-BD1C-0AF23EECB76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B310BD2-ED13-4067-0E87-1573701BDC4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402BD7-639E-5887-1C51-D7A3A13459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Static Analysis Mechanism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At its most simplistic,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static analysis tool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takes source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identifies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analysis itself is governed by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rule set.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these rules are not restricted to the cybersecurity domain, it's important that the cybersecurity-relevant rules be identified and enabled before a cybersecurity static analysis is performed.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two approaches taken to perform the static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to use the text of the source itself to do this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limits what can be done in terms of both scope and depth of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is to transform the source into a graph and then perform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Most commonly, this graph is an acyclic syntax tree.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advantage is that these graphs can be extended to encompass the totality of the code used to build a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1304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26992EB-D305-8D5C-C7BE-1A8661DDA32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4C98A5B-AFF8-EF01-DD4A-97CE948198C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ED57AF5-0071-FFBE-5387-364DE212DB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talk about static analysis tools, there are three main types that we're going to consider.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are linters.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basically syntax checkers with some added functionality included.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They're the least sophisticated of the tools and have minimal utility from a cybersecurity standpoint.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But if this is all you have, then this is what you’ll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are compilers.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Many people don’t think of a compiler as a static analysis tool, but we're increasingly seeing compilers providing cybersecurity-relevant warnings.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you use compiled languages, enabling the compiler’s cybersecurity-relevant warnings is going to be the fastest way to get some initial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third, and preferred, type of tool is the stand-alone static analyzer.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advantage here is that they can look across the entire lifetime of variables being passed between the various elements of the system.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they typically have a database backing them, allowing them to both look at issues over time, and compare the various interactions between called functions and their callers for consistency.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016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5322BDB-CB5D-0C03-0555-46EED654BB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D268CDA-6677-C4D0-88C5-17F47F7C5F4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8EE4E46-E858-EFBB-5F74-DE25C05283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solidFill>
                  <a:srgbClr val="1D1C1D"/>
                </a:solidFill>
                <a:effectLst/>
                <a:latin typeface="Calibri" panose="020F0502020204030204" pitchFamily="34" charset="0"/>
                <a:cs typeface="Calibri" panose="020F0502020204030204" pitchFamily="34" charset="0"/>
              </a:rPr>
              <a:t>With the background material out of the way, we'll now look at the workflow involved in the static analysis process and then examine each of the activities it contains.</a:t>
            </a:r>
          </a:p>
        </p:txBody>
      </p:sp>
    </p:spTree>
    <p:extLst>
      <p:ext uri="{BB962C8B-B14F-4D97-AF65-F5344CB8AC3E}">
        <p14:creationId xmlns:p14="http://schemas.microsoft.com/office/powerpoint/2010/main" val="507866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workflow for performing the static analysis process is broken down into three discrete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by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The workflow for performing the static analysis process is broken down into three discrete activities.</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 conducting a triage of the issues identified by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static analysis process is broken down into three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conducting a triage of the issues identified by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workflow for performing the static analysis process is broken down into three discrete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establishing the cybersecurity relevant settings</a:t>
            </a: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conducting a triage of the issues identified by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916994B-81A7-FD2F-0DD2-87A0F1D793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19CD809-9EE9-F786-9A72-ABAC449955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ACB8B14-8400-EE26-9BD8-C7664FFD4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Let's now turn our attention to each of the activities that go into the static analysis process.</a:t>
            </a:r>
            <a:endParaRPr lang="en-US" sz="11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210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first activity in the static analysis process is that of establishing the settings we'll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the activity itself will include a</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development SME,</a:t>
            </a: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cybersecurity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devops SME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They're going to take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element</a:t>
            </a: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solidFill>
                  <a:srgbClr val="1D1C1D"/>
                </a:solidFill>
                <a:effectLst/>
                <a:latin typeface="Calibri" panose="020F0502020204030204" pitchFamily="34" charset="0"/>
                <a:cs typeface="Calibri" panose="020F0502020204030204" pitchFamily="34" charset="0"/>
              </a:rPr>
              <a:t>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establish a set of settings to be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will put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updated the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produce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security options qualifications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Now if this diagram seems really information-dense, that's because this is the encapsulation of the secure settings process, and we're not going to cover that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we're impacting the build, it's important to consider the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execution time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reason for this is that since static analysis is part of the test suite to be executed,  it may well be time bounded.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it's important to consider how that time bounding will be impacted by the addition of the static analysis task.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Rather than rehash a subject that is covered separately, here are some references to review secure settings in more detail.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are the Secure Settings Overview training video, and the Secure Settings Document, secondary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For a deeper dive, are the materials covering the four activities within the Secure Settings process, you can review the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Identify Options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Categorize Options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Select Options</a:t>
            </a:r>
          </a:p>
          <a:p>
            <a:pPr marL="285750" lvl="0" indent="-285750" algn="l" rtl="0">
              <a:spcBef>
                <a:spcPts val="0"/>
              </a:spcBef>
              <a:spcAft>
                <a:spcPts val="0"/>
              </a:spcAft>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a:t>
            </a:r>
          </a:p>
          <a:p>
            <a:pPr marL="285750" lvl="0" indent="-285750" algn="l" rtl="0">
              <a:spcBef>
                <a:spcPts val="0"/>
              </a:spcBef>
              <a:spcAft>
                <a:spcPts val="0"/>
              </a:spcAft>
            </a:pPr>
            <a:endParaRPr lang="en-US" sz="1400" strike="sng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Apply Options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their corresponding tertiary documents.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4761E1E-CD1B-E9E4-F344-0215CCBAF20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063569E-8D36-0552-66FC-7FE4041601E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C217864-3E62-0BF9-2CA3-1256A5E38F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Rather than rehash a subject that is covered separately, here are some references to review secure settings in more detail.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 are the Secure Settings Overview training video, and the Secure Settings Document, secondary document.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 deeper dive, are the materials covering the four activities within the Secure Settings </a:t>
            </a:r>
            <a:r>
              <a:rPr lang="en-US" sz="1400" strike="noStrike" dirty="0">
                <a:latin typeface="Calibri" panose="020F0502020204030204" pitchFamily="34" charset="0"/>
                <a:cs typeface="Calibri" panose="020F0502020204030204" pitchFamily="34" charset="0"/>
              </a:rPr>
              <a:t>process, you can review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Identify Options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Categorize Options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Select Options</a:t>
            </a:r>
          </a:p>
          <a:p>
            <a:pPr marL="285750" lvl="0" indent="-285750" algn="l" rtl="0">
              <a:spcBef>
                <a:spcPts val="0"/>
              </a:spcBef>
              <a:spcAft>
                <a:spcPts val="0"/>
              </a:spcAft>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285750" lvl="0" indent="-285750" algn="l" rtl="0">
              <a:spcBef>
                <a:spcPts val="0"/>
              </a:spcBef>
              <a:spcAft>
                <a:spcPts val="0"/>
              </a:spcAft>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Apply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their corresponding tertiary documents.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8516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C2795A9-62CA-20A3-4B9C-D1C7982B02C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63A26DE-A839-4624-2D43-A09A87A15F5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E67209A-251E-A912-7A92-64F1AC3052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Rather than rehash a subject that is covered separately, here are some references to review secure settings in more detail.</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They are the Secure Settings Overview training video, and the Secure Settings Document, secondary document.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For a deeper dive, are the materials covering the four activities within the Secure Settings process, you can review the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Identify Options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Categorize Options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Select Options</a:t>
            </a:r>
          </a:p>
          <a:p>
            <a:pPr marL="285750" lvl="0" indent="-285750" algn="l" rtl="0">
              <a:spcBef>
                <a:spcPts val="0"/>
              </a:spcBef>
              <a:spcAft>
                <a:spcPts val="0"/>
              </a:spcAft>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a:t>
            </a:r>
          </a:p>
          <a:p>
            <a:pPr marL="285750" lvl="0" indent="-285750" algn="l" rtl="0">
              <a:spcBef>
                <a:spcPts val="0"/>
              </a:spcBef>
              <a:spcAft>
                <a:spcPts val="0"/>
              </a:spcAft>
            </a:pPr>
            <a:endParaRPr lang="en-US" sz="1400" strike="sng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Apply Options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their corresponding tertiary documents.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9557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7242B09-60CB-093C-3665-0BE0CBF28C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CE8B22D-FCE0-EE21-395B-818BE302EE8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2BA6D2E-FA08-FBD1-5F48-24D2104786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activity in the static analysis process is that of performing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build system invokes the static analysis tool with the cybersecurity-relevant settings that we've added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updated build file.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static analysis tool then ingests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source code repository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generates output.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note that although this is a completely automated activity, it may be invoked manually.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two things that we want to keep in mind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whether we're doing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depth-based or a breath-based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should be based on the maturity of the development group with respect to cybersecurity-relevant static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Say you have a hundred thousand lines of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not unreasonable to have thousands of issues come out of static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important to not have all of the possible options turned on (depth-based) for all of the possible elements that exist within the build (breadth-based).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Approach this with a progressive ramp up of rules to be applied, and likewise start with those elements which are critical, expanding outward.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By the same token, since static analysis looks across lifetimes, it's important to include the elements that bracket the ones of interest in order to get the most accurate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balance of these two approaches will greatly reduce the friction to adoption.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thing to consider is timeliness.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Although it is possible to perform static analysis on the finished product, this is in all likelihood going to generate a lot of issues, especially if an analysis has not been performed before.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Standing up cybersecurity-relevant static analysis early in the development process is going to be to the benefit of everyone.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6439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588400E-8DF2-7D35-2CC7-63C565307AB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8C7C75E-F25A-7DE9-DEDF-1A37FDFDB54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C4CF5F0-3B82-DBC3-2DF1-B8C3EBC936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final activity in the static analysis process, as with so many AVCDL processes, is that of triage.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cybersecurity SME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their development SME counterpart will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static analysis output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triage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issues found to be valid are placed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identified issues list, which is then sent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threat prioritization process,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static analysis report is generated.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Some may consider having to put each issue through the threat prioritization process as excessive for issues which are obviously needing correction.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Depending on how the organization implements their processes, it's possible that issues may be entered directly into the issue tracking system instead of passing them through the threat prioritization process when the nature of the issue is unambiguous.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if you're performing triage and discover that a tool is reporting an excessive number of false positives, then you should review the settings being used and ensure that they're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necessary, remove those settings which yield incorrect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Don't consider settings to be locked down, because at some point those settings may need to change.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22782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02500B6-CC10-84C8-ABDC-BD638F1D5AD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35F4D31-BB3F-01C8-896C-9B094114FCE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F737493-1B2F-17A8-FD0F-8A54920732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we consider what goes into the identified issues and in fact into the static analysis report by extension, there are three fundamental pieces of information that need to be there.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is about the tool.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seem a bit pointless but consider that there's not going to be just one static analysis report that's ever generated.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multiple of them.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as this information is entered into the issue tracking system, and as it goes through the threat prioritization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Even as it's read, it's critical to know what tooling is being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extends beyond just its name.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There's a whole host of information needed to identify what was used to perform the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thing to consider is the documentation of the element that's been chosen.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 may have gone through the process of deciding what the scope of the analysis is, but as it's conveyed from the process to other individuals, it's important to be documented in a way that allows others to easily locate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need the actual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there may be numerous individual issues related to even a single line of code.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there are going to be lots of results in general.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takeaway here is that we need to ensure that we're including all the information necessary for someone to both replicate and resolve the identified issues.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nice thing is that there is a standard format for representing this type of information.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 number of tools, including compilers and standalone static analysis tools, have the capability of generating output in this format.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format is SARIF.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the Static Analysis Report Interchange Format.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SARIF is recommended by the AVCDL not simply for static analysis, but also for other types of systematic analysis.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 reference to SARIF is included in both the references section and documentation.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727659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an overview of the process used in performing static analysis.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review what's been covered.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we've seen, the static analysis process is fairly straightforward.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the tool to be used, establish what the cybersecurity-relevant settings are and add them to the build for the element of interest.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Perform the analysis, keeping in mind that this is a very time and computationally intensive activity.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Triage the results.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when we're dealing with static analysis, the issue of false positives is unavoidable.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Start small and make sure that the settings that were chosen are appropriate.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Expand breadth and depth gradually.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report the findings both in human-readable and machine-readable form.</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latter because we want to automate our processes where possible.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Where feasible use SARIF for the machine-readable representation.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more information, and to get a more in-depth set of references, the Static Analysis Report secondary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a:t>
            </a:r>
            <a:r>
              <a:rPr lang="en-US" sz="1400" dirty="0"/>
              <a:t>, once you’ve completed the other Static Analysis trainings,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8" Type="http://schemas.openxmlformats.org/officeDocument/2006/relationships/hyperlink" Target="https://ieeexplore.ieee.org/document/497665" TargetMode="External"/><Relationship Id="rId3" Type="http://schemas.openxmlformats.org/officeDocument/2006/relationships/hyperlink" Target="https://docs.oasis-open.org/sarif/sarif/v2.1.0/os/sarif-v2.1.0-os.pdf" TargetMode="External"/><Relationship Id="rId7" Type="http://schemas.openxmlformats.org/officeDocument/2006/relationships/hyperlink" Target="https://www.synopsys.com/blogs/software-security/cost-to-fix-bugs-during-each-sdlc-phase/"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hyperlink" Target="https://creativecommons.org/licenses/by-sa/3.0/deed.en" TargetMode="External"/><Relationship Id="rId5" Type="http://schemas.openxmlformats.org/officeDocument/2006/relationships/hyperlink" Target="https://commons.wikimedia.org/wiki/File:PDP-8I-backplane.jpg" TargetMode="External"/><Relationship Id="rId4" Type="http://schemas.openxmlformats.org/officeDocument/2006/relationships/hyperlink" Target="https://en.wikipedia.org/wiki/Static_program_analysis" TargetMode="External"/><Relationship Id="rId9" Type="http://schemas.openxmlformats.org/officeDocument/2006/relationships/hyperlink" Target="https://ntrs.nasa.gov/api/citations/20100036670/downloads/20100036670.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Static Analysis Overview</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8" y="5270394"/>
            <a:ext cx="963725"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2026-01-12</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6F03F20-507D-D23F-DB6C-1951C8FE079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F26AF3-E165-CB79-1AC2-76D69F133DD1}"/>
              </a:ext>
            </a:extLst>
          </p:cNvPr>
          <p:cNvPicPr>
            <a:picLocks noChangeAspect="1"/>
          </p:cNvPicPr>
          <p:nvPr/>
        </p:nvPicPr>
        <p:blipFill>
          <a:blip r:embed="rId3"/>
          <a:srcRect t="7751" b="7751"/>
          <a:stretch/>
        </p:blipFill>
        <p:spPr>
          <a:xfrm>
            <a:off x="-2300" y="0"/>
            <a:ext cx="12191124" cy="6858000"/>
          </a:xfrm>
          <a:prstGeom prst="rect">
            <a:avLst/>
          </a:prstGeom>
        </p:spPr>
      </p:pic>
      <p:sp>
        <p:nvSpPr>
          <p:cNvPr id="1199" name="Google Shape;1199;p156">
            <a:extLst>
              <a:ext uri="{FF2B5EF4-FFF2-40B4-BE49-F238E27FC236}">
                <a16:creationId xmlns:a16="http://schemas.microsoft.com/office/drawing/2014/main" id="{B028FB8F-53D3-B6BE-4526-06C7E5BEF5A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chemeClr val="bg1"/>
                </a:solidFill>
              </a:rPr>
              <a:t>Introduction</a:t>
            </a:r>
            <a:r>
              <a:rPr lang="en" dirty="0">
                <a:solidFill>
                  <a:schemeClr val="tx1"/>
                </a:solidFill>
              </a:rPr>
              <a:t> </a:t>
            </a:r>
            <a:r>
              <a:rPr lang="en" baseline="30000" dirty="0">
                <a:solidFill>
                  <a:srgbClr val="FFFAB2"/>
                </a:solidFill>
              </a:rPr>
              <a:t>*</a:t>
            </a:r>
            <a:endParaRPr baseline="30000" dirty="0">
              <a:solidFill>
                <a:srgbClr val="FFFAB2"/>
              </a:solidFill>
            </a:endParaRPr>
          </a:p>
        </p:txBody>
      </p:sp>
      <p:sp>
        <p:nvSpPr>
          <p:cNvPr id="6" name="TextBox 5">
            <a:extLst>
              <a:ext uri="{FF2B5EF4-FFF2-40B4-BE49-F238E27FC236}">
                <a16:creationId xmlns:a16="http://schemas.microsoft.com/office/drawing/2014/main" id="{30D471DD-A638-55AF-2FBF-08CFB42664D3}"/>
              </a:ext>
            </a:extLst>
          </p:cNvPr>
          <p:cNvSpPr txBox="1"/>
          <p:nvPr/>
        </p:nvSpPr>
        <p:spPr>
          <a:xfrm>
            <a:off x="1" y="6596390"/>
            <a:ext cx="4480559" cy="261610"/>
          </a:xfrm>
          <a:prstGeom prst="rect">
            <a:avLst/>
          </a:prstGeom>
          <a:noFill/>
        </p:spPr>
        <p:txBody>
          <a:bodyPr wrap="square">
            <a:spAutoFit/>
          </a:bodyPr>
          <a:lstStyle/>
          <a:p>
            <a:r>
              <a:rPr lang="en-US" sz="1100" b="1" dirty="0">
                <a:solidFill>
                  <a:srgbClr val="FFFAB2"/>
                </a:solidFill>
              </a:rPr>
              <a:t>* </a:t>
            </a:r>
            <a:r>
              <a:rPr lang="en-US" sz="1100" b="1" i="1" dirty="0">
                <a:solidFill>
                  <a:srgbClr val="FFFAB2"/>
                </a:solidFill>
              </a:rPr>
              <a:t>PDP-8I wire-wrapped backplane </a:t>
            </a:r>
            <a:r>
              <a:rPr lang="en-US" sz="1100" dirty="0">
                <a:solidFill>
                  <a:srgbClr val="FFFAB2"/>
                </a:solidFill>
              </a:rPr>
              <a:t>(link in references) </a:t>
            </a:r>
          </a:p>
        </p:txBody>
      </p:sp>
    </p:spTree>
    <p:extLst>
      <p:ext uri="{BB962C8B-B14F-4D97-AF65-F5344CB8AC3E}">
        <p14:creationId xmlns:p14="http://schemas.microsoft.com/office/powerpoint/2010/main" val="1748782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Analysis Mechanism</a:t>
            </a:r>
            <a:endParaRPr sz="6600" dirty="0"/>
          </a:p>
        </p:txBody>
      </p:sp>
    </p:spTree>
    <p:extLst>
      <p:ext uri="{BB962C8B-B14F-4D97-AF65-F5344CB8AC3E}">
        <p14:creationId xmlns:p14="http://schemas.microsoft.com/office/powerpoint/2010/main" val="190089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71D25F0-0C1B-F6FA-0ECC-AB5A3C529DC4}"/>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AF538298-3093-2CFE-90C4-C39479A75CF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Static Analysis Mechanism</a:t>
            </a:r>
            <a:endParaRPr dirty="0"/>
          </a:p>
        </p:txBody>
      </p:sp>
      <p:pic>
        <p:nvPicPr>
          <p:cNvPr id="4" name="Picture 3" descr="A diagram of a static analysis&#10;&#10;AI-generated content may be incorrect.">
            <a:extLst>
              <a:ext uri="{FF2B5EF4-FFF2-40B4-BE49-F238E27FC236}">
                <a16:creationId xmlns:a16="http://schemas.microsoft.com/office/drawing/2014/main" id="{B5EF55AC-7D33-6385-E496-8B5809EC2DE1}"/>
              </a:ext>
            </a:extLst>
          </p:cNvPr>
          <p:cNvPicPr>
            <a:picLocks noChangeAspect="1"/>
          </p:cNvPicPr>
          <p:nvPr/>
        </p:nvPicPr>
        <p:blipFill>
          <a:blip r:embed="rId3"/>
          <a:stretch>
            <a:fillRect/>
          </a:stretch>
        </p:blipFill>
        <p:spPr>
          <a:xfrm>
            <a:off x="2801113" y="1202835"/>
            <a:ext cx="6245083" cy="4903393"/>
          </a:xfrm>
          <a:prstGeom prst="rect">
            <a:avLst/>
          </a:prstGeom>
        </p:spPr>
      </p:pic>
    </p:spTree>
    <p:extLst>
      <p:ext uri="{BB962C8B-B14F-4D97-AF65-F5344CB8AC3E}">
        <p14:creationId xmlns:p14="http://schemas.microsoft.com/office/powerpoint/2010/main" val="93466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65FD7CB-FE17-A57F-DB5E-76243E124CB9}"/>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C5DB22-C08E-1BE4-A9E2-B079C396304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Static Analysis Tools</a:t>
            </a:r>
            <a:endParaRPr dirty="0"/>
          </a:p>
        </p:txBody>
      </p:sp>
      <p:sp>
        <p:nvSpPr>
          <p:cNvPr id="2" name="TextBox 1">
            <a:extLst>
              <a:ext uri="{FF2B5EF4-FFF2-40B4-BE49-F238E27FC236}">
                <a16:creationId xmlns:a16="http://schemas.microsoft.com/office/drawing/2014/main" id="{0C425E39-7267-DE6F-9288-098BA1DB02C5}"/>
              </a:ext>
            </a:extLst>
          </p:cNvPr>
          <p:cNvSpPr txBox="1"/>
          <p:nvPr/>
        </p:nvSpPr>
        <p:spPr>
          <a:xfrm>
            <a:off x="455618" y="1437554"/>
            <a:ext cx="4918654"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Linters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Compilers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Stand-alone static analyzers</a:t>
            </a:r>
          </a:p>
        </p:txBody>
      </p:sp>
    </p:spTree>
    <p:extLst>
      <p:ext uri="{BB962C8B-B14F-4D97-AF65-F5344CB8AC3E}">
        <p14:creationId xmlns:p14="http://schemas.microsoft.com/office/powerpoint/2010/main" val="3809870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39DA21B-89EB-986D-847D-4B42780BEBB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DFF19A58-92B6-1DFA-4D72-00089100477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2845624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3" name="Picture 2" descr="A diagram of a data flow&#10;&#10;AI-generated content may be incorrect.">
            <a:extLst>
              <a:ext uri="{FF2B5EF4-FFF2-40B4-BE49-F238E27FC236}">
                <a16:creationId xmlns:a16="http://schemas.microsoft.com/office/drawing/2014/main" id="{4D716E9B-2EE7-6955-9950-F39B76AAFDA8}"/>
              </a:ext>
            </a:extLst>
          </p:cNvPr>
          <p:cNvPicPr>
            <a:picLocks noChangeAspect="1"/>
          </p:cNvPicPr>
          <p:nvPr/>
        </p:nvPicPr>
        <p:blipFill>
          <a:blip r:embed="rId3"/>
          <a:stretch>
            <a:fillRect/>
          </a:stretch>
        </p:blipFill>
        <p:spPr>
          <a:xfrm>
            <a:off x="1525315" y="1562354"/>
            <a:ext cx="9296627" cy="3733291"/>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4278405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5BDA7F5-1597-7FB3-01E6-3598A841EED7}"/>
              </a:ext>
            </a:extLst>
          </p:cNvPr>
          <p:cNvPicPr>
            <a:picLocks noChangeAspect="1"/>
          </p:cNvPicPr>
          <p:nvPr/>
        </p:nvPicPr>
        <p:blipFill>
          <a:blip r:embed="rId3"/>
          <a:srcRect/>
          <a:stretch/>
        </p:blipFill>
        <p:spPr>
          <a:xfrm>
            <a:off x="1525315" y="1562353"/>
            <a:ext cx="3148441" cy="3733291"/>
          </a:xfrm>
          <a:prstGeom prst="rect">
            <a:avLst/>
          </a:prstGeom>
        </p:spPr>
      </p:pic>
      <p:pic>
        <p:nvPicPr>
          <p:cNvPr id="2" name="Picture 1" descr="A diagram of a data flow&#10;&#10;AI-generated content may be incorrect.">
            <a:extLst>
              <a:ext uri="{FF2B5EF4-FFF2-40B4-BE49-F238E27FC236}">
                <a16:creationId xmlns:a16="http://schemas.microsoft.com/office/drawing/2014/main" id="{CAF2505C-12FF-FD16-4572-E0DCD28CB4E4}"/>
              </a:ext>
            </a:extLst>
          </p:cNvPr>
          <p:cNvPicPr>
            <a:picLocks noChangeAspect="1"/>
          </p:cNvPicPr>
          <p:nvPr/>
        </p:nvPicPr>
        <p:blipFill>
          <a:blip r:embed="rId4">
            <a:alphaModFix amt="10000"/>
          </a:blip>
          <a:stretch>
            <a:fillRect/>
          </a:stretch>
        </p:blipFill>
        <p:spPr>
          <a:xfrm>
            <a:off x="1525315" y="1562354"/>
            <a:ext cx="9296627" cy="3733291"/>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a:t>
            </a:r>
            <a:endParaRPr dirty="0"/>
          </a:p>
        </p:txBody>
      </p:sp>
    </p:spTree>
    <p:extLst>
      <p:ext uri="{BB962C8B-B14F-4D97-AF65-F5344CB8AC3E}">
        <p14:creationId xmlns:p14="http://schemas.microsoft.com/office/powerpoint/2010/main" val="299932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FB07FC00-A3BE-0727-1642-48A51B801757}"/>
              </a:ext>
            </a:extLst>
          </p:cNvPr>
          <p:cNvPicPr>
            <a:picLocks noChangeAspect="1"/>
          </p:cNvPicPr>
          <p:nvPr/>
        </p:nvPicPr>
        <p:blipFill>
          <a:blip r:embed="rId3"/>
          <a:srcRect/>
          <a:stretch/>
        </p:blipFill>
        <p:spPr>
          <a:xfrm>
            <a:off x="3931380" y="1562354"/>
            <a:ext cx="3733292" cy="3733292"/>
          </a:xfrm>
          <a:prstGeom prst="rect">
            <a:avLst/>
          </a:prstGeom>
        </p:spPr>
      </p:pic>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Analysis</a:t>
            </a:r>
            <a:endParaRPr dirty="0"/>
          </a:p>
        </p:txBody>
      </p:sp>
      <p:pic>
        <p:nvPicPr>
          <p:cNvPr id="2" name="Picture 1" descr="A diagram of a data flow&#10;&#10;AI-generated content may be incorrect.">
            <a:extLst>
              <a:ext uri="{FF2B5EF4-FFF2-40B4-BE49-F238E27FC236}">
                <a16:creationId xmlns:a16="http://schemas.microsoft.com/office/drawing/2014/main" id="{A90FFD13-4002-FA9D-83B3-40F495B9335C}"/>
              </a:ext>
            </a:extLst>
          </p:cNvPr>
          <p:cNvPicPr>
            <a:picLocks noChangeAspect="1"/>
          </p:cNvPicPr>
          <p:nvPr/>
        </p:nvPicPr>
        <p:blipFill>
          <a:blip r:embed="rId4">
            <a:alphaModFix amt="10000"/>
          </a:blip>
          <a:stretch>
            <a:fillRect/>
          </a:stretch>
        </p:blipFill>
        <p:spPr>
          <a:xfrm>
            <a:off x="1525315" y="1562354"/>
            <a:ext cx="9296627" cy="3733291"/>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pic>
        <p:nvPicPr>
          <p:cNvPr id="13" name="Picture 12">
            <a:extLst>
              <a:ext uri="{FF2B5EF4-FFF2-40B4-BE49-F238E27FC236}">
                <a16:creationId xmlns:a16="http://schemas.microsoft.com/office/drawing/2014/main" id="{137DA9A9-C814-A7C1-CC08-19FAD25BA22C}"/>
              </a:ext>
            </a:extLst>
          </p:cNvPr>
          <p:cNvPicPr>
            <a:picLocks noChangeAspect="1"/>
          </p:cNvPicPr>
          <p:nvPr/>
        </p:nvPicPr>
        <p:blipFill>
          <a:blip r:embed="rId3"/>
          <a:srcRect/>
          <a:stretch/>
        </p:blipFill>
        <p:spPr>
          <a:xfrm>
            <a:off x="6861725" y="1562354"/>
            <a:ext cx="3960217" cy="3733291"/>
          </a:xfrm>
          <a:prstGeom prst="rect">
            <a:avLst/>
          </a:prstGeom>
        </p:spPr>
      </p:pic>
      <p:pic>
        <p:nvPicPr>
          <p:cNvPr id="2" name="Picture 1" descr="A diagram of a data flow&#10;&#10;AI-generated content may be incorrect.">
            <a:extLst>
              <a:ext uri="{FF2B5EF4-FFF2-40B4-BE49-F238E27FC236}">
                <a16:creationId xmlns:a16="http://schemas.microsoft.com/office/drawing/2014/main" id="{8438D47B-BB7A-0DF6-CD81-1F34814E82BC}"/>
              </a:ext>
            </a:extLst>
          </p:cNvPr>
          <p:cNvPicPr>
            <a:picLocks noChangeAspect="1"/>
          </p:cNvPicPr>
          <p:nvPr/>
        </p:nvPicPr>
        <p:blipFill>
          <a:blip r:embed="rId4">
            <a:alphaModFix amt="10000"/>
          </a:blip>
          <a:stretch>
            <a:fillRect/>
          </a:stretch>
        </p:blipFill>
        <p:spPr>
          <a:xfrm>
            <a:off x="1525315" y="1562354"/>
            <a:ext cx="9296627" cy="3733291"/>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683F98B-0865-389F-7AC7-DB4A13CA4584}"/>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8D603143-1F2F-5768-3F3D-390A4DC5B79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Activities</a:t>
            </a:r>
            <a:endParaRPr sz="6600" dirty="0"/>
          </a:p>
        </p:txBody>
      </p:sp>
    </p:spTree>
    <p:extLst>
      <p:ext uri="{BB962C8B-B14F-4D97-AF65-F5344CB8AC3E}">
        <p14:creationId xmlns:p14="http://schemas.microsoft.com/office/powerpoint/2010/main" val="3803324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C5F5F98-BA62-DD58-04BF-CF03D1FA659F}"/>
              </a:ext>
            </a:extLst>
          </p:cNvPr>
          <p:cNvPicPr>
            <a:picLocks noChangeAspect="1"/>
          </p:cNvPicPr>
          <p:nvPr/>
        </p:nvPicPr>
        <p:blipFill>
          <a:blip r:embed="rId3"/>
          <a:srcRect/>
          <a:stretch/>
        </p:blipFill>
        <p:spPr>
          <a:xfrm>
            <a:off x="6146213" y="985083"/>
            <a:ext cx="4502953" cy="5339416"/>
          </a:xfrm>
          <a:prstGeom prst="rect">
            <a:avLst/>
          </a:prstGeom>
        </p:spPr>
      </p:pic>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a:t>
            </a:r>
            <a:endParaRPr dirty="0"/>
          </a:p>
        </p:txBody>
      </p:sp>
      <p:sp>
        <p:nvSpPr>
          <p:cNvPr id="7" name="TextBox 6">
            <a:extLst>
              <a:ext uri="{FF2B5EF4-FFF2-40B4-BE49-F238E27FC236}">
                <a16:creationId xmlns:a16="http://schemas.microsoft.com/office/drawing/2014/main" id="{352C85C5-1303-6DDF-FD4F-D7AE139B0A79}"/>
              </a:ext>
            </a:extLst>
          </p:cNvPr>
          <p:cNvSpPr txBox="1"/>
          <p:nvPr/>
        </p:nvSpPr>
        <p:spPr>
          <a:xfrm>
            <a:off x="455618" y="3167390"/>
            <a:ext cx="2786660" cy="523220"/>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time</a:t>
            </a:r>
          </a:p>
        </p:txBody>
      </p:sp>
    </p:spTree>
    <p:extLst>
      <p:ext uri="{BB962C8B-B14F-4D97-AF65-F5344CB8AC3E}">
        <p14:creationId xmlns:p14="http://schemas.microsoft.com/office/powerpoint/2010/main" val="2581357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descr="A document with text on it&#10;&#10;AI-generated content may be incorrect.">
            <a:extLst>
              <a:ext uri="{FF2B5EF4-FFF2-40B4-BE49-F238E27FC236}">
                <a16:creationId xmlns:a16="http://schemas.microsoft.com/office/drawing/2014/main" id="{9AF391E0-343E-BC1F-91F6-B2E02B18B081}"/>
              </a:ext>
            </a:extLst>
          </p:cNvPr>
          <p:cNvPicPr>
            <a:picLocks noChangeAspect="1"/>
          </p:cNvPicPr>
          <p:nvPr/>
        </p:nvPicPr>
        <p:blipFill>
          <a:blip r:embed="rId3"/>
          <a:stretch>
            <a:fillRect/>
          </a:stretch>
        </p:blipFill>
        <p:spPr>
          <a:xfrm>
            <a:off x="7650847" y="1239500"/>
            <a:ext cx="4082604"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3108"/>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731F0ED-292B-7B9C-6F4F-1458DA419863}"/>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8264BB72-797C-DC20-B055-AD60138601E4}"/>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a:t>
            </a:r>
          </a:p>
        </p:txBody>
      </p:sp>
      <p:grpSp>
        <p:nvGrpSpPr>
          <p:cNvPr id="6" name="Group 5">
            <a:extLst>
              <a:ext uri="{FF2B5EF4-FFF2-40B4-BE49-F238E27FC236}">
                <a16:creationId xmlns:a16="http://schemas.microsoft.com/office/drawing/2014/main" id="{330FF41F-9CC6-63A9-3602-198CF2CB05E5}"/>
              </a:ext>
            </a:extLst>
          </p:cNvPr>
          <p:cNvGrpSpPr/>
          <p:nvPr/>
        </p:nvGrpSpPr>
        <p:grpSpPr>
          <a:xfrm>
            <a:off x="1298574" y="1118720"/>
            <a:ext cx="9591675" cy="5510678"/>
            <a:chOff x="1266824" y="1106020"/>
            <a:chExt cx="9591675" cy="5510678"/>
          </a:xfrm>
        </p:grpSpPr>
        <p:pic>
          <p:nvPicPr>
            <p:cNvPr id="3" name="Picture 2">
              <a:extLst>
                <a:ext uri="{FF2B5EF4-FFF2-40B4-BE49-F238E27FC236}">
                  <a16:creationId xmlns:a16="http://schemas.microsoft.com/office/drawing/2014/main" id="{F0E91B38-48A9-979B-0429-870198D9A643}"/>
                </a:ext>
              </a:extLst>
            </p:cNvPr>
            <p:cNvPicPr>
              <a:picLocks noChangeAspect="1"/>
            </p:cNvPicPr>
            <p:nvPr/>
          </p:nvPicPr>
          <p:blipFill>
            <a:blip r:embed="rId3"/>
            <a:srcRect/>
            <a:stretch/>
          </p:blipFill>
          <p:spPr>
            <a:xfrm>
              <a:off x="1266824" y="1106020"/>
              <a:ext cx="4611682" cy="2596776"/>
            </a:xfrm>
            <a:prstGeom prst="rect">
              <a:avLst/>
            </a:prstGeom>
          </p:spPr>
        </p:pic>
        <p:pic>
          <p:nvPicPr>
            <p:cNvPr id="2" name="Picture 1">
              <a:extLst>
                <a:ext uri="{FF2B5EF4-FFF2-40B4-BE49-F238E27FC236}">
                  <a16:creationId xmlns:a16="http://schemas.microsoft.com/office/drawing/2014/main" id="{3579EEC2-C935-13E1-A517-A1C0FB498696}"/>
                </a:ext>
              </a:extLst>
            </p:cNvPr>
            <p:cNvPicPr>
              <a:picLocks noChangeAspect="1"/>
            </p:cNvPicPr>
            <p:nvPr/>
          </p:nvPicPr>
          <p:blipFill>
            <a:blip r:embed="rId4"/>
            <a:srcRect/>
            <a:stretch/>
          </p:blipFill>
          <p:spPr>
            <a:xfrm>
              <a:off x="1266824" y="4019922"/>
              <a:ext cx="4611683" cy="2596776"/>
            </a:xfrm>
            <a:prstGeom prst="rect">
              <a:avLst/>
            </a:prstGeom>
          </p:spPr>
        </p:pic>
        <p:pic>
          <p:nvPicPr>
            <p:cNvPr id="4" name="Picture 3">
              <a:extLst>
                <a:ext uri="{FF2B5EF4-FFF2-40B4-BE49-F238E27FC236}">
                  <a16:creationId xmlns:a16="http://schemas.microsoft.com/office/drawing/2014/main" id="{6CF71F57-D726-9701-FE8A-46B2B21BA004}"/>
                </a:ext>
              </a:extLst>
            </p:cNvPr>
            <p:cNvPicPr>
              <a:picLocks noChangeAspect="1"/>
            </p:cNvPicPr>
            <p:nvPr/>
          </p:nvPicPr>
          <p:blipFill>
            <a:blip r:embed="rId5"/>
            <a:srcRect/>
            <a:stretch/>
          </p:blipFill>
          <p:spPr>
            <a:xfrm>
              <a:off x="6246818" y="1106020"/>
              <a:ext cx="4611681" cy="2596776"/>
            </a:xfrm>
            <a:prstGeom prst="rect">
              <a:avLst/>
            </a:prstGeom>
          </p:spPr>
        </p:pic>
        <p:pic>
          <p:nvPicPr>
            <p:cNvPr id="5" name="Picture 4">
              <a:extLst>
                <a:ext uri="{FF2B5EF4-FFF2-40B4-BE49-F238E27FC236}">
                  <a16:creationId xmlns:a16="http://schemas.microsoft.com/office/drawing/2014/main" id="{149A56D7-D0BE-7223-1213-11710ED834DE}"/>
                </a:ext>
              </a:extLst>
            </p:cNvPr>
            <p:cNvPicPr>
              <a:picLocks noChangeAspect="1"/>
            </p:cNvPicPr>
            <p:nvPr/>
          </p:nvPicPr>
          <p:blipFill>
            <a:blip r:embed="rId6"/>
            <a:srcRect/>
            <a:stretch/>
          </p:blipFill>
          <p:spPr>
            <a:xfrm>
              <a:off x="6246816" y="4019922"/>
              <a:ext cx="4611683" cy="2596776"/>
            </a:xfrm>
            <a:prstGeom prst="rect">
              <a:avLst/>
            </a:prstGeom>
          </p:spPr>
        </p:pic>
      </p:grpSp>
    </p:spTree>
    <p:extLst>
      <p:ext uri="{BB962C8B-B14F-4D97-AF65-F5344CB8AC3E}">
        <p14:creationId xmlns:p14="http://schemas.microsoft.com/office/powerpoint/2010/main" val="3967364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4914AC2-5CDB-19A7-FE93-3DB82262495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7D08BE7-73DA-CB5A-535E-2D6EC6795748}"/>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a:t>
            </a:r>
          </a:p>
        </p:txBody>
      </p:sp>
      <p:pic>
        <p:nvPicPr>
          <p:cNvPr id="11" name="Picture 10">
            <a:extLst>
              <a:ext uri="{FF2B5EF4-FFF2-40B4-BE49-F238E27FC236}">
                <a16:creationId xmlns:a16="http://schemas.microsoft.com/office/drawing/2014/main" id="{85EA40DC-6FAE-CDF4-153A-E4683767CC84}"/>
              </a:ext>
            </a:extLst>
          </p:cNvPr>
          <p:cNvPicPr>
            <a:picLocks noChangeAspect="1"/>
          </p:cNvPicPr>
          <p:nvPr/>
        </p:nvPicPr>
        <p:blipFill>
          <a:blip r:embed="rId3"/>
          <a:srcRect/>
          <a:stretch/>
        </p:blipFill>
        <p:spPr>
          <a:xfrm>
            <a:off x="451498" y="1803960"/>
            <a:ext cx="2507485" cy="3250080"/>
          </a:xfrm>
          <a:prstGeom prst="rect">
            <a:avLst/>
          </a:prstGeom>
          <a:ln>
            <a:solidFill>
              <a:schemeClr val="tx1"/>
            </a:solidFill>
          </a:ln>
          <a:effectLst>
            <a:outerShdw blurRad="50800" dist="38100" dir="2700000" algn="tl" rotWithShape="0">
              <a:prstClr val="black">
                <a:alpha val="40000"/>
              </a:prstClr>
            </a:outerShdw>
          </a:effectLst>
        </p:spPr>
      </p:pic>
      <p:pic>
        <p:nvPicPr>
          <p:cNvPr id="2" name="Picture 1">
            <a:extLst>
              <a:ext uri="{FF2B5EF4-FFF2-40B4-BE49-F238E27FC236}">
                <a16:creationId xmlns:a16="http://schemas.microsoft.com/office/drawing/2014/main" id="{478D5166-1742-B0C8-1902-73A21CF1B2A4}"/>
              </a:ext>
            </a:extLst>
          </p:cNvPr>
          <p:cNvPicPr>
            <a:picLocks noChangeAspect="1"/>
          </p:cNvPicPr>
          <p:nvPr/>
        </p:nvPicPr>
        <p:blipFill>
          <a:blip r:embed="rId4"/>
          <a:srcRect/>
          <a:stretch/>
        </p:blipFill>
        <p:spPr>
          <a:xfrm>
            <a:off x="3375664" y="1803960"/>
            <a:ext cx="2507485" cy="3250080"/>
          </a:xfrm>
          <a:prstGeom prst="rect">
            <a:avLst/>
          </a:prstGeom>
          <a:ln>
            <a:solidFill>
              <a:schemeClr val="tx1"/>
            </a:solidFill>
          </a:ln>
          <a:effectLst>
            <a:outerShdw blurRad="50800" dist="38100" dir="2700000" algn="tl" rotWithShape="0">
              <a:prstClr val="black">
                <a:alpha val="40000"/>
              </a:prstClr>
            </a:outerShdw>
          </a:effectLst>
        </p:spPr>
      </p:pic>
      <p:pic>
        <p:nvPicPr>
          <p:cNvPr id="4" name="Picture 3">
            <a:extLst>
              <a:ext uri="{FF2B5EF4-FFF2-40B4-BE49-F238E27FC236}">
                <a16:creationId xmlns:a16="http://schemas.microsoft.com/office/drawing/2014/main" id="{1BBB5B50-8263-02DE-A092-F4158544B34D}"/>
              </a:ext>
            </a:extLst>
          </p:cNvPr>
          <p:cNvPicPr>
            <a:picLocks noChangeAspect="1"/>
          </p:cNvPicPr>
          <p:nvPr/>
        </p:nvPicPr>
        <p:blipFill>
          <a:blip r:embed="rId5"/>
          <a:srcRect/>
          <a:stretch/>
        </p:blipFill>
        <p:spPr>
          <a:xfrm>
            <a:off x="6299830" y="1803960"/>
            <a:ext cx="2507485" cy="3250080"/>
          </a:xfrm>
          <a:prstGeom prst="rect">
            <a:avLst/>
          </a:prstGeom>
          <a:ln>
            <a:solidFill>
              <a:schemeClr val="tx1"/>
            </a:solidFill>
          </a:ln>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F86A8AF1-D904-BDEF-6279-55E34E2F60E7}"/>
              </a:ext>
            </a:extLst>
          </p:cNvPr>
          <p:cNvPicPr>
            <a:picLocks noChangeAspect="1"/>
          </p:cNvPicPr>
          <p:nvPr/>
        </p:nvPicPr>
        <p:blipFill>
          <a:blip r:embed="rId6"/>
          <a:srcRect/>
          <a:stretch/>
        </p:blipFill>
        <p:spPr>
          <a:xfrm>
            <a:off x="9223996" y="1803960"/>
            <a:ext cx="2507485" cy="3250080"/>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32679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FAA94BC-298C-18D6-2BB8-65F2D81FA8E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8E23C8-A968-C328-D023-8AC961E7A180}"/>
              </a:ext>
            </a:extLst>
          </p:cNvPr>
          <p:cNvPicPr>
            <a:picLocks noChangeAspect="1"/>
          </p:cNvPicPr>
          <p:nvPr/>
        </p:nvPicPr>
        <p:blipFill>
          <a:blip r:embed="rId3"/>
          <a:srcRect/>
          <a:stretch/>
        </p:blipFill>
        <p:spPr>
          <a:xfrm>
            <a:off x="5729383" y="985084"/>
            <a:ext cx="5339416" cy="5339416"/>
          </a:xfrm>
          <a:prstGeom prst="rect">
            <a:avLst/>
          </a:prstGeom>
        </p:spPr>
      </p:pic>
      <p:sp>
        <p:nvSpPr>
          <p:cNvPr id="1199" name="Google Shape;1199;p156">
            <a:extLst>
              <a:ext uri="{FF2B5EF4-FFF2-40B4-BE49-F238E27FC236}">
                <a16:creationId xmlns:a16="http://schemas.microsoft.com/office/drawing/2014/main" id="{DE102DF6-AAEB-1416-465B-EF11C55A30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Perform Analysis</a:t>
            </a:r>
            <a:endParaRPr dirty="0"/>
          </a:p>
        </p:txBody>
      </p:sp>
      <p:sp>
        <p:nvSpPr>
          <p:cNvPr id="4" name="TextBox 3">
            <a:extLst>
              <a:ext uri="{FF2B5EF4-FFF2-40B4-BE49-F238E27FC236}">
                <a16:creationId xmlns:a16="http://schemas.microsoft.com/office/drawing/2014/main" id="{8B4B8CFC-39D7-561A-001F-37253931D153}"/>
              </a:ext>
            </a:extLst>
          </p:cNvPr>
          <p:cNvSpPr txBox="1"/>
          <p:nvPr/>
        </p:nvSpPr>
        <p:spPr>
          <a:xfrm>
            <a:off x="455618" y="2797759"/>
            <a:ext cx="3155351"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Depth vs Breadth</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Timeliness</a:t>
            </a:r>
          </a:p>
        </p:txBody>
      </p:sp>
    </p:spTree>
    <p:extLst>
      <p:ext uri="{BB962C8B-B14F-4D97-AF65-F5344CB8AC3E}">
        <p14:creationId xmlns:p14="http://schemas.microsoft.com/office/powerpoint/2010/main" val="1558582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5699CE-1E0F-BF7F-0057-A53E4800F854}"/>
            </a:ext>
          </a:extLst>
        </p:cNvPr>
        <p:cNvGrpSpPr/>
        <p:nvPr/>
      </p:nvGrpSpPr>
      <p:grpSpPr>
        <a:xfrm>
          <a:off x="0" y="0"/>
          <a:ext cx="0" cy="0"/>
          <a:chOff x="0" y="0"/>
          <a:chExt cx="0" cy="0"/>
        </a:xfrm>
      </p:grpSpPr>
      <p:pic>
        <p:nvPicPr>
          <p:cNvPr id="3" name="Picture 2" descr="A diagram of a triage&#10;&#10;AI-generated content may be incorrect.">
            <a:extLst>
              <a:ext uri="{FF2B5EF4-FFF2-40B4-BE49-F238E27FC236}">
                <a16:creationId xmlns:a16="http://schemas.microsoft.com/office/drawing/2014/main" id="{5E209F59-8CA7-F307-BFB6-E48B6F74C218}"/>
              </a:ext>
            </a:extLst>
          </p:cNvPr>
          <p:cNvPicPr>
            <a:picLocks noChangeAspect="1"/>
          </p:cNvPicPr>
          <p:nvPr/>
        </p:nvPicPr>
        <p:blipFill>
          <a:blip r:embed="rId3"/>
          <a:stretch>
            <a:fillRect/>
          </a:stretch>
        </p:blipFill>
        <p:spPr>
          <a:xfrm>
            <a:off x="6178297" y="985084"/>
            <a:ext cx="5663547" cy="5339018"/>
          </a:xfrm>
          <a:prstGeom prst="rect">
            <a:avLst/>
          </a:prstGeom>
        </p:spPr>
      </p:pic>
      <p:sp>
        <p:nvSpPr>
          <p:cNvPr id="1199" name="Google Shape;1199;p156">
            <a:extLst>
              <a:ext uri="{FF2B5EF4-FFF2-40B4-BE49-F238E27FC236}">
                <a16:creationId xmlns:a16="http://schemas.microsoft.com/office/drawing/2014/main" id="{67FEA302-B171-4AD2-1728-A84E75BFA59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Triage</a:t>
            </a:r>
            <a:endParaRPr dirty="0"/>
          </a:p>
        </p:txBody>
      </p:sp>
      <p:sp>
        <p:nvSpPr>
          <p:cNvPr id="10" name="TextBox 9">
            <a:extLst>
              <a:ext uri="{FF2B5EF4-FFF2-40B4-BE49-F238E27FC236}">
                <a16:creationId xmlns:a16="http://schemas.microsoft.com/office/drawing/2014/main" id="{5B95A7E2-335D-CA53-1032-4785F756B163}"/>
              </a:ext>
            </a:extLst>
          </p:cNvPr>
          <p:cNvSpPr txBox="1"/>
          <p:nvPr/>
        </p:nvSpPr>
        <p:spPr>
          <a:xfrm>
            <a:off x="455618" y="3100594"/>
            <a:ext cx="4152419" cy="1107996"/>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File issues immediately</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 false positives</a:t>
            </a:r>
          </a:p>
        </p:txBody>
      </p:sp>
    </p:spTree>
    <p:extLst>
      <p:ext uri="{BB962C8B-B14F-4D97-AF65-F5344CB8AC3E}">
        <p14:creationId xmlns:p14="http://schemas.microsoft.com/office/powerpoint/2010/main" val="16493716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5FCA520-F588-E1F9-CF07-D03814D0DA93}"/>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A08DCD6-6DAD-A56A-AFAA-208B81C2B55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Static Analysis Report</a:t>
            </a:r>
            <a:endParaRPr dirty="0"/>
          </a:p>
        </p:txBody>
      </p:sp>
      <p:sp>
        <p:nvSpPr>
          <p:cNvPr id="2" name="TextBox 1">
            <a:extLst>
              <a:ext uri="{FF2B5EF4-FFF2-40B4-BE49-F238E27FC236}">
                <a16:creationId xmlns:a16="http://schemas.microsoft.com/office/drawing/2014/main" id="{7C349E6C-5201-B094-6B95-B17EAA3ED89C}"/>
              </a:ext>
            </a:extLst>
          </p:cNvPr>
          <p:cNvSpPr txBox="1"/>
          <p:nvPr/>
        </p:nvSpPr>
        <p:spPr>
          <a:xfrm>
            <a:off x="455618" y="1437554"/>
            <a:ext cx="1712648"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tool</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results</a:t>
            </a:r>
          </a:p>
        </p:txBody>
      </p:sp>
      <p:sp>
        <p:nvSpPr>
          <p:cNvPr id="3" name="Right Brace 2">
            <a:extLst>
              <a:ext uri="{FF2B5EF4-FFF2-40B4-BE49-F238E27FC236}">
                <a16:creationId xmlns:a16="http://schemas.microsoft.com/office/drawing/2014/main" id="{040F98F9-5059-F803-112F-B912FDB88BDE}"/>
              </a:ext>
            </a:extLst>
          </p:cNvPr>
          <p:cNvSpPr/>
          <p:nvPr/>
        </p:nvSpPr>
        <p:spPr>
          <a:xfrm>
            <a:off x="2336902" y="1402340"/>
            <a:ext cx="432512" cy="1763195"/>
          </a:xfrm>
          <a:prstGeom prst="rightBrace">
            <a:avLst/>
          </a:prstGeom>
          <a:noFill/>
          <a:ln w="38100">
            <a:solidFill>
              <a:srgbClr val="0070C0"/>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CCC1F68F-F22F-D993-ACE2-AB1F7E884568}"/>
              </a:ext>
            </a:extLst>
          </p:cNvPr>
          <p:cNvSpPr txBox="1"/>
          <p:nvPr/>
        </p:nvSpPr>
        <p:spPr>
          <a:xfrm>
            <a:off x="2938050" y="2022328"/>
            <a:ext cx="8404865" cy="523220"/>
          </a:xfrm>
          <a:prstGeom prst="rect">
            <a:avLst/>
          </a:prstGeom>
          <a:noFill/>
        </p:spPr>
        <p:txBody>
          <a:bodyPr wrap="none" rtlCol="0">
            <a:spAutoFit/>
          </a:bodyPr>
          <a:lstStyle/>
          <a:p>
            <a:r>
              <a:rPr lang="en-US" sz="2800" dirty="0">
                <a:solidFill>
                  <a:srgbClr val="0070C0"/>
                </a:solidFill>
                <a:latin typeface="Roboto" panose="02000000000000000000" pitchFamily="2" charset="0"/>
                <a:ea typeface="Roboto" panose="02000000000000000000" pitchFamily="2" charset="0"/>
                <a:cs typeface="Roboto" panose="02000000000000000000" pitchFamily="2" charset="0"/>
              </a:rPr>
              <a:t>SARIF - Static Analysis Report Interchange Format</a:t>
            </a:r>
          </a:p>
        </p:txBody>
      </p:sp>
    </p:spTree>
    <p:extLst>
      <p:ext uri="{BB962C8B-B14F-4D97-AF65-F5344CB8AC3E}">
        <p14:creationId xmlns:p14="http://schemas.microsoft.com/office/powerpoint/2010/main" val="3831274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4089902" cy="2862322"/>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Establish the settings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Perform the analysis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Triage the results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Start small and expand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findings</a:t>
            </a:r>
          </a:p>
        </p:txBody>
      </p:sp>
    </p:spTree>
    <p:extLst>
      <p:ext uri="{BB962C8B-B14F-4D97-AF65-F5344CB8AC3E}">
        <p14:creationId xmlns:p14="http://schemas.microsoft.com/office/powerpoint/2010/main" val="17035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811EE96D-315D-3C3C-286F-75C455A7E6F6}"/>
              </a:ext>
            </a:extLst>
          </p:cNvPr>
          <p:cNvPicPr>
            <a:picLocks noChangeAspect="1"/>
          </p:cNvPicPr>
          <p:nvPr/>
        </p:nvPicPr>
        <p:blipFill>
          <a:blip r:embed="rId3"/>
          <a:srcRect/>
          <a:stretch/>
        </p:blipFill>
        <p:spPr>
          <a:xfrm>
            <a:off x="4053108" y="1239500"/>
            <a:ext cx="4082604" cy="5283371"/>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24875B67-DABD-EC7D-D876-FF0A75BC967B}"/>
              </a:ext>
            </a:extLst>
          </p:cNvPr>
          <p:cNvPicPr>
            <a:picLocks noChangeAspect="1"/>
          </p:cNvPicPr>
          <p:nvPr/>
        </p:nvPicPr>
        <p:blipFill>
          <a:blip r:embed="rId3"/>
          <a:stretch>
            <a:fillRect/>
          </a:stretch>
        </p:blipFill>
        <p:spPr>
          <a:xfrm>
            <a:off x="1658351" y="985083"/>
            <a:ext cx="8483870" cy="5783298"/>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5109091"/>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Static Analysis Report (AVCDL secondary document)</a:t>
            </a:r>
          </a:p>
          <a:p>
            <a:pPr marL="0" indent="0">
              <a:spcBef>
                <a:spcPts val="1200"/>
              </a:spcBef>
            </a:pPr>
            <a:r>
              <a:rPr lang="en-US" sz="1800" b="1" dirty="0">
                <a:latin typeface="Roboto" panose="02000000000000000000" pitchFamily="2" charset="0"/>
                <a:ea typeface="Roboto" panose="02000000000000000000" pitchFamily="2" charset="0"/>
                <a:cs typeface="Courier New" panose="02070309020205020404" pitchFamily="49" charset="0"/>
              </a:rPr>
              <a:t>Static Analysis Results Interchange Format (SARIF) Version 2.1.0</a:t>
            </a:r>
          </a:p>
          <a:p>
            <a:pPr marL="0" indent="0">
              <a:spcBef>
                <a:spcPts val="0"/>
              </a:spcBef>
            </a:pPr>
            <a:r>
              <a:rPr lang="en-US" sz="1400" b="1" dirty="0">
                <a:latin typeface="Courier New" panose="02070309020205020404" pitchFamily="49" charset="0"/>
                <a:cs typeface="Courier New" panose="02070309020205020404" pitchFamily="49" charset="0"/>
                <a:hlinkClick r:id="rId3"/>
              </a:rPr>
              <a:t>https://docs.oasis-open.org/sarif/sarif/v2.1.0/os/sarif-v2.1.0-os.pdf</a:t>
            </a:r>
            <a:endParaRPr lang="en-US" sz="1400" b="1" dirty="0">
              <a:latin typeface="Courier New" panose="02070309020205020404" pitchFamily="49" charset="0"/>
              <a:cs typeface="Courier New" panose="02070309020205020404" pitchFamily="49" charset="0"/>
            </a:endParaRP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Static Program Analysis</a:t>
            </a:r>
          </a:p>
          <a:p>
            <a:pPr marL="0" indent="0">
              <a:spcBef>
                <a:spcPts val="0"/>
              </a:spcBef>
            </a:pPr>
            <a:r>
              <a:rPr lang="en-US" sz="1400" b="1" dirty="0">
                <a:latin typeface="Courier New" panose="02070309020205020404" pitchFamily="49" charset="0"/>
                <a:cs typeface="Courier New" panose="02070309020205020404" pitchFamily="49" charset="0"/>
                <a:hlinkClick r:id="rId4"/>
              </a:rPr>
              <a:t>https://en.wikipedia.org/wiki/Static_program_analysis</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PDP-8I wire-wrapped backplane (Dave Fischer – CC BY-SA 3.0)</a:t>
            </a:r>
          </a:p>
          <a:p>
            <a:pPr marL="0" indent="0">
              <a:spcBef>
                <a:spcPts val="0"/>
              </a:spcBef>
            </a:pPr>
            <a:r>
              <a:rPr lang="en-US" sz="1400" b="1" dirty="0">
                <a:latin typeface="Courier New" panose="02070309020205020404" pitchFamily="49" charset="0"/>
                <a:cs typeface="Courier New" panose="02070309020205020404" pitchFamily="49" charset="0"/>
                <a:hlinkClick r:id="rId5"/>
              </a:rPr>
              <a:t>https://commons.wikimedia.org/wiki/File:PDP-8I-backplane.jpg</a:t>
            </a:r>
            <a:r>
              <a:rPr lang="en-US" sz="1400" b="1" dirty="0">
                <a:latin typeface="Courier New" panose="02070309020205020404" pitchFamily="49" charset="0"/>
                <a:cs typeface="Courier New" panose="02070309020205020404" pitchFamily="49" charset="0"/>
              </a:rPr>
              <a:t> </a:t>
            </a:r>
          </a:p>
          <a:p>
            <a:pPr marL="0" indent="0">
              <a:spcBef>
                <a:spcPts val="0"/>
              </a:spcBef>
            </a:pPr>
            <a:r>
              <a:rPr lang="en-US" sz="1400" b="1" dirty="0">
                <a:latin typeface="Courier New" panose="02070309020205020404" pitchFamily="49" charset="0"/>
                <a:cs typeface="Courier New" panose="02070309020205020404" pitchFamily="49" charset="0"/>
                <a:hlinkClick r:id="rId6"/>
              </a:rPr>
              <a:t>https://creativecommons.org/licenses/by-sa/3.0/deed.en</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How much do bugs cost to fix during each phase of the SDLC?</a:t>
            </a:r>
          </a:p>
          <a:p>
            <a:pPr marL="0" indent="0">
              <a:spcBef>
                <a:spcPts val="0"/>
              </a:spcBef>
            </a:pPr>
            <a:r>
              <a:rPr lang="en-US" sz="1400" b="1" dirty="0">
                <a:latin typeface="Courier New" panose="02070309020205020404" pitchFamily="49" charset="0"/>
                <a:cs typeface="Courier New" panose="02070309020205020404" pitchFamily="49" charset="0"/>
                <a:hlinkClick r:id="rId7"/>
              </a:rPr>
              <a:t>https://www.synopsys.com/blogs/software-security/cost-to-fix-bugs-during-each-sdlc-phase/</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sz="1800" b="1" dirty="0">
                <a:latin typeface="Roboto" panose="02000000000000000000" pitchFamily="2" charset="0"/>
                <a:ea typeface="Roboto" panose="02000000000000000000" pitchFamily="2" charset="0"/>
                <a:cs typeface="Roboto" panose="02000000000000000000" pitchFamily="2" charset="0"/>
              </a:rPr>
              <a:t>Path to Improve Product Quality, Reliability and Customer Satisfaction</a:t>
            </a:r>
          </a:p>
          <a:p>
            <a:pPr marL="0" indent="0">
              <a:spcBef>
                <a:spcPts val="0"/>
              </a:spcBef>
            </a:pPr>
            <a:r>
              <a:rPr lang="en-US" sz="1400" b="1" dirty="0">
                <a:latin typeface="Courier New" panose="02070309020205020404" pitchFamily="49" charset="0"/>
                <a:cs typeface="Courier New" panose="02070309020205020404" pitchFamily="49" charset="0"/>
                <a:hlinkClick r:id="rId8"/>
              </a:rPr>
              <a:t>https://ieeexplore.ieee.org/document/497665</a:t>
            </a:r>
            <a:r>
              <a:rPr lang="en-US" sz="1400" b="1" dirty="0">
                <a:latin typeface="Courier New" panose="02070309020205020404" pitchFamily="49" charset="0"/>
                <a:cs typeface="Courier New" panose="02070309020205020404" pitchFamily="49" charset="0"/>
              </a:rPr>
              <a:t>   </a:t>
            </a:r>
          </a:p>
          <a:p>
            <a:pPr marL="0" indent="0">
              <a:spcBef>
                <a:spcPts val="1200"/>
              </a:spcBef>
            </a:pPr>
            <a:r>
              <a:rPr lang="en-US" b="1" dirty="0"/>
              <a:t>Error Cost Escalation Through the Project Life Cycle </a:t>
            </a:r>
            <a:endParaRPr lang="en-US" sz="1800" b="1" dirty="0">
              <a:latin typeface="Roboto" panose="02000000000000000000" pitchFamily="2" charset="0"/>
              <a:ea typeface="Roboto" panose="02000000000000000000" pitchFamily="2" charset="0"/>
              <a:cs typeface="Roboto" panose="02000000000000000000" pitchFamily="2" charset="0"/>
            </a:endParaRPr>
          </a:p>
          <a:p>
            <a:pPr marL="0" indent="0">
              <a:spcBef>
                <a:spcPts val="0"/>
              </a:spcBef>
            </a:pPr>
            <a:r>
              <a:rPr lang="en-US" sz="1400" b="1" dirty="0">
                <a:latin typeface="Courier New" panose="02070309020205020404" pitchFamily="49" charset="0"/>
                <a:cs typeface="Courier New" panose="02070309020205020404" pitchFamily="49" charset="0"/>
                <a:hlinkClick r:id="rId9"/>
              </a:rPr>
              <a:t>https://ntrs.nasa.gov/api/citations/20100036670/downloads/20100036670.pdf</a:t>
            </a:r>
            <a:r>
              <a:rPr lang="en-US" sz="1400" b="1" dirty="0">
                <a:latin typeface="Courier New" panose="02070309020205020404" pitchFamily="49" charset="0"/>
                <a:cs typeface="Courier New" panose="02070309020205020404" pitchFamily="49" charset="0"/>
              </a:rPr>
              <a:t>    </a:t>
            </a: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373804</TotalTime>
  <Words>3010</Words>
  <Application>Microsoft Macintosh PowerPoint</Application>
  <PresentationFormat>Custom</PresentationFormat>
  <Paragraphs>606</Paragraphs>
  <Slides>26</Slides>
  <Notes>26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26</vt:i4>
      </vt:variant>
    </vt:vector>
  </HeadingPairs>
  <TitlesOfParts>
    <vt:vector size="34" baseType="lpstr">
      <vt:lpstr>Arial</vt:lpstr>
      <vt:lpstr>Calibri</vt:lpstr>
      <vt:lpstr>Roboto Medium</vt:lpstr>
      <vt:lpstr>Roboto</vt:lpstr>
      <vt:lpstr>Courier New</vt:lpstr>
      <vt:lpstr>Simple Light</vt:lpstr>
      <vt:lpstr>Motional Masters</vt:lpstr>
      <vt:lpstr>Motional Masters</vt:lpstr>
      <vt:lpstr>Static Analysis Overview</vt:lpstr>
      <vt:lpstr>Training Path</vt:lpstr>
      <vt:lpstr>Introduction *</vt:lpstr>
      <vt:lpstr>Analysis Mechanism</vt:lpstr>
      <vt:lpstr>Static Analysis Mechanism</vt:lpstr>
      <vt:lpstr>Static Analysis Tools</vt:lpstr>
      <vt:lpstr>Workflow</vt:lpstr>
      <vt:lpstr>Process Workflow</vt:lpstr>
      <vt:lpstr>Establish Settings</vt:lpstr>
      <vt:lpstr>Perform Analysis</vt:lpstr>
      <vt:lpstr>Triage</vt:lpstr>
      <vt:lpstr>Activities</vt:lpstr>
      <vt:lpstr>Establish Settings</vt:lpstr>
      <vt:lpstr>Secure Settings</vt:lpstr>
      <vt:lpstr>Secure Settings</vt:lpstr>
      <vt:lpstr>Secure Settings</vt:lpstr>
      <vt:lpstr>Perform Analysis</vt:lpstr>
      <vt:lpstr>Triage</vt:lpstr>
      <vt:lpstr>Static Analysis Report</vt:lpstr>
      <vt:lpstr>Recap</vt:lpstr>
      <vt:lpstr>Summary</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Static Analysis Overview (training)</dc:title>
  <dc:subject>static analysis process overview</dc:subject>
  <dc:creator>Charles Wilson</dc:creator>
  <cp:keywords>cybersecurity, static analysis</cp:keywords>
  <dc:description>This work was created by Torc Robotics and is licensed under the Creative Commons Attribution-Share Alike (CC BY-SA-4.0) License.
https://creativecommons.org/licenses/by/4.0/legalcode 
</dc:description>
  <cp:lastModifiedBy>Charles Wilson</cp:lastModifiedBy>
  <cp:revision>624</cp:revision>
  <cp:lastPrinted>2025-07-24T18:37:57Z</cp:lastPrinted>
  <dcterms:modified xsi:type="dcterms:W3CDTF">2026-01-16T20:41:14Z</dcterms:modified>
  <cp:category>static analysis</cp:category>
</cp:coreProperties>
</file>