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94" r:id="rId1"/>
  </p:sldMasterIdLst>
  <p:notesMasterIdLst>
    <p:notesMasterId r:id="rId28"/>
  </p:notesMasterIdLst>
  <p:sldIdLst>
    <p:sldId id="256" r:id="rId2"/>
    <p:sldId id="674" r:id="rId3"/>
    <p:sldId id="648" r:id="rId4"/>
    <p:sldId id="308" r:id="rId5"/>
    <p:sldId id="693" r:id="rId6"/>
    <p:sldId id="479" r:id="rId7"/>
    <p:sldId id="484" r:id="rId8"/>
    <p:sldId id="694" r:id="rId9"/>
    <p:sldId id="695" r:id="rId10"/>
    <p:sldId id="696" r:id="rId11"/>
    <p:sldId id="680" r:id="rId12"/>
    <p:sldId id="686" r:id="rId13"/>
    <p:sldId id="684" r:id="rId14"/>
    <p:sldId id="624" r:id="rId15"/>
    <p:sldId id="622" r:id="rId16"/>
    <p:sldId id="687" r:id="rId17"/>
    <p:sldId id="697" r:id="rId18"/>
    <p:sldId id="603" r:id="rId19"/>
    <p:sldId id="488" r:id="rId20"/>
    <p:sldId id="614" r:id="rId21"/>
    <p:sldId id="343" r:id="rId22"/>
    <p:sldId id="606" r:id="rId23"/>
    <p:sldId id="676" r:id="rId24"/>
    <p:sldId id="675" r:id="rId25"/>
    <p:sldId id="698" r:id="rId26"/>
    <p:sldId id="368" r:id="rId27"/>
  </p:sldIdLst>
  <p:sldSz cx="12188825" cy="6858000"/>
  <p:notesSz cx="6858000" cy="9144000"/>
  <p:embeddedFontLst>
    <p:embeddedFont>
      <p:font typeface="Roboto" panose="02000000000000000000" pitchFamily="2" charset="0"/>
      <p:regular r:id="rId29"/>
      <p:bold r:id="rId30"/>
      <p:italic r:id="rId31"/>
      <p:boldItalic r:id="rId32"/>
    </p:embeddedFont>
    <p:embeddedFont>
      <p:font typeface="Roboto Medium" panose="02000000000000000000" pitchFamily="2" charset="0"/>
      <p:regular r:id="rId33"/>
      <p:italic r:id="rId3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39" userDrawn="1">
          <p15:clr>
            <a:srgbClr val="A4A3A4"/>
          </p15:clr>
        </p15:guide>
        <p15:guide id="3" orient="horz" pos="3945" userDrawn="1">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4E1F5"/>
    <a:srgbClr val="4DE354"/>
    <a:srgbClr val="CCFFCC"/>
    <a:srgbClr val="FFFAB2"/>
    <a:srgbClr val="FFFFFF"/>
    <a:srgbClr val="FFC161"/>
    <a:srgbClr val="FFE6CC"/>
    <a:srgbClr val="A7E3B3"/>
    <a:srgbClr val="E38194"/>
    <a:srgbClr val="FFF2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9A1F375-83D2-49B6-B6D9-1E75FAB2CD22}">
  <a:tblStyle styleId="{F9A1F375-83D2-49B6-B6D9-1E75FAB2CD22}"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763"/>
    <p:restoredTop sz="71540"/>
  </p:normalViewPr>
  <p:slideViewPr>
    <p:cSldViewPr snapToGrid="0">
      <p:cViewPr varScale="1">
        <p:scale>
          <a:sx n="168" d="100"/>
          <a:sy n="168" d="100"/>
        </p:scale>
        <p:origin x="248" y="352"/>
      </p:cViewPr>
      <p:guideLst>
        <p:guide orient="horz" pos="2160"/>
        <p:guide pos="3839"/>
        <p:guide orient="horz" pos="3945"/>
      </p:guideLst>
    </p:cSldViewPr>
  </p:slideViewPr>
  <p:notesTextViewPr>
    <p:cViewPr>
      <p:scale>
        <a:sx n="1" d="1"/>
        <a:sy n="1" d="1"/>
      </p:scale>
      <p:origin x="0" y="0"/>
    </p:cViewPr>
  </p:notesTextViewPr>
  <p:sorterViewPr>
    <p:cViewPr>
      <p:scale>
        <a:sx n="134" d="100"/>
        <a:sy n="134"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font" Target="fonts/font6.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5.fntdata"/><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4.fntdata"/><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2.fntdata"/><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9"/>
        <p:cNvGrpSpPr/>
        <p:nvPr/>
      </p:nvGrpSpPr>
      <p:grpSpPr>
        <a:xfrm>
          <a:off x="0" y="0"/>
          <a:ext cx="0" cy="0"/>
          <a:chOff x="0" y="0"/>
          <a:chExt cx="0" cy="0"/>
        </a:xfrm>
      </p:grpSpPr>
      <p:sp>
        <p:nvSpPr>
          <p:cNvPr id="870" name="Google Shape;870;g8f58836269_9_4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400" b="0" i="0" dirty="0">
                <a:solidFill>
                  <a:srgbClr val="000000"/>
                </a:solidFill>
                <a:effectLst/>
                <a:latin typeface="Calibri" panose="020F0502020204030204" pitchFamily="34" charset="0"/>
                <a:cs typeface="Calibri" panose="020F0502020204030204" pitchFamily="34" charset="0"/>
              </a:rPr>
              <a:t>I'm Charles Wilson, staff product cybersecurity architect at Torc Robotics.</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sz="1400" b="0" i="0" dirty="0">
              <a:solidFill>
                <a:srgbClr val="000000"/>
              </a:solidFill>
              <a:effectLst/>
              <a:latin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400" b="0" i="0" dirty="0">
                <a:solidFill>
                  <a:srgbClr val="000000"/>
                </a:solidFill>
                <a:effectLst/>
                <a:latin typeface="Calibri" panose="020F0502020204030204" pitchFamily="34" charset="0"/>
                <a:cs typeface="Calibri" panose="020F0502020204030204" pitchFamily="34" charset="0"/>
              </a:rPr>
              <a:t>This presentation will cover the </a:t>
            </a:r>
            <a:r>
              <a:rPr lang="en-US" sz="1400" b="1" dirty="0"/>
              <a:t>Threat Prioritization Candidate Risking </a:t>
            </a:r>
            <a:r>
              <a:rPr lang="en-US" sz="1400" b="0" dirty="0"/>
              <a:t>activity</a:t>
            </a:r>
            <a:r>
              <a:rPr lang="en-US" sz="1400" b="0" i="0" dirty="0">
                <a:solidFill>
                  <a:srgbClr val="000000"/>
                </a:solidFill>
                <a:effectLst/>
                <a:latin typeface="Calibri" panose="020F0502020204030204" pitchFamily="34" charset="0"/>
                <a:cs typeface="Calibri" panose="020F0502020204030204" pitchFamily="34" charset="0"/>
              </a:rPr>
              <a:t>.</a:t>
            </a:r>
            <a:endParaRPr lang="en-US" sz="1400" dirty="0">
              <a:latin typeface="Calibri" panose="020F0502020204030204" pitchFamily="34" charset="0"/>
              <a:cs typeface="Calibri" panose="020F0502020204030204" pitchFamily="34" charset="0"/>
            </a:endParaRPr>
          </a:p>
        </p:txBody>
      </p:sp>
      <p:sp>
        <p:nvSpPr>
          <p:cNvPr id="871" name="Google Shape;871;g8f58836269_9_432: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This diagram shows the overall AVCDL training path.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If you're taking this training, it's assumed that you've already completed</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 AVCDL Overview training.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And additionally, that you've completed</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 Threat Prioritization Overview</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and</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Threat Prioritization - Candidate Ranking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trainings.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This training covers the Threat Prioritization - Candidate Risking activity.</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0538546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2F06D203-A8E8-7236-860C-C2C7FAB30A58}"/>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96A9F786-C5EE-EC56-1F8E-7F9B2F273B73}"/>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a:extLst>
              <a:ext uri="{FF2B5EF4-FFF2-40B4-BE49-F238E27FC236}">
                <a16:creationId xmlns:a16="http://schemas.microsoft.com/office/drawing/2014/main" id="{C9B21B32-2591-BA66-7082-FA1FCE27088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1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1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dirty="0"/>
              <a:t>Before getting into threat candidate risking, let's briefly review where it fits in the overall threat prioritization process.</a:t>
            </a:r>
          </a:p>
        </p:txBody>
      </p:sp>
    </p:spTree>
    <p:extLst>
      <p:ext uri="{BB962C8B-B14F-4D97-AF65-F5344CB8AC3E}">
        <p14:creationId xmlns:p14="http://schemas.microsoft.com/office/powerpoint/2010/main" val="14484043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Here's the threat prioritization process which we previously covered in the </a:t>
            </a:r>
            <a:r>
              <a:rPr lang="en-US" sz="1400" b="1" dirty="0">
                <a:solidFill>
                  <a:srgbClr val="1D1C1D"/>
                </a:solidFill>
                <a:effectLst/>
                <a:latin typeface="Calibri" panose="020F0502020204030204" pitchFamily="34" charset="0"/>
                <a:cs typeface="Calibri" panose="020F0502020204030204" pitchFamily="34" charset="0"/>
              </a:rPr>
              <a:t>Threat Prioritization Overview </a:t>
            </a:r>
            <a:r>
              <a:rPr lang="en-US" sz="1400" dirty="0">
                <a:solidFill>
                  <a:srgbClr val="1D1C1D"/>
                </a:solidFill>
                <a:effectLst/>
                <a:latin typeface="Calibri" panose="020F0502020204030204" pitchFamily="34" charset="0"/>
                <a:cs typeface="Calibri" panose="020F0502020204030204" pitchFamily="34" charset="0"/>
              </a:rPr>
              <a:t>training.</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Our focus for this training will be on the second activity, that of threat candidate risking.</a:t>
            </a: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p:txBody>
      </p:sp>
    </p:spTree>
    <p:extLst>
      <p:ext uri="{BB962C8B-B14F-4D97-AF65-F5344CB8AC3E}">
        <p14:creationId xmlns:p14="http://schemas.microsoft.com/office/powerpoint/2010/main" val="105056061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4776CA24-18F0-642A-BB58-E71C7DE86B62}"/>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D43FCF8C-0D4C-38A3-0FCF-9F48CEC0B408}"/>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a:extLst>
              <a:ext uri="{FF2B5EF4-FFF2-40B4-BE49-F238E27FC236}">
                <a16:creationId xmlns:a16="http://schemas.microsoft.com/office/drawing/2014/main" id="{40B7CC34-6BE3-C503-B29A-02353F5885E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Here's the threat prioritization process which we previously covered in the </a:t>
            </a:r>
            <a:r>
              <a:rPr lang="en-US" sz="1400" b="1" strike="sngStrike" dirty="0">
                <a:solidFill>
                  <a:srgbClr val="1D1C1D"/>
                </a:solidFill>
                <a:effectLst/>
                <a:latin typeface="Calibri" panose="020F0502020204030204" pitchFamily="34" charset="0"/>
                <a:cs typeface="Calibri" panose="020F0502020204030204" pitchFamily="34" charset="0"/>
              </a:rPr>
              <a:t>Threat Prioritization Overview </a:t>
            </a:r>
            <a:r>
              <a:rPr lang="en-US" sz="1400" strike="sngStrike" dirty="0">
                <a:solidFill>
                  <a:srgbClr val="1D1C1D"/>
                </a:solidFill>
                <a:effectLst/>
                <a:latin typeface="Calibri" panose="020F0502020204030204" pitchFamily="34" charset="0"/>
                <a:cs typeface="Calibri" panose="020F0502020204030204" pitchFamily="34" charset="0"/>
              </a:rPr>
              <a:t>training.</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noStrike" dirty="0">
                <a:solidFill>
                  <a:srgbClr val="1D1C1D"/>
                </a:solidFill>
                <a:effectLst/>
                <a:latin typeface="Calibri" panose="020F0502020204030204" pitchFamily="34" charset="0"/>
                <a:cs typeface="Calibri" panose="020F0502020204030204" pitchFamily="34" charset="0"/>
              </a:rPr>
              <a:t>Our focus for this training will be on the second activity, that of threat candidate risking.</a:t>
            </a: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p:txBody>
      </p:sp>
    </p:spTree>
    <p:extLst>
      <p:ext uri="{BB962C8B-B14F-4D97-AF65-F5344CB8AC3E}">
        <p14:creationId xmlns:p14="http://schemas.microsoft.com/office/powerpoint/2010/main" val="93515563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noStrike" dirty="0">
                <a:solidFill>
                  <a:srgbClr val="1D1C1D"/>
                </a:solidFill>
                <a:effectLst/>
                <a:latin typeface="Calibri" panose="020F0502020204030204" pitchFamily="34" charset="0"/>
                <a:cs typeface="Calibri" panose="020F0502020204030204" pitchFamily="34" charset="0"/>
              </a:rPr>
              <a:t>In the threat candidate risking activity, </a:t>
            </a:r>
          </a:p>
          <a:p>
            <a:pPr marL="0" lvl="0" indent="0" algn="l" rtl="0">
              <a:spcBef>
                <a:spcPts val="0"/>
              </a:spcBef>
              <a:spcAft>
                <a:spcPts val="0"/>
              </a:spcAft>
              <a:buNone/>
            </a:pPr>
            <a:endParaRPr lang="en-US" sz="1400" strike="no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noStrike"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strike="no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noStrike" dirty="0">
                <a:solidFill>
                  <a:srgbClr val="1D1C1D"/>
                </a:solidFill>
                <a:effectLst/>
                <a:latin typeface="Calibri" panose="020F0502020204030204" pitchFamily="34" charset="0"/>
                <a:cs typeface="Calibri" panose="020F0502020204030204" pitchFamily="34" charset="0"/>
              </a:rPr>
              <a:t>the risk SME takes</a:t>
            </a:r>
          </a:p>
          <a:p>
            <a:pPr marL="0" lvl="0" indent="0" algn="l" rtl="0">
              <a:spcBef>
                <a:spcPts val="0"/>
              </a:spcBef>
              <a:spcAft>
                <a:spcPts val="0"/>
              </a:spcAft>
              <a:buNone/>
            </a:pPr>
            <a:endParaRPr lang="en-US" sz="1400" strike="no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noStrike"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strike="no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noStrike" dirty="0">
                <a:solidFill>
                  <a:srgbClr val="1D1C1D"/>
                </a:solidFill>
                <a:effectLst/>
                <a:latin typeface="Calibri" panose="020F0502020204030204" pitchFamily="34" charset="0"/>
                <a:cs typeface="Calibri" panose="020F0502020204030204" pitchFamily="34" charset="0"/>
              </a:rPr>
              <a:t>the ranked threat candidates</a:t>
            </a:r>
          </a:p>
          <a:p>
            <a:pPr marL="0" lvl="0" indent="0" algn="l" rtl="0">
              <a:spcBef>
                <a:spcPts val="0"/>
              </a:spcBef>
              <a:spcAft>
                <a:spcPts val="0"/>
              </a:spcAft>
              <a:buNone/>
            </a:pPr>
            <a:endParaRPr lang="en-US" sz="1400" strike="no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noStrike"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strike="no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noStrike" dirty="0">
                <a:solidFill>
                  <a:srgbClr val="1D1C1D"/>
                </a:solidFill>
                <a:effectLst/>
                <a:latin typeface="Calibri" panose="020F0502020204030204" pitchFamily="34" charset="0"/>
                <a:cs typeface="Calibri" panose="020F0502020204030204" pitchFamily="34" charset="0"/>
              </a:rPr>
              <a:t>and conducts a risk analysis of them, producing</a:t>
            </a:r>
          </a:p>
          <a:p>
            <a:pPr marL="0" lvl="0" indent="0" algn="l" rtl="0">
              <a:spcBef>
                <a:spcPts val="0"/>
              </a:spcBef>
              <a:spcAft>
                <a:spcPts val="0"/>
              </a:spcAft>
              <a:buNone/>
            </a:pPr>
            <a:endParaRPr lang="en-US" sz="1400" strike="no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noStrike"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strike="no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noStrike" dirty="0">
                <a:solidFill>
                  <a:srgbClr val="1D1C1D"/>
                </a:solidFill>
                <a:effectLst/>
                <a:latin typeface="Calibri" panose="020F0502020204030204" pitchFamily="34" charset="0"/>
                <a:cs typeface="Calibri" panose="020F0502020204030204" pitchFamily="34" charset="0"/>
              </a:rPr>
              <a:t>a list of ranked / risked threat candidates. </a:t>
            </a:r>
          </a:p>
          <a:p>
            <a:pPr marL="0" lvl="0" indent="0" algn="l" rtl="0">
              <a:spcBef>
                <a:spcPts val="0"/>
              </a:spcBef>
              <a:spcAft>
                <a:spcPts val="0"/>
              </a:spcAft>
              <a:buNone/>
            </a:pPr>
            <a:endParaRPr lang="en-US" sz="1400" strike="no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noStrike"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strike="no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noStrike" dirty="0">
                <a:solidFill>
                  <a:srgbClr val="1D1C1D"/>
                </a:solidFill>
                <a:effectLst/>
                <a:latin typeface="Calibri" panose="020F0502020204030204" pitchFamily="34" charset="0"/>
                <a:cs typeface="Calibri" panose="020F0502020204030204" pitchFamily="34" charset="0"/>
              </a:rPr>
              <a:t>And a ranked / risked threat report is generated. </a:t>
            </a:r>
          </a:p>
          <a:p>
            <a:pPr marL="0" lvl="0" indent="0" algn="l" rtl="0">
              <a:spcBef>
                <a:spcPts val="0"/>
              </a:spcBef>
              <a:spcAft>
                <a:spcPts val="0"/>
              </a:spcAft>
              <a:buNone/>
            </a:pPr>
            <a:endParaRPr lang="en-US" sz="1400" strike="no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noStrike"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strike="no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noStrike" dirty="0">
                <a:solidFill>
                  <a:srgbClr val="1D1C1D"/>
                </a:solidFill>
                <a:effectLst/>
                <a:latin typeface="Calibri" panose="020F0502020204030204" pitchFamily="34" charset="0"/>
                <a:cs typeface="Calibri" panose="020F0502020204030204" pitchFamily="34" charset="0"/>
              </a:rPr>
              <a:t>Threat candidate risking entails determining</a:t>
            </a:r>
          </a:p>
          <a:p>
            <a:pPr marL="0" lvl="0" indent="0" algn="l" rtl="0">
              <a:spcBef>
                <a:spcPts val="0"/>
              </a:spcBef>
              <a:spcAft>
                <a:spcPts val="0"/>
              </a:spcAft>
              <a:buNone/>
            </a:pPr>
            <a:endParaRPr lang="en-US" sz="1400" strike="no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noStrike"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strike="no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noStrike" dirty="0">
                <a:solidFill>
                  <a:srgbClr val="1D1C1D"/>
                </a:solidFill>
                <a:effectLst/>
                <a:latin typeface="Calibri" panose="020F0502020204030204" pitchFamily="34" charset="0"/>
                <a:cs typeface="Calibri" panose="020F0502020204030204" pitchFamily="34" charset="0"/>
              </a:rPr>
              <a:t>the impact of each threat candidate. </a:t>
            </a:r>
          </a:p>
          <a:p>
            <a:pPr marL="0" lvl="0" indent="0" algn="l" rtl="0">
              <a:spcBef>
                <a:spcPts val="0"/>
              </a:spcBef>
              <a:spcAft>
                <a:spcPts val="0"/>
              </a:spcAft>
              <a:buNone/>
            </a:pPr>
            <a:endParaRPr lang="en-US" sz="1400" strike="no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noStrike"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strike="no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noStrike" dirty="0">
                <a:solidFill>
                  <a:srgbClr val="1D1C1D"/>
                </a:solidFill>
                <a:effectLst/>
                <a:latin typeface="Calibri" panose="020F0502020204030204" pitchFamily="34" charset="0"/>
                <a:cs typeface="Calibri" panose="020F0502020204030204" pitchFamily="34" charset="0"/>
              </a:rPr>
              <a:t>Here the focus is at</a:t>
            </a:r>
          </a:p>
          <a:p>
            <a:pPr marL="0" lvl="0" indent="0" algn="l" rtl="0">
              <a:spcBef>
                <a:spcPts val="0"/>
              </a:spcBef>
              <a:spcAft>
                <a:spcPts val="0"/>
              </a:spcAft>
              <a:buNone/>
            </a:pPr>
            <a:endParaRPr lang="en-US" sz="1400" strike="no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noStrike"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strike="no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noStrike" dirty="0">
                <a:solidFill>
                  <a:srgbClr val="1D1C1D"/>
                </a:solidFill>
                <a:effectLst/>
                <a:latin typeface="Calibri" panose="020F0502020204030204" pitchFamily="34" charset="0"/>
                <a:cs typeface="Calibri" panose="020F0502020204030204" pitchFamily="34" charset="0"/>
              </a:rPr>
              <a:t>the system level.</a:t>
            </a:r>
          </a:p>
          <a:p>
            <a:pPr marL="0" lvl="0" indent="0" algn="l" rtl="0">
              <a:spcBef>
                <a:spcPts val="0"/>
              </a:spcBef>
              <a:spcAft>
                <a:spcPts val="0"/>
              </a:spcAft>
              <a:buNone/>
            </a:pPr>
            <a:endParaRPr lang="en-US" sz="1400" strike="no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noStrike" dirty="0">
                <a:solidFill>
                  <a:srgbClr val="1D1C1D"/>
                </a:solidFill>
                <a:effectLst/>
                <a:latin typeface="Calibri" panose="020F0502020204030204" pitchFamily="34" charset="0"/>
                <a:cs typeface="Calibri" panose="020F0502020204030204" pitchFamily="34" charset="0"/>
              </a:rPr>
              <a:t>Because it's at this level that risk determination can be made.</a:t>
            </a:r>
          </a:p>
          <a:p>
            <a:pPr marL="0" lvl="0" indent="0" algn="l" rtl="0">
              <a:spcBef>
                <a:spcPts val="0"/>
              </a:spcBef>
              <a:spcAft>
                <a:spcPts val="0"/>
              </a:spcAft>
              <a:buNone/>
            </a:pPr>
            <a:endParaRPr lang="en-US" sz="1400" strike="no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noStrike" dirty="0">
                <a:solidFill>
                  <a:srgbClr val="1D1C1D"/>
                </a:solidFill>
                <a:effectLst/>
                <a:latin typeface="Calibri" panose="020F0502020204030204" pitchFamily="34" charset="0"/>
                <a:cs typeface="Calibri" panose="020F0502020204030204" pitchFamily="34" charset="0"/>
              </a:rPr>
              <a:t>Specifically, the risk SME is evaluating how the threat candidates impact the system based on the worst case scenario provided for the ranked threat candidate.</a:t>
            </a:r>
          </a:p>
          <a:p>
            <a:pPr marL="0" lvl="0" indent="0" algn="l" rtl="0">
              <a:spcBef>
                <a:spcPts val="0"/>
              </a:spcBef>
              <a:spcAft>
                <a:spcPts val="0"/>
              </a:spcAft>
              <a:buNone/>
            </a:pPr>
            <a:endParaRPr lang="en-US" sz="1400" strike="no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noStrike"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strike="no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noStrike" dirty="0">
                <a:solidFill>
                  <a:srgbClr val="1D1C1D"/>
                </a:solidFill>
                <a:effectLst/>
                <a:latin typeface="Calibri" panose="020F0502020204030204" pitchFamily="34" charset="0"/>
                <a:cs typeface="Calibri" panose="020F0502020204030204" pitchFamily="34" charset="0"/>
              </a:rPr>
              <a:t>Let's start by considering how impact is determined. </a:t>
            </a:r>
          </a:p>
          <a:p>
            <a:pPr marL="0" lvl="0" indent="0" algn="l" rtl="0">
              <a:spcBef>
                <a:spcPts val="0"/>
              </a:spcBef>
              <a:spcAft>
                <a:spcPts val="0"/>
              </a:spcAft>
              <a:buNone/>
            </a:pPr>
            <a:endParaRPr lang="en-US" sz="1400" strike="no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strike="no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strike="no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strike="no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27145864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Now let's consider some commonly used rubrics for determining impact.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This is not an exhaustive list and is in no particular order.</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Our first rubric is in</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ISO 26262.</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It deals with vehicle safety.</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It has three levels of impact.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These are: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 S1, covers light injuries and moderate injuries</a:t>
            </a: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 S2, covers severe and life-threatening injuries, where survival is probable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and</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 S3, covers life-threatening injuries, where survival is uncertain and fatal injuries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 next rubric is in</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ISO 14971.</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This addresses medical device safety.</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It has the following for its impact levels: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 negligible, inconvenience or temporary discomfort</a:t>
            </a: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 minor, temporary injury or impairment, not requiring professional medical intervention</a:t>
            </a: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 serious, injury or impairment, requiring professional medical intervention</a:t>
            </a: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 critical, permanent impairment, or life-threatening injury</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and</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 catastrophic, which is death</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For our next rubric we’ll pivot to the IT space, and this rubric is contained in</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FIPS 199.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It has three levels, they are: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 low, limited adverse effect</a:t>
            </a: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 moderate, serious adverse effect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and</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 high, severe or catastrophic adverse effect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Our final impact rubric brings us back to</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NIST 800-30.</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Just as the likelihood impact from that standard was generalized, so is its impact rubric.</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It has levels of:</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 very low for a negligible adverse effect</a:t>
            </a: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 low for a limited adverse effect</a:t>
            </a: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 moderate for a serious adverse effect</a:t>
            </a: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 high for a severe or catastrophic adverse effect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and</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 very high for multiple, severe or catastrophic adverse effects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Unlike the previous three rubrics, which only specify levels of impact, with SP 800-30, ranges are provided for each level,</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as shown here.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And just as with the SP 800-30 likelihood rubric, the distribution of those ranges is like a normal distribution centered on the moderate level.</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This won’t impact how we would apply this rubric in the context of impact determination, because we're going to work directly with the levels.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This information, however, will be used in the slicing activity. 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74288076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84B97A4C-1D82-E626-341D-DCD8CF2B021E}"/>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F47FBD9E-3FE4-E380-B4C1-0EBC8F37B605}"/>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a:extLst>
              <a:ext uri="{FF2B5EF4-FFF2-40B4-BE49-F238E27FC236}">
                <a16:creationId xmlns:a16="http://schemas.microsoft.com/office/drawing/2014/main" id="{9F7951FE-3075-D196-8880-7ABEB56ACE0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overlay</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2980021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0FC0DD41-C344-E4C3-45D7-F1055EEA3051}"/>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9C1A3A3F-CCA1-0BC7-5415-B63F3070944A}"/>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a:extLst>
              <a:ext uri="{FF2B5EF4-FFF2-40B4-BE49-F238E27FC236}">
                <a16:creationId xmlns:a16="http://schemas.microsoft.com/office/drawing/2014/main" id="{C1CF7093-6904-6A05-78DF-BE57FCCA6BB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overlay</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8800733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AC2A7911-31CE-FD2C-0175-D6FEE5803E28}"/>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263B397F-5209-808D-54A6-9BABE518BF4A}"/>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a:extLst>
              <a:ext uri="{FF2B5EF4-FFF2-40B4-BE49-F238E27FC236}">
                <a16:creationId xmlns:a16="http://schemas.microsoft.com/office/drawing/2014/main" id="{341C51AB-6B5D-BE45-A313-626B08FF8B9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overlay</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62460795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99E31F3F-4D19-223F-7955-37A682D4CAC2}"/>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9AE3B33A-E73A-17ED-38A8-9AC0144F348F}"/>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a:extLst>
              <a:ext uri="{FF2B5EF4-FFF2-40B4-BE49-F238E27FC236}">
                <a16:creationId xmlns:a16="http://schemas.microsoft.com/office/drawing/2014/main" id="{78AA8E3C-7CA4-B872-94C5-A54796F14D8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1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1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dirty="0"/>
              <a:t>Now let's work our way through an example to illustrate how threat candidate risking is performed.</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We're going to use the output from our earlier threat candidate ranking exercise.  </a:t>
            </a:r>
          </a:p>
          <a:p>
            <a:pPr marL="0" lvl="0" indent="0" algn="l" rtl="0">
              <a:spcBef>
                <a:spcPts val="0"/>
              </a:spcBef>
              <a:spcAft>
                <a:spcPts val="0"/>
              </a:spcAft>
              <a:buNone/>
            </a:pP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r>
              <a:rPr lang="en-US" dirty="0"/>
              <a:t> </a:t>
            </a:r>
          </a:p>
          <a:p>
            <a:pPr marL="0" lvl="0" indent="0" algn="l" rtl="0">
              <a:spcBef>
                <a:spcPts val="0"/>
              </a:spcBef>
              <a:spcAft>
                <a:spcPts val="0"/>
              </a:spcAft>
              <a:buNone/>
            </a:pPr>
            <a:endParaRPr lang="en-US" dirty="0"/>
          </a:p>
        </p:txBody>
      </p:sp>
    </p:spTree>
    <p:extLst>
      <p:ext uri="{BB962C8B-B14F-4D97-AF65-F5344CB8AC3E}">
        <p14:creationId xmlns:p14="http://schemas.microsoft.com/office/powerpoint/2010/main" val="226217086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B6116EAB-FF8D-AD66-4BBA-66E85DC0131D}"/>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C93ED1DE-DEE1-80DA-F095-8DC7B837021E}"/>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a:extLst>
              <a:ext uri="{FF2B5EF4-FFF2-40B4-BE49-F238E27FC236}">
                <a16:creationId xmlns:a16="http://schemas.microsoft.com/office/drawing/2014/main" id="{688AEE67-55FF-85F1-E930-05450F4F6C6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Here's the reference document sheet from our instantiated template used in this example.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Here we see that the rubric being used is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NIST SP 800-30.</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We provide its description and where it can be found.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other references that we would have here would be for the materials that we're using.</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57412195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9E963E16-1899-1B99-55A7-8EDA1074EFDB}"/>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684100D6-BDFD-C10F-024C-22CED89DAB01}"/>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a:extLst>
              <a:ext uri="{FF2B5EF4-FFF2-40B4-BE49-F238E27FC236}">
                <a16:creationId xmlns:a16="http://schemas.microsoft.com/office/drawing/2014/main" id="{D0D8555B-C8D4-6AA5-3751-378C403510C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Before being able to actually get into the risking itself, we need to configure the workbook.</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Specifically, we need to establish</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labels that we're going to use for the rubric.</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Since we're using SP 800-30, we'll be putting those in.</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You can see that in this table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here.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In case you were wondering about the earlier use of color and spacing for each of the definition sets for the rubrics, we can do a</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side-by-side comparison</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which should give things a bit more context.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reason we do this is so that, based on the definitions from each rubric, we can establish a rough alignment of the values.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This becomes useful when more than one rubric is in play, and you are trying to get a sense of what the overall impacts are going to be.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Additionally, if we have a system domain requirement, as we did when dealing with likelihood, we need to establish a mapping for that.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Shown here we are again using ISO/SAE 21434, vehicle cybersecurity.</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We see that this standard specifies a set of numeric values to be used, which have no set meaning.</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These are entered into the domain label column.</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And, just as with likelihood, we're going to add</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 value of none, or in the case of the domain mapping zero because that's all numeric.</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We do this in order to assist us with automation.</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These values for the rubric and domain will be used to populate dropdowns in the ranking sheet of the workbook.</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93327217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85D9994C-C857-5914-0722-6C284EE4B284}"/>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2D2AAD56-67A0-2FCD-91E9-2677E4221DB6}"/>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a:extLst>
              <a:ext uri="{FF2B5EF4-FFF2-40B4-BE49-F238E27FC236}">
                <a16:creationId xmlns:a16="http://schemas.microsoft.com/office/drawing/2014/main" id="{33CE5B7C-0988-470D-3920-5A98C3293CB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Once again, we're going to use our same example system with our administrator interactor</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on the right, and our core service, web server, and console interface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on the left.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We won’t go into detail here because we've covered that in the previous training.</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If you need a refresher, then review that video.</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94671426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24BFA610-8FE2-FC19-2CC1-15C16E09D36C}"/>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1E3466F4-FDDC-16F9-B825-A872AEC8B3C1}"/>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a:extLst>
              <a:ext uri="{FF2B5EF4-FFF2-40B4-BE49-F238E27FC236}">
                <a16:creationId xmlns:a16="http://schemas.microsoft.com/office/drawing/2014/main" id="{D48F5650-E453-3ACE-1574-0F34A9ACA19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Our threat modeling activity pointed to</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 subsection of the threat model’s DFD.</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This yielded a set of</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identified issues.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These issues were then</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triaged.</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triage reduced the issues to a set of</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six valid threat candidates.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3537715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265E4150-29AB-3AC9-2DD2-61D312397D1E}"/>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98E1A625-F6F8-52BE-CD90-49EC5486F156}"/>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a:extLst>
              <a:ext uri="{FF2B5EF4-FFF2-40B4-BE49-F238E27FC236}">
                <a16:creationId xmlns:a16="http://schemas.microsoft.com/office/drawing/2014/main" id="{B2676E76-BF45-BBE2-EF4A-85D2CB35FD6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Next, the six threat candidates were ranked, using both</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CVSS and</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NIST SP 800-30.</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outcome of this was that all of the issues needed to be addressed because in the case of CVSS, they were ranked as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critical.</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And in the case of SP 800-30, they were either</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high or very high.</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Now let's look and see how we're going to address the risking or determination of impact for these six threat candidates.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90077061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76871DE2-8643-A2D8-F819-9EB5DD1BC0B2}"/>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3DA9CDDB-CFAA-FE8A-1D57-7B8E2DC58331}"/>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a:extLst>
              <a:ext uri="{FF2B5EF4-FFF2-40B4-BE49-F238E27FC236}">
                <a16:creationId xmlns:a16="http://schemas.microsoft.com/office/drawing/2014/main" id="{77581632-079D-B1D6-D2DD-227456AEA3F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Here's how we handle the risking.</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We start by</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populating the information that the risk SME needs to have in order to make any determination.</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That includes: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 the candidate ID</a:t>
            </a: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 its description</a:t>
            </a: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 the element in question</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and</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 the worst case scenario</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all of which comes from the ranking activity.</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reason that we can use this limited subset of information is that every method that we use to record our activities provides references to its predecessor and the materials needed to construct the argument that we’re heading toward.</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risk SME is able then to just focus on their domain and what the threat candidate’s impact is.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That's going to be entered here as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rubric value.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When there is a specific domain that the overall system is in, whether that be medical, automotive, aerospace, or ICS, then</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 domain mapping can be provided which associates that rubric value to the domain’s required value.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Finally, we have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notes.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It's assumed that the risk SME will consult with the appropriate individuals should clarification be necessary.</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But fundamentally, this should be a very straightforward activity.</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60822235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C9D6BA4B-F2CC-7456-C563-FCAAFF596B9A}"/>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918B19F7-EB23-2069-BFF3-F3B32545E2DB}"/>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a:extLst>
              <a:ext uri="{FF2B5EF4-FFF2-40B4-BE49-F238E27FC236}">
                <a16:creationId xmlns:a16="http://schemas.microsoft.com/office/drawing/2014/main" id="{1E83C649-D857-D4E3-D095-345CF4203E8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Script:</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That covers the threat prioritization process’ threat candidate risking activity.</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Let's look at a summary.</a:t>
            </a:r>
          </a:p>
          <a:p>
            <a:pPr marL="0" lvl="0" indent="0" algn="l" rtl="0">
              <a:spcBef>
                <a:spcPts val="0"/>
              </a:spcBef>
              <a:spcAft>
                <a:spcPts val="0"/>
              </a:spcAft>
              <a:buNone/>
            </a:pP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endParaRPr lang="en-US" dirty="0"/>
          </a:p>
        </p:txBody>
      </p:sp>
    </p:spTree>
    <p:extLst>
      <p:ext uri="{BB962C8B-B14F-4D97-AF65-F5344CB8AC3E}">
        <p14:creationId xmlns:p14="http://schemas.microsoft.com/office/powerpoint/2010/main" val="341456808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When conducting the threat candidate risking activity, first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select an impact rubric.</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This is probably going to be determined by the risk domain being applied.</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Next, set up the impact labels.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If you're using the provided templates, this ensures consistency and aids automation.</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Third, determine the impact value for each of the threat candidates.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Finally, generate a human readable report.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We didn't go into detail here about that report because that's covered in the AVCDL Ranked / Risked Threat Report secondary document.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88412658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228F27A6-95D0-8BD3-DD17-CD0D4A4F1FFC}"/>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D52F5154-86A2-702B-FF05-17F9B520AAE0}"/>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a:extLst>
              <a:ext uri="{FF2B5EF4-FFF2-40B4-BE49-F238E27FC236}">
                <a16:creationId xmlns:a16="http://schemas.microsoft.com/office/drawing/2014/main" id="{366F3774-A91B-199C-AA24-BBC1027CA1C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 materials used to cover this example are in the location shown here.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It's important to note that this includes all the materials needed to replicate the activity as presented.</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31194210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For additional information and to get a more in-depth set of references, the </a:t>
            </a:r>
            <a:r>
              <a:rPr lang="en-US" sz="1400" b="1" dirty="0">
                <a:latin typeface="Calibri" panose="020F0502020204030204" pitchFamily="34" charset="0"/>
                <a:cs typeface="Calibri" panose="020F0502020204030204" pitchFamily="34" charset="0"/>
              </a:rPr>
              <a:t>Threat Prioritization – Candidate Risking Procedure </a:t>
            </a:r>
            <a:r>
              <a:rPr lang="en-US" sz="1400" dirty="0">
                <a:latin typeface="Calibri" panose="020F0502020204030204" pitchFamily="34" charset="0"/>
                <a:cs typeface="Calibri" panose="020F0502020204030204" pitchFamily="34" charset="0"/>
              </a:rPr>
              <a:t>tertiary document is available in the </a:t>
            </a:r>
            <a:r>
              <a:rPr lang="en-US" sz="1400" b="1" dirty="0">
                <a:latin typeface="Calibri" panose="020F0502020204030204" pitchFamily="34" charset="0"/>
                <a:cs typeface="Calibri" panose="020F0502020204030204" pitchFamily="34" charset="0"/>
              </a:rPr>
              <a:t>AVCDL GitHub </a:t>
            </a:r>
            <a:r>
              <a:rPr lang="en-US" sz="1400" dirty="0">
                <a:latin typeface="Calibri" panose="020F0502020204030204" pitchFamily="34" charset="0"/>
                <a:cs typeface="Calibri" panose="020F0502020204030204" pitchFamily="34" charset="0"/>
              </a:rPr>
              <a:t>repository.</a:t>
            </a:r>
          </a:p>
        </p:txBody>
      </p:sp>
    </p:spTree>
    <p:extLst>
      <p:ext uri="{BB962C8B-B14F-4D97-AF65-F5344CB8AC3E}">
        <p14:creationId xmlns:p14="http://schemas.microsoft.com/office/powerpoint/2010/main" val="357802623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marR="0" indent="0" algn="just">
              <a:spcBef>
                <a:spcPts val="0"/>
              </a:spcBef>
              <a:spcAft>
                <a:spcPts val="1200"/>
              </a:spcAft>
              <a:buNone/>
            </a:pPr>
            <a:r>
              <a:rPr lang="en-US" sz="14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All </a:t>
            </a:r>
            <a:r>
              <a:rPr lang="en-US" sz="1400" dirty="0">
                <a:effectLst/>
                <a:latin typeface="Calibri" panose="020F0502020204030204" pitchFamily="34" charset="0"/>
                <a:ea typeface="Calibri" panose="020F0502020204030204" pitchFamily="34" charset="0"/>
                <a:cs typeface="Calibri" panose="020F0502020204030204" pitchFamily="34" charset="0"/>
              </a:rPr>
              <a:t>AVCDL materials, both in source and distribution forms, are available on our GitHub site, as shown here.</a:t>
            </a:r>
          </a:p>
          <a:p>
            <a:pPr marL="0" marR="0" indent="0" algn="just">
              <a:spcBef>
                <a:spcPts val="0"/>
              </a:spcBef>
              <a:spcAft>
                <a:spcPts val="1200"/>
              </a:spcAft>
              <a:buNone/>
            </a:pPr>
            <a:endParaRPr lang="en-US" sz="1400" dirty="0">
              <a:effectLst/>
              <a:latin typeface="Calibri" panose="020F0502020204030204" pitchFamily="34" charset="0"/>
              <a:ea typeface="Calibri" panose="020F0502020204030204" pitchFamily="34" charset="0"/>
              <a:cs typeface="Calibri" panose="020F0502020204030204" pitchFamily="34" charset="0"/>
            </a:endParaRPr>
          </a:p>
          <a:p>
            <a:pPr marL="0" marR="0" indent="0" algn="just">
              <a:spcBef>
                <a:spcPts val="0"/>
              </a:spcBef>
              <a:spcAft>
                <a:spcPts val="1200"/>
              </a:spcAft>
              <a:buNone/>
            </a:pPr>
            <a:r>
              <a:rPr lang="en-US" sz="14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Because of the size of the repository, it's recommended that you either clone the repository or download a ZIP archive of it, if you're not familiar with using git.</a:t>
            </a:r>
          </a:p>
          <a:p>
            <a:pPr marL="0" marR="0" indent="0" algn="just">
              <a:spcBef>
                <a:spcPts val="0"/>
              </a:spcBef>
              <a:spcAft>
                <a:spcPts val="1200"/>
              </a:spcAft>
              <a:buNone/>
            </a:pPr>
            <a:endParaRPr lang="en-US" sz="1400"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p>
            <a:pPr marL="0" marR="0" indent="0" algn="just">
              <a:spcBef>
                <a:spcPts val="0"/>
              </a:spcBef>
              <a:spcAft>
                <a:spcPts val="1200"/>
              </a:spcAft>
              <a:buNone/>
            </a:pPr>
            <a:r>
              <a:rPr lang="en-US" sz="14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Instructions for downloading a ZIP archive are linked to on the repository’s front page. </a:t>
            </a:r>
            <a:endParaRPr lang="en-US" sz="1400" dirty="0">
              <a:effectLst/>
              <a:latin typeface="Calibri" panose="020F0502020204030204" pitchFamily="34" charset="0"/>
              <a:ea typeface="Calibri" panose="020F0502020204030204" pitchFamily="34" charset="0"/>
              <a:cs typeface="Calibri" panose="020F0502020204030204" pitchFamily="34" charset="0"/>
            </a:endParaRPr>
          </a:p>
          <a:p>
            <a:pPr marL="0" lvl="0" indent="0" algn="l" rtl="0">
              <a:spcBef>
                <a:spcPts val="0"/>
              </a:spcBef>
              <a:spcAft>
                <a:spcPts val="0"/>
              </a:spcAft>
              <a:buNone/>
            </a:pPr>
            <a:endParaRPr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82198740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Script:</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Videos covering various aspects of the AVCDL are available on our YouTube channel, as shown here.</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It's important to note that all AVCDL materials with the exception of the introductory blog posts are intended for product cybersecurity engineering practitioners.</a:t>
            </a:r>
          </a:p>
          <a:p>
            <a:pPr marL="0" lvl="0" indent="0" algn="l" rtl="0">
              <a:spcBef>
                <a:spcPts val="0"/>
              </a:spcBef>
              <a:spcAft>
                <a:spcPts val="0"/>
              </a:spcAft>
              <a:buNone/>
            </a:pPr>
            <a:endParaRPr lang="en-US" dirty="0"/>
          </a:p>
        </p:txBody>
      </p:sp>
    </p:spTree>
    <p:extLst>
      <p:ext uri="{BB962C8B-B14F-4D97-AF65-F5344CB8AC3E}">
        <p14:creationId xmlns:p14="http://schemas.microsoft.com/office/powerpoint/2010/main" val="310618921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marR="0" indent="0" algn="just">
              <a:spcBef>
                <a:spcPts val="0"/>
              </a:spcBef>
              <a:spcAft>
                <a:spcPts val="1200"/>
              </a:spcAft>
              <a:buNone/>
            </a:pPr>
            <a:r>
              <a:rPr lang="en-US" sz="14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With this training complete</a:t>
            </a:r>
            <a:r>
              <a:rPr lang="en-US" sz="1400" dirty="0"/>
              <a:t>, if you’ve completed the other trainings covering the </a:t>
            </a:r>
            <a:r>
              <a:rPr lang="en-US" sz="1400" b="1" dirty="0"/>
              <a:t>Threat Prioritization </a:t>
            </a:r>
            <a:r>
              <a:rPr lang="en-US" sz="1400" dirty="0"/>
              <a:t>process activities,  you can proceed to</a:t>
            </a:r>
          </a:p>
          <a:p>
            <a:pPr marL="0" marR="0" indent="0" algn="just">
              <a:spcBef>
                <a:spcPts val="0"/>
              </a:spcBef>
              <a:spcAft>
                <a:spcPts val="1200"/>
              </a:spcAft>
              <a:buNone/>
            </a:pPr>
            <a:endParaRPr lang="en-US" sz="1400" dirty="0"/>
          </a:p>
          <a:p>
            <a:pPr marL="285750" marR="0" indent="-285750" algn="just">
              <a:spcBef>
                <a:spcPts val="0"/>
              </a:spcBef>
              <a:spcAft>
                <a:spcPts val="1200"/>
              </a:spcAft>
            </a:pPr>
            <a:r>
              <a:rPr lang="en-US" sz="1400" b="1" dirty="0"/>
              <a:t>Attack surface analysis</a:t>
            </a:r>
          </a:p>
          <a:p>
            <a:pPr marL="285750" marR="0" indent="-285750" algn="just">
              <a:spcBef>
                <a:spcPts val="0"/>
              </a:spcBef>
              <a:spcAft>
                <a:spcPts val="1200"/>
              </a:spcAft>
            </a:pPr>
            <a:r>
              <a:rPr lang="en-US" sz="1400" b="1" dirty="0"/>
              <a:t>Threat modeling</a:t>
            </a:r>
          </a:p>
          <a:p>
            <a:pPr marL="285750" marR="0" indent="-285750" algn="just">
              <a:spcBef>
                <a:spcPts val="0"/>
              </a:spcBef>
              <a:spcAft>
                <a:spcPts val="1200"/>
              </a:spcAft>
            </a:pPr>
            <a:r>
              <a:rPr lang="en-US" sz="1400" b="1" dirty="0"/>
              <a:t>Penetration testing</a:t>
            </a:r>
            <a:endParaRPr lang="en-US" sz="1400" dirty="0"/>
          </a:p>
          <a:p>
            <a:pPr marL="0" marR="0" indent="0" algn="just">
              <a:spcBef>
                <a:spcPts val="0"/>
              </a:spcBef>
              <a:spcAft>
                <a:spcPts val="1200"/>
              </a:spcAft>
              <a:buNone/>
            </a:pPr>
            <a:endParaRPr lang="en-US" sz="1400" dirty="0"/>
          </a:p>
          <a:p>
            <a:pPr marL="0" marR="0" indent="0" algn="just">
              <a:spcBef>
                <a:spcPts val="0"/>
              </a:spcBef>
              <a:spcAft>
                <a:spcPts val="1200"/>
              </a:spcAft>
              <a:buNone/>
            </a:pPr>
            <a:r>
              <a:rPr lang="en-US" sz="1400" dirty="0"/>
              <a:t>and</a:t>
            </a:r>
          </a:p>
          <a:p>
            <a:pPr marL="285750" marR="0" indent="-285750" algn="just">
              <a:spcBef>
                <a:spcPts val="0"/>
              </a:spcBef>
              <a:spcAft>
                <a:spcPts val="1200"/>
              </a:spcAft>
            </a:pPr>
            <a:endParaRPr lang="en-US" sz="1400" dirty="0"/>
          </a:p>
          <a:p>
            <a:pPr marL="285750" marR="0" indent="-285750" algn="just">
              <a:spcBef>
                <a:spcPts val="0"/>
              </a:spcBef>
              <a:spcAft>
                <a:spcPts val="1200"/>
              </a:spcAft>
            </a:pPr>
            <a:r>
              <a:rPr lang="en-US" sz="1400" b="1" dirty="0"/>
              <a:t>Vulnerability identification</a:t>
            </a:r>
          </a:p>
          <a:p>
            <a:pPr marL="285750" marR="0" indent="-285750" algn="just">
              <a:spcBef>
                <a:spcPts val="0"/>
              </a:spcBef>
              <a:spcAft>
                <a:spcPts val="1200"/>
              </a:spcAft>
            </a:pPr>
            <a:endParaRPr lang="en-US" sz="1400" dirty="0"/>
          </a:p>
          <a:p>
            <a:pPr marL="0" marR="0" indent="0" algn="just">
              <a:spcBef>
                <a:spcPts val="0"/>
              </a:spcBef>
              <a:spcAft>
                <a:spcPts val="1200"/>
              </a:spcAft>
              <a:buNone/>
            </a:pPr>
            <a:r>
              <a:rPr lang="en-US" sz="1400" dirty="0"/>
              <a:t>Additionally, if you’ve completed </a:t>
            </a:r>
            <a:r>
              <a:rPr lang="en-US" sz="1400" b="1" dirty="0"/>
              <a:t>Secure Coding </a:t>
            </a:r>
            <a:r>
              <a:rPr lang="en-US" sz="1400" dirty="0"/>
              <a:t>and it’s prerequisites, you can proceed to</a:t>
            </a:r>
          </a:p>
          <a:p>
            <a:pPr marL="285750" marR="0" indent="-285750" algn="just">
              <a:spcBef>
                <a:spcPts val="0"/>
              </a:spcBef>
              <a:spcAft>
                <a:spcPts val="1200"/>
              </a:spcAft>
            </a:pPr>
            <a:endParaRPr lang="en-US" sz="1400" dirty="0"/>
          </a:p>
          <a:p>
            <a:pPr marL="285750" marR="0" indent="-285750" algn="just">
              <a:spcBef>
                <a:spcPts val="0"/>
              </a:spcBef>
              <a:spcAft>
                <a:spcPts val="1200"/>
              </a:spcAft>
            </a:pPr>
            <a:r>
              <a:rPr lang="en-US" sz="1400" b="1" dirty="0"/>
              <a:t>Static analysis</a:t>
            </a:r>
          </a:p>
          <a:p>
            <a:pPr marL="285750" marR="0" indent="-285750" algn="just">
              <a:spcBef>
                <a:spcPts val="0"/>
              </a:spcBef>
              <a:spcAft>
                <a:spcPts val="1200"/>
              </a:spcAft>
            </a:pPr>
            <a:r>
              <a:rPr lang="en-US" sz="1400" b="1" dirty="0"/>
              <a:t>Dynamic analysis</a:t>
            </a:r>
          </a:p>
          <a:p>
            <a:pPr marL="285750" marR="0" indent="-285750" algn="just">
              <a:spcBef>
                <a:spcPts val="0"/>
              </a:spcBef>
              <a:spcAft>
                <a:spcPts val="1200"/>
              </a:spcAft>
            </a:pPr>
            <a:r>
              <a:rPr lang="en-US" sz="1400" b="1" dirty="0"/>
              <a:t>Fuzz testing</a:t>
            </a:r>
          </a:p>
          <a:p>
            <a:pPr marL="285750" marR="0" indent="-285750" algn="just">
              <a:spcBef>
                <a:spcPts val="0"/>
              </a:spcBef>
              <a:spcAft>
                <a:spcPts val="1200"/>
              </a:spcAft>
            </a:pPr>
            <a:endParaRPr lang="en-US" sz="1400" dirty="0"/>
          </a:p>
          <a:p>
            <a:pPr marL="0" marR="0" indent="0" algn="just">
              <a:spcBef>
                <a:spcPts val="0"/>
              </a:spcBef>
              <a:spcAft>
                <a:spcPts val="1200"/>
              </a:spcAft>
              <a:buNone/>
            </a:pPr>
            <a:r>
              <a:rPr lang="en-US" sz="1400" dirty="0"/>
              <a:t>and</a:t>
            </a:r>
          </a:p>
          <a:p>
            <a:pPr marL="285750" marR="0" indent="-285750" algn="just">
              <a:spcBef>
                <a:spcPts val="0"/>
              </a:spcBef>
              <a:spcAft>
                <a:spcPts val="1200"/>
              </a:spcAft>
            </a:pPr>
            <a:endParaRPr lang="en-US" sz="1400" dirty="0"/>
          </a:p>
          <a:p>
            <a:pPr marL="285750" marR="0" indent="-285750" algn="just">
              <a:spcBef>
                <a:spcPts val="0"/>
              </a:spcBef>
              <a:spcAft>
                <a:spcPts val="1200"/>
              </a:spcAft>
            </a:pPr>
            <a:r>
              <a:rPr lang="en-US" sz="1400" b="1" dirty="0"/>
              <a:t>Secure code review</a:t>
            </a:r>
          </a:p>
        </p:txBody>
      </p:sp>
    </p:spTree>
    <p:extLst>
      <p:ext uri="{BB962C8B-B14F-4D97-AF65-F5344CB8AC3E}">
        <p14:creationId xmlns:p14="http://schemas.microsoft.com/office/powerpoint/2010/main" val="370173961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4">
          <a:extLst>
            <a:ext uri="{FF2B5EF4-FFF2-40B4-BE49-F238E27FC236}">
              <a16:creationId xmlns:a16="http://schemas.microsoft.com/office/drawing/2014/main" id="{6C8E9494-4B5F-4066-7F1E-226527C4B7BB}"/>
            </a:ext>
          </a:extLst>
        </p:cNvPr>
        <p:cNvGrpSpPr/>
        <p:nvPr/>
      </p:nvGrpSpPr>
      <p:grpSpPr>
        <a:xfrm>
          <a:off x="0" y="0"/>
          <a:ext cx="0" cy="0"/>
          <a:chOff x="0" y="0"/>
          <a:chExt cx="0" cy="0"/>
        </a:xfrm>
      </p:grpSpPr>
      <p:sp>
        <p:nvSpPr>
          <p:cNvPr id="875" name="Google Shape;875;gbd8f7373d4_0_397:notes">
            <a:extLst>
              <a:ext uri="{FF2B5EF4-FFF2-40B4-BE49-F238E27FC236}">
                <a16:creationId xmlns:a16="http://schemas.microsoft.com/office/drawing/2014/main" id="{983B376A-E080-4269-190E-5A34DB48210C}"/>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876" name="Google Shape;876;gbd8f7373d4_0_397:notes">
            <a:extLst>
              <a:ext uri="{FF2B5EF4-FFF2-40B4-BE49-F238E27FC236}">
                <a16:creationId xmlns:a16="http://schemas.microsoft.com/office/drawing/2014/main" id="{1F148568-A6F4-EBAB-0435-3FB0CFC75F8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158750" indent="0" algn="l">
              <a:buNone/>
            </a:pPr>
            <a:r>
              <a:rPr lang="en-US" sz="1400" dirty="0">
                <a:solidFill>
                  <a:srgbClr val="1D1C1D"/>
                </a:solidFill>
                <a:effectLst/>
                <a:latin typeface="Calibri" panose="020F0502020204030204" pitchFamily="34" charset="0"/>
                <a:cs typeface="Calibri" panose="020F0502020204030204" pitchFamily="34" charset="0"/>
              </a:rPr>
              <a:t>Here are references to the source material used in the creation of this presentation.</a:t>
            </a:r>
          </a:p>
          <a:p>
            <a:pPr marL="158750" indent="0" algn="l">
              <a:buNone/>
            </a:pPr>
            <a:endParaRPr lang="en-US" sz="1400" dirty="0">
              <a:solidFill>
                <a:srgbClr val="1D1C1D"/>
              </a:solidFill>
              <a:effectLst/>
              <a:latin typeface="Calibri" panose="020F0502020204030204" pitchFamily="34" charset="0"/>
              <a:cs typeface="Calibri" panose="020F0502020204030204" pitchFamily="34" charset="0"/>
            </a:endParaRPr>
          </a:p>
          <a:p>
            <a:pPr marL="158750" indent="0" algn="l">
              <a:buNone/>
            </a:pPr>
            <a:r>
              <a:rPr lang="en-US" sz="1400" dirty="0">
                <a:solidFill>
                  <a:srgbClr val="1D1C1D"/>
                </a:solidFill>
                <a:effectLst/>
                <a:latin typeface="Calibri" panose="020F0502020204030204" pitchFamily="34" charset="0"/>
                <a:cs typeface="Calibri" panose="020F0502020204030204" pitchFamily="34" charset="0"/>
              </a:rPr>
              <a:t>They'll also be included in the video description.</a:t>
            </a:r>
          </a:p>
          <a:p>
            <a:pPr marL="158750" indent="0" algn="l">
              <a:buNone/>
            </a:pPr>
            <a:endParaRPr lang="en-US" sz="1400" dirty="0">
              <a:solidFill>
                <a:srgbClr val="1D1C1D"/>
              </a:solidFill>
              <a:effectLst/>
              <a:latin typeface="Calibri" panose="020F0502020204030204" pitchFamily="34" charset="0"/>
              <a:cs typeface="Calibri" panose="020F0502020204030204" pitchFamily="34" charset="0"/>
            </a:endParaRPr>
          </a:p>
          <a:p>
            <a:pPr marL="158750" indent="0" algn="l">
              <a:buNone/>
            </a:pPr>
            <a:r>
              <a:rPr lang="en-US" sz="1400" dirty="0">
                <a:solidFill>
                  <a:srgbClr val="1D1C1D"/>
                </a:solidFill>
                <a:effectLst/>
                <a:latin typeface="Calibri" panose="020F0502020204030204" pitchFamily="34" charset="0"/>
                <a:cs typeface="Calibri" panose="020F0502020204030204" pitchFamily="34" charset="0"/>
              </a:rPr>
              <a:t>Additionally, this presentation’s source material will be provided on the AVCDL GitHub repository.</a:t>
            </a:r>
          </a:p>
          <a:p>
            <a:pPr marL="158750" indent="0" algn="l">
              <a:buNone/>
            </a:pPr>
            <a:endParaRPr lang="en-US" sz="1400" dirty="0">
              <a:solidFill>
                <a:srgbClr val="1D1C1D"/>
              </a:solidFill>
              <a:effectLst/>
              <a:latin typeface="Calibri" panose="020F0502020204030204" pitchFamily="34" charset="0"/>
              <a:cs typeface="Calibri" panose="020F0502020204030204" pitchFamily="34" charset="0"/>
            </a:endParaRPr>
          </a:p>
          <a:p>
            <a:pPr marL="158750" indent="0" algn="l">
              <a:buNone/>
            </a:pPr>
            <a:endParaRPr lang="en-US" sz="1400" dirty="0">
              <a:solidFill>
                <a:srgbClr val="1D1C1D"/>
              </a:solidFill>
              <a:effectLst/>
              <a:latin typeface="Calibri" panose="020F0502020204030204" pitchFamily="34" charset="0"/>
              <a:cs typeface="Calibri" panose="020F0502020204030204" pitchFamily="34" charset="0"/>
            </a:endParaRPr>
          </a:p>
          <a:p>
            <a:pPr marL="158750" indent="0" algn="l">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04776706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4"/>
        <p:cNvGrpSpPr/>
        <p:nvPr/>
      </p:nvGrpSpPr>
      <p:grpSpPr>
        <a:xfrm>
          <a:off x="0" y="0"/>
          <a:ext cx="0" cy="0"/>
          <a:chOff x="0" y="0"/>
          <a:chExt cx="0" cy="0"/>
        </a:xfrm>
      </p:grpSpPr>
      <p:sp>
        <p:nvSpPr>
          <p:cNvPr id="875" name="Google Shape;875;gbd8f7373d4_0_397: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876" name="Google Shape;876;gbd8f7373d4_0_3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158750" indent="0" algn="l">
              <a:buNone/>
            </a:pPr>
            <a:r>
              <a:rPr lang="en-US" sz="1400" dirty="0">
                <a:solidFill>
                  <a:srgbClr val="1D1C1D"/>
                </a:solidFill>
                <a:effectLst/>
                <a:latin typeface="Calibri" panose="020F0502020204030204" pitchFamily="34" charset="0"/>
                <a:cs typeface="Calibri" panose="020F0502020204030204" pitchFamily="34" charset="0"/>
              </a:rPr>
              <a:t>Here are references to the source material used in the creation of this presentation.</a:t>
            </a:r>
          </a:p>
          <a:p>
            <a:pPr marL="158750" indent="0" algn="l">
              <a:buNone/>
            </a:pPr>
            <a:endParaRPr lang="en-US" sz="1400" dirty="0">
              <a:solidFill>
                <a:srgbClr val="1D1C1D"/>
              </a:solidFill>
              <a:effectLst/>
              <a:latin typeface="Calibri" panose="020F0502020204030204" pitchFamily="34" charset="0"/>
              <a:cs typeface="Calibri" panose="020F0502020204030204" pitchFamily="34" charset="0"/>
            </a:endParaRPr>
          </a:p>
          <a:p>
            <a:pPr marL="158750" indent="0" algn="l">
              <a:buNone/>
            </a:pPr>
            <a:r>
              <a:rPr lang="en-US" sz="1400" dirty="0">
                <a:solidFill>
                  <a:srgbClr val="1D1C1D"/>
                </a:solidFill>
                <a:effectLst/>
                <a:latin typeface="Calibri" panose="020F0502020204030204" pitchFamily="34" charset="0"/>
                <a:cs typeface="Calibri" panose="020F0502020204030204" pitchFamily="34" charset="0"/>
              </a:rPr>
              <a:t>They'll also be included in the video description.</a:t>
            </a:r>
          </a:p>
          <a:p>
            <a:pPr marL="158750" indent="0" algn="l">
              <a:buNone/>
            </a:pPr>
            <a:endParaRPr lang="en-US" sz="1400" dirty="0">
              <a:solidFill>
                <a:srgbClr val="1D1C1D"/>
              </a:solidFill>
              <a:effectLst/>
              <a:latin typeface="Calibri" panose="020F0502020204030204" pitchFamily="34" charset="0"/>
              <a:cs typeface="Calibri" panose="020F0502020204030204" pitchFamily="34" charset="0"/>
            </a:endParaRPr>
          </a:p>
          <a:p>
            <a:pPr marL="158750" indent="0" algn="l">
              <a:buNone/>
            </a:pPr>
            <a:r>
              <a:rPr lang="en-US" sz="1400" dirty="0">
                <a:solidFill>
                  <a:srgbClr val="1D1C1D"/>
                </a:solidFill>
                <a:effectLst/>
                <a:latin typeface="Calibri" panose="020F0502020204030204" pitchFamily="34" charset="0"/>
                <a:cs typeface="Calibri" panose="020F0502020204030204" pitchFamily="34" charset="0"/>
              </a:rPr>
              <a:t>Additionally, this presentation’s source material will be provided on the AVCDL GitHub repository.</a:t>
            </a:r>
          </a:p>
          <a:p>
            <a:pPr marL="158750" indent="0" algn="l">
              <a:buNone/>
            </a:pPr>
            <a:endParaRPr lang="en-US" sz="1400" dirty="0">
              <a:solidFill>
                <a:srgbClr val="1D1C1D"/>
              </a:solidFill>
              <a:effectLst/>
              <a:latin typeface="Calibri" panose="020F0502020204030204" pitchFamily="34" charset="0"/>
              <a:cs typeface="Calibri" panose="020F0502020204030204" pitchFamily="34" charset="0"/>
            </a:endParaRPr>
          </a:p>
          <a:p>
            <a:pPr marL="158750" indent="0" algn="l">
              <a:buNone/>
            </a:pPr>
            <a:endParaRPr lang="en-US" sz="1400" dirty="0">
              <a:solidFill>
                <a:srgbClr val="1D1C1D"/>
              </a:solidFill>
              <a:effectLst/>
              <a:latin typeface="Calibri" panose="020F0502020204030204" pitchFamily="34" charset="0"/>
              <a:cs typeface="Calibri" panose="020F0502020204030204" pitchFamily="34" charset="0"/>
            </a:endParaRPr>
          </a:p>
          <a:p>
            <a:pPr marL="158750" indent="0" algn="l">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667727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creativecommons.org/licenses/by/4.0/legalcode"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WHITE 1Col Title | Text">
  <p:cSld name="WHITE 1Col Title | Text">
    <p:spTree>
      <p:nvGrpSpPr>
        <p:cNvPr id="1" name="Shape 540"/>
        <p:cNvGrpSpPr/>
        <p:nvPr/>
      </p:nvGrpSpPr>
      <p:grpSpPr>
        <a:xfrm>
          <a:off x="0" y="0"/>
          <a:ext cx="0" cy="0"/>
          <a:chOff x="0" y="0"/>
          <a:chExt cx="0" cy="0"/>
        </a:xfrm>
      </p:grpSpPr>
      <p:sp>
        <p:nvSpPr>
          <p:cNvPr id="541" name="Google Shape;541;p98"/>
          <p:cNvSpPr txBox="1">
            <a:spLocks noGrp="1"/>
          </p:cNvSpPr>
          <p:nvPr>
            <p:ph type="title"/>
          </p:nvPr>
        </p:nvSpPr>
        <p:spPr>
          <a:xfrm>
            <a:off x="455617" y="460683"/>
            <a:ext cx="8915400"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dk1"/>
              </a:buClr>
              <a:buSzPts val="3200"/>
              <a:buFont typeface="Roboto Medium"/>
              <a:buNone/>
              <a:defRPr b="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42" name="Google Shape;542;p98"/>
          <p:cNvSpPr txBox="1">
            <a:spLocks noGrp="1"/>
          </p:cNvSpPr>
          <p:nvPr>
            <p:ph type="body" idx="1"/>
          </p:nvPr>
        </p:nvSpPr>
        <p:spPr>
          <a:xfrm>
            <a:off x="455613" y="2686375"/>
            <a:ext cx="89154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chemeClr val="dk1"/>
              </a:buClr>
              <a:buSzPts val="2000"/>
              <a:buFont typeface="Roboto"/>
              <a:buNone/>
              <a:defRPr b="0" i="0">
                <a:latin typeface="Roboto"/>
                <a:ea typeface="Roboto"/>
                <a:cs typeface="Roboto"/>
                <a:sym typeface="Roboto"/>
              </a:defRPr>
            </a:lvl1pPr>
            <a:lvl2pPr marL="914415" lvl="1" indent="-342906" algn="l" rtl="0">
              <a:spcBef>
                <a:spcPts val="600"/>
              </a:spcBef>
              <a:spcAft>
                <a:spcPts val="0"/>
              </a:spcAft>
              <a:buClr>
                <a:schemeClr val="dk1"/>
              </a:buClr>
              <a:buSzPts val="1800"/>
              <a:buChar char="•"/>
              <a:defRPr b="0" i="0">
                <a:latin typeface="Roboto"/>
                <a:ea typeface="Roboto"/>
                <a:cs typeface="Roboto"/>
                <a:sym typeface="Roboto"/>
              </a:defRPr>
            </a:lvl2pPr>
            <a:lvl3pPr marL="1371622" lvl="2" indent="-330205" algn="l" rtl="0">
              <a:spcBef>
                <a:spcPts val="600"/>
              </a:spcBef>
              <a:spcAft>
                <a:spcPts val="0"/>
              </a:spcAft>
              <a:buClr>
                <a:schemeClr val="dk1"/>
              </a:buClr>
              <a:buSzPts val="1600"/>
              <a:buChar char="−"/>
              <a:defRPr b="0" i="0">
                <a:latin typeface="Roboto"/>
                <a:ea typeface="Roboto"/>
                <a:cs typeface="Roboto"/>
                <a:sym typeface="Roboto"/>
              </a:defRPr>
            </a:lvl3pPr>
            <a:lvl4pPr marL="1828831" lvl="3" indent="-317506" algn="l" rtl="0">
              <a:spcBef>
                <a:spcPts val="300"/>
              </a:spcBef>
              <a:spcAft>
                <a:spcPts val="0"/>
              </a:spcAft>
              <a:buClr>
                <a:schemeClr val="dk1"/>
              </a:buClr>
              <a:buSzPts val="1400"/>
              <a:buChar char="•"/>
              <a:defRPr b="0" i="0">
                <a:latin typeface="Roboto"/>
                <a:ea typeface="Roboto"/>
                <a:cs typeface="Roboto"/>
                <a:sym typeface="Roboto"/>
              </a:defRPr>
            </a:lvl4pPr>
            <a:lvl5pPr marL="2286038" lvl="4" indent="-304805" algn="l" rtl="0">
              <a:spcBef>
                <a:spcPts val="300"/>
              </a:spcBef>
              <a:spcAft>
                <a:spcPts val="0"/>
              </a:spcAft>
              <a:buClr>
                <a:schemeClr val="dk1"/>
              </a:buClr>
              <a:buSzPts val="1200"/>
              <a:buChar char="−"/>
              <a:defRPr b="0" i="0">
                <a:latin typeface="Roboto"/>
                <a:ea typeface="Roboto"/>
                <a:cs typeface="Roboto"/>
                <a:sym typeface="Roboto"/>
              </a:defRPr>
            </a:lvl5pPr>
            <a:lvl6pPr marL="2743246" lvl="5" indent="-304805" algn="l" rtl="0">
              <a:spcBef>
                <a:spcPts val="360"/>
              </a:spcBef>
              <a:spcAft>
                <a:spcPts val="0"/>
              </a:spcAft>
              <a:buClr>
                <a:schemeClr val="dk1"/>
              </a:buClr>
              <a:buSzPts val="1200"/>
              <a:buFont typeface="Roboto"/>
              <a:buChar char="•"/>
              <a:defRPr sz="1200">
                <a:latin typeface="Roboto"/>
                <a:ea typeface="Roboto"/>
                <a:cs typeface="Roboto"/>
                <a:sym typeface="Roboto"/>
              </a:defRPr>
            </a:lvl6pPr>
            <a:lvl7pPr marL="3200453" lvl="6" indent="-304805" algn="l" rtl="0">
              <a:spcBef>
                <a:spcPts val="360"/>
              </a:spcBef>
              <a:spcAft>
                <a:spcPts val="0"/>
              </a:spcAft>
              <a:buClr>
                <a:schemeClr val="dk1"/>
              </a:buClr>
              <a:buSzPts val="1200"/>
              <a:buFont typeface="Roboto"/>
              <a:buChar char="•"/>
              <a:defRPr sz="1200">
                <a:latin typeface="Roboto"/>
                <a:ea typeface="Roboto"/>
                <a:cs typeface="Roboto"/>
                <a:sym typeface="Roboto"/>
              </a:defRPr>
            </a:lvl7pPr>
            <a:lvl8pPr marL="3657661" lvl="7" indent="-304805" algn="l" rtl="0">
              <a:spcBef>
                <a:spcPts val="360"/>
              </a:spcBef>
              <a:spcAft>
                <a:spcPts val="0"/>
              </a:spcAft>
              <a:buClr>
                <a:schemeClr val="dk1"/>
              </a:buClr>
              <a:buSzPts val="1200"/>
              <a:buFont typeface="Roboto"/>
              <a:buChar char="•"/>
              <a:defRPr sz="1200">
                <a:latin typeface="Roboto"/>
                <a:ea typeface="Roboto"/>
                <a:cs typeface="Roboto"/>
                <a:sym typeface="Roboto"/>
              </a:defRPr>
            </a:lvl8pPr>
            <a:lvl9pPr marL="4114868" lvl="8" indent="-304805" algn="l" rtl="0">
              <a:spcBef>
                <a:spcPts val="360"/>
              </a:spcBef>
              <a:spcAft>
                <a:spcPts val="0"/>
              </a:spcAft>
              <a:buClr>
                <a:schemeClr val="dk1"/>
              </a:buClr>
              <a:buSzPts val="1200"/>
              <a:buFont typeface="Roboto"/>
              <a:buChar char="•"/>
              <a:defRPr sz="1200">
                <a:latin typeface="Roboto"/>
                <a:ea typeface="Roboto"/>
                <a:cs typeface="Roboto"/>
                <a:sym typeface="Roboto"/>
              </a:defRPr>
            </a:lvl9pPr>
          </a:lstStyle>
          <a:p>
            <a:endParaRPr/>
          </a:p>
        </p:txBody>
      </p:sp>
      <p:sp>
        <p:nvSpPr>
          <p:cNvPr id="543" name="Google Shape;543;p98"/>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rgbClr val="000000"/>
                </a:solidFill>
              </a:defRPr>
            </a:lvl1pPr>
            <a:lvl2pPr lvl="1" rtl="0">
              <a:buNone/>
              <a:defRPr sz="1000">
                <a:solidFill>
                  <a:srgbClr val="000000"/>
                </a:solidFill>
              </a:defRPr>
            </a:lvl2pPr>
            <a:lvl3pPr lvl="2" rtl="0">
              <a:buNone/>
              <a:defRPr sz="1000">
                <a:solidFill>
                  <a:srgbClr val="000000"/>
                </a:solidFill>
              </a:defRPr>
            </a:lvl3pPr>
            <a:lvl4pPr lvl="3" rtl="0">
              <a:buNone/>
              <a:defRPr sz="1000">
                <a:solidFill>
                  <a:srgbClr val="000000"/>
                </a:solidFill>
              </a:defRPr>
            </a:lvl4pPr>
            <a:lvl5pPr lvl="4" rtl="0">
              <a:buNone/>
              <a:defRPr sz="1000">
                <a:solidFill>
                  <a:srgbClr val="000000"/>
                </a:solidFill>
              </a:defRPr>
            </a:lvl5pPr>
            <a:lvl6pPr lvl="5" rtl="0">
              <a:buNone/>
              <a:defRPr sz="1000">
                <a:solidFill>
                  <a:srgbClr val="000000"/>
                </a:solidFill>
              </a:defRPr>
            </a:lvl6pPr>
            <a:lvl7pPr lvl="6" rtl="0">
              <a:buNone/>
              <a:defRPr sz="1000">
                <a:solidFill>
                  <a:srgbClr val="000000"/>
                </a:solidFill>
              </a:defRPr>
            </a:lvl7pPr>
            <a:lvl8pPr lvl="7" rtl="0">
              <a:buNone/>
              <a:defRPr sz="1000">
                <a:solidFill>
                  <a:srgbClr val="000000"/>
                </a:solidFill>
              </a:defRPr>
            </a:lvl8pPr>
            <a:lvl9pPr lvl="8" rtl="0">
              <a:buNone/>
              <a:defRPr sz="1000">
                <a:solidFill>
                  <a:srgbClr val="000000"/>
                </a:solidFill>
              </a:defRPr>
            </a:lvl9pPr>
          </a:lstStyle>
          <a:p>
            <a:fld id="{00000000-1234-1234-1234-123412341234}" type="slidenum">
              <a:rPr lang="en" smtClean="0"/>
              <a:pPr/>
              <a:t>‹#›</a:t>
            </a:fld>
            <a:endParaRPr lang="en"/>
          </a:p>
        </p:txBody>
      </p:sp>
      <p:sp>
        <p:nvSpPr>
          <p:cNvPr id="545" name="Google Shape;545;p98"/>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endParaRPr sz="1000" dirty="0">
              <a:solidFill>
                <a:schemeClr val="dk1"/>
              </a:solidFill>
              <a:latin typeface="Roboto"/>
              <a:ea typeface="Roboto"/>
              <a:cs typeface="Roboto"/>
              <a:sym typeface="Roboto"/>
            </a:endParaRPr>
          </a:p>
        </p:txBody>
      </p:sp>
    </p:spTree>
    <p:extLst>
      <p:ext uri="{BB962C8B-B14F-4D97-AF65-F5344CB8AC3E}">
        <p14:creationId xmlns:p14="http://schemas.microsoft.com/office/powerpoint/2010/main" val="88381204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extLst>
    <p:ext uri="{DCECCB84-F9BA-43D5-87BE-67443E8EF086}">
      <p15:sldGuideLst xmlns:p15="http://schemas.microsoft.com/office/powerpoint/2012/main">
        <p15:guide id="1" orient="horz" pos="1872">
          <p15:clr>
            <a:srgbClr val="FA7B17"/>
          </p15:clr>
        </p15:guide>
        <p15:guide id="2" pos="5615">
          <p15:clr>
            <a:srgbClr val="FA7B17"/>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866"/>
        <p:cNvGrpSpPr/>
        <p:nvPr/>
      </p:nvGrpSpPr>
      <p:grpSpPr>
        <a:xfrm>
          <a:off x="0" y="0"/>
          <a:ext cx="0" cy="0"/>
          <a:chOff x="0" y="0"/>
          <a:chExt cx="0" cy="0"/>
        </a:xfrm>
      </p:grpSpPr>
      <p:sp>
        <p:nvSpPr>
          <p:cNvPr id="867" name="Google Shape;867;p145"/>
          <p:cNvSpPr txBox="1">
            <a:spLocks noGrp="1"/>
          </p:cNvSpPr>
          <p:nvPr>
            <p:ph type="body" idx="1"/>
          </p:nvPr>
        </p:nvSpPr>
        <p:spPr>
          <a:xfrm>
            <a:off x="415496" y="5640767"/>
            <a:ext cx="7996500" cy="806700"/>
          </a:xfrm>
          <a:prstGeom prst="rect">
            <a:avLst/>
          </a:prstGeom>
        </p:spPr>
        <p:txBody>
          <a:bodyPr spcFirstLastPara="1" wrap="square" lIns="0" tIns="0" rIns="0" bIns="0" anchor="ctr" anchorCtr="0">
            <a:noAutofit/>
          </a:bodyPr>
          <a:lstStyle>
            <a:lvl1pPr marL="457207" lvl="0" indent="-228604" rtl="0">
              <a:lnSpc>
                <a:spcPct val="100000"/>
              </a:lnSpc>
              <a:spcBef>
                <a:spcPts val="0"/>
              </a:spcBef>
              <a:spcAft>
                <a:spcPts val="0"/>
              </a:spcAft>
              <a:buSzPts val="2000"/>
              <a:buNone/>
              <a:defRPr/>
            </a:lvl1pPr>
          </a:lstStyle>
          <a:p>
            <a:endParaRPr/>
          </a:p>
        </p:txBody>
      </p:sp>
      <p:sp>
        <p:nvSpPr>
          <p:cNvPr id="868" name="Google Shape;868;p145"/>
          <p:cNvSpPr txBox="1">
            <a:spLocks noGrp="1"/>
          </p:cNvSpPr>
          <p:nvPr>
            <p:ph type="sldNum" idx="12"/>
          </p:nvPr>
        </p:nvSpPr>
        <p:spPr>
          <a:xfrm>
            <a:off x="11293784" y="6217622"/>
            <a:ext cx="731400" cy="524700"/>
          </a:xfrm>
          <a:prstGeom prst="rect">
            <a:avLst/>
          </a:prstGeom>
        </p:spPr>
        <p:txBody>
          <a:bodyPr spcFirstLastPara="1" wrap="square" lIns="91425" tIns="91425" rIns="91425" bIns="91425"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24505904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Cover C" userDrawn="1">
  <p:cSld name="Cover C">
    <p:bg>
      <p:bgPr>
        <a:solidFill>
          <a:srgbClr val="030A14"/>
        </a:solidFill>
        <a:effectLst/>
      </p:bgPr>
    </p:bg>
    <p:spTree>
      <p:nvGrpSpPr>
        <p:cNvPr id="1" name="Shape 53"/>
        <p:cNvGrpSpPr/>
        <p:nvPr/>
      </p:nvGrpSpPr>
      <p:grpSpPr>
        <a:xfrm>
          <a:off x="0" y="0"/>
          <a:ext cx="0" cy="0"/>
          <a:chOff x="0" y="0"/>
          <a:chExt cx="0" cy="0"/>
        </a:xfrm>
      </p:grpSpPr>
      <p:sp>
        <p:nvSpPr>
          <p:cNvPr id="54" name="Google Shape;54;p14"/>
          <p:cNvSpPr txBox="1">
            <a:spLocks noGrp="1"/>
          </p:cNvSpPr>
          <p:nvPr>
            <p:ph type="title"/>
          </p:nvPr>
        </p:nvSpPr>
        <p:spPr>
          <a:xfrm>
            <a:off x="455623" y="2364060"/>
            <a:ext cx="8915583" cy="3789320"/>
          </a:xfrm>
          <a:prstGeom prst="rect">
            <a:avLst/>
          </a:prstGeom>
          <a:noFill/>
          <a:ln>
            <a:noFill/>
          </a:ln>
        </p:spPr>
        <p:txBody>
          <a:bodyPr spcFirstLastPara="1" wrap="square" lIns="0" tIns="0" rIns="0" bIns="0" anchor="ctr" anchorCtr="0">
            <a:noAutofit/>
          </a:bodyPr>
          <a:lstStyle>
            <a:lvl1pPr lvl="0" algn="l">
              <a:lnSpc>
                <a:spcPct val="80000"/>
              </a:lnSpc>
              <a:spcBef>
                <a:spcPts val="0"/>
              </a:spcBef>
              <a:spcAft>
                <a:spcPts val="0"/>
              </a:spcAft>
              <a:buClr>
                <a:schemeClr val="lt1"/>
              </a:buClr>
              <a:buSzPts val="9600"/>
              <a:buFont typeface="Roboto"/>
              <a:buNone/>
              <a:defRPr sz="9600" b="0" i="0" cap="none">
                <a:solidFill>
                  <a:schemeClr val="lt1"/>
                </a:solidFill>
                <a:latin typeface="Roboto"/>
                <a:ea typeface="Roboto"/>
                <a:cs typeface="Roboto"/>
                <a:sym typeface="Roboto"/>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
        <p:nvSpPr>
          <p:cNvPr id="58" name="Google Shape;58;p14"/>
          <p:cNvSpPr txBox="1"/>
          <p:nvPr/>
        </p:nvSpPr>
        <p:spPr>
          <a:xfrm>
            <a:off x="2269555" y="6212114"/>
            <a:ext cx="9463844" cy="417286"/>
          </a:xfrm>
          <a:prstGeom prst="rect">
            <a:avLst/>
          </a:prstGeom>
          <a:noFill/>
          <a:ln>
            <a:noFill/>
          </a:ln>
        </p:spPr>
        <p:txBody>
          <a:bodyPr spcFirstLastPara="1" wrap="square" lIns="0" tIns="0" rIns="0" bIns="0" anchor="b" anchorCtr="0">
            <a:noAutofit/>
          </a:bodyPr>
          <a:lstStyle/>
          <a:p>
            <a:pPr algn="r"/>
            <a:r>
              <a:rPr lang="en-US" sz="1200" b="0" i="0" u="none" strike="noStrike" cap="none" dirty="0">
                <a:solidFill>
                  <a:schemeClr val="bg1"/>
                </a:solidFill>
                <a:effectLst/>
                <a:latin typeface="Roboto" panose="02000000000000000000" pitchFamily="2" charset="0"/>
                <a:ea typeface="Roboto" panose="02000000000000000000" pitchFamily="2" charset="0"/>
                <a:cs typeface="Arial"/>
                <a:sym typeface="Arial"/>
              </a:rPr>
              <a:t>This work was created by </a:t>
            </a:r>
            <a:r>
              <a:rPr lang="en-US" sz="1200" b="1" i="0" u="none" strike="noStrike" cap="none" dirty="0">
                <a:solidFill>
                  <a:schemeClr val="bg1"/>
                </a:solidFill>
                <a:effectLst/>
                <a:latin typeface="Roboto" panose="02000000000000000000" pitchFamily="2" charset="0"/>
                <a:ea typeface="Roboto" panose="02000000000000000000" pitchFamily="2" charset="0"/>
                <a:cs typeface="Arial"/>
                <a:sym typeface="Arial"/>
              </a:rPr>
              <a:t>Torc Robotics</a:t>
            </a:r>
            <a:r>
              <a:rPr lang="en-US" sz="1200" b="0" i="0" u="none" strike="noStrike" cap="none" dirty="0">
                <a:solidFill>
                  <a:schemeClr val="bg1"/>
                </a:solidFill>
                <a:effectLst/>
                <a:latin typeface="Roboto" panose="02000000000000000000" pitchFamily="2" charset="0"/>
                <a:ea typeface="Roboto" panose="02000000000000000000" pitchFamily="2" charset="0"/>
                <a:cs typeface="Arial"/>
                <a:sym typeface="Arial"/>
              </a:rPr>
              <a:t> and is licensed under the </a:t>
            </a:r>
            <a:r>
              <a:rPr lang="en-US" sz="1200" b="1" i="0" u="none" strike="noStrike" cap="none" dirty="0">
                <a:solidFill>
                  <a:schemeClr val="bg1"/>
                </a:solidFill>
                <a:effectLst/>
                <a:latin typeface="Roboto" panose="02000000000000000000" pitchFamily="2" charset="0"/>
                <a:ea typeface="Roboto" panose="02000000000000000000" pitchFamily="2" charset="0"/>
                <a:cs typeface="Arial"/>
                <a:sym typeface="Arial"/>
              </a:rPr>
              <a:t>Creative Commons Attribution-Share Alike (CC BY-SA-4.0)</a:t>
            </a:r>
            <a:r>
              <a:rPr lang="en-US" sz="1200" b="0" i="0" u="none" strike="noStrike" cap="none" dirty="0">
                <a:solidFill>
                  <a:schemeClr val="bg1"/>
                </a:solidFill>
                <a:effectLst/>
                <a:latin typeface="Roboto" panose="02000000000000000000" pitchFamily="2" charset="0"/>
                <a:ea typeface="Roboto" panose="02000000000000000000" pitchFamily="2" charset="0"/>
                <a:cs typeface="Arial"/>
                <a:sym typeface="Arial"/>
              </a:rPr>
              <a:t> License.</a:t>
            </a:r>
          </a:p>
          <a:p>
            <a:pPr algn="r"/>
            <a:r>
              <a:rPr lang="en-US" sz="1200" b="1" i="0" u="sng" strike="noStrike" cap="none" dirty="0">
                <a:solidFill>
                  <a:schemeClr val="bg1"/>
                </a:solidFill>
                <a:effectLst/>
                <a:latin typeface="Courier New" panose="02070309020205020404" pitchFamily="49" charset="0"/>
                <a:ea typeface="Roboto" panose="02000000000000000000" pitchFamily="2" charset="0"/>
                <a:cs typeface="Courier New" panose="02070309020205020404" pitchFamily="49" charset="0"/>
                <a:sym typeface="Arial"/>
                <a:hlinkClick r:id="rId2">
                  <a:extLst>
                    <a:ext uri="{A12FA001-AC4F-418D-AE19-62706E023703}">
                      <ahyp:hlinkClr xmlns:ahyp="http://schemas.microsoft.com/office/drawing/2018/hyperlinkcolor" val="tx"/>
                    </a:ext>
                  </a:extLst>
                </a:hlinkClick>
              </a:rPr>
              <a:t>https://creativecommons.org/licenses/by/4.0/legalcode</a:t>
            </a:r>
            <a:endParaRPr lang="en-US" sz="1200" b="0" i="0" u="none" strike="noStrike" cap="none" dirty="0">
              <a:solidFill>
                <a:schemeClr val="bg1"/>
              </a:solidFill>
              <a:effectLst/>
              <a:latin typeface="Courier New" panose="02070309020205020404" pitchFamily="49" charset="0"/>
              <a:ea typeface="Roboto" panose="02000000000000000000" pitchFamily="2" charset="0"/>
              <a:cs typeface="Courier New" panose="02070309020205020404" pitchFamily="49" charset="0"/>
              <a:sym typeface="Arial"/>
            </a:endParaRPr>
          </a:p>
        </p:txBody>
      </p:sp>
    </p:spTree>
    <p:extLst>
      <p:ext uri="{BB962C8B-B14F-4D97-AF65-F5344CB8AC3E}">
        <p14:creationId xmlns:p14="http://schemas.microsoft.com/office/powerpoint/2010/main" val="103580817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82"/>
        <p:cNvGrpSpPr/>
        <p:nvPr/>
      </p:nvGrpSpPr>
      <p:grpSpPr>
        <a:xfrm>
          <a:off x="0" y="0"/>
          <a:ext cx="0" cy="0"/>
          <a:chOff x="0" y="0"/>
          <a:chExt cx="0" cy="0"/>
        </a:xfrm>
      </p:grpSpPr>
      <p:sp>
        <p:nvSpPr>
          <p:cNvPr id="483" name="Google Shape;483;p88"/>
          <p:cNvSpPr txBox="1">
            <a:spLocks noGrp="1"/>
          </p:cNvSpPr>
          <p:nvPr>
            <p:ph type="title"/>
          </p:nvPr>
        </p:nvSpPr>
        <p:spPr>
          <a:xfrm>
            <a:off x="455617" y="460683"/>
            <a:ext cx="8915400" cy="524400"/>
          </a:xfrm>
          <a:prstGeom prst="rect">
            <a:avLst/>
          </a:prstGeom>
          <a:noFill/>
          <a:ln>
            <a:noFill/>
          </a:ln>
        </p:spPr>
        <p:txBody>
          <a:bodyPr spcFirstLastPara="1" wrap="square" lIns="0" tIns="0" rIns="0" bIns="0" anchor="t" anchorCtr="0">
            <a:noAutofit/>
          </a:bodyPr>
          <a:lstStyle>
            <a:lvl1pPr marR="0" lvl="0" algn="l" rtl="0">
              <a:lnSpc>
                <a:spcPct val="80000"/>
              </a:lnSpc>
              <a:spcBef>
                <a:spcPts val="0"/>
              </a:spcBef>
              <a:spcAft>
                <a:spcPts val="0"/>
              </a:spcAft>
              <a:buClr>
                <a:schemeClr val="dk1"/>
              </a:buClr>
              <a:buSzPts val="3200"/>
              <a:buFont typeface="Roboto Medium"/>
              <a:buNone/>
              <a:defRPr sz="3200" b="0" i="0" u="none" strike="noStrike" cap="none">
                <a:solidFill>
                  <a:schemeClr val="dk1"/>
                </a:solidFill>
                <a:latin typeface="Roboto Medium"/>
                <a:ea typeface="Roboto Medium"/>
                <a:cs typeface="Roboto Medium"/>
                <a:sym typeface="Roboto Medium"/>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484" name="Google Shape;484;p88"/>
          <p:cNvSpPr txBox="1">
            <a:spLocks noGrp="1"/>
          </p:cNvSpPr>
          <p:nvPr>
            <p:ph type="body" idx="1"/>
          </p:nvPr>
        </p:nvSpPr>
        <p:spPr>
          <a:xfrm>
            <a:off x="457205" y="1810776"/>
            <a:ext cx="8915400" cy="4132800"/>
          </a:xfrm>
          <a:prstGeom prst="rect">
            <a:avLst/>
          </a:prstGeom>
          <a:noFill/>
          <a:ln>
            <a:noFill/>
          </a:ln>
        </p:spPr>
        <p:txBody>
          <a:bodyPr spcFirstLastPara="1" wrap="square" lIns="0" tIns="0" rIns="0" bIns="0" anchor="t" anchorCtr="0">
            <a:noAutofit/>
          </a:bodyPr>
          <a:lstStyle>
            <a:lvl1pPr marL="457200" marR="0" lvl="0" indent="-228600" algn="l" rtl="0">
              <a:spcBef>
                <a:spcPts val="0"/>
              </a:spcBef>
              <a:spcAft>
                <a:spcPts val="0"/>
              </a:spcAft>
              <a:buClr>
                <a:schemeClr val="dk1"/>
              </a:buClr>
              <a:buSzPts val="2000"/>
              <a:buFont typeface="Roboto"/>
              <a:buNone/>
              <a:defRPr sz="2000" b="0" i="0" u="none" strike="noStrike" cap="none">
                <a:solidFill>
                  <a:schemeClr val="dk1"/>
                </a:solidFill>
                <a:latin typeface="Roboto"/>
                <a:ea typeface="Roboto"/>
                <a:cs typeface="Roboto"/>
                <a:sym typeface="Roboto"/>
              </a:defRPr>
            </a:lvl1pPr>
            <a:lvl2pPr marL="914400" marR="0" lvl="1" indent="-342900"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L="1371600" marR="0" lvl="2" indent="-330200"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L="1828800" marR="0" lvl="3" indent="-317500"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L="2286000" marR="0" lvl="4" indent="-304800"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L="2743200" marR="0" lvl="5" indent="-397891"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L="3200400" marR="0" lvl="6" indent="-397891"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L="3657600" marR="0" lvl="7" indent="-397890"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L="4114800" marR="0" lvl="8" indent="-397890"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485" name="Google Shape;485;p88"/>
          <p:cNvSpPr txBox="1">
            <a:spLocks noGrp="1"/>
          </p:cNvSpPr>
          <p:nvPr>
            <p:ph type="sldNum" idx="12"/>
          </p:nvPr>
        </p:nvSpPr>
        <p:spPr>
          <a:xfrm>
            <a:off x="11406192" y="6333134"/>
            <a:ext cx="731400" cy="525000"/>
          </a:xfrm>
          <a:prstGeom prst="rect">
            <a:avLst/>
          </a:prstGeom>
          <a:noFill/>
          <a:ln>
            <a:noFill/>
          </a:ln>
        </p:spPr>
        <p:txBody>
          <a:bodyPr spcFirstLastPara="1" wrap="square" lIns="91425" tIns="91425" rIns="91425" bIns="91425" anchor="t" anchorCtr="0">
            <a:noAutofit/>
          </a:bodyPr>
          <a:lstStyle>
            <a:lvl1pPr lvl="0" algn="r" rtl="0">
              <a:buNone/>
              <a:defRPr sz="1300">
                <a:solidFill>
                  <a:schemeClr val="dk1"/>
                </a:solidFill>
                <a:latin typeface="Roboto"/>
                <a:ea typeface="Roboto"/>
                <a:cs typeface="Roboto"/>
                <a:sym typeface="Roboto"/>
              </a:defRPr>
            </a:lvl1pPr>
            <a:lvl2pPr lvl="1" algn="r" rtl="0">
              <a:buNone/>
              <a:defRPr sz="1300">
                <a:solidFill>
                  <a:schemeClr val="dk1"/>
                </a:solidFill>
                <a:latin typeface="Roboto"/>
                <a:ea typeface="Roboto"/>
                <a:cs typeface="Roboto"/>
                <a:sym typeface="Roboto"/>
              </a:defRPr>
            </a:lvl2pPr>
            <a:lvl3pPr lvl="2" algn="r" rtl="0">
              <a:buNone/>
              <a:defRPr sz="1300">
                <a:solidFill>
                  <a:schemeClr val="dk1"/>
                </a:solidFill>
                <a:latin typeface="Roboto"/>
                <a:ea typeface="Roboto"/>
                <a:cs typeface="Roboto"/>
                <a:sym typeface="Roboto"/>
              </a:defRPr>
            </a:lvl3pPr>
            <a:lvl4pPr lvl="3" algn="r" rtl="0">
              <a:buNone/>
              <a:defRPr sz="1300">
                <a:solidFill>
                  <a:schemeClr val="dk1"/>
                </a:solidFill>
                <a:latin typeface="Roboto"/>
                <a:ea typeface="Roboto"/>
                <a:cs typeface="Roboto"/>
                <a:sym typeface="Roboto"/>
              </a:defRPr>
            </a:lvl4pPr>
            <a:lvl5pPr lvl="4" algn="r" rtl="0">
              <a:buNone/>
              <a:defRPr sz="1300">
                <a:solidFill>
                  <a:schemeClr val="dk1"/>
                </a:solidFill>
                <a:latin typeface="Roboto"/>
                <a:ea typeface="Roboto"/>
                <a:cs typeface="Roboto"/>
                <a:sym typeface="Roboto"/>
              </a:defRPr>
            </a:lvl5pPr>
            <a:lvl6pPr lvl="5" algn="r" rtl="0">
              <a:buNone/>
              <a:defRPr sz="1300">
                <a:solidFill>
                  <a:schemeClr val="dk1"/>
                </a:solidFill>
                <a:latin typeface="Roboto"/>
                <a:ea typeface="Roboto"/>
                <a:cs typeface="Roboto"/>
                <a:sym typeface="Roboto"/>
              </a:defRPr>
            </a:lvl6pPr>
            <a:lvl7pPr lvl="6" algn="r" rtl="0">
              <a:buNone/>
              <a:defRPr sz="1300">
                <a:solidFill>
                  <a:schemeClr val="dk1"/>
                </a:solidFill>
                <a:latin typeface="Roboto"/>
                <a:ea typeface="Roboto"/>
                <a:cs typeface="Roboto"/>
                <a:sym typeface="Roboto"/>
              </a:defRPr>
            </a:lvl7pPr>
            <a:lvl8pPr lvl="7" algn="r" rtl="0">
              <a:buNone/>
              <a:defRPr sz="1300">
                <a:solidFill>
                  <a:schemeClr val="dk1"/>
                </a:solidFill>
                <a:latin typeface="Roboto"/>
                <a:ea typeface="Roboto"/>
                <a:cs typeface="Roboto"/>
                <a:sym typeface="Roboto"/>
              </a:defRPr>
            </a:lvl8pPr>
            <a:lvl9pPr lvl="8" algn="r" rtl="0">
              <a:buNone/>
              <a:defRPr sz="1300">
                <a:solidFill>
                  <a:schemeClr val="dk1"/>
                </a:solidFill>
                <a:latin typeface="Roboto"/>
                <a:ea typeface="Roboto"/>
                <a:cs typeface="Roboto"/>
                <a:sym typeface="Roboto"/>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1103173401"/>
      </p:ext>
    </p:extLst>
  </p:cSld>
  <p:clrMap bg1="lt1" tx1="dk1" bg2="dk2" tx2="lt2" accent1="accent1" accent2="accent2" accent3="accent3" accent4="accent4" accent5="accent5" accent6="accent6" hlink="hlink" folHlink="folHlink"/>
  <p:sldLayoutIdLst>
    <p:sldLayoutId id="2147483795" r:id="rId1"/>
    <p:sldLayoutId id="2147483796" r:id="rId2"/>
    <p:sldLayoutId id="2147483797" r:id="rId3"/>
  </p:sldLayoutIdLst>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p15:clr>
            <a:srgbClr val="F26B43"/>
          </p15:clr>
        </p15:guide>
        <p15:guide id="2" pos="3839">
          <p15:clr>
            <a:srgbClr val="F26B43"/>
          </p15:clr>
        </p15:guide>
        <p15:guide id="3" pos="287">
          <p15:clr>
            <a:srgbClr val="F26B43"/>
          </p15:clr>
        </p15:guide>
        <p15:guide id="4" orient="horz" pos="288">
          <p15:clr>
            <a:srgbClr val="F26B43"/>
          </p15:clr>
        </p15:guide>
        <p15:guide id="5" orient="horz" pos="4032">
          <p15:clr>
            <a:srgbClr val="F26B43"/>
          </p15:clr>
        </p15:guide>
        <p15:guide id="6" pos="7391">
          <p15:clr>
            <a:srgbClr val="F26B43"/>
          </p15:clr>
        </p15:guide>
        <p15:guide id="7" orient="horz" pos="3888">
          <p15:clr>
            <a:srgbClr val="F26B43"/>
          </p15:clr>
        </p15:guide>
        <p15:guide id="8" orient="horz" pos="4176">
          <p15:clr>
            <a:srgbClr val="F26B43"/>
          </p15:clr>
        </p15:guide>
        <p15:guide id="9" orient="horz" pos="3744">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image" Target="../media/image15.png"/><Relationship Id="rId4" Type="http://schemas.openxmlformats.org/officeDocument/2006/relationships/image" Target="../media/image14.png"/></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hyperlink" Target="https://www.iso.org/standard/70918.html" TargetMode="External"/><Relationship Id="rId2" Type="http://schemas.openxmlformats.org/officeDocument/2006/relationships/notesSlide" Target="../notesSlides/notesSlide25.xml"/><Relationship Id="rId1" Type="http://schemas.openxmlformats.org/officeDocument/2006/relationships/slideLayout" Target="../slideLayouts/slideLayout1.xml"/><Relationship Id="rId6" Type="http://schemas.openxmlformats.org/officeDocument/2006/relationships/hyperlink" Target="https://nvlpubs.nist.gov/nistpubs/Legacy/SP/nistspecialpublication800-30r1.pdf" TargetMode="External"/><Relationship Id="rId5" Type="http://schemas.openxmlformats.org/officeDocument/2006/relationships/hyperlink" Target="https://www.iso.org/standard/72704.html" TargetMode="External"/><Relationship Id="rId4" Type="http://schemas.openxmlformats.org/officeDocument/2006/relationships/hyperlink" Target="https://www.iso.org/standard/68385.html" TargetMode="External"/></Relationships>
</file>

<file path=ppt/slides/_rels/slide26.xml.rels><?xml version="1.0" encoding="UTF-8" standalone="yes"?>
<Relationships xmlns="http://schemas.openxmlformats.org/package/2006/relationships"><Relationship Id="rId3" Type="http://schemas.openxmlformats.org/officeDocument/2006/relationships/hyperlink" Target="https://nvlpubs.nist.gov/nistpubs/FIPS/NIST.FIPS.199.pdf" TargetMode="External"/><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2"/>
        <p:cNvGrpSpPr/>
        <p:nvPr/>
      </p:nvGrpSpPr>
      <p:grpSpPr>
        <a:xfrm>
          <a:off x="0" y="0"/>
          <a:ext cx="0" cy="0"/>
          <a:chOff x="0" y="0"/>
          <a:chExt cx="0" cy="0"/>
        </a:xfrm>
      </p:grpSpPr>
      <p:sp>
        <p:nvSpPr>
          <p:cNvPr id="873" name="Google Shape;873;p146"/>
          <p:cNvSpPr txBox="1">
            <a:spLocks noGrp="1"/>
          </p:cNvSpPr>
          <p:nvPr>
            <p:ph type="title"/>
          </p:nvPr>
        </p:nvSpPr>
        <p:spPr>
          <a:xfrm>
            <a:off x="668910" y="1815384"/>
            <a:ext cx="10851007" cy="3227235"/>
          </a:xfrm>
          <a:prstGeom prst="rect">
            <a:avLst/>
          </a:prstGeom>
          <a:noFill/>
          <a:ln>
            <a:noFill/>
          </a:ln>
        </p:spPr>
        <p:txBody>
          <a:bodyPr spcFirstLastPara="1" wrap="square" lIns="0" tIns="0" rIns="0" bIns="0" anchor="ctr" anchorCtr="0">
            <a:noAutofit/>
          </a:bodyPr>
          <a:lstStyle/>
          <a:p>
            <a:pPr>
              <a:lnSpc>
                <a:spcPct val="100000"/>
              </a:lnSpc>
            </a:pPr>
            <a:r>
              <a:rPr lang="en" sz="5400" dirty="0"/>
              <a:t>Threat Prioritization –</a:t>
            </a:r>
            <a:br>
              <a:rPr lang="en" sz="5400" dirty="0"/>
            </a:br>
            <a:r>
              <a:rPr lang="en" sz="5400" dirty="0"/>
              <a:t>Candidate Risking</a:t>
            </a:r>
            <a:endParaRPr sz="6600" dirty="0"/>
          </a:p>
        </p:txBody>
      </p:sp>
      <p:sp>
        <p:nvSpPr>
          <p:cNvPr id="2" name="Rectangle 1">
            <a:extLst>
              <a:ext uri="{FF2B5EF4-FFF2-40B4-BE49-F238E27FC236}">
                <a16:creationId xmlns:a16="http://schemas.microsoft.com/office/drawing/2014/main" id="{2FB5F0EE-3344-3E43-B412-5327D36C6F8A}"/>
              </a:ext>
            </a:extLst>
          </p:cNvPr>
          <p:cNvSpPr/>
          <p:nvPr/>
        </p:nvSpPr>
        <p:spPr>
          <a:xfrm>
            <a:off x="10741247" y="5270394"/>
            <a:ext cx="963726" cy="461665"/>
          </a:xfrm>
          <a:prstGeom prst="rect">
            <a:avLst/>
          </a:prstGeom>
        </p:spPr>
        <p:txBody>
          <a:bodyPr wrap="none">
            <a:spAutoFit/>
          </a:bodyPr>
          <a:lstStyle/>
          <a:p>
            <a:pPr algn="r"/>
            <a:r>
              <a:rPr lang="en-US" sz="1200" dirty="0">
                <a:solidFill>
                  <a:schemeClr val="accent3">
                    <a:lumMod val="20000"/>
                    <a:lumOff val="80000"/>
                  </a:schemeClr>
                </a:solidFill>
                <a:latin typeface="Roboto" panose="02000000000000000000" pitchFamily="2" charset="0"/>
                <a:ea typeface="Roboto" panose="02000000000000000000" pitchFamily="2" charset="0"/>
              </a:rPr>
              <a:t>version 2</a:t>
            </a:r>
          </a:p>
          <a:p>
            <a:pPr algn="r"/>
            <a:r>
              <a:rPr lang="en-US" sz="1200" dirty="0">
                <a:solidFill>
                  <a:schemeClr val="accent3">
                    <a:lumMod val="20000"/>
                    <a:lumOff val="80000"/>
                  </a:schemeClr>
                </a:solidFill>
                <a:latin typeface="Roboto" panose="02000000000000000000" pitchFamily="2" charset="0"/>
                <a:ea typeface="Roboto" panose="02000000000000000000" pitchFamily="2" charset="0"/>
              </a:rPr>
              <a:t>2026-08-26</a:t>
            </a:r>
          </a:p>
        </p:txBody>
      </p:sp>
      <p:sp>
        <p:nvSpPr>
          <p:cNvPr id="4" name="Rectangle 3">
            <a:extLst>
              <a:ext uri="{FF2B5EF4-FFF2-40B4-BE49-F238E27FC236}">
                <a16:creationId xmlns:a16="http://schemas.microsoft.com/office/drawing/2014/main" id="{74CD8A9C-5CEA-AD48-B075-78C4F71699EB}"/>
              </a:ext>
            </a:extLst>
          </p:cNvPr>
          <p:cNvSpPr/>
          <p:nvPr/>
        </p:nvSpPr>
        <p:spPr>
          <a:xfrm>
            <a:off x="668909" y="5208838"/>
            <a:ext cx="6374149" cy="523220"/>
          </a:xfrm>
          <a:prstGeom prst="rect">
            <a:avLst/>
          </a:prstGeom>
        </p:spPr>
        <p:txBody>
          <a:bodyPr wrap="square">
            <a:spAutoFit/>
          </a:bodyPr>
          <a:lstStyle/>
          <a:p>
            <a:r>
              <a:rPr lang="en-US" dirty="0">
                <a:solidFill>
                  <a:schemeClr val="accent3">
                    <a:lumMod val="20000"/>
                    <a:lumOff val="80000"/>
                  </a:schemeClr>
                </a:solidFill>
                <a:latin typeface="Roboto" panose="02000000000000000000" pitchFamily="2" charset="0"/>
                <a:ea typeface="Roboto" panose="02000000000000000000" pitchFamily="2" charset="0"/>
              </a:rPr>
              <a:t>Charles Wilson</a:t>
            </a:r>
          </a:p>
          <a:p>
            <a:r>
              <a:rPr lang="en-US" dirty="0">
                <a:solidFill>
                  <a:schemeClr val="accent3">
                    <a:lumMod val="20000"/>
                    <a:lumOff val="80000"/>
                  </a:schemeClr>
                </a:solidFill>
                <a:latin typeface="Roboto" panose="02000000000000000000" pitchFamily="2" charset="0"/>
                <a:ea typeface="Roboto" panose="02000000000000000000" pitchFamily="2" charset="0"/>
              </a:rPr>
              <a:t>Staff Product Cybersecurity Architect</a:t>
            </a:r>
          </a:p>
        </p:txBody>
      </p:sp>
      <p:sp>
        <p:nvSpPr>
          <p:cNvPr id="3" name="Rectangle 2">
            <a:extLst>
              <a:ext uri="{FF2B5EF4-FFF2-40B4-BE49-F238E27FC236}">
                <a16:creationId xmlns:a16="http://schemas.microsoft.com/office/drawing/2014/main" id="{A883CDB7-CE2B-7EA1-6C94-8ECC474734EA}"/>
              </a:ext>
            </a:extLst>
          </p:cNvPr>
          <p:cNvSpPr/>
          <p:nvPr/>
        </p:nvSpPr>
        <p:spPr>
          <a:xfrm>
            <a:off x="10202822" y="139594"/>
            <a:ext cx="1866217" cy="276999"/>
          </a:xfrm>
          <a:prstGeom prst="rect">
            <a:avLst/>
          </a:prstGeom>
        </p:spPr>
        <p:txBody>
          <a:bodyPr wrap="none">
            <a:spAutoFit/>
          </a:bodyPr>
          <a:lstStyle/>
          <a:p>
            <a:pPr algn="r"/>
            <a:r>
              <a:rPr lang="en-US" sz="1200" dirty="0">
                <a:solidFill>
                  <a:schemeClr val="accent3">
                    <a:lumMod val="20000"/>
                    <a:lumOff val="80000"/>
                  </a:schemeClr>
                </a:solidFill>
                <a:latin typeface="Roboto" panose="02000000000000000000" pitchFamily="2" charset="0"/>
                <a:ea typeface="Roboto" panose="02000000000000000000" pitchFamily="2" charset="0"/>
              </a:rPr>
              <a:t>AVCDL-Foundation-9.1.2</a:t>
            </a: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sp>
        <p:nvSpPr>
          <p:cNvPr id="1199" name="Google Shape;1199;p156"/>
          <p:cNvSpPr txBox="1">
            <a:spLocks noGrp="1"/>
          </p:cNvSpPr>
          <p:nvPr>
            <p:ph type="title"/>
          </p:nvPr>
        </p:nvSpPr>
        <p:spPr>
          <a:xfrm>
            <a:off x="455617" y="460684"/>
            <a:ext cx="11277833" cy="524399"/>
          </a:xfrm>
          <a:prstGeom prst="rect">
            <a:avLst/>
          </a:prstGeom>
        </p:spPr>
        <p:txBody>
          <a:bodyPr spcFirstLastPara="1" wrap="square" lIns="0" tIns="0" rIns="0" bIns="0" anchor="ctr" anchorCtr="0">
            <a:noAutofit/>
          </a:bodyPr>
          <a:lstStyle/>
          <a:p>
            <a:pPr>
              <a:lnSpc>
                <a:spcPct val="100000"/>
              </a:lnSpc>
            </a:pPr>
            <a:r>
              <a:rPr lang="en" dirty="0"/>
              <a:t>Training Path</a:t>
            </a:r>
            <a:endParaRPr dirty="0"/>
          </a:p>
        </p:txBody>
      </p:sp>
      <p:pic>
        <p:nvPicPr>
          <p:cNvPr id="7" name="Picture 6">
            <a:extLst>
              <a:ext uri="{FF2B5EF4-FFF2-40B4-BE49-F238E27FC236}">
                <a16:creationId xmlns:a16="http://schemas.microsoft.com/office/drawing/2014/main" id="{C52B1944-9D2E-B660-DF63-98B36A597D37}"/>
              </a:ext>
            </a:extLst>
          </p:cNvPr>
          <p:cNvPicPr>
            <a:picLocks noChangeAspect="1"/>
          </p:cNvPicPr>
          <p:nvPr/>
        </p:nvPicPr>
        <p:blipFill>
          <a:blip r:embed="rId3"/>
          <a:srcRect/>
          <a:stretch/>
        </p:blipFill>
        <p:spPr>
          <a:xfrm>
            <a:off x="741953" y="326959"/>
            <a:ext cx="10704919" cy="6204081"/>
          </a:xfrm>
          <a:prstGeom prst="rect">
            <a:avLst/>
          </a:prstGeom>
          <a:effectLst/>
        </p:spPr>
      </p:pic>
    </p:spTree>
    <p:extLst>
      <p:ext uri="{BB962C8B-B14F-4D97-AF65-F5344CB8AC3E}">
        <p14:creationId xmlns:p14="http://schemas.microsoft.com/office/powerpoint/2010/main" val="18622424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4435D019-8E84-BEF1-6D20-0079C9B9A767}"/>
            </a:ext>
          </a:extLst>
        </p:cNvPr>
        <p:cNvGrpSpPr/>
        <p:nvPr/>
      </p:nvGrpSpPr>
      <p:grpSpPr>
        <a:xfrm>
          <a:off x="0" y="0"/>
          <a:ext cx="0" cy="0"/>
          <a:chOff x="0" y="0"/>
          <a:chExt cx="0" cy="0"/>
        </a:xfrm>
      </p:grpSpPr>
      <p:sp>
        <p:nvSpPr>
          <p:cNvPr id="7" name="Google Shape;873;p146">
            <a:extLst>
              <a:ext uri="{FF2B5EF4-FFF2-40B4-BE49-F238E27FC236}">
                <a16:creationId xmlns:a16="http://schemas.microsoft.com/office/drawing/2014/main" id="{1A175A47-8003-CA64-DF9A-064FBF3329EE}"/>
              </a:ext>
            </a:extLst>
          </p:cNvPr>
          <p:cNvSpPr txBox="1">
            <a:spLocks noGrp="1"/>
          </p:cNvSpPr>
          <p:nvPr>
            <p:ph type="title"/>
          </p:nvPr>
        </p:nvSpPr>
        <p:spPr>
          <a:xfrm>
            <a:off x="-1" y="0"/>
            <a:ext cx="12188825" cy="6858000"/>
          </a:xfrm>
          <a:prstGeom prst="rect">
            <a:avLst/>
          </a:prstGeom>
          <a:gradFill>
            <a:gsLst>
              <a:gs pos="99000">
                <a:schemeClr val="accent3">
                  <a:lumMod val="60000"/>
                  <a:lumOff val="40000"/>
                </a:schemeClr>
              </a:gs>
              <a:gs pos="0">
                <a:srgbClr val="7030A0"/>
              </a:gs>
            </a:gsLst>
            <a:lin ang="2700000" scaled="0"/>
          </a:gradFill>
          <a:ln>
            <a:noFill/>
          </a:ln>
        </p:spPr>
        <p:txBody>
          <a:bodyPr spcFirstLastPara="1" wrap="square" lIns="0" tIns="0" rIns="0" bIns="0" anchor="ctr" anchorCtr="0">
            <a:noAutofit/>
          </a:bodyPr>
          <a:lstStyle/>
          <a:p>
            <a:pPr algn="ctr">
              <a:lnSpc>
                <a:spcPct val="100000"/>
              </a:lnSpc>
            </a:pPr>
            <a:r>
              <a:rPr lang="en" sz="5400" dirty="0"/>
              <a:t>Workflow</a:t>
            </a:r>
            <a:endParaRPr sz="6600" dirty="0"/>
          </a:p>
        </p:txBody>
      </p:sp>
    </p:spTree>
    <p:extLst>
      <p:ext uri="{BB962C8B-B14F-4D97-AF65-F5344CB8AC3E}">
        <p14:creationId xmlns:p14="http://schemas.microsoft.com/office/powerpoint/2010/main" val="1900895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sp>
        <p:nvSpPr>
          <p:cNvPr id="1199" name="Google Shape;1199;p156"/>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Process Workflow</a:t>
            </a:r>
            <a:endParaRPr dirty="0"/>
          </a:p>
        </p:txBody>
      </p:sp>
      <p:pic>
        <p:nvPicPr>
          <p:cNvPr id="4" name="Picture 3">
            <a:extLst>
              <a:ext uri="{FF2B5EF4-FFF2-40B4-BE49-F238E27FC236}">
                <a16:creationId xmlns:a16="http://schemas.microsoft.com/office/drawing/2014/main" id="{06D5297C-03CA-BA6D-C8DA-9024375FD8D4}"/>
              </a:ext>
            </a:extLst>
          </p:cNvPr>
          <p:cNvPicPr>
            <a:picLocks noChangeAspect="1"/>
          </p:cNvPicPr>
          <p:nvPr/>
        </p:nvPicPr>
        <p:blipFill>
          <a:blip r:embed="rId3"/>
          <a:srcRect/>
          <a:stretch/>
        </p:blipFill>
        <p:spPr>
          <a:xfrm>
            <a:off x="449481" y="1383992"/>
            <a:ext cx="11271697" cy="4635090"/>
          </a:xfrm>
          <a:prstGeom prst="rect">
            <a:avLst/>
          </a:prstGeom>
        </p:spPr>
      </p:pic>
    </p:spTree>
    <p:extLst>
      <p:ext uri="{BB962C8B-B14F-4D97-AF65-F5344CB8AC3E}">
        <p14:creationId xmlns:p14="http://schemas.microsoft.com/office/powerpoint/2010/main" val="38767556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7BF88213-17C4-2C54-A95A-FEFA6C094196}"/>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A38DA48E-1821-E6B1-661A-24BFC68601D2}"/>
              </a:ext>
            </a:extLst>
          </p:cNvPr>
          <p:cNvPicPr>
            <a:picLocks noChangeAspect="1"/>
          </p:cNvPicPr>
          <p:nvPr/>
        </p:nvPicPr>
        <p:blipFill>
          <a:blip r:embed="rId3"/>
          <a:srcRect/>
          <a:stretch/>
        </p:blipFill>
        <p:spPr>
          <a:xfrm>
            <a:off x="3714607" y="1385826"/>
            <a:ext cx="4124054" cy="4640879"/>
          </a:xfrm>
          <a:prstGeom prst="rect">
            <a:avLst/>
          </a:prstGeom>
        </p:spPr>
      </p:pic>
      <p:sp>
        <p:nvSpPr>
          <p:cNvPr id="1199" name="Google Shape;1199;p156">
            <a:extLst>
              <a:ext uri="{FF2B5EF4-FFF2-40B4-BE49-F238E27FC236}">
                <a16:creationId xmlns:a16="http://schemas.microsoft.com/office/drawing/2014/main" id="{FD267F13-C526-B3EA-9138-D65BB4043572}"/>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Process Workflow</a:t>
            </a:r>
            <a:endParaRPr dirty="0"/>
          </a:p>
        </p:txBody>
      </p:sp>
      <p:pic>
        <p:nvPicPr>
          <p:cNvPr id="4" name="Picture 3">
            <a:extLst>
              <a:ext uri="{FF2B5EF4-FFF2-40B4-BE49-F238E27FC236}">
                <a16:creationId xmlns:a16="http://schemas.microsoft.com/office/drawing/2014/main" id="{B63E55B6-A883-8F20-F38F-F8490933B7D3}"/>
              </a:ext>
            </a:extLst>
          </p:cNvPr>
          <p:cNvPicPr>
            <a:picLocks noChangeAspect="1"/>
          </p:cNvPicPr>
          <p:nvPr/>
        </p:nvPicPr>
        <p:blipFill>
          <a:blip r:embed="rId4">
            <a:alphaModFix amt="10000"/>
          </a:blip>
          <a:srcRect/>
          <a:stretch/>
        </p:blipFill>
        <p:spPr>
          <a:xfrm>
            <a:off x="449481" y="1383992"/>
            <a:ext cx="11271697" cy="4635090"/>
          </a:xfrm>
          <a:prstGeom prst="rect">
            <a:avLst/>
          </a:prstGeom>
        </p:spPr>
      </p:pic>
    </p:spTree>
    <p:extLst>
      <p:ext uri="{BB962C8B-B14F-4D97-AF65-F5344CB8AC3E}">
        <p14:creationId xmlns:p14="http://schemas.microsoft.com/office/powerpoint/2010/main" val="11951747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pic>
        <p:nvPicPr>
          <p:cNvPr id="3" name="Picture 2">
            <a:extLst>
              <a:ext uri="{FF2B5EF4-FFF2-40B4-BE49-F238E27FC236}">
                <a16:creationId xmlns:a16="http://schemas.microsoft.com/office/drawing/2014/main" id="{5AC73DB0-8895-6359-F5E8-C01F36F83F72}"/>
              </a:ext>
            </a:extLst>
          </p:cNvPr>
          <p:cNvPicPr>
            <a:picLocks noChangeAspect="1"/>
          </p:cNvPicPr>
          <p:nvPr/>
        </p:nvPicPr>
        <p:blipFill>
          <a:blip r:embed="rId3"/>
          <a:srcRect/>
          <a:stretch/>
        </p:blipFill>
        <p:spPr>
          <a:xfrm>
            <a:off x="3722273" y="1058487"/>
            <a:ext cx="4744278" cy="5338829"/>
          </a:xfrm>
          <a:prstGeom prst="rect">
            <a:avLst/>
          </a:prstGeom>
        </p:spPr>
      </p:pic>
      <p:sp>
        <p:nvSpPr>
          <p:cNvPr id="1199" name="Google Shape;1199;p156"/>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Candidate Risking Activity</a:t>
            </a:r>
            <a:endParaRPr dirty="0"/>
          </a:p>
        </p:txBody>
      </p:sp>
      <p:sp>
        <p:nvSpPr>
          <p:cNvPr id="8" name="TextBox 7">
            <a:extLst>
              <a:ext uri="{FF2B5EF4-FFF2-40B4-BE49-F238E27FC236}">
                <a16:creationId xmlns:a16="http://schemas.microsoft.com/office/drawing/2014/main" id="{64FF8743-E4B6-DD11-90D6-630AB500C2E7}"/>
              </a:ext>
            </a:extLst>
          </p:cNvPr>
          <p:cNvSpPr txBox="1"/>
          <p:nvPr/>
        </p:nvSpPr>
        <p:spPr>
          <a:xfrm>
            <a:off x="455618" y="3173903"/>
            <a:ext cx="2432397" cy="1107996"/>
          </a:xfrm>
          <a:prstGeom prst="rect">
            <a:avLst/>
          </a:prstGeom>
          <a:noFill/>
        </p:spPr>
        <p:txBody>
          <a:bodyPr wrap="none" rtlCol="0">
            <a:spAutoFit/>
          </a:bodyPr>
          <a:lstStyle/>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Impact</a:t>
            </a:r>
          </a:p>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System level</a:t>
            </a:r>
          </a:p>
        </p:txBody>
      </p:sp>
    </p:spTree>
    <p:extLst>
      <p:ext uri="{BB962C8B-B14F-4D97-AF65-F5344CB8AC3E}">
        <p14:creationId xmlns:p14="http://schemas.microsoft.com/office/powerpoint/2010/main" val="37068029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sp>
        <p:nvSpPr>
          <p:cNvPr id="1199" name="Google Shape;1199;p156"/>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Impact Rubrics</a:t>
            </a:r>
            <a:endParaRPr dirty="0"/>
          </a:p>
        </p:txBody>
      </p:sp>
      <p:sp>
        <p:nvSpPr>
          <p:cNvPr id="2" name="TextBox 1">
            <a:extLst>
              <a:ext uri="{FF2B5EF4-FFF2-40B4-BE49-F238E27FC236}">
                <a16:creationId xmlns:a16="http://schemas.microsoft.com/office/drawing/2014/main" id="{7815AB7C-3B20-E395-B8D1-B8413068BE32}"/>
              </a:ext>
            </a:extLst>
          </p:cNvPr>
          <p:cNvSpPr txBox="1"/>
          <p:nvPr/>
        </p:nvSpPr>
        <p:spPr>
          <a:xfrm>
            <a:off x="455618" y="1437554"/>
            <a:ext cx="4719882" cy="2277547"/>
          </a:xfrm>
          <a:prstGeom prst="rect">
            <a:avLst/>
          </a:prstGeom>
          <a:noFill/>
        </p:spPr>
        <p:txBody>
          <a:bodyPr wrap="none" rtlCol="0">
            <a:spAutoFit/>
          </a:bodyPr>
          <a:lstStyle/>
          <a:p>
            <a:pPr marL="236538" indent="-236538">
              <a:spcAft>
                <a:spcPts val="1200"/>
              </a:spcAft>
              <a:buFont typeface="Arial" panose="020B0604020202020204" pitchFamily="34" charset="0"/>
              <a:buChar char="•"/>
            </a:pPr>
            <a:r>
              <a:rPr lang="en-US" sz="2800" dirty="0"/>
              <a:t>ISO 26262</a:t>
            </a:r>
          </a:p>
          <a:p>
            <a:pPr marL="236538" indent="-236538">
              <a:spcAft>
                <a:spcPts val="1200"/>
              </a:spcAft>
              <a:buFont typeface="Arial" panose="020B0604020202020204" pitchFamily="34" charset="0"/>
              <a:buChar char="•"/>
            </a:pPr>
            <a:r>
              <a:rPr lang="en-US" sz="2800" dirty="0"/>
              <a:t>ISO 14971</a:t>
            </a:r>
          </a:p>
          <a:p>
            <a:pPr marL="236538" indent="-236538">
              <a:spcAft>
                <a:spcPts val="1200"/>
              </a:spcAft>
              <a:buFont typeface="Arial" panose="020B0604020202020204" pitchFamily="34" charset="0"/>
              <a:buChar char="•"/>
            </a:pPr>
            <a:r>
              <a:rPr lang="en-US" sz="2800" dirty="0"/>
              <a:t>FIPS 199</a:t>
            </a:r>
          </a:p>
          <a:p>
            <a:pPr marL="236538" indent="-236538">
              <a:spcAft>
                <a:spcPts val="1200"/>
              </a:spcAft>
              <a:buFont typeface="Arial" panose="020B0604020202020204" pitchFamily="34" charset="0"/>
              <a:buChar char="•"/>
            </a:pPr>
            <a:r>
              <a:rPr lang="en-US" sz="2800" dirty="0"/>
              <a:t>NIST SP 800-30 Table H-3</a:t>
            </a:r>
          </a:p>
        </p:txBody>
      </p:sp>
      <p:pic>
        <p:nvPicPr>
          <p:cNvPr id="4" name="Picture 3">
            <a:extLst>
              <a:ext uri="{FF2B5EF4-FFF2-40B4-BE49-F238E27FC236}">
                <a16:creationId xmlns:a16="http://schemas.microsoft.com/office/drawing/2014/main" id="{4746F1DD-57F0-7ED2-9FFA-C49E9F7BA777}"/>
              </a:ext>
            </a:extLst>
          </p:cNvPr>
          <p:cNvPicPr>
            <a:picLocks noChangeAspect="1"/>
          </p:cNvPicPr>
          <p:nvPr/>
        </p:nvPicPr>
        <p:blipFill>
          <a:blip r:embed="rId3"/>
          <a:stretch>
            <a:fillRect/>
          </a:stretch>
        </p:blipFill>
        <p:spPr>
          <a:xfrm>
            <a:off x="7042364" y="1437554"/>
            <a:ext cx="4690843" cy="2277547"/>
          </a:xfrm>
          <a:prstGeom prst="rect">
            <a:avLst/>
          </a:prstGeom>
        </p:spPr>
      </p:pic>
    </p:spTree>
    <p:extLst>
      <p:ext uri="{BB962C8B-B14F-4D97-AF65-F5344CB8AC3E}">
        <p14:creationId xmlns:p14="http://schemas.microsoft.com/office/powerpoint/2010/main" val="13581227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76B7C4B2-E0B5-A46F-0D08-B2A668C9559D}"/>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EB33BB3D-EA0B-F2D8-CF7A-36E9FDE1B16B}"/>
              </a:ext>
            </a:extLst>
          </p:cNvPr>
          <p:cNvPicPr>
            <a:picLocks noChangeAspect="1"/>
          </p:cNvPicPr>
          <p:nvPr/>
        </p:nvPicPr>
        <p:blipFill>
          <a:blip r:embed="rId3"/>
          <a:stretch>
            <a:fillRect/>
          </a:stretch>
        </p:blipFill>
        <p:spPr>
          <a:xfrm>
            <a:off x="5399877" y="1443528"/>
            <a:ext cx="6333330" cy="2271574"/>
          </a:xfrm>
          <a:prstGeom prst="rect">
            <a:avLst/>
          </a:prstGeom>
        </p:spPr>
      </p:pic>
      <p:sp>
        <p:nvSpPr>
          <p:cNvPr id="1199" name="Google Shape;1199;p156">
            <a:extLst>
              <a:ext uri="{FF2B5EF4-FFF2-40B4-BE49-F238E27FC236}">
                <a16:creationId xmlns:a16="http://schemas.microsoft.com/office/drawing/2014/main" id="{049C63A1-0E40-94F0-AFF4-4B7CC7466408}"/>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Impact Rubrics </a:t>
            </a:r>
            <a:r>
              <a:rPr lang="en" dirty="0">
                <a:solidFill>
                  <a:srgbClr val="FF0000"/>
                </a:solidFill>
              </a:rPr>
              <a:t>(Overlay 14971)</a:t>
            </a:r>
            <a:endParaRPr dirty="0">
              <a:solidFill>
                <a:srgbClr val="FF0000"/>
              </a:solidFill>
            </a:endParaRPr>
          </a:p>
        </p:txBody>
      </p:sp>
    </p:spTree>
    <p:extLst>
      <p:ext uri="{BB962C8B-B14F-4D97-AF65-F5344CB8AC3E}">
        <p14:creationId xmlns:p14="http://schemas.microsoft.com/office/powerpoint/2010/main" val="3819488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7AA69718-4598-FEFA-F635-8E5FED98AA8E}"/>
            </a:ext>
          </a:extLst>
        </p:cNvPr>
        <p:cNvGrpSpPr/>
        <p:nvPr/>
      </p:nvGrpSpPr>
      <p:grpSpPr>
        <a:xfrm>
          <a:off x="0" y="0"/>
          <a:ext cx="0" cy="0"/>
          <a:chOff x="0" y="0"/>
          <a:chExt cx="0" cy="0"/>
        </a:xfrm>
      </p:grpSpPr>
      <p:sp>
        <p:nvSpPr>
          <p:cNvPr id="1199" name="Google Shape;1199;p156">
            <a:extLst>
              <a:ext uri="{FF2B5EF4-FFF2-40B4-BE49-F238E27FC236}">
                <a16:creationId xmlns:a16="http://schemas.microsoft.com/office/drawing/2014/main" id="{FD1D2DA0-B921-90AE-A66B-A08A4E1430E1}"/>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Impact Rubrics </a:t>
            </a:r>
            <a:r>
              <a:rPr lang="en" dirty="0">
                <a:solidFill>
                  <a:srgbClr val="FF0000"/>
                </a:solidFill>
              </a:rPr>
              <a:t>(Overlay 199)</a:t>
            </a:r>
            <a:endParaRPr dirty="0">
              <a:solidFill>
                <a:srgbClr val="FF0000"/>
              </a:solidFill>
            </a:endParaRPr>
          </a:p>
        </p:txBody>
      </p:sp>
      <p:pic>
        <p:nvPicPr>
          <p:cNvPr id="8" name="Picture 7">
            <a:extLst>
              <a:ext uri="{FF2B5EF4-FFF2-40B4-BE49-F238E27FC236}">
                <a16:creationId xmlns:a16="http://schemas.microsoft.com/office/drawing/2014/main" id="{FDD3B7F3-8079-6517-28A5-3D3C1F76D678}"/>
              </a:ext>
            </a:extLst>
          </p:cNvPr>
          <p:cNvPicPr>
            <a:picLocks noChangeAspect="1"/>
          </p:cNvPicPr>
          <p:nvPr/>
        </p:nvPicPr>
        <p:blipFill>
          <a:blip r:embed="rId3"/>
          <a:stretch>
            <a:fillRect/>
          </a:stretch>
        </p:blipFill>
        <p:spPr>
          <a:xfrm>
            <a:off x="7873812" y="1438661"/>
            <a:ext cx="3859395" cy="2276440"/>
          </a:xfrm>
          <a:prstGeom prst="rect">
            <a:avLst/>
          </a:prstGeom>
        </p:spPr>
      </p:pic>
    </p:spTree>
    <p:extLst>
      <p:ext uri="{BB962C8B-B14F-4D97-AF65-F5344CB8AC3E}">
        <p14:creationId xmlns:p14="http://schemas.microsoft.com/office/powerpoint/2010/main" val="18183358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68817AA2-A20B-BE12-C165-11E118FF8D51}"/>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D43E115D-BEEC-5AF8-3AEF-AEF915FB27E3}"/>
              </a:ext>
            </a:extLst>
          </p:cNvPr>
          <p:cNvPicPr>
            <a:picLocks noChangeAspect="1"/>
          </p:cNvPicPr>
          <p:nvPr/>
        </p:nvPicPr>
        <p:blipFill>
          <a:blip r:embed="rId3"/>
          <a:stretch>
            <a:fillRect/>
          </a:stretch>
        </p:blipFill>
        <p:spPr>
          <a:xfrm>
            <a:off x="7205487" y="1438660"/>
            <a:ext cx="4527963" cy="2275245"/>
          </a:xfrm>
          <a:prstGeom prst="rect">
            <a:avLst/>
          </a:prstGeom>
        </p:spPr>
      </p:pic>
      <p:sp>
        <p:nvSpPr>
          <p:cNvPr id="1199" name="Google Shape;1199;p156">
            <a:extLst>
              <a:ext uri="{FF2B5EF4-FFF2-40B4-BE49-F238E27FC236}">
                <a16:creationId xmlns:a16="http://schemas.microsoft.com/office/drawing/2014/main" id="{B1BAB2E1-1045-0FB8-195E-B10803893A86}"/>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Impact Rubrics </a:t>
            </a:r>
            <a:r>
              <a:rPr lang="en" dirty="0">
                <a:solidFill>
                  <a:srgbClr val="FF0000"/>
                </a:solidFill>
              </a:rPr>
              <a:t>(Overlay 800-30)</a:t>
            </a:r>
            <a:endParaRPr dirty="0">
              <a:solidFill>
                <a:srgbClr val="FF0000"/>
              </a:solidFill>
            </a:endParaRPr>
          </a:p>
        </p:txBody>
      </p:sp>
      <p:pic>
        <p:nvPicPr>
          <p:cNvPr id="3" name="Picture 2">
            <a:extLst>
              <a:ext uri="{FF2B5EF4-FFF2-40B4-BE49-F238E27FC236}">
                <a16:creationId xmlns:a16="http://schemas.microsoft.com/office/drawing/2014/main" id="{DBF0C764-1DDA-261F-0271-EDF4ECE3F22C}"/>
              </a:ext>
            </a:extLst>
          </p:cNvPr>
          <p:cNvPicPr>
            <a:picLocks noChangeAspect="1"/>
          </p:cNvPicPr>
          <p:nvPr/>
        </p:nvPicPr>
        <p:blipFill>
          <a:blip r:embed="rId4"/>
          <a:srcRect t="2" b="32902"/>
          <a:stretch>
            <a:fillRect/>
          </a:stretch>
        </p:blipFill>
        <p:spPr>
          <a:xfrm>
            <a:off x="2208212" y="4846953"/>
            <a:ext cx="7772400" cy="768096"/>
          </a:xfrm>
          <a:prstGeom prst="rect">
            <a:avLst/>
          </a:prstGeom>
        </p:spPr>
      </p:pic>
    </p:spTree>
    <p:extLst>
      <p:ext uri="{BB962C8B-B14F-4D97-AF65-F5344CB8AC3E}">
        <p14:creationId xmlns:p14="http://schemas.microsoft.com/office/powerpoint/2010/main" val="10274212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A5B88358-72C7-8AD8-7247-865B380ED046}"/>
            </a:ext>
          </a:extLst>
        </p:cNvPr>
        <p:cNvGrpSpPr/>
        <p:nvPr/>
      </p:nvGrpSpPr>
      <p:grpSpPr>
        <a:xfrm>
          <a:off x="0" y="0"/>
          <a:ext cx="0" cy="0"/>
          <a:chOff x="0" y="0"/>
          <a:chExt cx="0" cy="0"/>
        </a:xfrm>
      </p:grpSpPr>
      <p:sp>
        <p:nvSpPr>
          <p:cNvPr id="7" name="Google Shape;873;p146">
            <a:extLst>
              <a:ext uri="{FF2B5EF4-FFF2-40B4-BE49-F238E27FC236}">
                <a16:creationId xmlns:a16="http://schemas.microsoft.com/office/drawing/2014/main" id="{DE91CF19-B022-0824-E4EF-E74F7564FF18}"/>
              </a:ext>
            </a:extLst>
          </p:cNvPr>
          <p:cNvSpPr txBox="1">
            <a:spLocks noGrp="1"/>
          </p:cNvSpPr>
          <p:nvPr>
            <p:ph type="title"/>
          </p:nvPr>
        </p:nvSpPr>
        <p:spPr>
          <a:xfrm>
            <a:off x="-1" y="0"/>
            <a:ext cx="12188825" cy="6858000"/>
          </a:xfrm>
          <a:prstGeom prst="rect">
            <a:avLst/>
          </a:prstGeom>
          <a:gradFill>
            <a:gsLst>
              <a:gs pos="99000">
                <a:schemeClr val="accent3">
                  <a:lumMod val="60000"/>
                  <a:lumOff val="40000"/>
                </a:schemeClr>
              </a:gs>
              <a:gs pos="0">
                <a:srgbClr val="7030A0"/>
              </a:gs>
            </a:gsLst>
            <a:lin ang="2700000" scaled="0"/>
          </a:gradFill>
          <a:ln>
            <a:noFill/>
          </a:ln>
        </p:spPr>
        <p:txBody>
          <a:bodyPr spcFirstLastPara="1" wrap="square" lIns="0" tIns="0" rIns="0" bIns="0" anchor="ctr" anchorCtr="0">
            <a:noAutofit/>
          </a:bodyPr>
          <a:lstStyle/>
          <a:p>
            <a:pPr algn="ctr">
              <a:lnSpc>
                <a:spcPct val="100000"/>
              </a:lnSpc>
            </a:pPr>
            <a:r>
              <a:rPr lang="en" sz="5400" dirty="0"/>
              <a:t>Example</a:t>
            </a:r>
            <a:endParaRPr sz="6600" dirty="0"/>
          </a:p>
        </p:txBody>
      </p:sp>
    </p:spTree>
    <p:extLst>
      <p:ext uri="{BB962C8B-B14F-4D97-AF65-F5344CB8AC3E}">
        <p14:creationId xmlns:p14="http://schemas.microsoft.com/office/powerpoint/2010/main" val="14891019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147EDBC1-AB5D-9258-0391-A692B2402547}"/>
            </a:ext>
          </a:extLst>
        </p:cNvPr>
        <p:cNvGrpSpPr/>
        <p:nvPr/>
      </p:nvGrpSpPr>
      <p:grpSpPr>
        <a:xfrm>
          <a:off x="0" y="0"/>
          <a:ext cx="0" cy="0"/>
          <a:chOff x="0" y="0"/>
          <a:chExt cx="0" cy="0"/>
        </a:xfrm>
      </p:grpSpPr>
      <p:sp>
        <p:nvSpPr>
          <p:cNvPr id="1199" name="Google Shape;1199;p156">
            <a:extLst>
              <a:ext uri="{FF2B5EF4-FFF2-40B4-BE49-F238E27FC236}">
                <a16:creationId xmlns:a16="http://schemas.microsoft.com/office/drawing/2014/main" id="{8AC02860-4F3E-99A0-F62F-A6D75788050F}"/>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Reference Documents</a:t>
            </a:r>
            <a:endParaRPr dirty="0"/>
          </a:p>
        </p:txBody>
      </p:sp>
      <p:pic>
        <p:nvPicPr>
          <p:cNvPr id="3" name="Picture 2">
            <a:extLst>
              <a:ext uri="{FF2B5EF4-FFF2-40B4-BE49-F238E27FC236}">
                <a16:creationId xmlns:a16="http://schemas.microsoft.com/office/drawing/2014/main" id="{B1448C66-9353-87F7-FB13-9558A5B8FBBB}"/>
              </a:ext>
            </a:extLst>
          </p:cNvPr>
          <p:cNvPicPr>
            <a:picLocks noChangeAspect="1"/>
          </p:cNvPicPr>
          <p:nvPr/>
        </p:nvPicPr>
        <p:blipFill>
          <a:blip r:embed="rId3"/>
          <a:stretch>
            <a:fillRect/>
          </a:stretch>
        </p:blipFill>
        <p:spPr>
          <a:xfrm>
            <a:off x="2208210" y="1875295"/>
            <a:ext cx="7772400" cy="1132466"/>
          </a:xfrm>
          <a:prstGeom prst="rect">
            <a:avLst/>
          </a:prstGeom>
        </p:spPr>
      </p:pic>
    </p:spTree>
    <p:extLst>
      <p:ext uri="{BB962C8B-B14F-4D97-AF65-F5344CB8AC3E}">
        <p14:creationId xmlns:p14="http://schemas.microsoft.com/office/powerpoint/2010/main" val="13855861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E032475E-2069-88B9-B460-6CFE896407E0}"/>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0C75ABA4-585B-A8B5-4605-8663B2B13AA3}"/>
              </a:ext>
            </a:extLst>
          </p:cNvPr>
          <p:cNvPicPr>
            <a:picLocks noChangeAspect="1"/>
          </p:cNvPicPr>
          <p:nvPr/>
        </p:nvPicPr>
        <p:blipFill>
          <a:blip r:embed="rId3"/>
          <a:stretch>
            <a:fillRect/>
          </a:stretch>
        </p:blipFill>
        <p:spPr>
          <a:xfrm>
            <a:off x="3509827" y="1320069"/>
            <a:ext cx="5177636" cy="2017195"/>
          </a:xfrm>
          <a:prstGeom prst="rect">
            <a:avLst/>
          </a:prstGeom>
        </p:spPr>
      </p:pic>
      <p:sp>
        <p:nvSpPr>
          <p:cNvPr id="1199" name="Google Shape;1199;p156">
            <a:extLst>
              <a:ext uri="{FF2B5EF4-FFF2-40B4-BE49-F238E27FC236}">
                <a16:creationId xmlns:a16="http://schemas.microsoft.com/office/drawing/2014/main" id="{1A8BAB41-A7AE-E0DF-2C22-36F85AF15C42}"/>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Label Mapping</a:t>
            </a:r>
            <a:endParaRPr dirty="0"/>
          </a:p>
        </p:txBody>
      </p:sp>
      <p:pic>
        <p:nvPicPr>
          <p:cNvPr id="3" name="Picture 2">
            <a:extLst>
              <a:ext uri="{FF2B5EF4-FFF2-40B4-BE49-F238E27FC236}">
                <a16:creationId xmlns:a16="http://schemas.microsoft.com/office/drawing/2014/main" id="{F1DE8BCC-1E1B-9DDF-A0A2-D9C45DD920E5}"/>
              </a:ext>
            </a:extLst>
          </p:cNvPr>
          <p:cNvPicPr>
            <a:picLocks noChangeAspect="1"/>
          </p:cNvPicPr>
          <p:nvPr/>
        </p:nvPicPr>
        <p:blipFill>
          <a:blip r:embed="rId4"/>
          <a:stretch>
            <a:fillRect/>
          </a:stretch>
        </p:blipFill>
        <p:spPr>
          <a:xfrm>
            <a:off x="3793969" y="3923834"/>
            <a:ext cx="4600886" cy="2275970"/>
          </a:xfrm>
          <a:prstGeom prst="rect">
            <a:avLst/>
          </a:prstGeom>
        </p:spPr>
      </p:pic>
    </p:spTree>
    <p:extLst>
      <p:ext uri="{BB962C8B-B14F-4D97-AF65-F5344CB8AC3E}">
        <p14:creationId xmlns:p14="http://schemas.microsoft.com/office/powerpoint/2010/main" val="12080550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CD55EA73-628B-F214-F206-D771D407D4C0}"/>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F5A4B752-29BC-5B6B-201C-24017C8637F6}"/>
              </a:ext>
            </a:extLst>
          </p:cNvPr>
          <p:cNvPicPr>
            <a:picLocks noChangeAspect="1"/>
          </p:cNvPicPr>
          <p:nvPr/>
        </p:nvPicPr>
        <p:blipFill>
          <a:blip r:embed="rId3"/>
          <a:stretch>
            <a:fillRect/>
          </a:stretch>
        </p:blipFill>
        <p:spPr>
          <a:xfrm>
            <a:off x="4411456" y="575436"/>
            <a:ext cx="7101377" cy="5707127"/>
          </a:xfrm>
          <a:prstGeom prst="rect">
            <a:avLst/>
          </a:prstGeom>
        </p:spPr>
      </p:pic>
      <p:sp>
        <p:nvSpPr>
          <p:cNvPr id="1199" name="Google Shape;1199;p156">
            <a:extLst>
              <a:ext uri="{FF2B5EF4-FFF2-40B4-BE49-F238E27FC236}">
                <a16:creationId xmlns:a16="http://schemas.microsoft.com/office/drawing/2014/main" id="{523B1EBF-80BD-295B-0703-4CE7434B7912}"/>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Example System</a:t>
            </a:r>
            <a:endParaRPr dirty="0"/>
          </a:p>
        </p:txBody>
      </p:sp>
    </p:spTree>
    <p:extLst>
      <p:ext uri="{BB962C8B-B14F-4D97-AF65-F5344CB8AC3E}">
        <p14:creationId xmlns:p14="http://schemas.microsoft.com/office/powerpoint/2010/main" val="5519239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CB93FEC1-C25F-261A-B547-F68AEF82DAA7}"/>
            </a:ext>
          </a:extLst>
        </p:cNvPr>
        <p:cNvGrpSpPr/>
        <p:nvPr/>
      </p:nvGrpSpPr>
      <p:grpSpPr>
        <a:xfrm>
          <a:off x="0" y="0"/>
          <a:ext cx="0" cy="0"/>
          <a:chOff x="0" y="0"/>
          <a:chExt cx="0" cy="0"/>
        </a:xfrm>
      </p:grpSpPr>
      <p:sp>
        <p:nvSpPr>
          <p:cNvPr id="1199" name="Google Shape;1199;p156">
            <a:extLst>
              <a:ext uri="{FF2B5EF4-FFF2-40B4-BE49-F238E27FC236}">
                <a16:creationId xmlns:a16="http://schemas.microsoft.com/office/drawing/2014/main" id="{975A9E4B-15A4-82BA-A107-BD8D79BF716D}"/>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Triage Information</a:t>
            </a:r>
            <a:endParaRPr dirty="0"/>
          </a:p>
        </p:txBody>
      </p:sp>
      <p:pic>
        <p:nvPicPr>
          <p:cNvPr id="7" name="Picture 6">
            <a:extLst>
              <a:ext uri="{FF2B5EF4-FFF2-40B4-BE49-F238E27FC236}">
                <a16:creationId xmlns:a16="http://schemas.microsoft.com/office/drawing/2014/main" id="{4D975143-73CA-F1C3-891B-EE38F2A64DF2}"/>
              </a:ext>
            </a:extLst>
          </p:cNvPr>
          <p:cNvPicPr>
            <a:picLocks noChangeAspect="1"/>
          </p:cNvPicPr>
          <p:nvPr/>
        </p:nvPicPr>
        <p:blipFill>
          <a:blip r:embed="rId3"/>
          <a:srcRect/>
          <a:stretch/>
        </p:blipFill>
        <p:spPr>
          <a:xfrm>
            <a:off x="455618" y="4095875"/>
            <a:ext cx="7291776" cy="2349437"/>
          </a:xfrm>
          <a:prstGeom prst="rect">
            <a:avLst/>
          </a:prstGeom>
        </p:spPr>
      </p:pic>
      <p:pic>
        <p:nvPicPr>
          <p:cNvPr id="13" name="Picture 12" descr="A close-up of a document&#10;&#10;AI-generated content may be incorrect.">
            <a:extLst>
              <a:ext uri="{FF2B5EF4-FFF2-40B4-BE49-F238E27FC236}">
                <a16:creationId xmlns:a16="http://schemas.microsoft.com/office/drawing/2014/main" id="{2C381240-00EA-A154-714B-0DC42DD564D8}"/>
              </a:ext>
            </a:extLst>
          </p:cNvPr>
          <p:cNvPicPr>
            <a:picLocks noChangeAspect="1"/>
          </p:cNvPicPr>
          <p:nvPr/>
        </p:nvPicPr>
        <p:blipFill>
          <a:blip r:embed="rId4"/>
          <a:stretch>
            <a:fillRect/>
          </a:stretch>
        </p:blipFill>
        <p:spPr>
          <a:xfrm>
            <a:off x="455618" y="1344367"/>
            <a:ext cx="6100763" cy="2378991"/>
          </a:xfrm>
          <a:prstGeom prst="rect">
            <a:avLst/>
          </a:prstGeom>
        </p:spPr>
      </p:pic>
      <p:pic>
        <p:nvPicPr>
          <p:cNvPr id="14" name="Picture 13" descr="A diagram of a web server&#10;&#10;AI-generated content may be incorrect.">
            <a:extLst>
              <a:ext uri="{FF2B5EF4-FFF2-40B4-BE49-F238E27FC236}">
                <a16:creationId xmlns:a16="http://schemas.microsoft.com/office/drawing/2014/main" id="{8DFC7E66-0663-F39C-6C22-E1F5B5079F4B}"/>
              </a:ext>
            </a:extLst>
          </p:cNvPr>
          <p:cNvPicPr>
            <a:picLocks noChangeAspect="1"/>
          </p:cNvPicPr>
          <p:nvPr/>
        </p:nvPicPr>
        <p:blipFill>
          <a:blip r:embed="rId5"/>
          <a:stretch>
            <a:fillRect/>
          </a:stretch>
        </p:blipFill>
        <p:spPr>
          <a:xfrm>
            <a:off x="6748915" y="1442660"/>
            <a:ext cx="4984292" cy="2482449"/>
          </a:xfrm>
          <a:prstGeom prst="rect">
            <a:avLst/>
          </a:prstGeom>
        </p:spPr>
      </p:pic>
    </p:spTree>
    <p:extLst>
      <p:ext uri="{BB962C8B-B14F-4D97-AF65-F5344CB8AC3E}">
        <p14:creationId xmlns:p14="http://schemas.microsoft.com/office/powerpoint/2010/main" val="22110261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D1CE2720-1A75-FBCD-A967-22349572C69B}"/>
            </a:ext>
          </a:extLst>
        </p:cNvPr>
        <p:cNvGrpSpPr/>
        <p:nvPr/>
      </p:nvGrpSpPr>
      <p:grpSpPr>
        <a:xfrm>
          <a:off x="0" y="0"/>
          <a:ext cx="0" cy="0"/>
          <a:chOff x="0" y="0"/>
          <a:chExt cx="0" cy="0"/>
        </a:xfrm>
      </p:grpSpPr>
      <p:sp>
        <p:nvSpPr>
          <p:cNvPr id="1199" name="Google Shape;1199;p156">
            <a:extLst>
              <a:ext uri="{FF2B5EF4-FFF2-40B4-BE49-F238E27FC236}">
                <a16:creationId xmlns:a16="http://schemas.microsoft.com/office/drawing/2014/main" id="{76FCD29C-7076-0FDF-D535-7E4684F88D11}"/>
              </a:ext>
            </a:extLst>
          </p:cNvPr>
          <p:cNvSpPr txBox="1">
            <a:spLocks noGrp="1"/>
          </p:cNvSpPr>
          <p:nvPr>
            <p:ph type="title"/>
          </p:nvPr>
        </p:nvSpPr>
        <p:spPr>
          <a:xfrm>
            <a:off x="455494" y="468368"/>
            <a:ext cx="11277833" cy="524399"/>
          </a:xfrm>
          <a:prstGeom prst="rect">
            <a:avLst/>
          </a:prstGeom>
        </p:spPr>
        <p:txBody>
          <a:bodyPr spcFirstLastPara="1" wrap="square" lIns="0" tIns="0" rIns="0" bIns="0" anchor="ctr" anchorCtr="0">
            <a:noAutofit/>
          </a:bodyPr>
          <a:lstStyle/>
          <a:p>
            <a:pPr>
              <a:lnSpc>
                <a:spcPct val="100000"/>
              </a:lnSpc>
            </a:pPr>
            <a:r>
              <a:rPr lang="en" dirty="0"/>
              <a:t>Ranking</a:t>
            </a:r>
            <a:endParaRPr dirty="0"/>
          </a:p>
        </p:txBody>
      </p:sp>
      <p:pic>
        <p:nvPicPr>
          <p:cNvPr id="10" name="Picture 9">
            <a:extLst>
              <a:ext uri="{FF2B5EF4-FFF2-40B4-BE49-F238E27FC236}">
                <a16:creationId xmlns:a16="http://schemas.microsoft.com/office/drawing/2014/main" id="{D0A0C986-E783-398D-1A3F-AC3A3CE1482A}"/>
              </a:ext>
            </a:extLst>
          </p:cNvPr>
          <p:cNvPicPr>
            <a:picLocks noChangeAspect="1"/>
          </p:cNvPicPr>
          <p:nvPr/>
        </p:nvPicPr>
        <p:blipFill>
          <a:blip r:embed="rId3"/>
          <a:srcRect/>
          <a:stretch/>
        </p:blipFill>
        <p:spPr>
          <a:xfrm>
            <a:off x="2350618" y="3987506"/>
            <a:ext cx="7487584" cy="2263210"/>
          </a:xfrm>
          <a:prstGeom prst="rect">
            <a:avLst/>
          </a:prstGeom>
        </p:spPr>
      </p:pic>
      <p:sp>
        <p:nvSpPr>
          <p:cNvPr id="12" name="Google Shape;1199;p156">
            <a:extLst>
              <a:ext uri="{FF2B5EF4-FFF2-40B4-BE49-F238E27FC236}">
                <a16:creationId xmlns:a16="http://schemas.microsoft.com/office/drawing/2014/main" id="{5F7D2CF4-F02B-D242-CB0F-DD8946F5277C}"/>
              </a:ext>
            </a:extLst>
          </p:cNvPr>
          <p:cNvSpPr txBox="1">
            <a:spLocks/>
          </p:cNvSpPr>
          <p:nvPr/>
        </p:nvSpPr>
        <p:spPr>
          <a:xfrm rot="16200000">
            <a:off x="-779807" y="2257744"/>
            <a:ext cx="2263208" cy="464778"/>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R="0" lvl="0" algn="l" rtl="0">
              <a:lnSpc>
                <a:spcPct val="80000"/>
              </a:lnSpc>
              <a:spcBef>
                <a:spcPts val="0"/>
              </a:spcBef>
              <a:spcAft>
                <a:spcPts val="0"/>
              </a:spcAft>
              <a:buClr>
                <a:schemeClr val="dk1"/>
              </a:buClr>
              <a:buSzPts val="3200"/>
              <a:buFont typeface="Roboto Medium"/>
              <a:buNone/>
              <a:defRPr sz="3200" b="0" i="0" u="none" strike="noStrike" cap="none">
                <a:solidFill>
                  <a:schemeClr val="dk1"/>
                </a:solidFill>
                <a:latin typeface="Roboto Medium"/>
                <a:ea typeface="Roboto Medium"/>
                <a:cs typeface="Roboto Medium"/>
                <a:sym typeface="Roboto Medium"/>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lnSpc>
                <a:spcPct val="100000"/>
              </a:lnSpc>
            </a:pPr>
            <a:r>
              <a:rPr lang="en-US" sz="2800" dirty="0">
                <a:solidFill>
                  <a:srgbClr val="0070C0"/>
                </a:solidFill>
              </a:rPr>
              <a:t>CVSS</a:t>
            </a:r>
          </a:p>
        </p:txBody>
      </p:sp>
      <p:sp>
        <p:nvSpPr>
          <p:cNvPr id="13" name="Google Shape;1199;p156">
            <a:extLst>
              <a:ext uri="{FF2B5EF4-FFF2-40B4-BE49-F238E27FC236}">
                <a16:creationId xmlns:a16="http://schemas.microsoft.com/office/drawing/2014/main" id="{98013642-8710-F18A-6CAE-99FE979636C2}"/>
              </a:ext>
            </a:extLst>
          </p:cNvPr>
          <p:cNvSpPr txBox="1">
            <a:spLocks/>
          </p:cNvSpPr>
          <p:nvPr/>
        </p:nvSpPr>
        <p:spPr>
          <a:xfrm rot="16200000">
            <a:off x="986625" y="4886721"/>
            <a:ext cx="2263208" cy="464778"/>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R="0" lvl="0" algn="l" rtl="0">
              <a:lnSpc>
                <a:spcPct val="80000"/>
              </a:lnSpc>
              <a:spcBef>
                <a:spcPts val="0"/>
              </a:spcBef>
              <a:spcAft>
                <a:spcPts val="0"/>
              </a:spcAft>
              <a:buClr>
                <a:schemeClr val="dk1"/>
              </a:buClr>
              <a:buSzPts val="3200"/>
              <a:buFont typeface="Roboto Medium"/>
              <a:buNone/>
              <a:defRPr sz="3200" b="0" i="0" u="none" strike="noStrike" cap="none">
                <a:solidFill>
                  <a:schemeClr val="dk1"/>
                </a:solidFill>
                <a:latin typeface="Roboto Medium"/>
                <a:ea typeface="Roboto Medium"/>
                <a:cs typeface="Roboto Medium"/>
                <a:sym typeface="Roboto Medium"/>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lnSpc>
                <a:spcPct val="100000"/>
              </a:lnSpc>
            </a:pPr>
            <a:r>
              <a:rPr lang="en-US" sz="2800" dirty="0">
                <a:solidFill>
                  <a:srgbClr val="0070C0"/>
                </a:solidFill>
              </a:rPr>
              <a:t>800-30</a:t>
            </a:r>
          </a:p>
        </p:txBody>
      </p:sp>
      <p:pic>
        <p:nvPicPr>
          <p:cNvPr id="15" name="Picture 14">
            <a:extLst>
              <a:ext uri="{FF2B5EF4-FFF2-40B4-BE49-F238E27FC236}">
                <a16:creationId xmlns:a16="http://schemas.microsoft.com/office/drawing/2014/main" id="{1A017966-4810-B603-8CD2-20214C8AB6D5}"/>
              </a:ext>
            </a:extLst>
          </p:cNvPr>
          <p:cNvPicPr>
            <a:picLocks noChangeAspect="1"/>
          </p:cNvPicPr>
          <p:nvPr/>
        </p:nvPicPr>
        <p:blipFill>
          <a:blip r:embed="rId4"/>
          <a:stretch>
            <a:fillRect/>
          </a:stretch>
        </p:blipFill>
        <p:spPr>
          <a:xfrm>
            <a:off x="585892" y="1358529"/>
            <a:ext cx="11017035" cy="2263208"/>
          </a:xfrm>
          <a:prstGeom prst="rect">
            <a:avLst/>
          </a:prstGeom>
        </p:spPr>
      </p:pic>
    </p:spTree>
    <p:extLst>
      <p:ext uri="{BB962C8B-B14F-4D97-AF65-F5344CB8AC3E}">
        <p14:creationId xmlns:p14="http://schemas.microsoft.com/office/powerpoint/2010/main" val="8897659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379E7B27-B3A4-F929-7EAB-C88FD2B9D541}"/>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319B7DA3-AF84-555D-66EA-D13EB2CCA842}"/>
              </a:ext>
            </a:extLst>
          </p:cNvPr>
          <p:cNvPicPr>
            <a:picLocks noChangeAspect="1"/>
          </p:cNvPicPr>
          <p:nvPr/>
        </p:nvPicPr>
        <p:blipFill>
          <a:blip r:embed="rId3"/>
          <a:stretch>
            <a:fillRect/>
          </a:stretch>
        </p:blipFill>
        <p:spPr>
          <a:xfrm>
            <a:off x="2834823" y="1369213"/>
            <a:ext cx="6519174" cy="2059787"/>
          </a:xfrm>
          <a:prstGeom prst="rect">
            <a:avLst/>
          </a:prstGeom>
        </p:spPr>
      </p:pic>
      <p:sp>
        <p:nvSpPr>
          <p:cNvPr id="1199" name="Google Shape;1199;p156">
            <a:extLst>
              <a:ext uri="{FF2B5EF4-FFF2-40B4-BE49-F238E27FC236}">
                <a16:creationId xmlns:a16="http://schemas.microsoft.com/office/drawing/2014/main" id="{7475EE34-39E9-FF5C-889F-FAC9E6CA02EC}"/>
              </a:ext>
            </a:extLst>
          </p:cNvPr>
          <p:cNvSpPr txBox="1">
            <a:spLocks noGrp="1"/>
          </p:cNvSpPr>
          <p:nvPr>
            <p:ph type="title"/>
          </p:nvPr>
        </p:nvSpPr>
        <p:spPr>
          <a:xfrm>
            <a:off x="455494" y="468368"/>
            <a:ext cx="11277833" cy="524399"/>
          </a:xfrm>
          <a:prstGeom prst="rect">
            <a:avLst/>
          </a:prstGeom>
        </p:spPr>
        <p:txBody>
          <a:bodyPr spcFirstLastPara="1" wrap="square" lIns="0" tIns="0" rIns="0" bIns="0" anchor="ctr" anchorCtr="0">
            <a:noAutofit/>
          </a:bodyPr>
          <a:lstStyle/>
          <a:p>
            <a:pPr>
              <a:lnSpc>
                <a:spcPct val="100000"/>
              </a:lnSpc>
            </a:pPr>
            <a:r>
              <a:rPr lang="en" dirty="0"/>
              <a:t>Risking</a:t>
            </a:r>
            <a:endParaRPr dirty="0"/>
          </a:p>
        </p:txBody>
      </p:sp>
    </p:spTree>
    <p:extLst>
      <p:ext uri="{BB962C8B-B14F-4D97-AF65-F5344CB8AC3E}">
        <p14:creationId xmlns:p14="http://schemas.microsoft.com/office/powerpoint/2010/main" val="26516271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30234E69-953D-C964-1A44-7AD56D5A6C18}"/>
            </a:ext>
          </a:extLst>
        </p:cNvPr>
        <p:cNvGrpSpPr/>
        <p:nvPr/>
      </p:nvGrpSpPr>
      <p:grpSpPr>
        <a:xfrm>
          <a:off x="0" y="0"/>
          <a:ext cx="0" cy="0"/>
          <a:chOff x="0" y="0"/>
          <a:chExt cx="0" cy="0"/>
        </a:xfrm>
      </p:grpSpPr>
      <p:sp>
        <p:nvSpPr>
          <p:cNvPr id="7" name="Google Shape;873;p146">
            <a:extLst>
              <a:ext uri="{FF2B5EF4-FFF2-40B4-BE49-F238E27FC236}">
                <a16:creationId xmlns:a16="http://schemas.microsoft.com/office/drawing/2014/main" id="{288F8EFA-BECD-D045-8DF8-934C782EE42C}"/>
              </a:ext>
            </a:extLst>
          </p:cNvPr>
          <p:cNvSpPr txBox="1">
            <a:spLocks noGrp="1"/>
          </p:cNvSpPr>
          <p:nvPr>
            <p:ph type="title"/>
          </p:nvPr>
        </p:nvSpPr>
        <p:spPr>
          <a:xfrm>
            <a:off x="-1" y="0"/>
            <a:ext cx="12188825" cy="6858000"/>
          </a:xfrm>
          <a:prstGeom prst="rect">
            <a:avLst/>
          </a:prstGeom>
          <a:gradFill>
            <a:gsLst>
              <a:gs pos="99000">
                <a:schemeClr val="accent3">
                  <a:lumMod val="60000"/>
                  <a:lumOff val="40000"/>
                </a:schemeClr>
              </a:gs>
              <a:gs pos="0">
                <a:srgbClr val="7030A0"/>
              </a:gs>
            </a:gsLst>
            <a:lin ang="2700000" scaled="0"/>
          </a:gradFill>
          <a:ln>
            <a:noFill/>
          </a:ln>
        </p:spPr>
        <p:txBody>
          <a:bodyPr spcFirstLastPara="1" wrap="square" lIns="0" tIns="0" rIns="0" bIns="0" anchor="ctr" anchorCtr="0">
            <a:noAutofit/>
          </a:bodyPr>
          <a:lstStyle/>
          <a:p>
            <a:pPr algn="ctr">
              <a:lnSpc>
                <a:spcPct val="100000"/>
              </a:lnSpc>
            </a:pPr>
            <a:r>
              <a:rPr lang="en" sz="5400" dirty="0"/>
              <a:t>Recap</a:t>
            </a:r>
            <a:endParaRPr sz="6600" dirty="0"/>
          </a:p>
        </p:txBody>
      </p:sp>
    </p:spTree>
    <p:extLst>
      <p:ext uri="{BB962C8B-B14F-4D97-AF65-F5344CB8AC3E}">
        <p14:creationId xmlns:p14="http://schemas.microsoft.com/office/powerpoint/2010/main" val="111805745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sp>
        <p:nvSpPr>
          <p:cNvPr id="1199" name="Google Shape;1199;p156"/>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Summary</a:t>
            </a:r>
            <a:endParaRPr dirty="0"/>
          </a:p>
        </p:txBody>
      </p:sp>
      <p:sp>
        <p:nvSpPr>
          <p:cNvPr id="2" name="TextBox 1">
            <a:extLst>
              <a:ext uri="{FF2B5EF4-FFF2-40B4-BE49-F238E27FC236}">
                <a16:creationId xmlns:a16="http://schemas.microsoft.com/office/drawing/2014/main" id="{7815AB7C-3B20-E395-B8D1-B8413068BE32}"/>
              </a:ext>
            </a:extLst>
          </p:cNvPr>
          <p:cNvSpPr txBox="1"/>
          <p:nvPr/>
        </p:nvSpPr>
        <p:spPr>
          <a:xfrm>
            <a:off x="455618" y="1437554"/>
            <a:ext cx="6287619" cy="2277547"/>
          </a:xfrm>
          <a:prstGeom prst="rect">
            <a:avLst/>
          </a:prstGeom>
          <a:noFill/>
        </p:spPr>
        <p:txBody>
          <a:bodyPr wrap="none" rtlCol="0">
            <a:spAutoFit/>
          </a:bodyPr>
          <a:lstStyle/>
          <a:p>
            <a:pPr marL="236538" indent="-236538">
              <a:spcAft>
                <a:spcPts val="1200"/>
              </a:spcAft>
              <a:buFont typeface="Arial" panose="020B0604020202020204" pitchFamily="34" charset="0"/>
              <a:buChar char="•"/>
            </a:pPr>
            <a:r>
              <a:rPr lang="en-US" sz="2800" dirty="0">
                <a:solidFill>
                  <a:schemeClr val="tx1"/>
                </a:solidFill>
              </a:rPr>
              <a:t>Select an impact rubric</a:t>
            </a:r>
          </a:p>
          <a:p>
            <a:pPr marL="236538" indent="-236538">
              <a:spcAft>
                <a:spcPts val="1200"/>
              </a:spcAft>
              <a:buFont typeface="Arial" panose="020B0604020202020204" pitchFamily="34" charset="0"/>
              <a:buChar char="•"/>
            </a:pPr>
            <a:r>
              <a:rPr lang="en-US" sz="2800" dirty="0">
                <a:solidFill>
                  <a:schemeClr val="tx1"/>
                </a:solidFill>
              </a:rPr>
              <a:t>Set up the impact labels</a:t>
            </a:r>
          </a:p>
          <a:p>
            <a:pPr marL="236538" indent="-236538">
              <a:spcAft>
                <a:spcPts val="1200"/>
              </a:spcAft>
              <a:buFont typeface="Arial" panose="020B0604020202020204" pitchFamily="34" charset="0"/>
              <a:buChar char="•"/>
            </a:pPr>
            <a:r>
              <a:rPr lang="en-US" sz="2800" dirty="0">
                <a:solidFill>
                  <a:schemeClr val="tx1"/>
                </a:solidFill>
              </a:rPr>
              <a:t>Determine the impact value</a:t>
            </a:r>
          </a:p>
          <a:p>
            <a:pPr marL="236538" indent="-236538">
              <a:spcAft>
                <a:spcPts val="1200"/>
              </a:spcAft>
              <a:buFont typeface="Arial" panose="020B0604020202020204" pitchFamily="34" charset="0"/>
              <a:buChar char="•"/>
            </a:pPr>
            <a:r>
              <a:rPr lang="en-US" sz="2800" dirty="0">
                <a:solidFill>
                  <a:schemeClr val="tx1"/>
                </a:solidFill>
              </a:rPr>
              <a:t>Generate the human-readable report</a:t>
            </a:r>
          </a:p>
        </p:txBody>
      </p:sp>
    </p:spTree>
    <p:extLst>
      <p:ext uri="{BB962C8B-B14F-4D97-AF65-F5344CB8AC3E}">
        <p14:creationId xmlns:p14="http://schemas.microsoft.com/office/powerpoint/2010/main" val="17035937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3725C29D-255F-E78F-7B10-51B1795D53F5}"/>
            </a:ext>
          </a:extLst>
        </p:cNvPr>
        <p:cNvGrpSpPr/>
        <p:nvPr/>
      </p:nvGrpSpPr>
      <p:grpSpPr>
        <a:xfrm>
          <a:off x="0" y="0"/>
          <a:ext cx="0" cy="0"/>
          <a:chOff x="0" y="0"/>
          <a:chExt cx="0" cy="0"/>
        </a:xfrm>
      </p:grpSpPr>
      <p:sp>
        <p:nvSpPr>
          <p:cNvPr id="1199" name="Google Shape;1199;p156">
            <a:extLst>
              <a:ext uri="{FF2B5EF4-FFF2-40B4-BE49-F238E27FC236}">
                <a16:creationId xmlns:a16="http://schemas.microsoft.com/office/drawing/2014/main" id="{E6AE96E7-F515-5B95-8C3A-153509652AEE}"/>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Example Materials</a:t>
            </a:r>
            <a:endParaRPr dirty="0"/>
          </a:p>
        </p:txBody>
      </p:sp>
      <p:sp>
        <p:nvSpPr>
          <p:cNvPr id="6" name="TextBox 5">
            <a:extLst>
              <a:ext uri="{FF2B5EF4-FFF2-40B4-BE49-F238E27FC236}">
                <a16:creationId xmlns:a16="http://schemas.microsoft.com/office/drawing/2014/main" id="{5E6414D1-0FD5-FC5C-C853-B8F340BA038D}"/>
              </a:ext>
            </a:extLst>
          </p:cNvPr>
          <p:cNvSpPr txBox="1"/>
          <p:nvPr/>
        </p:nvSpPr>
        <p:spPr>
          <a:xfrm>
            <a:off x="455618" y="1309403"/>
            <a:ext cx="10452446" cy="400110"/>
          </a:xfrm>
          <a:prstGeom prst="rect">
            <a:avLst/>
          </a:prstGeom>
          <a:noFill/>
        </p:spPr>
        <p:txBody>
          <a:bodyPr wrap="square">
            <a:spAutoFit/>
          </a:bodyPr>
          <a:lstStyle/>
          <a:p>
            <a:r>
              <a:rPr lang="en-US" sz="2000" b="1" dirty="0">
                <a:solidFill>
                  <a:srgbClr val="0070C0"/>
                </a:solidFill>
                <a:latin typeface="Courier New" panose="02070309020205020404" pitchFamily="49" charset="0"/>
                <a:ea typeface="Roboto" panose="02000000000000000000" pitchFamily="2" charset="0"/>
                <a:cs typeface="Courier New" panose="02070309020205020404" pitchFamily="49" charset="0"/>
              </a:rPr>
              <a:t>&lt;AVCDL&gt;/source/reference_documents/working_material/example system/</a:t>
            </a:r>
          </a:p>
        </p:txBody>
      </p:sp>
    </p:spTree>
    <p:extLst>
      <p:ext uri="{BB962C8B-B14F-4D97-AF65-F5344CB8AC3E}">
        <p14:creationId xmlns:p14="http://schemas.microsoft.com/office/powerpoint/2010/main" val="9699774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pic>
        <p:nvPicPr>
          <p:cNvPr id="3" name="Picture 2">
            <a:extLst>
              <a:ext uri="{FF2B5EF4-FFF2-40B4-BE49-F238E27FC236}">
                <a16:creationId xmlns:a16="http://schemas.microsoft.com/office/drawing/2014/main" id="{97170D5F-8BD9-ECF4-AF82-900DA81B4716}"/>
              </a:ext>
            </a:extLst>
          </p:cNvPr>
          <p:cNvPicPr>
            <a:picLocks noChangeAspect="1"/>
          </p:cNvPicPr>
          <p:nvPr/>
        </p:nvPicPr>
        <p:blipFill>
          <a:blip r:embed="rId3"/>
          <a:srcRect/>
          <a:stretch/>
        </p:blipFill>
        <p:spPr>
          <a:xfrm>
            <a:off x="4060306" y="1244679"/>
            <a:ext cx="4068206" cy="5273008"/>
          </a:xfrm>
          <a:prstGeom prst="rect">
            <a:avLst/>
          </a:prstGeom>
          <a:ln>
            <a:solidFill>
              <a:schemeClr val="tx1"/>
            </a:solidFill>
          </a:ln>
          <a:effectLst>
            <a:outerShdw blurRad="50800" dist="38100" dir="2700000" algn="tl" rotWithShape="0">
              <a:prstClr val="black">
                <a:alpha val="40000"/>
              </a:prstClr>
            </a:outerShdw>
          </a:effectLst>
        </p:spPr>
      </p:pic>
      <p:sp>
        <p:nvSpPr>
          <p:cNvPr id="1199" name="Google Shape;1199;p156"/>
          <p:cNvSpPr txBox="1">
            <a:spLocks noGrp="1"/>
          </p:cNvSpPr>
          <p:nvPr>
            <p:ph type="title"/>
          </p:nvPr>
        </p:nvSpPr>
        <p:spPr>
          <a:xfrm>
            <a:off x="455618" y="480021"/>
            <a:ext cx="11277833" cy="524399"/>
          </a:xfrm>
          <a:prstGeom prst="rect">
            <a:avLst/>
          </a:prstGeom>
        </p:spPr>
        <p:txBody>
          <a:bodyPr spcFirstLastPara="1" wrap="square" lIns="0" tIns="0" rIns="0" bIns="0" anchor="ctr" anchorCtr="0">
            <a:noAutofit/>
          </a:bodyPr>
          <a:lstStyle/>
          <a:p>
            <a:pPr>
              <a:lnSpc>
                <a:spcPct val="100000"/>
              </a:lnSpc>
            </a:pPr>
            <a:r>
              <a:rPr lang="en-US" dirty="0"/>
              <a:t>Further Reading</a:t>
            </a:r>
          </a:p>
        </p:txBody>
      </p:sp>
    </p:spTree>
    <p:extLst>
      <p:ext uri="{BB962C8B-B14F-4D97-AF65-F5344CB8AC3E}">
        <p14:creationId xmlns:p14="http://schemas.microsoft.com/office/powerpoint/2010/main" val="286855501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pic>
        <p:nvPicPr>
          <p:cNvPr id="4" name="Picture 3">
            <a:extLst>
              <a:ext uri="{FF2B5EF4-FFF2-40B4-BE49-F238E27FC236}">
                <a16:creationId xmlns:a16="http://schemas.microsoft.com/office/drawing/2014/main" id="{C2A2ADBF-13F1-8937-91E4-97FBA4F83BB0}"/>
              </a:ext>
            </a:extLst>
          </p:cNvPr>
          <p:cNvPicPr>
            <a:picLocks noChangeAspect="1"/>
          </p:cNvPicPr>
          <p:nvPr/>
        </p:nvPicPr>
        <p:blipFill>
          <a:blip r:embed="rId3"/>
          <a:srcRect/>
          <a:stretch/>
        </p:blipFill>
        <p:spPr>
          <a:xfrm>
            <a:off x="1813953" y="985083"/>
            <a:ext cx="8560918" cy="5778453"/>
          </a:xfrm>
          <a:prstGeom prst="rect">
            <a:avLst/>
          </a:prstGeom>
          <a:ln>
            <a:solidFill>
              <a:schemeClr val="tx1"/>
            </a:solidFill>
          </a:ln>
          <a:effectLst>
            <a:outerShdw blurRad="50800" dist="38100" dir="2700000" algn="tl" rotWithShape="0">
              <a:prstClr val="black">
                <a:alpha val="40000"/>
              </a:prstClr>
            </a:outerShdw>
          </a:effectLst>
        </p:spPr>
      </p:pic>
      <p:sp>
        <p:nvSpPr>
          <p:cNvPr id="1199" name="Google Shape;1199;p156"/>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AVCDL on GitHub</a:t>
            </a:r>
            <a:endParaRPr dirty="0"/>
          </a:p>
        </p:txBody>
      </p:sp>
      <p:sp>
        <p:nvSpPr>
          <p:cNvPr id="2" name="Rectangle 1">
            <a:extLst>
              <a:ext uri="{FF2B5EF4-FFF2-40B4-BE49-F238E27FC236}">
                <a16:creationId xmlns:a16="http://schemas.microsoft.com/office/drawing/2014/main" id="{4038D5AC-F2CE-EEDF-F93C-BC5BEDC13283}"/>
              </a:ext>
            </a:extLst>
          </p:cNvPr>
          <p:cNvSpPr/>
          <p:nvPr/>
        </p:nvSpPr>
        <p:spPr>
          <a:xfrm>
            <a:off x="6476383" y="522829"/>
            <a:ext cx="5256824" cy="400110"/>
          </a:xfrm>
          <a:prstGeom prst="rect">
            <a:avLst/>
          </a:prstGeom>
        </p:spPr>
        <p:txBody>
          <a:bodyPr wrap="square">
            <a:spAutoFit/>
          </a:bodyPr>
          <a:lstStyle/>
          <a:p>
            <a:pPr algn="r">
              <a:spcAft>
                <a:spcPts val="1200"/>
              </a:spcAft>
            </a:pPr>
            <a:r>
              <a:rPr lang="en-US" sz="2000" b="1" dirty="0">
                <a:solidFill>
                  <a:srgbClr val="0070C0"/>
                </a:solidFill>
                <a:latin typeface="Courier New" panose="02070309020205020404" pitchFamily="49" charset="0"/>
                <a:cs typeface="Courier New" panose="02070309020205020404" pitchFamily="49" charset="0"/>
              </a:rPr>
              <a:t>https://github.com/AVCDL/AVCDL </a:t>
            </a:r>
          </a:p>
        </p:txBody>
      </p:sp>
    </p:spTree>
    <p:extLst>
      <p:ext uri="{BB962C8B-B14F-4D97-AF65-F5344CB8AC3E}">
        <p14:creationId xmlns:p14="http://schemas.microsoft.com/office/powerpoint/2010/main" val="299340410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pic>
        <p:nvPicPr>
          <p:cNvPr id="4" name="Picture 3">
            <a:extLst>
              <a:ext uri="{FF2B5EF4-FFF2-40B4-BE49-F238E27FC236}">
                <a16:creationId xmlns:a16="http://schemas.microsoft.com/office/drawing/2014/main" id="{24875B67-DABD-EC7D-D876-FF0A75BC967B}"/>
              </a:ext>
            </a:extLst>
          </p:cNvPr>
          <p:cNvPicPr>
            <a:picLocks noChangeAspect="1"/>
          </p:cNvPicPr>
          <p:nvPr/>
        </p:nvPicPr>
        <p:blipFill>
          <a:blip r:embed="rId3"/>
          <a:srcRect/>
          <a:stretch/>
        </p:blipFill>
        <p:spPr>
          <a:xfrm>
            <a:off x="1658351" y="985083"/>
            <a:ext cx="8483870" cy="5763705"/>
          </a:xfrm>
          <a:prstGeom prst="rect">
            <a:avLst/>
          </a:prstGeom>
          <a:ln w="12700">
            <a:solidFill>
              <a:schemeClr val="tx1"/>
            </a:solidFill>
          </a:ln>
          <a:effectLst>
            <a:outerShdw blurRad="50800" dist="38100" dir="2700000" algn="tl" rotWithShape="0">
              <a:prstClr val="black">
                <a:alpha val="40000"/>
              </a:prstClr>
            </a:outerShdw>
          </a:effectLst>
        </p:spPr>
      </p:pic>
      <p:sp>
        <p:nvSpPr>
          <p:cNvPr id="1199" name="Google Shape;1199;p156"/>
          <p:cNvSpPr txBox="1">
            <a:spLocks noGrp="1"/>
          </p:cNvSpPr>
          <p:nvPr>
            <p:ph type="title"/>
          </p:nvPr>
        </p:nvSpPr>
        <p:spPr>
          <a:xfrm>
            <a:off x="455617" y="460683"/>
            <a:ext cx="11277833" cy="524400"/>
          </a:xfrm>
          <a:prstGeom prst="rect">
            <a:avLst/>
          </a:prstGeom>
        </p:spPr>
        <p:txBody>
          <a:bodyPr spcFirstLastPara="1" wrap="square" lIns="0" tIns="0" rIns="0" bIns="0" anchor="ctr" anchorCtr="0">
            <a:noAutofit/>
          </a:bodyPr>
          <a:lstStyle/>
          <a:p>
            <a:pPr marL="0" lvl="0" indent="0" algn="l" rtl="0">
              <a:lnSpc>
                <a:spcPct val="100000"/>
              </a:lnSpc>
              <a:spcBef>
                <a:spcPts val="0"/>
              </a:spcBef>
              <a:spcAft>
                <a:spcPts val="0"/>
              </a:spcAft>
              <a:buNone/>
            </a:pPr>
            <a:r>
              <a:rPr lang="en" dirty="0"/>
              <a:t>AVCDL on YouTube</a:t>
            </a:r>
            <a:endParaRPr dirty="0"/>
          </a:p>
        </p:txBody>
      </p:sp>
      <p:sp>
        <p:nvSpPr>
          <p:cNvPr id="2" name="Rectangle 1">
            <a:extLst>
              <a:ext uri="{FF2B5EF4-FFF2-40B4-BE49-F238E27FC236}">
                <a16:creationId xmlns:a16="http://schemas.microsoft.com/office/drawing/2014/main" id="{4038D5AC-F2CE-EEDF-F93C-BC5BEDC13283}"/>
              </a:ext>
            </a:extLst>
          </p:cNvPr>
          <p:cNvSpPr/>
          <p:nvPr/>
        </p:nvSpPr>
        <p:spPr>
          <a:xfrm>
            <a:off x="5900286" y="522828"/>
            <a:ext cx="5832922" cy="400110"/>
          </a:xfrm>
          <a:prstGeom prst="rect">
            <a:avLst/>
          </a:prstGeom>
        </p:spPr>
        <p:txBody>
          <a:bodyPr wrap="square">
            <a:spAutoFit/>
          </a:bodyPr>
          <a:lstStyle/>
          <a:p>
            <a:pPr algn="r">
              <a:spcAft>
                <a:spcPts val="1200"/>
              </a:spcAft>
            </a:pPr>
            <a:r>
              <a:rPr lang="en-US" sz="2000" b="1" dirty="0">
                <a:solidFill>
                  <a:srgbClr val="0070C0"/>
                </a:solidFill>
                <a:latin typeface="Courier New" panose="02070309020205020404" pitchFamily="49" charset="0"/>
                <a:ea typeface="Roboto" panose="02000000000000000000" pitchFamily="2" charset="0"/>
                <a:cs typeface="Courier New" panose="02070309020205020404" pitchFamily="49" charset="0"/>
              </a:rPr>
              <a:t>https://youtube.com/@AVCDL</a:t>
            </a:r>
          </a:p>
        </p:txBody>
      </p:sp>
    </p:spTree>
    <p:extLst>
      <p:ext uri="{BB962C8B-B14F-4D97-AF65-F5344CB8AC3E}">
        <p14:creationId xmlns:p14="http://schemas.microsoft.com/office/powerpoint/2010/main" val="407149153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sp>
        <p:nvSpPr>
          <p:cNvPr id="1199" name="Google Shape;1199;p156"/>
          <p:cNvSpPr txBox="1">
            <a:spLocks noGrp="1"/>
          </p:cNvSpPr>
          <p:nvPr>
            <p:ph type="title"/>
          </p:nvPr>
        </p:nvSpPr>
        <p:spPr>
          <a:xfrm>
            <a:off x="455617" y="460684"/>
            <a:ext cx="11277833" cy="524399"/>
          </a:xfrm>
          <a:prstGeom prst="rect">
            <a:avLst/>
          </a:prstGeom>
        </p:spPr>
        <p:txBody>
          <a:bodyPr spcFirstLastPara="1" wrap="square" lIns="0" tIns="0" rIns="0" bIns="0" anchor="ctr" anchorCtr="0">
            <a:noAutofit/>
          </a:bodyPr>
          <a:lstStyle/>
          <a:p>
            <a:pPr>
              <a:lnSpc>
                <a:spcPct val="100000"/>
              </a:lnSpc>
            </a:pPr>
            <a:r>
              <a:rPr lang="en" dirty="0"/>
              <a:t>Next Steps</a:t>
            </a:r>
            <a:endParaRPr dirty="0"/>
          </a:p>
        </p:txBody>
      </p:sp>
      <p:pic>
        <p:nvPicPr>
          <p:cNvPr id="7" name="Picture 6">
            <a:extLst>
              <a:ext uri="{FF2B5EF4-FFF2-40B4-BE49-F238E27FC236}">
                <a16:creationId xmlns:a16="http://schemas.microsoft.com/office/drawing/2014/main" id="{C52B1944-9D2E-B660-DF63-98B36A597D37}"/>
              </a:ext>
            </a:extLst>
          </p:cNvPr>
          <p:cNvPicPr>
            <a:picLocks noChangeAspect="1"/>
          </p:cNvPicPr>
          <p:nvPr/>
        </p:nvPicPr>
        <p:blipFill>
          <a:blip r:embed="rId3"/>
          <a:srcRect/>
          <a:stretch/>
        </p:blipFill>
        <p:spPr>
          <a:xfrm>
            <a:off x="741952" y="326959"/>
            <a:ext cx="10704919" cy="6204081"/>
          </a:xfrm>
          <a:prstGeom prst="rect">
            <a:avLst/>
          </a:prstGeom>
          <a:effectLst/>
        </p:spPr>
      </p:pic>
    </p:spTree>
    <p:extLst>
      <p:ext uri="{BB962C8B-B14F-4D97-AF65-F5344CB8AC3E}">
        <p14:creationId xmlns:p14="http://schemas.microsoft.com/office/powerpoint/2010/main" val="275029180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877">
          <a:extLst>
            <a:ext uri="{FF2B5EF4-FFF2-40B4-BE49-F238E27FC236}">
              <a16:creationId xmlns:a16="http://schemas.microsoft.com/office/drawing/2014/main" id="{DF55B311-7841-4E23-9D9A-83FD305F765E}"/>
            </a:ext>
          </a:extLst>
        </p:cNvPr>
        <p:cNvGrpSpPr/>
        <p:nvPr/>
      </p:nvGrpSpPr>
      <p:grpSpPr>
        <a:xfrm>
          <a:off x="0" y="0"/>
          <a:ext cx="0" cy="0"/>
          <a:chOff x="0" y="0"/>
          <a:chExt cx="0" cy="0"/>
        </a:xfrm>
      </p:grpSpPr>
      <p:sp>
        <p:nvSpPr>
          <p:cNvPr id="878" name="Google Shape;878;p147">
            <a:extLst>
              <a:ext uri="{FF2B5EF4-FFF2-40B4-BE49-F238E27FC236}">
                <a16:creationId xmlns:a16="http://schemas.microsoft.com/office/drawing/2014/main" id="{ACE44E36-22DF-8E0C-F064-311471C3402C}"/>
              </a:ext>
            </a:extLst>
          </p:cNvPr>
          <p:cNvSpPr txBox="1">
            <a:spLocks noGrp="1"/>
          </p:cNvSpPr>
          <p:nvPr>
            <p:ph type="title"/>
          </p:nvPr>
        </p:nvSpPr>
        <p:spPr>
          <a:xfrm>
            <a:off x="455617" y="460684"/>
            <a:ext cx="11277590" cy="524399"/>
          </a:xfrm>
          <a:prstGeom prst="rect">
            <a:avLst/>
          </a:prstGeom>
        </p:spPr>
        <p:txBody>
          <a:bodyPr spcFirstLastPara="1" wrap="square" lIns="0" tIns="0" rIns="0" bIns="0" anchor="ctr" anchorCtr="0">
            <a:noAutofit/>
          </a:bodyPr>
          <a:lstStyle/>
          <a:p>
            <a:pPr>
              <a:lnSpc>
                <a:spcPct val="100000"/>
              </a:lnSpc>
            </a:pPr>
            <a:r>
              <a:rPr lang="en" dirty="0"/>
              <a:t>References (1 of 2)</a:t>
            </a:r>
            <a:endParaRPr dirty="0"/>
          </a:p>
        </p:txBody>
      </p:sp>
      <p:sp>
        <p:nvSpPr>
          <p:cNvPr id="2" name="Google Shape;879;p147">
            <a:extLst>
              <a:ext uri="{FF2B5EF4-FFF2-40B4-BE49-F238E27FC236}">
                <a16:creationId xmlns:a16="http://schemas.microsoft.com/office/drawing/2014/main" id="{E5C1FC5B-73EE-18E1-D4AA-CC55E49025D1}"/>
              </a:ext>
            </a:extLst>
          </p:cNvPr>
          <p:cNvSpPr txBox="1">
            <a:spLocks/>
          </p:cNvSpPr>
          <p:nvPr/>
        </p:nvSpPr>
        <p:spPr>
          <a:xfrm>
            <a:off x="455616" y="1146448"/>
            <a:ext cx="11277592" cy="5109091"/>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L="457200" marR="0" lvl="0" indent="-228600" algn="l" rtl="0">
              <a:lnSpc>
                <a:spcPct val="100000"/>
              </a:lnSpc>
              <a:spcBef>
                <a:spcPts val="1800"/>
              </a:spcBef>
              <a:spcAft>
                <a:spcPts val="0"/>
              </a:spcAft>
              <a:buClr>
                <a:schemeClr val="dk1"/>
              </a:buClr>
              <a:buSzPts val="2000"/>
              <a:buFont typeface="Roboto"/>
              <a:buNone/>
              <a:defRPr sz="2000" b="0" i="0" u="none" strike="noStrike" cap="none">
                <a:solidFill>
                  <a:schemeClr val="dk1"/>
                </a:solidFill>
                <a:latin typeface="Roboto"/>
                <a:ea typeface="Roboto"/>
                <a:cs typeface="Roboto"/>
                <a:sym typeface="Roboto"/>
              </a:defRPr>
            </a:lvl1pPr>
            <a:lvl2pPr marL="914400" marR="0" lvl="1" indent="-342900" algn="l" rtl="0">
              <a:lnSpc>
                <a:spcPct val="100000"/>
              </a:lnSpc>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L="1371600" marR="0" lvl="2" indent="-330200" algn="l" rtl="0">
              <a:lnSpc>
                <a:spcPct val="100000"/>
              </a:lnSpc>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L="1828800" marR="0" lvl="3" indent="-317500" algn="l" rtl="0">
              <a:lnSpc>
                <a:spcPct val="100000"/>
              </a:lnSpc>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L="2286000" marR="0" lvl="4" indent="-304800" algn="l" rtl="0">
              <a:lnSpc>
                <a:spcPct val="100000"/>
              </a:lnSpc>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L="2743200" marR="0" lvl="5" indent="-304800" algn="l" rtl="0">
              <a:lnSpc>
                <a:spcPct val="100000"/>
              </a:lnSpc>
              <a:spcBef>
                <a:spcPts val="360"/>
              </a:spcBef>
              <a:spcAft>
                <a:spcPts val="0"/>
              </a:spcAft>
              <a:buClr>
                <a:schemeClr val="dk1"/>
              </a:buClr>
              <a:buSzPts val="1200"/>
              <a:buFont typeface="Roboto"/>
              <a:buChar char="•"/>
              <a:defRPr sz="1200" b="0" i="0" u="none" strike="noStrike" cap="none">
                <a:solidFill>
                  <a:schemeClr val="dk1"/>
                </a:solidFill>
                <a:latin typeface="Roboto"/>
                <a:ea typeface="Roboto"/>
                <a:cs typeface="Roboto"/>
                <a:sym typeface="Roboto"/>
              </a:defRPr>
            </a:lvl6pPr>
            <a:lvl7pPr marL="3200400" marR="0" lvl="6" indent="-304800" algn="l" rtl="0">
              <a:lnSpc>
                <a:spcPct val="100000"/>
              </a:lnSpc>
              <a:spcBef>
                <a:spcPts val="360"/>
              </a:spcBef>
              <a:spcAft>
                <a:spcPts val="0"/>
              </a:spcAft>
              <a:buClr>
                <a:schemeClr val="dk1"/>
              </a:buClr>
              <a:buSzPts val="1200"/>
              <a:buFont typeface="Roboto"/>
              <a:buChar char="•"/>
              <a:defRPr sz="1200" b="0" i="0" u="none" strike="noStrike" cap="none">
                <a:solidFill>
                  <a:schemeClr val="dk1"/>
                </a:solidFill>
                <a:latin typeface="Roboto"/>
                <a:ea typeface="Roboto"/>
                <a:cs typeface="Roboto"/>
                <a:sym typeface="Roboto"/>
              </a:defRPr>
            </a:lvl7pPr>
            <a:lvl8pPr marL="3657600" marR="0" lvl="7" indent="-304800" algn="l" rtl="0">
              <a:lnSpc>
                <a:spcPct val="100000"/>
              </a:lnSpc>
              <a:spcBef>
                <a:spcPts val="360"/>
              </a:spcBef>
              <a:spcAft>
                <a:spcPts val="0"/>
              </a:spcAft>
              <a:buClr>
                <a:schemeClr val="dk1"/>
              </a:buClr>
              <a:buSzPts val="1200"/>
              <a:buFont typeface="Roboto"/>
              <a:buChar char="•"/>
              <a:defRPr sz="1200" b="0" i="0" u="none" strike="noStrike" cap="none">
                <a:solidFill>
                  <a:schemeClr val="dk1"/>
                </a:solidFill>
                <a:latin typeface="Roboto"/>
                <a:ea typeface="Roboto"/>
                <a:cs typeface="Roboto"/>
                <a:sym typeface="Roboto"/>
              </a:defRPr>
            </a:lvl8pPr>
            <a:lvl9pPr marL="4114800" marR="0" lvl="8" indent="-304800" algn="l" rtl="0">
              <a:lnSpc>
                <a:spcPct val="100000"/>
              </a:lnSpc>
              <a:spcBef>
                <a:spcPts val="360"/>
              </a:spcBef>
              <a:spcAft>
                <a:spcPts val="0"/>
              </a:spcAft>
              <a:buClr>
                <a:schemeClr val="dk1"/>
              </a:buClr>
              <a:buSzPts val="1200"/>
              <a:buFont typeface="Roboto"/>
              <a:buChar char="•"/>
              <a:defRPr sz="1200" b="0" i="0" u="none" strike="noStrike" cap="none">
                <a:solidFill>
                  <a:schemeClr val="dk1"/>
                </a:solidFill>
                <a:latin typeface="Roboto"/>
                <a:ea typeface="Roboto"/>
                <a:cs typeface="Roboto"/>
                <a:sym typeface="Roboto"/>
              </a:defRPr>
            </a:lvl9pPr>
          </a:lstStyle>
          <a:p>
            <a:pPr marL="0" indent="0">
              <a:spcBef>
                <a:spcPts val="0"/>
              </a:spcBef>
              <a:spcAft>
                <a:spcPts val="1200"/>
              </a:spcAft>
            </a:pPr>
            <a:r>
              <a:rPr lang="en-US" b="1" dirty="0">
                <a:latin typeface="Roboto" panose="02000000000000000000" pitchFamily="2" charset="0"/>
                <a:ea typeface="Roboto" panose="02000000000000000000" pitchFamily="2" charset="0"/>
                <a:cs typeface="Courier New" panose="02070309020205020404" pitchFamily="49" charset="0"/>
              </a:rPr>
              <a:t>AVCDL </a:t>
            </a:r>
            <a:r>
              <a:rPr lang="en-US" dirty="0">
                <a:latin typeface="Roboto" panose="02000000000000000000" pitchFamily="2" charset="0"/>
                <a:ea typeface="Roboto" panose="02000000000000000000" pitchFamily="2" charset="0"/>
                <a:cs typeface="Courier New" panose="02070309020205020404" pitchFamily="49" charset="0"/>
              </a:rPr>
              <a:t>(AVCDL primary document)</a:t>
            </a:r>
          </a:p>
          <a:p>
            <a:pPr marL="0" indent="0">
              <a:spcBef>
                <a:spcPts val="0"/>
              </a:spcBef>
              <a:spcAft>
                <a:spcPts val="1200"/>
              </a:spcAft>
            </a:pPr>
            <a:r>
              <a:rPr lang="en-US" b="1" dirty="0">
                <a:latin typeface="Roboto" panose="02000000000000000000" pitchFamily="2" charset="0"/>
                <a:ea typeface="Roboto" panose="02000000000000000000" pitchFamily="2" charset="0"/>
                <a:cs typeface="Courier New" panose="02070309020205020404" pitchFamily="49" charset="0"/>
              </a:rPr>
              <a:t>Threat Prioritization Plan </a:t>
            </a:r>
            <a:r>
              <a:rPr lang="en-US" dirty="0">
                <a:latin typeface="Roboto" panose="02000000000000000000" pitchFamily="2" charset="0"/>
                <a:ea typeface="Roboto" panose="02000000000000000000" pitchFamily="2" charset="0"/>
                <a:cs typeface="Courier New" panose="02070309020205020404" pitchFamily="49" charset="0"/>
              </a:rPr>
              <a:t>(AVCDL secondary document)</a:t>
            </a:r>
          </a:p>
          <a:p>
            <a:pPr marL="0" indent="0">
              <a:spcBef>
                <a:spcPts val="0"/>
              </a:spcBef>
              <a:spcAft>
                <a:spcPts val="1200"/>
              </a:spcAft>
            </a:pPr>
            <a:r>
              <a:rPr lang="en-US" b="1" dirty="0">
                <a:latin typeface="Roboto" panose="02000000000000000000" pitchFamily="2" charset="0"/>
                <a:ea typeface="Roboto" panose="02000000000000000000" pitchFamily="2" charset="0"/>
                <a:cs typeface="Courier New" panose="02070309020205020404" pitchFamily="49" charset="0"/>
              </a:rPr>
              <a:t>Threat Prioritization – Candidate Risking Procedure </a:t>
            </a:r>
            <a:r>
              <a:rPr lang="en-US" dirty="0">
                <a:latin typeface="Roboto" panose="02000000000000000000" pitchFamily="2" charset="0"/>
                <a:ea typeface="Roboto" panose="02000000000000000000" pitchFamily="2" charset="0"/>
                <a:cs typeface="Courier New" panose="02070309020205020404" pitchFamily="49" charset="0"/>
              </a:rPr>
              <a:t>(AVCDL tertiary document)</a:t>
            </a:r>
          </a:p>
          <a:p>
            <a:pPr marL="0" indent="0">
              <a:spcBef>
                <a:spcPts val="0"/>
              </a:spcBef>
              <a:spcAft>
                <a:spcPts val="1200"/>
              </a:spcAft>
            </a:pPr>
            <a:r>
              <a:rPr lang="en-US" b="1" dirty="0">
                <a:latin typeface="Roboto" panose="02000000000000000000" pitchFamily="2" charset="0"/>
                <a:ea typeface="Roboto" panose="02000000000000000000" pitchFamily="2" charset="0"/>
                <a:cs typeface="Courier New" panose="02070309020205020404" pitchFamily="49" charset="0"/>
              </a:rPr>
              <a:t>AVCDL threat candidate risking template </a:t>
            </a:r>
            <a:r>
              <a:rPr lang="en-US" dirty="0">
                <a:latin typeface="Roboto" panose="02000000000000000000" pitchFamily="2" charset="0"/>
                <a:ea typeface="Roboto" panose="02000000000000000000" pitchFamily="2" charset="0"/>
                <a:cs typeface="Courier New" panose="02070309020205020404" pitchFamily="49" charset="0"/>
              </a:rPr>
              <a:t>(AVCDL template)</a:t>
            </a:r>
          </a:p>
          <a:p>
            <a:pPr marL="0" indent="0">
              <a:spcBef>
                <a:spcPts val="0"/>
              </a:spcBef>
              <a:spcAft>
                <a:spcPts val="1200"/>
              </a:spcAft>
            </a:pPr>
            <a:r>
              <a:rPr lang="en-US" b="1" dirty="0">
                <a:latin typeface="Roboto" panose="02000000000000000000" pitchFamily="2" charset="0"/>
                <a:ea typeface="Roboto" panose="02000000000000000000" pitchFamily="2" charset="0"/>
                <a:cs typeface="Courier New" panose="02070309020205020404" pitchFamily="49" charset="0"/>
              </a:rPr>
              <a:t>Ranked / Risked Threat Report </a:t>
            </a:r>
            <a:r>
              <a:rPr lang="en-US" dirty="0">
                <a:latin typeface="Roboto" panose="02000000000000000000" pitchFamily="2" charset="0"/>
                <a:ea typeface="Roboto" panose="02000000000000000000" pitchFamily="2" charset="0"/>
                <a:cs typeface="Courier New" panose="02070309020205020404" pitchFamily="49" charset="0"/>
              </a:rPr>
              <a:t>(AVCDL secondary document)</a:t>
            </a:r>
          </a:p>
          <a:p>
            <a:pPr marL="0" indent="0">
              <a:spcBef>
                <a:spcPts val="0"/>
              </a:spcBef>
              <a:spcAft>
                <a:spcPts val="1200"/>
              </a:spcAft>
            </a:pPr>
            <a:r>
              <a:rPr lang="en-US" b="1" dirty="0"/>
              <a:t>ISO/SAE 21434:2021 Road vehicles – Cybersecurity engineering	</a:t>
            </a:r>
            <a:br>
              <a:rPr lang="en-US" b="1" dirty="0"/>
            </a:br>
            <a:r>
              <a:rPr lang="en-US" sz="1400" b="1" dirty="0">
                <a:latin typeface="Courier New" panose="02070309020205020404" pitchFamily="49" charset="0"/>
                <a:cs typeface="Courier New" panose="02070309020205020404" pitchFamily="49" charset="0"/>
                <a:hlinkClick r:id="rId3"/>
              </a:rPr>
              <a:t>https://www.iso.org/standard/70918.html</a:t>
            </a:r>
            <a:r>
              <a:rPr lang="en-US" sz="1400" b="1" dirty="0">
                <a:latin typeface="Courier New" panose="02070309020205020404" pitchFamily="49" charset="0"/>
                <a:cs typeface="Courier New" panose="02070309020205020404" pitchFamily="49" charset="0"/>
              </a:rPr>
              <a:t> </a:t>
            </a:r>
          </a:p>
          <a:p>
            <a:pPr marL="0" indent="0">
              <a:spcBef>
                <a:spcPts val="0"/>
              </a:spcBef>
            </a:pPr>
            <a:r>
              <a:rPr lang="en-US" b="1" dirty="0">
                <a:latin typeface="Roboto" panose="02000000000000000000" pitchFamily="2" charset="0"/>
                <a:ea typeface="Roboto" panose="02000000000000000000" pitchFamily="2" charset="0"/>
              </a:rPr>
              <a:t>ISO 26262-3:2018 Road vehicles – Functional safety – Part 3: Concept phase</a:t>
            </a:r>
            <a:endParaRPr lang="en-US" b="1" dirty="0">
              <a:latin typeface="Roboto" panose="02000000000000000000" pitchFamily="2" charset="0"/>
              <a:ea typeface="Roboto" panose="02000000000000000000" pitchFamily="2" charset="0"/>
              <a:cs typeface="Courier New" panose="02070309020205020404" pitchFamily="49" charset="0"/>
            </a:endParaRPr>
          </a:p>
          <a:p>
            <a:pPr marL="0" indent="0">
              <a:spcBef>
                <a:spcPts val="0"/>
              </a:spcBef>
              <a:spcAft>
                <a:spcPts val="1200"/>
              </a:spcAft>
            </a:pPr>
            <a:r>
              <a:rPr lang="en-US" sz="1400" b="1" dirty="0">
                <a:latin typeface="Courier New" panose="02070309020205020404" pitchFamily="49" charset="0"/>
                <a:cs typeface="Courier New" panose="02070309020205020404" pitchFamily="49" charset="0"/>
                <a:hlinkClick r:id="rId4"/>
              </a:rPr>
              <a:t>https://www.iso.org/standard/68385.html</a:t>
            </a:r>
            <a:r>
              <a:rPr lang="en-US" sz="1400" b="1" dirty="0">
                <a:latin typeface="Courier New" panose="02070309020205020404" pitchFamily="49" charset="0"/>
                <a:cs typeface="Courier New" panose="02070309020205020404" pitchFamily="49" charset="0"/>
              </a:rPr>
              <a:t>  </a:t>
            </a:r>
          </a:p>
          <a:p>
            <a:pPr marL="0" indent="0">
              <a:spcBef>
                <a:spcPts val="0"/>
              </a:spcBef>
            </a:pPr>
            <a:r>
              <a:rPr lang="en-US" b="1" dirty="0">
                <a:latin typeface="Roboto" panose="02000000000000000000" pitchFamily="2" charset="0"/>
                <a:ea typeface="Roboto" panose="02000000000000000000" pitchFamily="2" charset="0"/>
                <a:cs typeface="Courier New" panose="02070309020205020404" pitchFamily="49" charset="0"/>
              </a:rPr>
              <a:t>ISO 14971:2019 Medical devices – Application of risk management to medical devices</a:t>
            </a:r>
          </a:p>
          <a:p>
            <a:pPr marL="0" indent="0">
              <a:spcBef>
                <a:spcPts val="0"/>
              </a:spcBef>
              <a:spcAft>
                <a:spcPts val="1200"/>
              </a:spcAft>
            </a:pPr>
            <a:r>
              <a:rPr lang="en-US" sz="1400" b="1" dirty="0">
                <a:latin typeface="Courier New" panose="02070309020205020404" pitchFamily="49" charset="0"/>
                <a:cs typeface="Courier New" panose="02070309020205020404" pitchFamily="49" charset="0"/>
                <a:hlinkClick r:id="rId5"/>
              </a:rPr>
              <a:t>https://www.iso.org/standard/72704.html</a:t>
            </a:r>
            <a:r>
              <a:rPr lang="en-US" sz="1400" b="1" dirty="0">
                <a:latin typeface="Courier New" panose="02070309020205020404" pitchFamily="49" charset="0"/>
                <a:cs typeface="Courier New" panose="02070309020205020404" pitchFamily="49" charset="0"/>
              </a:rPr>
              <a:t> </a:t>
            </a:r>
          </a:p>
          <a:p>
            <a:pPr marL="0" indent="0">
              <a:spcBef>
                <a:spcPts val="0"/>
              </a:spcBef>
            </a:pPr>
            <a:r>
              <a:rPr lang="en-US" b="1" dirty="0"/>
              <a:t>NIST SP 800-30 r1 - Guide for Conducting Risk Assessments</a:t>
            </a:r>
          </a:p>
          <a:p>
            <a:pPr marL="0" indent="0">
              <a:spcBef>
                <a:spcPts val="0"/>
              </a:spcBef>
              <a:spcAft>
                <a:spcPts val="1200"/>
              </a:spcAft>
            </a:pPr>
            <a:r>
              <a:rPr lang="en-US" sz="1400" b="1" dirty="0">
                <a:latin typeface="Courier New" panose="02070309020205020404" pitchFamily="49" charset="0"/>
                <a:cs typeface="Courier New" panose="02070309020205020404" pitchFamily="49" charset="0"/>
                <a:hlinkClick r:id="rId6"/>
              </a:rPr>
              <a:t>https://nvlpubs.nist.gov/nistpubs/Legacy/SP/nistspecialpublication800-30r1.pdf</a:t>
            </a:r>
            <a:r>
              <a:rPr lang="en-US" b="1" dirty="0">
                <a:latin typeface="Courier New" panose="02070309020205020404" pitchFamily="49" charset="0"/>
                <a:cs typeface="Courier New" panose="02070309020205020404" pitchFamily="49" charset="0"/>
              </a:rPr>
              <a:t> </a:t>
            </a:r>
          </a:p>
        </p:txBody>
      </p:sp>
    </p:spTree>
    <p:extLst>
      <p:ext uri="{BB962C8B-B14F-4D97-AF65-F5344CB8AC3E}">
        <p14:creationId xmlns:p14="http://schemas.microsoft.com/office/powerpoint/2010/main" val="249334748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877"/>
        <p:cNvGrpSpPr/>
        <p:nvPr/>
      </p:nvGrpSpPr>
      <p:grpSpPr>
        <a:xfrm>
          <a:off x="0" y="0"/>
          <a:ext cx="0" cy="0"/>
          <a:chOff x="0" y="0"/>
          <a:chExt cx="0" cy="0"/>
        </a:xfrm>
      </p:grpSpPr>
      <p:sp>
        <p:nvSpPr>
          <p:cNvPr id="878" name="Google Shape;878;p147"/>
          <p:cNvSpPr txBox="1">
            <a:spLocks noGrp="1"/>
          </p:cNvSpPr>
          <p:nvPr>
            <p:ph type="title"/>
          </p:nvPr>
        </p:nvSpPr>
        <p:spPr>
          <a:xfrm>
            <a:off x="455617" y="460684"/>
            <a:ext cx="11277590" cy="524399"/>
          </a:xfrm>
          <a:prstGeom prst="rect">
            <a:avLst/>
          </a:prstGeom>
        </p:spPr>
        <p:txBody>
          <a:bodyPr spcFirstLastPara="1" wrap="square" lIns="0" tIns="0" rIns="0" bIns="0" anchor="ctr" anchorCtr="0">
            <a:noAutofit/>
          </a:bodyPr>
          <a:lstStyle/>
          <a:p>
            <a:pPr>
              <a:lnSpc>
                <a:spcPct val="100000"/>
              </a:lnSpc>
            </a:pPr>
            <a:r>
              <a:rPr lang="en" dirty="0"/>
              <a:t>References (2 of 2)</a:t>
            </a:r>
            <a:endParaRPr dirty="0"/>
          </a:p>
        </p:txBody>
      </p:sp>
      <p:sp>
        <p:nvSpPr>
          <p:cNvPr id="2" name="Google Shape;879;p147">
            <a:extLst>
              <a:ext uri="{FF2B5EF4-FFF2-40B4-BE49-F238E27FC236}">
                <a16:creationId xmlns:a16="http://schemas.microsoft.com/office/drawing/2014/main" id="{EE699A1B-DC13-C84D-9B67-3E4E126EE2B9}"/>
              </a:ext>
            </a:extLst>
          </p:cNvPr>
          <p:cNvSpPr txBox="1">
            <a:spLocks/>
          </p:cNvSpPr>
          <p:nvPr/>
        </p:nvSpPr>
        <p:spPr>
          <a:xfrm>
            <a:off x="455616" y="1146448"/>
            <a:ext cx="11277592" cy="984885"/>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L="457200" marR="0" lvl="0" indent="-228600" algn="l" rtl="0">
              <a:lnSpc>
                <a:spcPct val="100000"/>
              </a:lnSpc>
              <a:spcBef>
                <a:spcPts val="1800"/>
              </a:spcBef>
              <a:spcAft>
                <a:spcPts val="0"/>
              </a:spcAft>
              <a:buClr>
                <a:schemeClr val="dk1"/>
              </a:buClr>
              <a:buSzPts val="2000"/>
              <a:buFont typeface="Roboto"/>
              <a:buNone/>
              <a:defRPr sz="2000" b="0" i="0" u="none" strike="noStrike" cap="none">
                <a:solidFill>
                  <a:schemeClr val="dk1"/>
                </a:solidFill>
                <a:latin typeface="Roboto"/>
                <a:ea typeface="Roboto"/>
                <a:cs typeface="Roboto"/>
                <a:sym typeface="Roboto"/>
              </a:defRPr>
            </a:lvl1pPr>
            <a:lvl2pPr marL="914400" marR="0" lvl="1" indent="-342900" algn="l" rtl="0">
              <a:lnSpc>
                <a:spcPct val="100000"/>
              </a:lnSpc>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L="1371600" marR="0" lvl="2" indent="-330200" algn="l" rtl="0">
              <a:lnSpc>
                <a:spcPct val="100000"/>
              </a:lnSpc>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L="1828800" marR="0" lvl="3" indent="-317500" algn="l" rtl="0">
              <a:lnSpc>
                <a:spcPct val="100000"/>
              </a:lnSpc>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L="2286000" marR="0" lvl="4" indent="-304800" algn="l" rtl="0">
              <a:lnSpc>
                <a:spcPct val="100000"/>
              </a:lnSpc>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L="2743200" marR="0" lvl="5" indent="-304800" algn="l" rtl="0">
              <a:lnSpc>
                <a:spcPct val="100000"/>
              </a:lnSpc>
              <a:spcBef>
                <a:spcPts val="360"/>
              </a:spcBef>
              <a:spcAft>
                <a:spcPts val="0"/>
              </a:spcAft>
              <a:buClr>
                <a:schemeClr val="dk1"/>
              </a:buClr>
              <a:buSzPts val="1200"/>
              <a:buFont typeface="Roboto"/>
              <a:buChar char="•"/>
              <a:defRPr sz="1200" b="0" i="0" u="none" strike="noStrike" cap="none">
                <a:solidFill>
                  <a:schemeClr val="dk1"/>
                </a:solidFill>
                <a:latin typeface="Roboto"/>
                <a:ea typeface="Roboto"/>
                <a:cs typeface="Roboto"/>
                <a:sym typeface="Roboto"/>
              </a:defRPr>
            </a:lvl6pPr>
            <a:lvl7pPr marL="3200400" marR="0" lvl="6" indent="-304800" algn="l" rtl="0">
              <a:lnSpc>
                <a:spcPct val="100000"/>
              </a:lnSpc>
              <a:spcBef>
                <a:spcPts val="360"/>
              </a:spcBef>
              <a:spcAft>
                <a:spcPts val="0"/>
              </a:spcAft>
              <a:buClr>
                <a:schemeClr val="dk1"/>
              </a:buClr>
              <a:buSzPts val="1200"/>
              <a:buFont typeface="Roboto"/>
              <a:buChar char="•"/>
              <a:defRPr sz="1200" b="0" i="0" u="none" strike="noStrike" cap="none">
                <a:solidFill>
                  <a:schemeClr val="dk1"/>
                </a:solidFill>
                <a:latin typeface="Roboto"/>
                <a:ea typeface="Roboto"/>
                <a:cs typeface="Roboto"/>
                <a:sym typeface="Roboto"/>
              </a:defRPr>
            </a:lvl7pPr>
            <a:lvl8pPr marL="3657600" marR="0" lvl="7" indent="-304800" algn="l" rtl="0">
              <a:lnSpc>
                <a:spcPct val="100000"/>
              </a:lnSpc>
              <a:spcBef>
                <a:spcPts val="360"/>
              </a:spcBef>
              <a:spcAft>
                <a:spcPts val="0"/>
              </a:spcAft>
              <a:buClr>
                <a:schemeClr val="dk1"/>
              </a:buClr>
              <a:buSzPts val="1200"/>
              <a:buFont typeface="Roboto"/>
              <a:buChar char="•"/>
              <a:defRPr sz="1200" b="0" i="0" u="none" strike="noStrike" cap="none">
                <a:solidFill>
                  <a:schemeClr val="dk1"/>
                </a:solidFill>
                <a:latin typeface="Roboto"/>
                <a:ea typeface="Roboto"/>
                <a:cs typeface="Roboto"/>
                <a:sym typeface="Roboto"/>
              </a:defRPr>
            </a:lvl8pPr>
            <a:lvl9pPr marL="4114800" marR="0" lvl="8" indent="-304800" algn="l" rtl="0">
              <a:lnSpc>
                <a:spcPct val="100000"/>
              </a:lnSpc>
              <a:spcBef>
                <a:spcPts val="360"/>
              </a:spcBef>
              <a:spcAft>
                <a:spcPts val="0"/>
              </a:spcAft>
              <a:buClr>
                <a:schemeClr val="dk1"/>
              </a:buClr>
              <a:buSzPts val="1200"/>
              <a:buFont typeface="Roboto"/>
              <a:buChar char="•"/>
              <a:defRPr sz="1200" b="0" i="0" u="none" strike="noStrike" cap="none">
                <a:solidFill>
                  <a:schemeClr val="dk1"/>
                </a:solidFill>
                <a:latin typeface="Roboto"/>
                <a:ea typeface="Roboto"/>
                <a:cs typeface="Roboto"/>
                <a:sym typeface="Roboto"/>
              </a:defRPr>
            </a:lvl9pPr>
          </a:lstStyle>
          <a:p>
            <a:pPr marL="0" indent="0">
              <a:spcBef>
                <a:spcPts val="0"/>
              </a:spcBef>
            </a:pPr>
            <a:r>
              <a:rPr lang="en-US" b="1" dirty="0">
                <a:latin typeface="Roboto" panose="02000000000000000000" pitchFamily="2" charset="0"/>
                <a:ea typeface="Roboto" panose="02000000000000000000" pitchFamily="2" charset="0"/>
              </a:rPr>
              <a:t>NIST FIPS 199 Standards for Security Categorization of Federal Information and Information Systems</a:t>
            </a:r>
            <a:endParaRPr lang="en-US" b="1" dirty="0">
              <a:latin typeface="Roboto" panose="02000000000000000000" pitchFamily="2" charset="0"/>
              <a:ea typeface="Roboto" panose="02000000000000000000" pitchFamily="2" charset="0"/>
              <a:cs typeface="Courier New" panose="02070309020205020404" pitchFamily="49" charset="0"/>
            </a:endParaRPr>
          </a:p>
          <a:p>
            <a:pPr marL="0" indent="0">
              <a:spcBef>
                <a:spcPts val="0"/>
              </a:spcBef>
              <a:spcAft>
                <a:spcPts val="1200"/>
              </a:spcAft>
            </a:pPr>
            <a:r>
              <a:rPr lang="en-US" sz="1400" b="1" dirty="0">
                <a:latin typeface="Courier New" panose="02070309020205020404" pitchFamily="49" charset="0"/>
                <a:cs typeface="Courier New" panose="02070309020205020404" pitchFamily="49" charset="0"/>
                <a:hlinkClick r:id="rId3"/>
              </a:rPr>
              <a:t>https://nvlpubs.nist.gov/nistpubs/FIPS/NIST.FIPS.199.pdf</a:t>
            </a:r>
            <a:r>
              <a:rPr lang="en-US" sz="1400" b="1" dirty="0">
                <a:latin typeface="Courier New" panose="02070309020205020404" pitchFamily="49" charset="0"/>
                <a:cs typeface="Courier New" panose="02070309020205020404" pitchFamily="49" charset="0"/>
              </a:rPr>
              <a:t> </a:t>
            </a:r>
          </a:p>
        </p:txBody>
      </p:sp>
    </p:spTree>
    <p:extLst>
      <p:ext uri="{BB962C8B-B14F-4D97-AF65-F5344CB8AC3E}">
        <p14:creationId xmlns:p14="http://schemas.microsoft.com/office/powerpoint/2010/main" val="2557400049"/>
      </p:ext>
    </p:extLst>
  </p:cSld>
  <p:clrMapOvr>
    <a:masterClrMapping/>
  </p:clrMapOvr>
</p:sld>
</file>

<file path=ppt/theme/theme1.xml><?xml version="1.0" encoding="utf-8"?>
<a:theme xmlns:a="http://schemas.openxmlformats.org/drawingml/2006/main" name="1_Motional Masters">
  <a:themeElements>
    <a:clrScheme name="Motional">
      <a:dk1>
        <a:srgbClr val="000000"/>
      </a:dk1>
      <a:lt1>
        <a:srgbClr val="FFFFFF"/>
      </a:lt1>
      <a:dk2>
        <a:srgbClr val="092871"/>
      </a:dk2>
      <a:lt2>
        <a:srgbClr val="5B48F6"/>
      </a:lt2>
      <a:accent1>
        <a:srgbClr val="C9EAF1"/>
      </a:accent1>
      <a:accent2>
        <a:srgbClr val="ADB9E3"/>
      </a:accent2>
      <a:accent3>
        <a:srgbClr val="00F6FF"/>
      </a:accent3>
      <a:accent4>
        <a:srgbClr val="D2DCDC"/>
      </a:accent4>
      <a:accent5>
        <a:srgbClr val="828791"/>
      </a:accent5>
      <a:accent6>
        <a:srgbClr val="404449"/>
      </a:accent6>
      <a:hlink>
        <a:srgbClr val="0000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Office 2013 - 2022 Theme</Template>
  <TotalTime>308787</TotalTime>
  <Words>2354</Words>
  <Application>Microsoft Macintosh PowerPoint</Application>
  <PresentationFormat>Custom</PresentationFormat>
  <Paragraphs>557</Paragraphs>
  <Slides>26</Slides>
  <Notes>26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26</vt:i4>
      </vt:variant>
    </vt:vector>
  </HeadingPairs>
  <TitlesOfParts>
    <vt:vector size="32" baseType="lpstr">
      <vt:lpstr>Arial</vt:lpstr>
      <vt:lpstr>Roboto</vt:lpstr>
      <vt:lpstr>Calibri</vt:lpstr>
      <vt:lpstr>Roboto Medium</vt:lpstr>
      <vt:lpstr>Courier New</vt:lpstr>
      <vt:lpstr>1_Motional Masters</vt:lpstr>
      <vt:lpstr>Threat Prioritization – Candidate Risking</vt:lpstr>
      <vt:lpstr>Training Path</vt:lpstr>
      <vt:lpstr>Workflow</vt:lpstr>
      <vt:lpstr>Process Workflow</vt:lpstr>
      <vt:lpstr>Process Workflow</vt:lpstr>
      <vt:lpstr>Candidate Risking Activity</vt:lpstr>
      <vt:lpstr>Impact Rubrics</vt:lpstr>
      <vt:lpstr>Impact Rubrics (Overlay 14971)</vt:lpstr>
      <vt:lpstr>Impact Rubrics (Overlay 199)</vt:lpstr>
      <vt:lpstr>Impact Rubrics (Overlay 800-30)</vt:lpstr>
      <vt:lpstr>Example</vt:lpstr>
      <vt:lpstr>Reference Documents</vt:lpstr>
      <vt:lpstr>Label Mapping</vt:lpstr>
      <vt:lpstr>Example System</vt:lpstr>
      <vt:lpstr>Triage Information</vt:lpstr>
      <vt:lpstr>Ranking</vt:lpstr>
      <vt:lpstr>Risking</vt:lpstr>
      <vt:lpstr>Recap</vt:lpstr>
      <vt:lpstr>Summary</vt:lpstr>
      <vt:lpstr>Example Materials</vt:lpstr>
      <vt:lpstr>Further Reading</vt:lpstr>
      <vt:lpstr>AVCDL on GitHub</vt:lpstr>
      <vt:lpstr>AVCDL on YouTube</vt:lpstr>
      <vt:lpstr>Next Steps</vt:lpstr>
      <vt:lpstr>References (1 of 2)</vt:lpstr>
      <vt:lpstr>References (2 of 2)</vt:lpstr>
    </vt:vector>
  </TitlesOfParts>
  <Manager/>
  <Company>Torc Robotics</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Threat Prioritization - Candidate Risking (training)</dc:title>
  <dc:subject>threat prioritization - candidate risking</dc:subject>
  <dc:creator>Charles Wilson</dc:creator>
  <cp:keywords>cybersecurity, threat prioritization</cp:keywords>
  <dc:description>This work was created by Torc Robotics and is licensed under the Creative Commons Attribution-Share Alike (CC BY-SA-4.0) License.
https://creativecommons.org/licenses/by/4.0/legalcode
</dc:description>
  <cp:lastModifiedBy>Charles Wilson</cp:lastModifiedBy>
  <cp:revision>518</cp:revision>
  <cp:lastPrinted>2023-10-06T18:22:29Z</cp:lastPrinted>
  <dcterms:modified xsi:type="dcterms:W3CDTF">2026-09-01T15:27:06Z</dcterms:modified>
  <cp:category>cybersecurity</cp:category>
</cp:coreProperties>
</file>