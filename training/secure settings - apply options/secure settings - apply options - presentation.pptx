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22"/>
  </p:notesMasterIdLst>
  <p:sldIdLst>
    <p:sldId id="256" r:id="rId4"/>
    <p:sldId id="306" r:id="rId5"/>
    <p:sldId id="643" r:id="rId6"/>
    <p:sldId id="607" r:id="rId7"/>
    <p:sldId id="638" r:id="rId8"/>
    <p:sldId id="640" r:id="rId9"/>
    <p:sldId id="587" r:id="rId10"/>
    <p:sldId id="658" r:id="rId11"/>
    <p:sldId id="660" r:id="rId12"/>
    <p:sldId id="661" r:id="rId13"/>
    <p:sldId id="603" r:id="rId14"/>
    <p:sldId id="488" r:id="rId15"/>
    <p:sldId id="604" r:id="rId16"/>
    <p:sldId id="343" r:id="rId17"/>
    <p:sldId id="606" r:id="rId18"/>
    <p:sldId id="461" r:id="rId19"/>
    <p:sldId id="420" r:id="rId20"/>
    <p:sldId id="368" r:id="rId21"/>
  </p:sldIdLst>
  <p:sldSz cx="12188825" cy="6858000"/>
  <p:notesSz cx="6858000" cy="9144000"/>
  <p:embeddedFontLst>
    <p:embeddedFont>
      <p:font typeface="Roboto" panose="02000000000000000000" pitchFamily="2" charset="0"/>
      <p:regular r:id="rId23"/>
      <p:bold r:id="rId24"/>
      <p:italic r:id="rId25"/>
      <p:boldItalic r:id="rId26"/>
    </p:embeddedFont>
    <p:embeddedFont>
      <p:font typeface="Roboto Medium" panose="020F050202020403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8194"/>
    <a:srgbClr val="FFFAB2"/>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72"/>
    <p:restoredTop sz="57721"/>
  </p:normalViewPr>
  <p:slideViewPr>
    <p:cSldViewPr snapToGrid="0">
      <p:cViewPr varScale="1">
        <p:scale>
          <a:sx n="130" d="100"/>
          <a:sy n="130" d="100"/>
        </p:scale>
        <p:origin x="2136" y="192"/>
      </p:cViewPr>
      <p:guideLst>
        <p:guide orient="horz" pos="2160"/>
        <p:guide pos="3839"/>
        <p:guide orient="horz" pos="3945"/>
      </p:guideLst>
    </p:cSldViewPr>
  </p:slideViewPr>
  <p:notesTextViewPr>
    <p:cViewPr>
      <p:scale>
        <a:sx n="1" d="1"/>
        <a:sy n="1" d="1"/>
      </p:scale>
      <p:origin x="0" y="0"/>
    </p:cViewPr>
  </p:notesTextViewPr>
  <p:sorterViewPr>
    <p:cViewPr>
      <p:scale>
        <a:sx n="161" d="100"/>
        <a:sy n="16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4.fntdata"/><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 sz="1400" b="1" dirty="0"/>
              <a:t>Secure Settings – Option Application </a:t>
            </a:r>
            <a:r>
              <a:rPr lang="en" sz="1400" b="0" dirty="0"/>
              <a:t>activity</a:t>
            </a:r>
            <a:r>
              <a:rPr lang="en-US" sz="1400" b="0" i="0" dirty="0">
                <a:solidFill>
                  <a:srgbClr val="000000"/>
                </a:solidFill>
                <a:effectLst/>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 Overview</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400" b="1" dirty="0">
                <a:latin typeface="Calibri" panose="020F0502020204030204" pitchFamily="34" charset="0"/>
                <a:cs typeface="Calibri" panose="020F0502020204030204" pitchFamily="34" charset="0"/>
              </a:rPr>
              <a:t>Secure Settings – Identify Options</a:t>
            </a:r>
          </a:p>
          <a:p>
            <a:pPr marL="285750" marR="0" lvl="0" indent="-2857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400" b="1" dirty="0">
                <a:latin typeface="Calibri" panose="020F0502020204030204" pitchFamily="34" charset="0"/>
                <a:cs typeface="Calibri" panose="020F0502020204030204" pitchFamily="34" charset="0"/>
              </a:rPr>
              <a:t>Secure Settings – Categorize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 – Select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the </a:t>
            </a:r>
            <a:r>
              <a:rPr lang="en-US" sz="1400" b="1" dirty="0">
                <a:latin typeface="Calibri" panose="020F0502020204030204" pitchFamily="34" charset="0"/>
                <a:cs typeface="Calibri" panose="020F0502020204030204" pitchFamily="34" charset="0"/>
              </a:rPr>
              <a:t>Secure Settings – Option Application</a:t>
            </a:r>
            <a:r>
              <a:rPr lang="en-US" sz="1400" dirty="0">
                <a:latin typeface="Calibri" panose="020F0502020204030204" pitchFamily="34" charset="0"/>
                <a:cs typeface="Calibri" panose="020F0502020204030204" pitchFamily="34" charset="0"/>
              </a:rPr>
              <a:t> activity.</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322BDB-CB5D-0C03-0555-46EED654BB1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D268CDA-6677-C4D0-88C5-17F47F7C5F4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8EE4E46-E858-EFBB-5F74-DE25C0528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option application, let's briefly review where it fits, in the overall secure settings process.</a:t>
            </a:r>
          </a:p>
        </p:txBody>
      </p:sp>
    </p:spTree>
    <p:extLst>
      <p:ext uri="{BB962C8B-B14F-4D97-AF65-F5344CB8AC3E}">
        <p14:creationId xmlns:p14="http://schemas.microsoft.com/office/powerpoint/2010/main" val="507866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secure settings process which we previously covered in the Secure Settings Overview.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fourth activity, that of option application.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DDE055D-969C-1251-8D4B-9A5D6A6EF8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FCEE36-4BC2-7CF5-2272-6001940871B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DCD742C-D5B3-C0E2-0697-8287358F5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secure settings process which we previously covered in the Secure Settings Overview.</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fourth activity, that of option application.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9887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option application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devops SME takes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element-specific tool security document from the option selection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the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applies the security options to the appropriate element’s section,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creating an updated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generating a security options application report.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work our way through an example of a tool's cybersecurity-relevant option application.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be working with the element-specific tool cybersecurity options document created in the option selection activity.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here that this is just one mechanism for documenting this information.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any number of ways the information could be documented.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an ideal world, you'd use a database to store the information both across tools and versions of tools and aligned with each element.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a database is used, the information needed by the DevOps SME should be exported into a flattened representation.</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73113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7CB729-C131-DB85-BB32-EA732ED29E6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27BB4CB-8BCA-E6FD-7709-2C34CFE280A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E37ADFAD-251D-B8FD-0AB6-60A0980B98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t>Here are the options from the elements-specific tool cybersecurity options document.</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The part that we need to make sure that the DevOps SME gets are just the first three columns,</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the option ID,</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the option,</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and the disposition.</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We don't need the justification or notes fields.</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It might be useful to sort this based on the disposition, and then the option, but that’s an individual preference.</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You could simply provide the elements that are to be included.</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But, if you want to make sure that the ones that you wanted to be excluded aren't already turned on, then having both is useful.</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I'm not going to go into build system-specifics here.</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And the fact that we're talking about these options going into build file, does not preclude them from going into the settings of a standalone tool being used within the context of the build system.</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There are going to be some tools, static analyzers are a good example, which have configuration files that are managed separately from the build system.</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That's not a significant thing.</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What's important is that we provide the options, whatever the mechanism of application.</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That’s the core point we're trying to get at here.</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Since the DevOps engineer is presumed to be a subject matter expert in how the build system works and how the tools within it are being utilized, so long as we provide the tool options list and the contextual information about the tool and element to which it needs to be applied, there's sufficient data to perform this activity.</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It’s presumed that before deploying the changes, that the DevOps SME will verify that the changes to the settings do not break the build.</a:t>
            </a:r>
          </a:p>
          <a:p>
            <a:pPr marL="0" lvl="0" indent="0" algn="l" rtl="0">
              <a:spcBef>
                <a:spcPts val="0"/>
              </a:spcBef>
              <a:spcAft>
                <a:spcPts val="0"/>
              </a:spcAft>
              <a:buNone/>
            </a:pPr>
            <a:endParaRPr lang="en-US" sz="1400" dirty="0"/>
          </a:p>
        </p:txBody>
      </p:sp>
    </p:spTree>
    <p:extLst>
      <p:ext uri="{BB962C8B-B14F-4D97-AF65-F5344CB8AC3E}">
        <p14:creationId xmlns:p14="http://schemas.microsoft.com/office/powerpoint/2010/main" val="985590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73726B5-170E-D339-F298-484A7FDA52C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E390BFD-26E7-CA2E-5B22-144D243B66F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07F83C0-BD59-7031-5B88-158D3D615D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final step in this activity is the generation of the security options application report.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requirement is one of the greatest sources of confusion in this activity.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let's talk about that.</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4986408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02A8017-CD3E-7126-2FF7-5FB2EDD6BE2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6833351-646A-2207-69AD-5C664C528CD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15B3ACE-D50F-56B5-086C-1C33890915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two motivations for the report generation exercise.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unsurprisingly one of traceability.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want to be able to show that we have applied the specified settings.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shouldn’t require anything outside of the normal settings report that one would produce in order to present in a regulatory context.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is settings enforcement.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treats this human-readable form as a helper document.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want to ensure that once we have made these settings an established part of the build that they don't get changed.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this provides us with a document that we can reference.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says, “these are the settings that should be there, let's check to see if that's the case.”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Many are probably thinking, “Can’t we just tell people to look at the build file? It’s self-documenting.”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those operating in non-regulated industries, this aspect of the apply options activity is probably one you can skip.</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everyone else, keep in mind that having a report in the DMS avoids the data extraction issues that come into play when there is a problem five or ten years in the future requiring review of the cybersecurity settings.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the build process includes a step which generates a human-readable form documenting the settings information, then this is easily recorded in the DMS.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report would be part of the product build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Should a problem arise in the future, no one needs to stand up the source code control and build systems necessary to extract and report this information.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step is fundamentally about the future-proofing.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01523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that covers the final activity in the secure settings process.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some takeaways.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activity is probably the most straightforward one of all the secure settings activities.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consists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applying the settings to the build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verifying the build before deploying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creating a human-readable report for the purposes of traceability, and also to later ensure that the settings stick.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the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the workbook includes all the sheets covered in this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a:t>
            </a:r>
            <a:r>
              <a:rPr lang="en-US" sz="1400" b="1" dirty="0">
                <a:latin typeface="Calibri" panose="020F0502020204030204" pitchFamily="34" charset="0"/>
                <a:cs typeface="Calibri" panose="020F0502020204030204" pitchFamily="34" charset="0"/>
              </a:rPr>
              <a:t>Secure Settings – Apply Options Procedure </a:t>
            </a:r>
            <a:r>
              <a:rPr lang="en-US" sz="1400" dirty="0">
                <a:latin typeface="Calibri" panose="020F0502020204030204" pitchFamily="34" charset="0"/>
                <a:cs typeface="Calibri" panose="020F0502020204030204" pitchFamily="34" charset="0"/>
              </a:rPr>
              <a:t>tertiary document is available in the </a:t>
            </a:r>
            <a:r>
              <a:rPr lang="en-US" sz="1400" b="1" dirty="0">
                <a:latin typeface="Calibri" panose="020F0502020204030204" pitchFamily="34" charset="0"/>
                <a:cs typeface="Calibri" panose="020F0502020204030204" pitchFamily="34" charset="0"/>
              </a:rPr>
              <a:t>AVCDL GitHub </a:t>
            </a:r>
            <a:r>
              <a:rPr lang="en-US" sz="1400" dirty="0">
                <a:latin typeface="Calibri" panose="020F0502020204030204" pitchFamily="34" charset="0"/>
                <a:cs typeface="Calibri" panose="020F0502020204030204" pitchFamily="34" charset="0"/>
              </a:rPr>
              <a:t>repository.</a:t>
            </a:r>
          </a:p>
        </p:txBody>
      </p:sp>
    </p:spTree>
    <p:extLst>
      <p:ext uri="{BB962C8B-B14F-4D97-AF65-F5344CB8AC3E}">
        <p14:creationId xmlns:p14="http://schemas.microsoft.com/office/powerpoint/2010/main" val="3578026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b="1" dirty="0">
                <a:effectLst/>
                <a:latin typeface="Calibri" panose="020F0502020204030204" pitchFamily="34" charset="0"/>
                <a:ea typeface="Calibri" panose="020F0502020204030204" pitchFamily="34" charset="0"/>
                <a:cs typeface="Calibri" panose="020F0502020204030204" pitchFamily="34" charset="0"/>
              </a:rPr>
              <a:t>AVCDL</a:t>
            </a:r>
            <a:r>
              <a:rPr lang="en-US" sz="1400" dirty="0">
                <a:effectLst/>
                <a:latin typeface="Calibri" panose="020F0502020204030204" pitchFamily="34" charset="0"/>
                <a:ea typeface="Calibri" panose="020F0502020204030204" pitchFamily="34" charset="0"/>
                <a:cs typeface="Calibri" panose="020F0502020204030204" pitchFamily="34" charset="0"/>
              </a:rPr>
              <a:t> materials, both in source and distribution forms, are available on our </a:t>
            </a:r>
            <a:r>
              <a:rPr lang="en-US" sz="1400" b="1" dirty="0">
                <a:effectLst/>
                <a:latin typeface="Calibri" panose="020F0502020204030204" pitchFamily="34" charset="0"/>
                <a:ea typeface="Calibri" panose="020F0502020204030204" pitchFamily="34" charset="0"/>
                <a:cs typeface="Calibri" panose="020F0502020204030204" pitchFamily="34" charset="0"/>
              </a:rPr>
              <a:t>GitHub</a:t>
            </a:r>
            <a:r>
              <a:rPr lang="en-US" sz="1400" dirty="0">
                <a:effectLst/>
                <a:latin typeface="Calibri" panose="020F0502020204030204" pitchFamily="34" charset="0"/>
                <a:ea typeface="Calibri" panose="020F0502020204030204" pitchFamily="34" charset="0"/>
                <a:cs typeface="Calibri" panose="020F0502020204030204" pitchFamily="34" charset="0"/>
              </a:rPr>
              <a:t>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t>
            </a:r>
            <a:r>
              <a:rPr lang="en-US" b="1" dirty="0"/>
              <a:t>AVCDL</a:t>
            </a:r>
            <a:r>
              <a:rPr lang="en-US" dirty="0"/>
              <a:t>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t>
            </a:r>
            <a:r>
              <a:rPr lang="en-US" b="1" dirty="0"/>
              <a:t>AVCDL</a:t>
            </a:r>
            <a:r>
              <a:rPr lang="en-US" dirty="0"/>
              <a:t> materials except for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Secure Settings </a:t>
            </a:r>
            <a:r>
              <a:rPr lang="en-US" sz="1400" dirty="0"/>
              <a:t>process activities,  you can proceed to the other training at this level, </a:t>
            </a:r>
            <a:r>
              <a:rPr lang="en-US" sz="1400" b="1" dirty="0"/>
              <a:t>Secure Design Review</a:t>
            </a:r>
            <a:r>
              <a:rPr lang="en-US" sz="1400" b="0" dirty="0"/>
              <a:t>.</a:t>
            </a:r>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if you’ve completed </a:t>
            </a:r>
            <a:r>
              <a:rPr lang="en-US" sz="1400" b="1" dirty="0"/>
              <a:t>Threat Prioritization</a:t>
            </a:r>
            <a:r>
              <a:rPr lang="en-US" sz="1400" dirty="0"/>
              <a:t>, you can also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Attack Surface Analysis</a:t>
            </a:r>
          </a:p>
          <a:p>
            <a:pPr marL="285750" marR="0" indent="-285750" algn="just">
              <a:spcBef>
                <a:spcPts val="0"/>
              </a:spcBef>
              <a:spcAft>
                <a:spcPts val="1200"/>
              </a:spcAft>
            </a:pPr>
            <a:r>
              <a:rPr lang="en-US" sz="1400" b="1" dirty="0"/>
              <a:t>Threat Modeling</a:t>
            </a:r>
          </a:p>
          <a:p>
            <a:pPr marL="285750" marR="0" indent="-285750" algn="just">
              <a:spcBef>
                <a:spcPts val="0"/>
              </a:spcBef>
              <a:spcAft>
                <a:spcPts val="1200"/>
              </a:spcAft>
            </a:pPr>
            <a:r>
              <a:rPr lang="en-US" sz="1400" b="1" dirty="0"/>
              <a:t>Penetration Testing</a:t>
            </a:r>
            <a:endParaRPr lang="en-US" sz="1400" dirty="0"/>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Vulnerability Identification</a:t>
            </a:r>
          </a:p>
          <a:p>
            <a:pPr marL="285750" marR="0" indent="-285750" algn="just">
              <a:spcBef>
                <a:spcPts val="0"/>
              </a:spcBef>
              <a:spcAft>
                <a:spcPts val="1200"/>
              </a:spcAft>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you can proceed to either:</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Code Reuse</a:t>
            </a:r>
          </a:p>
          <a:p>
            <a:pPr marL="285750" marR="0" indent="-285750" algn="just">
              <a:spcBef>
                <a:spcPts val="0"/>
              </a:spcBef>
              <a:spcAft>
                <a:spcPts val="1200"/>
              </a:spcAft>
            </a:pPr>
            <a:endParaRPr lang="en-US" sz="1400" b="1"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or</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Secure Coding</a:t>
            </a:r>
          </a:p>
        </p:txBody>
      </p:sp>
    </p:spTree>
    <p:extLst>
      <p:ext uri="{BB962C8B-B14F-4D97-AF65-F5344CB8AC3E}">
        <p14:creationId xmlns:p14="http://schemas.microsoft.com/office/powerpoint/2010/main" val="3701739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t>
            </a:r>
            <a:r>
              <a:rPr lang="en-US" sz="1400" b="1" dirty="0">
                <a:solidFill>
                  <a:srgbClr val="1D1C1D"/>
                </a:solidFill>
                <a:effectLst/>
                <a:latin typeface="Calibri" panose="020F0502020204030204" pitchFamily="34" charset="0"/>
                <a:cs typeface="Calibri" panose="020F0502020204030204" pitchFamily="34" charset="0"/>
              </a:rPr>
              <a:t>AVCDL GitHub </a:t>
            </a:r>
            <a:r>
              <a:rPr lang="en-US" sz="1400" dirty="0">
                <a:solidFill>
                  <a:srgbClr val="1D1C1D"/>
                </a:solidFill>
                <a:effectLst/>
                <a:latin typeface="Calibri" panose="020F0502020204030204" pitchFamily="34" charset="0"/>
                <a:cs typeface="Calibri" panose="020F0502020204030204" pitchFamily="34" charset="0"/>
              </a:rPr>
              <a:t>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1036064" cy="3227235"/>
          </a:xfrm>
          <a:prstGeom prst="rect">
            <a:avLst/>
          </a:prstGeom>
          <a:noFill/>
          <a:ln>
            <a:noFill/>
          </a:ln>
        </p:spPr>
        <p:txBody>
          <a:bodyPr spcFirstLastPara="1" wrap="square" lIns="0" tIns="0" rIns="0" bIns="0" anchor="ctr" anchorCtr="0">
            <a:noAutofit/>
          </a:bodyPr>
          <a:lstStyle/>
          <a:p>
            <a:pPr>
              <a:lnSpc>
                <a:spcPct val="100000"/>
              </a:lnSpc>
            </a:pPr>
            <a:r>
              <a:rPr lang="en" sz="5400" dirty="0"/>
              <a:t>Secure Settings – Apply Options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1</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2025-09-23</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6" name="Rectangle 5">
            <a:extLst>
              <a:ext uri="{FF2B5EF4-FFF2-40B4-BE49-F238E27FC236}">
                <a16:creationId xmlns:a16="http://schemas.microsoft.com/office/drawing/2014/main" id="{045111EE-15D1-8720-B72C-39CD744DB3C5}"/>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AVCDL-Implementation-3.1.4</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39DA21B-89EB-986D-847D-4B42780BEBB3}"/>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FF19A58-92B6-1DFA-4D72-000891004779}"/>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2845624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a:extLst>
              <a:ext uri="{FF2B5EF4-FFF2-40B4-BE49-F238E27FC236}">
                <a16:creationId xmlns:a16="http://schemas.microsoft.com/office/drawing/2014/main" id="{081917B5-D38D-75C7-4D31-0A25C42D16F1}"/>
              </a:ext>
            </a:extLst>
          </p:cNvPr>
          <p:cNvPicPr>
            <a:picLocks noChangeAspect="1"/>
          </p:cNvPicPr>
          <p:nvPr/>
        </p:nvPicPr>
        <p:blipFill>
          <a:blip r:embed="rId3"/>
          <a:srcRect/>
          <a:stretch/>
        </p:blipFill>
        <p:spPr>
          <a:xfrm>
            <a:off x="274866" y="1543690"/>
            <a:ext cx="11639090" cy="3770619"/>
          </a:xfrm>
          <a:prstGeom prst="rect">
            <a:avLst/>
          </a:prstGeom>
        </p:spPr>
      </p:pic>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FFD8B6E-37C9-C610-8072-4A447D4CB93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3744CB1-C079-990B-9DFE-7A43F846D0B2}"/>
              </a:ext>
            </a:extLst>
          </p:cNvPr>
          <p:cNvPicPr>
            <a:picLocks noChangeAspect="1"/>
          </p:cNvPicPr>
          <p:nvPr/>
        </p:nvPicPr>
        <p:blipFill>
          <a:blip r:embed="rId3">
            <a:alphaModFix amt="10000"/>
          </a:blip>
          <a:srcRect/>
          <a:stretch/>
        </p:blipFill>
        <p:spPr>
          <a:xfrm>
            <a:off x="274866" y="1543690"/>
            <a:ext cx="11639090" cy="3770619"/>
          </a:xfrm>
          <a:prstGeom prst="rect">
            <a:avLst/>
          </a:prstGeom>
        </p:spPr>
      </p:pic>
      <p:sp>
        <p:nvSpPr>
          <p:cNvPr id="1199" name="Google Shape;1199;p156">
            <a:extLst>
              <a:ext uri="{FF2B5EF4-FFF2-40B4-BE49-F238E27FC236}">
                <a16:creationId xmlns:a16="http://schemas.microsoft.com/office/drawing/2014/main" id="{4894D278-0016-91EE-ADF1-C155A2D7795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4" name="Picture 3">
            <a:extLst>
              <a:ext uri="{FF2B5EF4-FFF2-40B4-BE49-F238E27FC236}">
                <a16:creationId xmlns:a16="http://schemas.microsoft.com/office/drawing/2014/main" id="{52C3335D-416D-CBCA-7095-498963708302}"/>
              </a:ext>
            </a:extLst>
          </p:cNvPr>
          <p:cNvPicPr>
            <a:picLocks noChangeAspect="1"/>
          </p:cNvPicPr>
          <p:nvPr/>
        </p:nvPicPr>
        <p:blipFill>
          <a:blip r:embed="rId4"/>
          <a:srcRect/>
          <a:stretch/>
        </p:blipFill>
        <p:spPr>
          <a:xfrm>
            <a:off x="8114467" y="1543690"/>
            <a:ext cx="3807878" cy="3770619"/>
          </a:xfrm>
          <a:prstGeom prst="rect">
            <a:avLst/>
          </a:prstGeom>
        </p:spPr>
      </p:pic>
    </p:spTree>
    <p:extLst>
      <p:ext uri="{BB962C8B-B14F-4D97-AF65-F5344CB8AC3E}">
        <p14:creationId xmlns:p14="http://schemas.microsoft.com/office/powerpoint/2010/main" val="2919342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12A65CD-F66C-C3E6-2AB6-A00BE77ABCA9}"/>
              </a:ext>
            </a:extLst>
          </p:cNvPr>
          <p:cNvPicPr>
            <a:picLocks noChangeAspect="1"/>
          </p:cNvPicPr>
          <p:nvPr/>
        </p:nvPicPr>
        <p:blipFill>
          <a:blip r:embed="rId3"/>
          <a:srcRect/>
          <a:stretch/>
        </p:blipFill>
        <p:spPr>
          <a:xfrm>
            <a:off x="3399305" y="985083"/>
            <a:ext cx="5390213" cy="5337472"/>
          </a:xfrm>
          <a:prstGeom prst="rect">
            <a:avLst/>
          </a:prstGeom>
        </p:spPr>
      </p:pic>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Apply Options Activity</a:t>
            </a:r>
            <a:endParaRPr dirty="0"/>
          </a:p>
        </p:txBody>
      </p:sp>
    </p:spTree>
    <p:extLst>
      <p:ext uri="{BB962C8B-B14F-4D97-AF65-F5344CB8AC3E}">
        <p14:creationId xmlns:p14="http://schemas.microsoft.com/office/powerpoint/2010/main" val="2458096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125398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BC7B380-EAEC-D784-431C-4A577CF5010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3927CFCF-5D81-793A-D673-A5DA994D73C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Options</a:t>
            </a:r>
            <a:endParaRPr dirty="0"/>
          </a:p>
        </p:txBody>
      </p:sp>
      <p:pic>
        <p:nvPicPr>
          <p:cNvPr id="3" name="Picture 2" descr="A screenshot of a computer&#10;&#10;AI-generated content may be incorrect.">
            <a:extLst>
              <a:ext uri="{FF2B5EF4-FFF2-40B4-BE49-F238E27FC236}">
                <a16:creationId xmlns:a16="http://schemas.microsoft.com/office/drawing/2014/main" id="{A8F633AC-665D-4F89-CDE6-8E95B587849A}"/>
              </a:ext>
            </a:extLst>
          </p:cNvPr>
          <p:cNvPicPr>
            <a:picLocks noChangeAspect="1"/>
          </p:cNvPicPr>
          <p:nvPr/>
        </p:nvPicPr>
        <p:blipFill>
          <a:blip r:embed="rId3"/>
          <a:stretch>
            <a:fillRect/>
          </a:stretch>
        </p:blipFill>
        <p:spPr>
          <a:xfrm>
            <a:off x="2728092" y="1516025"/>
            <a:ext cx="6732639" cy="1436433"/>
          </a:xfrm>
          <a:prstGeom prst="rect">
            <a:avLst/>
          </a:prstGeom>
        </p:spPr>
      </p:pic>
    </p:spTree>
    <p:extLst>
      <p:ext uri="{BB962C8B-B14F-4D97-AF65-F5344CB8AC3E}">
        <p14:creationId xmlns:p14="http://schemas.microsoft.com/office/powerpoint/2010/main" val="4268131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CA0A7DB-EC05-6FB1-2968-49AE22B15DD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EA808AE-0DA8-5569-B891-11F6872462C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Report</a:t>
            </a:r>
            <a:endParaRPr sz="6600" dirty="0"/>
          </a:p>
        </p:txBody>
      </p:sp>
    </p:spTree>
    <p:extLst>
      <p:ext uri="{BB962C8B-B14F-4D97-AF65-F5344CB8AC3E}">
        <p14:creationId xmlns:p14="http://schemas.microsoft.com/office/powerpoint/2010/main" val="401440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331145A-2C8C-2FF2-6796-49C5DFF77DBB}"/>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213DABD-B0E7-30CC-9A8C-EB8A2A19B39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Human-readable Report</a:t>
            </a:r>
            <a:endParaRPr dirty="0"/>
          </a:p>
        </p:txBody>
      </p:sp>
      <p:sp>
        <p:nvSpPr>
          <p:cNvPr id="2" name="TextBox 1">
            <a:extLst>
              <a:ext uri="{FF2B5EF4-FFF2-40B4-BE49-F238E27FC236}">
                <a16:creationId xmlns:a16="http://schemas.microsoft.com/office/drawing/2014/main" id="{0D78E0D8-D78D-E80B-06F6-68EEE26FDE57}"/>
              </a:ext>
            </a:extLst>
          </p:cNvPr>
          <p:cNvSpPr txBox="1"/>
          <p:nvPr/>
        </p:nvSpPr>
        <p:spPr>
          <a:xfrm>
            <a:off x="455618" y="1437554"/>
            <a:ext cx="3679533"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Traceability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Setting enforcement</a:t>
            </a:r>
          </a:p>
        </p:txBody>
      </p:sp>
    </p:spTree>
    <p:extLst>
      <p:ext uri="{BB962C8B-B14F-4D97-AF65-F5344CB8AC3E}">
        <p14:creationId xmlns:p14="http://schemas.microsoft.com/office/powerpoint/2010/main" val="4180849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5484515"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Apply settings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Verify build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Create a human-readable report</a:t>
            </a:r>
          </a:p>
        </p:txBody>
      </p:sp>
    </p:spTree>
    <p:extLst>
      <p:ext uri="{BB962C8B-B14F-4D97-AF65-F5344CB8AC3E}">
        <p14:creationId xmlns:p14="http://schemas.microsoft.com/office/powerpoint/2010/main" val="170359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695602"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&lt;AVCDL&gt;/source/reference_documents/working_material/secure settings/</a:t>
            </a:r>
          </a:p>
        </p:txBody>
      </p:sp>
    </p:spTree>
    <p:extLst>
      <p:ext uri="{BB962C8B-B14F-4D97-AF65-F5344CB8AC3E}">
        <p14:creationId xmlns:p14="http://schemas.microsoft.com/office/powerpoint/2010/main" val="969977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a:extLst>
              <a:ext uri="{FF2B5EF4-FFF2-40B4-BE49-F238E27FC236}">
                <a16:creationId xmlns:a16="http://schemas.microsoft.com/office/drawing/2014/main" id="{9AF391E0-343E-BC1F-91F6-B2E02B18B081}"/>
              </a:ext>
            </a:extLst>
          </p:cNvPr>
          <p:cNvPicPr>
            <a:picLocks noChangeAspect="1"/>
          </p:cNvPicPr>
          <p:nvPr/>
        </p:nvPicPr>
        <p:blipFill>
          <a:blip r:embed="rId3"/>
          <a:srcRect/>
          <a:stretch/>
        </p:blipFill>
        <p:spPr>
          <a:xfrm>
            <a:off x="4056310" y="1239500"/>
            <a:ext cx="4076199" cy="5283368"/>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431584" cy="215443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Select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Apply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element-specific tool cybersecurity options template (AVCDL template)</a:t>
            </a: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372925</TotalTime>
  <Words>1534</Words>
  <Application>Microsoft Macintosh PowerPoint</Application>
  <PresentationFormat>Custom</PresentationFormat>
  <Paragraphs>270</Paragraphs>
  <Slides>18</Slides>
  <Notes>18</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18</vt:i4>
      </vt:variant>
    </vt:vector>
  </HeadingPairs>
  <TitlesOfParts>
    <vt:vector size="26" baseType="lpstr">
      <vt:lpstr>Roboto</vt:lpstr>
      <vt:lpstr>Arial</vt:lpstr>
      <vt:lpstr>Calibri</vt:lpstr>
      <vt:lpstr>Courier New</vt:lpstr>
      <vt:lpstr>Roboto Medium</vt:lpstr>
      <vt:lpstr>Simple Light</vt:lpstr>
      <vt:lpstr>Motional Masters</vt:lpstr>
      <vt:lpstr>Motional Masters</vt:lpstr>
      <vt:lpstr>Secure Settings – Apply Options</vt:lpstr>
      <vt:lpstr>Training Path</vt:lpstr>
      <vt:lpstr>Introduction</vt:lpstr>
      <vt:lpstr>Secure Settings Process</vt:lpstr>
      <vt:lpstr>Secure Settings Process</vt:lpstr>
      <vt:lpstr>Apply Options Activity</vt:lpstr>
      <vt:lpstr>Example</vt:lpstr>
      <vt:lpstr>Options</vt:lpstr>
      <vt:lpstr>Report</vt:lpstr>
      <vt:lpstr>Human-readable Report</vt:lpstr>
      <vt:lpstr>Recap</vt:lpstr>
      <vt:lpstr>Summary</vt:lpstr>
      <vt:lpstr>Example Materials</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Settings - Apply Options (training)</dc:title>
  <dc:subject>cybersecurity settings - apply options</dc:subject>
  <dc:creator>Charles Wilson</dc:creator>
  <cp:keywords>cybersecurity settings</cp:keywords>
  <dc:description>This work was created by Torc Robotics and is licensed under the Creative Commons Attribution-Share Alike (CC BY-SA-4.0) License.
https://creativecommons.org/licenses/by/4.0/legalcode 
</dc:description>
  <cp:lastModifiedBy>Charles Wilson</cp:lastModifiedBy>
  <cp:revision>608</cp:revision>
  <cp:lastPrinted>2025-07-24T18:37:57Z</cp:lastPrinted>
  <dcterms:modified xsi:type="dcterms:W3CDTF">2025-10-06T15:34:24Z</dcterms:modified>
  <cp:category/>
</cp:coreProperties>
</file>