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0" r:id="rId1"/>
    <p:sldMasterId id="2147483791" r:id="rId2"/>
    <p:sldMasterId id="2147483792" r:id="rId3"/>
  </p:sldMasterIdLst>
  <p:notesMasterIdLst>
    <p:notesMasterId r:id="rId19"/>
  </p:notesMasterIdLst>
  <p:sldIdLst>
    <p:sldId id="256" r:id="rId4"/>
    <p:sldId id="674" r:id="rId5"/>
    <p:sldId id="648" r:id="rId6"/>
    <p:sldId id="676" r:id="rId7"/>
    <p:sldId id="662" r:id="rId8"/>
    <p:sldId id="664" r:id="rId9"/>
    <p:sldId id="667" r:id="rId10"/>
    <p:sldId id="673" r:id="rId11"/>
    <p:sldId id="603" r:id="rId12"/>
    <p:sldId id="488" r:id="rId13"/>
    <p:sldId id="343" r:id="rId14"/>
    <p:sldId id="606" r:id="rId15"/>
    <p:sldId id="461" r:id="rId16"/>
    <p:sldId id="675" r:id="rId17"/>
    <p:sldId id="368" r:id="rId18"/>
  </p:sldIdLst>
  <p:sldSz cx="12188825" cy="6858000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Medium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orient="horz" pos="3945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E354"/>
    <a:srgbClr val="FFFAB2"/>
    <a:srgbClr val="E38194"/>
    <a:srgbClr val="A7E3B3"/>
    <a:srgbClr val="CCFFCC"/>
    <a:srgbClr val="FFFFFF"/>
    <a:srgbClr val="FFC161"/>
    <a:srgbClr val="FFE6CC"/>
    <a:srgbClr val="FFF2CC"/>
    <a:srgbClr val="FDFF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A1F375-83D2-49B6-B6D9-1E75FAB2CD22}">
  <a:tblStyle styleId="{F9A1F375-83D2-49B6-B6D9-1E75FAB2CD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23"/>
    <p:restoredTop sz="58218"/>
  </p:normalViewPr>
  <p:slideViewPr>
    <p:cSldViewPr snapToGrid="0">
      <p:cViewPr varScale="1">
        <p:scale>
          <a:sx n="151" d="100"/>
          <a:sy n="151" d="100"/>
        </p:scale>
        <p:origin x="304" y="192"/>
      </p:cViewPr>
      <p:guideLst>
        <p:guide orient="horz" pos="2160"/>
        <p:guide pos="3839"/>
        <p:guide orient="horz" pos="39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8f58836269_9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I'm Charles Wilson, staff product cybersecurity architect at Torc Robotics.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presentation will cover the </a:t>
            </a:r>
            <a:r>
              <a:rPr lang="en-US" sz="1400" b="1" dirty="0"/>
              <a:t>Deprecated Functions Perform Scan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activity.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1" name="Google Shape;871;g8f58836269_9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This diagram shows the overall AVCDL training path.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If you're taking this training, it's assumed that you've already completed the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AVCDL Overview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training,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and additionally, that you've completed the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Requirements Taxonomy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Security Requirements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Secure Design Principles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Apply Secure Design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Secure Settings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Deprecated Functions Overview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Deprecated Functions – Identify Functions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Deprecated Functions – Incorporate Scan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trainings.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This training will cover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Deprecated Functions Scanning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3854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>
          <a:extLst>
            <a:ext uri="{FF2B5EF4-FFF2-40B4-BE49-F238E27FC236}">
              <a16:creationId xmlns:a16="http://schemas.microsoft.com/office/drawing/2014/main" id="{2F06D203-A8E8-7236-860C-C2C7FAB3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>
            <a:extLst>
              <a:ext uri="{FF2B5EF4-FFF2-40B4-BE49-F238E27FC236}">
                <a16:creationId xmlns:a16="http://schemas.microsoft.com/office/drawing/2014/main" id="{96A9F786-C5EE-EC56-1F8E-7F9B2F273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>
            <a:extLst>
              <a:ext uri="{FF2B5EF4-FFF2-40B4-BE49-F238E27FC236}">
                <a16:creationId xmlns:a16="http://schemas.microsoft.com/office/drawing/2014/main" id="{C9B21B32-2591-BA66-7082-FA1FCE2708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Before getting into how we perform the scanning activity, let's briefly review where it fits, in the overall deprecated functions process.</a:t>
            </a:r>
          </a:p>
        </p:txBody>
      </p:sp>
    </p:spTree>
    <p:extLst>
      <p:ext uri="{BB962C8B-B14F-4D97-AF65-F5344CB8AC3E}">
        <p14:creationId xmlns:p14="http://schemas.microsoft.com/office/powerpoint/2010/main" val="1448404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>
          <a:extLst>
            <a:ext uri="{FF2B5EF4-FFF2-40B4-BE49-F238E27FC236}">
              <a16:creationId xmlns:a16="http://schemas.microsoft.com/office/drawing/2014/main" id="{9A0CBB7C-EB38-2CB6-0D13-D11B58B73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>
            <a:extLst>
              <a:ext uri="{FF2B5EF4-FFF2-40B4-BE49-F238E27FC236}">
                <a16:creationId xmlns:a16="http://schemas.microsoft.com/office/drawing/2014/main" id="{18E2732D-D8D0-D624-9008-FEDFF5709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97" name="Google Shape;1197;g9ac6590046_0_272:notes">
            <a:extLst>
              <a:ext uri="{FF2B5EF4-FFF2-40B4-BE49-F238E27FC236}">
                <a16:creationId xmlns:a16="http://schemas.microsoft.com/office/drawing/2014/main" id="{19DF1504-5183-61AF-1001-6C7C55495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Here's the deprecated functions process which we previously covered in the </a:t>
            </a:r>
            <a:r>
              <a:rPr lang="en-US" sz="1400" b="1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Deprecated Functions Overview</a:t>
            </a:r>
            <a:r>
              <a:rPr lang="en-US" sz="1400" b="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training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[break]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trike="sngStrike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Our focus for this training is going to be on the third activity, that of performing the scan.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235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>
          <a:extLst>
            <a:ext uri="{FF2B5EF4-FFF2-40B4-BE49-F238E27FC236}">
              <a16:creationId xmlns:a16="http://schemas.microsoft.com/office/drawing/2014/main" id="{AF7B64E9-BAD1-A33E-AD64-F08B4BEC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>
            <a:extLst>
              <a:ext uri="{FF2B5EF4-FFF2-40B4-BE49-F238E27FC236}">
                <a16:creationId xmlns:a16="http://schemas.microsoft.com/office/drawing/2014/main" id="{A13FE5D0-AB3D-876D-F49F-D2984627D9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>
            <a:extLst>
              <a:ext uri="{FF2B5EF4-FFF2-40B4-BE49-F238E27FC236}">
                <a16:creationId xmlns:a16="http://schemas.microsoft.com/office/drawing/2014/main" id="{28659636-E0F1-D2B9-0986-E77AB6F5A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trike="sngStrike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Here's the deprecated functions process which we previously covered in the </a:t>
            </a:r>
            <a:r>
              <a:rPr lang="en-US" sz="1400" b="1" strike="sngStrike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Deprecated Functions Overview</a:t>
            </a:r>
            <a:r>
              <a:rPr lang="en-US" sz="1400" b="0" strike="sngStrike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training</a:t>
            </a:r>
            <a:r>
              <a:rPr lang="en-US" sz="1400" strike="sngStrike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strike="sngStrike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trike="sngStrike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[break]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trike="noStrike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Our focus for this training is going to be on the third activity, that of performing the scan.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381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>
          <a:extLst>
            <a:ext uri="{FF2B5EF4-FFF2-40B4-BE49-F238E27FC236}">
              <a16:creationId xmlns:a16="http://schemas.microsoft.com/office/drawing/2014/main" id="{D0A350E3-D49D-E10A-A906-568A5898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>
            <a:extLst>
              <a:ext uri="{FF2B5EF4-FFF2-40B4-BE49-F238E27FC236}">
                <a16:creationId xmlns:a16="http://schemas.microsoft.com/office/drawing/2014/main" id="{38F3882B-1C0B-ECDB-E09B-59AB69B7F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>
            <a:extLst>
              <a:ext uri="{FF2B5EF4-FFF2-40B4-BE49-F238E27FC236}">
                <a16:creationId xmlns:a16="http://schemas.microsoft.com/office/drawing/2014/main" id="{41ECD6CD-1ADC-8FCC-F4B9-1BA614FED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the perform scan activity.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400" b="1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updated build file 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invokes the tool used to take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400" b="1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under consideration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400" b="1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scan for deprecated functions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will yield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400" b="1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scan output 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file.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Ideally this be done within the context of the CI/CD pipeline and without manual intervention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Now, It is </a:t>
            </a:r>
            <a:r>
              <a:rPr lang="en-US" sz="1400" b="1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possible to do this manually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is true with all automation.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don't have automation until we can perform the task by hand.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so, just because we see these activities without an explicit actor, doesn't mean that it’s not possible for someone to invoke the tooling manually.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as a reminder, the preferred form of this scan output is a JSON-encoded SARIF, because that allows for uniform handling of cybersecurity-relevant information as it passes through the CI/CD pipeline.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44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>
          <a:extLst>
            <a:ext uri="{FF2B5EF4-FFF2-40B4-BE49-F238E27FC236}">
              <a16:creationId xmlns:a16="http://schemas.microsoft.com/office/drawing/2014/main" id="{1D40E8D6-08FB-5803-C3B5-AA5332D30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>
            <a:extLst>
              <a:ext uri="{FF2B5EF4-FFF2-40B4-BE49-F238E27FC236}">
                <a16:creationId xmlns:a16="http://schemas.microsoft.com/office/drawing/2014/main" id="{117958B4-3E6D-E43E-011E-7D5215E6D1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>
            <a:extLst>
              <a:ext uri="{FF2B5EF4-FFF2-40B4-BE49-F238E27FC236}">
                <a16:creationId xmlns:a16="http://schemas.microsoft.com/office/drawing/2014/main" id="{8E68B1D8-C43A-BB3C-4E23-440F60CA3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One might wonder, given that we've stated that the deprecated function scanning is a hands-free activity, what the possible considerations could be.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Even given its automated nature, there is still a concern worth considering.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look at those. 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33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>
          <a:extLst>
            <a:ext uri="{FF2B5EF4-FFF2-40B4-BE49-F238E27FC236}">
              <a16:creationId xmlns:a16="http://schemas.microsoft.com/office/drawing/2014/main" id="{0CB16CD0-7FDE-ADEB-6245-C2334D3B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>
            <a:extLst>
              <a:ext uri="{FF2B5EF4-FFF2-40B4-BE49-F238E27FC236}">
                <a16:creationId xmlns:a16="http://schemas.microsoft.com/office/drawing/2014/main" id="{028D7E3E-8DED-BBAD-D7A3-0C91393B2D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97" name="Google Shape;1197;g9ac6590046_0_272:notes">
            <a:extLst>
              <a:ext uri="{FF2B5EF4-FFF2-40B4-BE49-F238E27FC236}">
                <a16:creationId xmlns:a16="http://schemas.microsoft.com/office/drawing/2014/main" id="{242069A6-5601-CDF4-4615-FFF7E3060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only point of consideration is,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of the </a:t>
            </a:r>
            <a:r>
              <a:rPr lang="en-US" sz="1400" b="1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impact on the build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Even though deprecated function scanning is not a resource intensive activity, there’s still the possibility that it will perturb the build process's timing or storage constraints.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is true regardless of whether we're talking about a build on the developer's machine or one on a dedicated build server.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Keep in mind that when scanning is performed by a stand-alone static analysis tool, that because these tools are typically backed by databases, they may have large storage needs.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strike="sngStrike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955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>
          <a:extLst>
            <a:ext uri="{FF2B5EF4-FFF2-40B4-BE49-F238E27FC236}">
              <a16:creationId xmlns:a16="http://schemas.microsoft.com/office/drawing/2014/main" id="{C9D6BA4B-F2CC-7456-C563-FCAAFF59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>
            <a:extLst>
              <a:ext uri="{FF2B5EF4-FFF2-40B4-BE49-F238E27FC236}">
                <a16:creationId xmlns:a16="http://schemas.microsoft.com/office/drawing/2014/main" id="{918B19F7-EB23-2069-BFF3-F3B32545E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>
            <a:extLst>
              <a:ext uri="{FF2B5EF4-FFF2-40B4-BE49-F238E27FC236}">
                <a16:creationId xmlns:a16="http://schemas.microsoft.com/office/drawing/2014/main" id="{1E83C649-D857-D4E3-D095-345CF4203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That covers the perform scan activity of the deprecated functions process.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Let's look at a summary.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568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First,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 SARIF for output 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when it's feasible.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is a kind of futureproofing, as JSON-encoded SARIF is easily processed by Python.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allows you to easily ingest </a:t>
            </a:r>
            <a:r>
              <a:rPr lang="en-US" sz="1400" dirty="0" err="1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isses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into the issue tracking system.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also can be used as feedback directly into various IDEs to facilitate mitigation by the developers themselves.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Second and most importantly,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always </a:t>
            </a:r>
            <a:r>
              <a:rPr lang="en-US" sz="1400" b="1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consider the build system impact </a:t>
            </a: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 the activity.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cannot be overstated that any disruption to the build system has a severe impact on the velocity of the development teams.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so, it should be a priority to ensure that there is sufficient headroom for tools like static analyzers to be able to perform their task without exceeding either time or space budgets.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126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For additional information and to get a more in-depth set of references, the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Deprecated Functions - Perform Scan Procedure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tertiary document is available in the AVCDL GitHub repository.</a:t>
            </a:r>
          </a:p>
        </p:txBody>
      </p:sp>
    </p:spTree>
    <p:extLst>
      <p:ext uri="{BB962C8B-B14F-4D97-AF65-F5344CB8AC3E}">
        <p14:creationId xmlns:p14="http://schemas.microsoft.com/office/powerpoint/2010/main" val="3578026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AVCDL materials, both in source and distribution forms, are available on our GitHub site, as shown here.</a:t>
            </a: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of the size of the repository, it's recommended that you either clone the repository or download a ZIP archive of it, if you're not familiar with using git.</a:t>
            </a: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 for downloading a ZIP archive are linked to on the repository’s front page. 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87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Videos covering various aspects of the AVCDL are available on our YouTube channel, as shown here.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It's important to note that all AVCDL materials with the exception of the introductory blog posts are intended for product cybersecurity engineering practitioners.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189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this training complete, if you’ve completed the other trainings covering the </a:t>
            </a: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Deprecated Functions 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activities,  you can proceed to the other trainings at this level, these include:</a:t>
            </a: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1400" dirty="0"/>
          </a:p>
          <a:p>
            <a:pPr marL="285750" marR="0" indent="-285750" algn="just">
              <a:spcBef>
                <a:spcPts val="0"/>
              </a:spcBef>
              <a:spcAft>
                <a:spcPts val="1200"/>
              </a:spcAft>
            </a:pPr>
            <a:r>
              <a:rPr lang="en-US" sz="1400" b="1" dirty="0"/>
              <a:t>Code Reuse</a:t>
            </a: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1400" dirty="0"/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/>
              <a:t>and</a:t>
            </a:r>
          </a:p>
          <a:p>
            <a:pPr marL="285750" marR="0" indent="-285750" algn="just">
              <a:spcBef>
                <a:spcPts val="0"/>
              </a:spcBef>
              <a:spcAft>
                <a:spcPts val="1200"/>
              </a:spcAft>
            </a:pPr>
            <a:endParaRPr lang="en-US" sz="1400" dirty="0"/>
          </a:p>
          <a:p>
            <a:pPr marL="285750" marR="0" indent="-285750" algn="just">
              <a:spcBef>
                <a:spcPts val="0"/>
              </a:spcBef>
              <a:spcAft>
                <a:spcPts val="1200"/>
              </a:spcAft>
            </a:pPr>
            <a:r>
              <a:rPr lang="en-US" sz="1400" b="1" dirty="0"/>
              <a:t>Secure Coding</a:t>
            </a:r>
          </a:p>
        </p:txBody>
      </p:sp>
    </p:spTree>
    <p:extLst>
      <p:ext uri="{BB962C8B-B14F-4D97-AF65-F5344CB8AC3E}">
        <p14:creationId xmlns:p14="http://schemas.microsoft.com/office/powerpoint/2010/main" val="3701739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bd8f7373d4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bd8f7373d4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Here are the references to the source material used in the creation of this presentation.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They'll also be included in the video description.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Additionally, this presentation’s source material will be provided on the AVCDL GitHub repository.</a:t>
            </a:r>
          </a:p>
          <a:p>
            <a:pPr marL="158750" indent="0" algn="l"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58750" indent="0" algn="l"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58750" indent="0" algn="l">
              <a:buNone/>
            </a:pPr>
            <a:endParaRPr lang="en-US" sz="14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772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507" y="992767"/>
            <a:ext cx="11358000" cy="27369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496" y="3778833"/>
            <a:ext cx="11358000" cy="10569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496" y="2867800"/>
            <a:ext cx="11358000" cy="1122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7" lvl="0" indent="-381006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15" lvl="1" indent="-349255">
              <a:spcBef>
                <a:spcPts val="2099"/>
              </a:spcBef>
              <a:spcAft>
                <a:spcPts val="0"/>
              </a:spcAft>
              <a:buSzPts val="1900"/>
              <a:buChar char="○"/>
              <a:defRPr/>
            </a:lvl2pPr>
            <a:lvl3pPr marL="1371622" lvl="2" indent="-349255">
              <a:spcBef>
                <a:spcPts val="2099"/>
              </a:spcBef>
              <a:spcAft>
                <a:spcPts val="0"/>
              </a:spcAft>
              <a:buSzPts val="1900"/>
              <a:buChar char="■"/>
              <a:defRPr/>
            </a:lvl3pPr>
            <a:lvl4pPr marL="1828831" lvl="3" indent="-349255">
              <a:spcBef>
                <a:spcPts val="2099"/>
              </a:spcBef>
              <a:spcAft>
                <a:spcPts val="0"/>
              </a:spcAft>
              <a:buSzPts val="1900"/>
              <a:buChar char="●"/>
              <a:defRPr/>
            </a:lvl4pPr>
            <a:lvl5pPr marL="2286038" lvl="4" indent="-349255">
              <a:spcBef>
                <a:spcPts val="2099"/>
              </a:spcBef>
              <a:spcAft>
                <a:spcPts val="0"/>
              </a:spcAft>
              <a:buSzPts val="1900"/>
              <a:buChar char="○"/>
              <a:defRPr/>
            </a:lvl5pPr>
            <a:lvl6pPr marL="2743246" lvl="5" indent="-349255">
              <a:spcBef>
                <a:spcPts val="2099"/>
              </a:spcBef>
              <a:spcAft>
                <a:spcPts val="0"/>
              </a:spcAft>
              <a:buSzPts val="1900"/>
              <a:buChar char="■"/>
              <a:defRPr/>
            </a:lvl6pPr>
            <a:lvl7pPr marL="3200453" lvl="6" indent="-349255">
              <a:spcBef>
                <a:spcPts val="2099"/>
              </a:spcBef>
              <a:spcAft>
                <a:spcPts val="0"/>
              </a:spcAft>
              <a:buSzPts val="1900"/>
              <a:buChar char="●"/>
              <a:defRPr/>
            </a:lvl7pPr>
            <a:lvl8pPr marL="3657661" lvl="7" indent="-349255">
              <a:spcBef>
                <a:spcPts val="2099"/>
              </a:spcBef>
              <a:spcAft>
                <a:spcPts val="0"/>
              </a:spcAft>
              <a:buSzPts val="1900"/>
              <a:buChar char="○"/>
              <a:defRPr/>
            </a:lvl8pPr>
            <a:lvl9pPr marL="4114868" lvl="8" indent="-349255">
              <a:spcBef>
                <a:spcPts val="2099"/>
              </a:spcBef>
              <a:spcAft>
                <a:spcPts val="2099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497" y="1536633"/>
            <a:ext cx="53319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7" lvl="0" indent="-349255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15" lvl="1" indent="-330205">
              <a:spcBef>
                <a:spcPts val="2099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22" lvl="2" indent="-330205">
              <a:spcBef>
                <a:spcPts val="2099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31" lvl="3" indent="-330205">
              <a:spcBef>
                <a:spcPts val="2099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38" lvl="4" indent="-330205">
              <a:spcBef>
                <a:spcPts val="2099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46" lvl="5" indent="-330205">
              <a:spcBef>
                <a:spcPts val="2099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53" lvl="6" indent="-330205">
              <a:spcBef>
                <a:spcPts val="2099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61" lvl="7" indent="-330205">
              <a:spcBef>
                <a:spcPts val="2099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68" lvl="8" indent="-330205">
              <a:spcBef>
                <a:spcPts val="2099"/>
              </a:spcBef>
              <a:spcAft>
                <a:spcPts val="2099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7" lvl="0" indent="-349255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15" lvl="1" indent="-330205">
              <a:spcBef>
                <a:spcPts val="2099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22" lvl="2" indent="-330205">
              <a:spcBef>
                <a:spcPts val="2099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31" lvl="3" indent="-330205">
              <a:spcBef>
                <a:spcPts val="2099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38" lvl="4" indent="-330205">
              <a:spcBef>
                <a:spcPts val="2099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46" lvl="5" indent="-330205">
              <a:spcBef>
                <a:spcPts val="2099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53" lvl="6" indent="-330205">
              <a:spcBef>
                <a:spcPts val="2099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61" lvl="7" indent="-330205">
              <a:spcBef>
                <a:spcPts val="2099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68" lvl="8" indent="-330205">
              <a:spcBef>
                <a:spcPts val="2099"/>
              </a:spcBef>
              <a:spcAft>
                <a:spcPts val="2099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1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1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1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1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1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1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1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1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1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7" lvl="0" indent="-330205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15" lvl="1" indent="-330205">
              <a:spcBef>
                <a:spcPts val="2099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22" lvl="2" indent="-330205">
              <a:spcBef>
                <a:spcPts val="2099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31" lvl="3" indent="-330205">
              <a:spcBef>
                <a:spcPts val="2099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38" lvl="4" indent="-330205">
              <a:spcBef>
                <a:spcPts val="2099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46" lvl="5" indent="-330205">
              <a:spcBef>
                <a:spcPts val="2099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53" lvl="6" indent="-330205">
              <a:spcBef>
                <a:spcPts val="2099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61" lvl="7" indent="-330205">
              <a:spcBef>
                <a:spcPts val="2099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68" lvl="8" indent="-330205">
              <a:spcBef>
                <a:spcPts val="2099"/>
              </a:spcBef>
              <a:spcAft>
                <a:spcPts val="2099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503" y="600200"/>
            <a:ext cx="8488200" cy="5454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4475" y="-167"/>
            <a:ext cx="6094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3913" y="1644233"/>
            <a:ext cx="5392199" cy="19764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3913" y="3737433"/>
            <a:ext cx="5392199" cy="16467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4351" y="965433"/>
            <a:ext cx="5114700" cy="49269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marL="457207" lvl="0" indent="-381006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15" lvl="1" indent="-349255">
              <a:spcBef>
                <a:spcPts val="2099"/>
              </a:spcBef>
              <a:spcAft>
                <a:spcPts val="0"/>
              </a:spcAft>
              <a:buSzPts val="1900"/>
              <a:buChar char="○"/>
              <a:defRPr/>
            </a:lvl2pPr>
            <a:lvl3pPr marL="1371622" lvl="2" indent="-349255">
              <a:spcBef>
                <a:spcPts val="2099"/>
              </a:spcBef>
              <a:spcAft>
                <a:spcPts val="0"/>
              </a:spcAft>
              <a:buSzPts val="1900"/>
              <a:buChar char="■"/>
              <a:defRPr/>
            </a:lvl3pPr>
            <a:lvl4pPr marL="1828831" lvl="3" indent="-349255">
              <a:spcBef>
                <a:spcPts val="2099"/>
              </a:spcBef>
              <a:spcAft>
                <a:spcPts val="0"/>
              </a:spcAft>
              <a:buSzPts val="1900"/>
              <a:buChar char="●"/>
              <a:defRPr/>
            </a:lvl4pPr>
            <a:lvl5pPr marL="2286038" lvl="4" indent="-349255">
              <a:spcBef>
                <a:spcPts val="2099"/>
              </a:spcBef>
              <a:spcAft>
                <a:spcPts val="0"/>
              </a:spcAft>
              <a:buSzPts val="1900"/>
              <a:buChar char="○"/>
              <a:defRPr/>
            </a:lvl5pPr>
            <a:lvl6pPr marL="2743246" lvl="5" indent="-349255">
              <a:spcBef>
                <a:spcPts val="2099"/>
              </a:spcBef>
              <a:spcAft>
                <a:spcPts val="0"/>
              </a:spcAft>
              <a:buSzPts val="1900"/>
              <a:buChar char="■"/>
              <a:defRPr/>
            </a:lvl6pPr>
            <a:lvl7pPr marL="3200453" lvl="6" indent="-349255">
              <a:spcBef>
                <a:spcPts val="2099"/>
              </a:spcBef>
              <a:spcAft>
                <a:spcPts val="0"/>
              </a:spcAft>
              <a:buSzPts val="1900"/>
              <a:buChar char="●"/>
              <a:defRPr/>
            </a:lvl7pPr>
            <a:lvl8pPr marL="3657661" lvl="7" indent="-349255">
              <a:spcBef>
                <a:spcPts val="2099"/>
              </a:spcBef>
              <a:spcAft>
                <a:spcPts val="0"/>
              </a:spcAft>
              <a:buSzPts val="1900"/>
              <a:buChar char="○"/>
              <a:defRPr/>
            </a:lvl8pPr>
            <a:lvl9pPr marL="4114868" lvl="8" indent="-349255">
              <a:spcBef>
                <a:spcPts val="2099"/>
              </a:spcBef>
              <a:spcAft>
                <a:spcPts val="2099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marL="457207" lvl="0" indent="-22860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496" y="1474833"/>
            <a:ext cx="11358000" cy="26181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496" y="4202967"/>
            <a:ext cx="11358000" cy="17343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7" lvl="0" indent="-381006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15" lvl="1" indent="-349255" algn="ctr">
              <a:spcBef>
                <a:spcPts val="2099"/>
              </a:spcBef>
              <a:spcAft>
                <a:spcPts val="0"/>
              </a:spcAft>
              <a:buSzPts val="1900"/>
              <a:buChar char="○"/>
              <a:defRPr/>
            </a:lvl2pPr>
            <a:lvl3pPr marL="1371622" lvl="2" indent="-349255" algn="ctr">
              <a:spcBef>
                <a:spcPts val="2099"/>
              </a:spcBef>
              <a:spcAft>
                <a:spcPts val="0"/>
              </a:spcAft>
              <a:buSzPts val="1900"/>
              <a:buChar char="■"/>
              <a:defRPr/>
            </a:lvl3pPr>
            <a:lvl4pPr marL="1828831" lvl="3" indent="-349255" algn="ctr">
              <a:spcBef>
                <a:spcPts val="2099"/>
              </a:spcBef>
              <a:spcAft>
                <a:spcPts val="0"/>
              </a:spcAft>
              <a:buSzPts val="1900"/>
              <a:buChar char="●"/>
              <a:defRPr/>
            </a:lvl4pPr>
            <a:lvl5pPr marL="2286038" lvl="4" indent="-349255" algn="ctr">
              <a:spcBef>
                <a:spcPts val="2099"/>
              </a:spcBef>
              <a:spcAft>
                <a:spcPts val="0"/>
              </a:spcAft>
              <a:buSzPts val="1900"/>
              <a:buChar char="○"/>
              <a:defRPr/>
            </a:lvl5pPr>
            <a:lvl6pPr marL="2743246" lvl="5" indent="-349255" algn="ctr">
              <a:spcBef>
                <a:spcPts val="2099"/>
              </a:spcBef>
              <a:spcAft>
                <a:spcPts val="0"/>
              </a:spcAft>
              <a:buSzPts val="1900"/>
              <a:buChar char="■"/>
              <a:defRPr/>
            </a:lvl6pPr>
            <a:lvl7pPr marL="3200453" lvl="6" indent="-349255" algn="ctr">
              <a:spcBef>
                <a:spcPts val="2099"/>
              </a:spcBef>
              <a:spcAft>
                <a:spcPts val="0"/>
              </a:spcAft>
              <a:buSzPts val="1900"/>
              <a:buChar char="●"/>
              <a:defRPr/>
            </a:lvl7pPr>
            <a:lvl8pPr marL="3657661" lvl="7" indent="-349255" algn="ctr">
              <a:spcBef>
                <a:spcPts val="2099"/>
              </a:spcBef>
              <a:spcAft>
                <a:spcPts val="0"/>
              </a:spcAft>
              <a:buSzPts val="1900"/>
              <a:buChar char="○"/>
              <a:defRPr/>
            </a:lvl8pPr>
            <a:lvl9pPr marL="4114868" lvl="8" indent="-349255" algn="ctr">
              <a:spcBef>
                <a:spcPts val="2099"/>
              </a:spcBef>
              <a:spcAft>
                <a:spcPts val="2099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C" userDrawn="1">
  <p:cSld name="1_Cover C">
    <p:bg>
      <p:bgPr>
        <a:solidFill>
          <a:srgbClr val="030A1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5623" y="2364060"/>
            <a:ext cx="8915583" cy="378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"/>
              <a:buNone/>
              <a:defRPr sz="9600" b="0" i="0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8" name="Google Shape;58;p14"/>
          <p:cNvSpPr txBox="1"/>
          <p:nvPr/>
        </p:nvSpPr>
        <p:spPr>
          <a:xfrm>
            <a:off x="2377441" y="6212114"/>
            <a:ext cx="9355958" cy="41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r>
              <a:rPr lang="en-US" sz="1200" b="0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This work was created by </a:t>
            </a:r>
            <a:r>
              <a:rPr lang="en-US" sz="1200" b="1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Torc Robotics</a:t>
            </a:r>
            <a:r>
              <a:rPr lang="en-US" sz="1200" b="0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 and is licensed under the </a:t>
            </a:r>
            <a:r>
              <a:rPr lang="en-US" sz="1200" b="1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Creative Commons Attribution-Share Alike (CC BY-SA-4.0)</a:t>
            </a:r>
            <a:r>
              <a:rPr lang="en-US" sz="1200" b="0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 License.</a:t>
            </a:r>
          </a:p>
          <a:p>
            <a:pPr algn="r"/>
            <a:r>
              <a:rPr lang="en-US" sz="1200" b="1" i="0" u="sng" strike="noStrike" cap="none" dirty="0">
                <a:solidFill>
                  <a:schemeClr val="bg1"/>
                </a:solidFill>
                <a:effectLst/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https://creativecommons.org/licenses/by/4.0/legalcode</a:t>
            </a:r>
            <a:endParaRPr lang="en-US" sz="1200" b="0" i="0" u="none" strike="noStrike" cap="none" dirty="0">
              <a:solidFill>
                <a:schemeClr val="bg1"/>
              </a:solidFill>
              <a:effectLst/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1Col Title | Text">
  <p:cSld name="WHITE 1Col Title | Text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8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89154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98"/>
          <p:cNvSpPr txBox="1">
            <a:spLocks noGrp="1"/>
          </p:cNvSpPr>
          <p:nvPr>
            <p:ph type="body" idx="1"/>
          </p:nvPr>
        </p:nvSpPr>
        <p:spPr>
          <a:xfrm>
            <a:off x="455613" y="2686375"/>
            <a:ext cx="8915400" cy="3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7" lvl="0" indent="-228604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1pPr>
            <a:lvl2pPr marL="914415" lvl="1" indent="-342906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Roboto"/>
                <a:ea typeface="Roboto"/>
                <a:cs typeface="Roboto"/>
                <a:sym typeface="Roboto"/>
              </a:defRPr>
            </a:lvl2pPr>
            <a:lvl3pPr marL="1371622" lvl="2" indent="-33020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b="0" i="0">
                <a:latin typeface="Roboto"/>
                <a:ea typeface="Roboto"/>
                <a:cs typeface="Roboto"/>
                <a:sym typeface="Roboto"/>
              </a:defRPr>
            </a:lvl3pPr>
            <a:lvl4pPr marL="1828831" lvl="3" indent="-317506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Roboto"/>
                <a:ea typeface="Roboto"/>
                <a:cs typeface="Roboto"/>
                <a:sym typeface="Roboto"/>
              </a:defRPr>
            </a:lvl4pPr>
            <a:lvl5pPr marL="2286038" lvl="4" indent="-304805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Roboto"/>
                <a:ea typeface="Roboto"/>
                <a:cs typeface="Roboto"/>
                <a:sym typeface="Roboto"/>
              </a:defRPr>
            </a:lvl5pPr>
            <a:lvl6pPr marL="2743246" lvl="5" indent="-30480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53" lvl="6" indent="-30480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61" lvl="7" indent="-30480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68" lvl="8" indent="-30480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3" name="Google Shape;543;p98"/>
          <p:cNvSpPr txBox="1">
            <a:spLocks noGrp="1"/>
          </p:cNvSpPr>
          <p:nvPr>
            <p:ph type="sldNum" idx="12"/>
          </p:nvPr>
        </p:nvSpPr>
        <p:spPr>
          <a:xfrm>
            <a:off x="11438849" y="6400800"/>
            <a:ext cx="294601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1000">
                <a:solidFill>
                  <a:srgbClr val="000000"/>
                </a:solidFill>
              </a:defRPr>
            </a:lvl1pPr>
            <a:lvl2pPr lvl="1" rtl="0">
              <a:buNone/>
              <a:defRPr sz="1000">
                <a:solidFill>
                  <a:srgbClr val="000000"/>
                </a:solidFill>
              </a:defRPr>
            </a:lvl2pPr>
            <a:lvl3pPr lvl="2" rtl="0">
              <a:buNone/>
              <a:defRPr sz="1000">
                <a:solidFill>
                  <a:srgbClr val="000000"/>
                </a:solidFill>
              </a:defRPr>
            </a:lvl3pPr>
            <a:lvl4pPr lvl="3" rtl="0">
              <a:buNone/>
              <a:defRPr sz="1000">
                <a:solidFill>
                  <a:srgbClr val="000000"/>
                </a:solidFill>
              </a:defRPr>
            </a:lvl4pPr>
            <a:lvl5pPr lvl="4" rtl="0">
              <a:buNone/>
              <a:defRPr sz="1000">
                <a:solidFill>
                  <a:srgbClr val="000000"/>
                </a:solidFill>
              </a:defRPr>
            </a:lvl5pPr>
            <a:lvl6pPr lvl="5" rtl="0">
              <a:buNone/>
              <a:defRPr sz="1000">
                <a:solidFill>
                  <a:srgbClr val="000000"/>
                </a:solidFill>
              </a:defRPr>
            </a:lvl6pPr>
            <a:lvl7pPr lvl="6" rtl="0">
              <a:buNone/>
              <a:defRPr sz="1000">
                <a:solidFill>
                  <a:srgbClr val="000000"/>
                </a:solidFill>
              </a:defRPr>
            </a:lvl7pPr>
            <a:lvl8pPr lvl="7" rtl="0">
              <a:buNone/>
              <a:defRPr sz="1000">
                <a:solidFill>
                  <a:srgbClr val="000000"/>
                </a:solidFill>
              </a:defRPr>
            </a:lvl8pPr>
            <a:lvl9pPr lvl="8" rtl="0">
              <a:buNone/>
              <a:defRPr sz="10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45" name="Google Shape;545;p98"/>
          <p:cNvSpPr txBox="1"/>
          <p:nvPr/>
        </p:nvSpPr>
        <p:spPr>
          <a:xfrm>
            <a:off x="8194350" y="6400800"/>
            <a:ext cx="324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872" userDrawn="1">
          <p15:clr>
            <a:srgbClr val="FA7B17"/>
          </p15:clr>
        </p15:guide>
        <p15:guide id="2" pos="5615" userDrawn="1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45"/>
          <p:cNvSpPr txBox="1">
            <a:spLocks noGrp="1"/>
          </p:cNvSpPr>
          <p:nvPr>
            <p:ph type="body" idx="1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7" lvl="0" indent="-22860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>
            <a:endParaRPr/>
          </a:p>
        </p:txBody>
      </p:sp>
      <p:sp>
        <p:nvSpPr>
          <p:cNvPr id="868" name="Google Shape;868;p145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5618" y="460685"/>
            <a:ext cx="8915492" cy="524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sz="32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6" y="1810776"/>
            <a:ext cx="8915492" cy="4132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−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erriweather Sans"/>
              <a:buChar char="−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9789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L="3200400" marR="0" lvl="6" indent="-39789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L="3657600" marR="0" lvl="7" indent="-397890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L="4114800" marR="0" lvl="8" indent="-397890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  <p15:guide id="3" pos="287" userDrawn="1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pos="7391" userDrawn="1">
          <p15:clr>
            <a:srgbClr val="F26B43"/>
          </p15:clr>
        </p15:guide>
        <p15:guide id="7" orient="horz" pos="3888" userDrawn="1">
          <p15:clr>
            <a:srgbClr val="F26B43"/>
          </p15:clr>
        </p15:guide>
        <p15:guide id="8" orient="horz" pos="4176" userDrawn="1">
          <p15:clr>
            <a:srgbClr val="F26B43"/>
          </p15:clr>
        </p15:guide>
        <p15:guide id="9" orient="horz" pos="374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8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89154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sz="32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4" name="Google Shape;484;p88"/>
          <p:cNvSpPr txBox="1">
            <a:spLocks noGrp="1"/>
          </p:cNvSpPr>
          <p:nvPr>
            <p:ph type="body" idx="1"/>
          </p:nvPr>
        </p:nvSpPr>
        <p:spPr>
          <a:xfrm>
            <a:off x="457205" y="1810776"/>
            <a:ext cx="8915400" cy="4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−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erriweather Sans"/>
              <a:buChar char="−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9789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L="3200400" marR="0" lvl="6" indent="-39789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L="3657600" marR="0" lvl="7" indent="-397890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L="4114800" marR="0" lvl="8" indent="-397890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485" name="Google Shape;485;p88"/>
          <p:cNvSpPr txBox="1">
            <a:spLocks noGrp="1"/>
          </p:cNvSpPr>
          <p:nvPr>
            <p:ph type="sldNum" idx="12"/>
          </p:nvPr>
        </p:nvSpPr>
        <p:spPr>
          <a:xfrm>
            <a:off x="11406192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89" r:id="rId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  <p15:guide id="3" pos="287" userDrawn="1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pos="7391" userDrawn="1">
          <p15:clr>
            <a:srgbClr val="F26B43"/>
          </p15:clr>
        </p15:guide>
        <p15:guide id="7" orient="horz" pos="3888" userDrawn="1">
          <p15:clr>
            <a:srgbClr val="F26B43"/>
          </p15:clr>
        </p15:guide>
        <p15:guide id="8" orient="horz" pos="4176" userDrawn="1">
          <p15:clr>
            <a:srgbClr val="F26B43"/>
          </p15:clr>
        </p15:guide>
        <p15:guide id="9" orient="horz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asis-open.org/sarif/sarif/v2.1.0/os/sarif-v2.1.0-os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46"/>
          <p:cNvSpPr txBox="1">
            <a:spLocks noGrp="1"/>
          </p:cNvSpPr>
          <p:nvPr>
            <p:ph type="title"/>
          </p:nvPr>
        </p:nvSpPr>
        <p:spPr>
          <a:xfrm>
            <a:off x="668910" y="1815384"/>
            <a:ext cx="10851007" cy="3227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" sz="5400" dirty="0"/>
              <a:t>Deprecated Functions –</a:t>
            </a:r>
            <a:br>
              <a:rPr lang="en" sz="5400" dirty="0"/>
            </a:br>
            <a:r>
              <a:rPr lang="en" sz="5400" dirty="0"/>
              <a:t>Perform Scan</a:t>
            </a:r>
            <a:endParaRPr sz="6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B5F0EE-3344-3E43-B412-5327D36C6F8A}"/>
              </a:ext>
            </a:extLst>
          </p:cNvPr>
          <p:cNvSpPr/>
          <p:nvPr/>
        </p:nvSpPr>
        <p:spPr>
          <a:xfrm>
            <a:off x="10741247" y="5270394"/>
            <a:ext cx="9637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version 2</a:t>
            </a:r>
          </a:p>
          <a:p>
            <a:pPr algn="r"/>
            <a:r>
              <a:rPr lang="en-US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2026-04-13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CD8A9C-5CEA-AD48-B075-78C4F71699EB}"/>
              </a:ext>
            </a:extLst>
          </p:cNvPr>
          <p:cNvSpPr/>
          <p:nvPr/>
        </p:nvSpPr>
        <p:spPr>
          <a:xfrm>
            <a:off x="668909" y="5208838"/>
            <a:ext cx="63741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Charles Wilson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Staff Product Cybersecurity Architect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75FC61-BE70-0263-1C08-9607377D87C2}"/>
              </a:ext>
            </a:extLst>
          </p:cNvPr>
          <p:cNvSpPr/>
          <p:nvPr/>
        </p:nvSpPr>
        <p:spPr>
          <a:xfrm>
            <a:off x="9899855" y="139594"/>
            <a:ext cx="21691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AVCDL-Implementation-6.1.3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4"/>
            <a:ext cx="11277833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" dirty="0"/>
              <a:t>Training Path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2B1944-9D2E-B660-DF63-98B36A597D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1953" y="326959"/>
            <a:ext cx="10704919" cy="620408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6224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>
          <a:extLst>
            <a:ext uri="{FF2B5EF4-FFF2-40B4-BE49-F238E27FC236}">
              <a16:creationId xmlns:a16="http://schemas.microsoft.com/office/drawing/2014/main" id="{4435D019-8E84-BEF1-6D20-0079C9B9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3;p146">
            <a:extLst>
              <a:ext uri="{FF2B5EF4-FFF2-40B4-BE49-F238E27FC236}">
                <a16:creationId xmlns:a16="http://schemas.microsoft.com/office/drawing/2014/main" id="{1A175A47-8003-CA64-DF9A-064FBF332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99000">
                <a:schemeClr val="accent3">
                  <a:lumMod val="60000"/>
                  <a:lumOff val="40000"/>
                </a:schemeClr>
              </a:gs>
              <a:gs pos="0">
                <a:srgbClr val="7030A0"/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/>
              <a:t>Workflow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19008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>
          <a:extLst>
            <a:ext uri="{FF2B5EF4-FFF2-40B4-BE49-F238E27FC236}">
              <a16:creationId xmlns:a16="http://schemas.microsoft.com/office/drawing/2014/main" id="{04E3669D-F86E-FDE7-7E31-F90D50DD3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>
            <a:extLst>
              <a:ext uri="{FF2B5EF4-FFF2-40B4-BE49-F238E27FC236}">
                <a16:creationId xmlns:a16="http://schemas.microsoft.com/office/drawing/2014/main" id="{C3048004-0C1B-3382-FC33-11D83421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5618" y="460684"/>
            <a:ext cx="11277833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Process Workflow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32FD12-A4A6-B467-F336-EC851866F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424" y="1651221"/>
            <a:ext cx="12067975" cy="355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5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>
          <a:extLst>
            <a:ext uri="{FF2B5EF4-FFF2-40B4-BE49-F238E27FC236}">
              <a16:creationId xmlns:a16="http://schemas.microsoft.com/office/drawing/2014/main" id="{F929586B-630B-CC25-3065-7864A0FEA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42CA1B-1091-DC1E-98E2-74EFAEEEFF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97666" y="1651221"/>
            <a:ext cx="3562527" cy="3555555"/>
          </a:xfrm>
          <a:prstGeom prst="rect">
            <a:avLst/>
          </a:prstGeom>
        </p:spPr>
      </p:pic>
      <p:sp>
        <p:nvSpPr>
          <p:cNvPr id="1199" name="Google Shape;1199;p156">
            <a:extLst>
              <a:ext uri="{FF2B5EF4-FFF2-40B4-BE49-F238E27FC236}">
                <a16:creationId xmlns:a16="http://schemas.microsoft.com/office/drawing/2014/main" id="{4F3E9140-EB31-64CA-3E8F-9EBF1BDE49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5618" y="460684"/>
            <a:ext cx="11277833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Process Workflow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0168CF-865B-D9B0-64FF-A294674A5C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60424" y="1651221"/>
            <a:ext cx="12067975" cy="355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3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>
          <a:extLst>
            <a:ext uri="{FF2B5EF4-FFF2-40B4-BE49-F238E27FC236}">
              <a16:creationId xmlns:a16="http://schemas.microsoft.com/office/drawing/2014/main" id="{B55EE2EC-4718-873A-4FB5-CEFF01767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>
            <a:extLst>
              <a:ext uri="{FF2B5EF4-FFF2-40B4-BE49-F238E27FC236}">
                <a16:creationId xmlns:a16="http://schemas.microsoft.com/office/drawing/2014/main" id="{98CC638C-C8A4-E9F8-33EA-5B4D0E1992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5618" y="460684"/>
            <a:ext cx="11277833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Perform Scan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7C8A3-8FE2-15E0-E89E-B35CFB9DEBCB}"/>
              </a:ext>
            </a:extLst>
          </p:cNvPr>
          <p:cNvSpPr txBox="1"/>
          <p:nvPr/>
        </p:nvSpPr>
        <p:spPr>
          <a:xfrm>
            <a:off x="9121584" y="4661812"/>
            <a:ext cx="2611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JSON-encoded SARIF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8E775C7-8439-5430-A7D1-A08F25B49F6B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8877782" y="3779028"/>
            <a:ext cx="1549736" cy="882784"/>
          </a:xfrm>
          <a:prstGeom prst="straightConnector1">
            <a:avLst/>
          </a:prstGeom>
          <a:ln w="508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6FDB268-9239-B333-243F-1B5FB16E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24704" y="764516"/>
            <a:ext cx="5339416" cy="532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47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>
          <a:extLst>
            <a:ext uri="{FF2B5EF4-FFF2-40B4-BE49-F238E27FC236}">
              <a16:creationId xmlns:a16="http://schemas.microsoft.com/office/drawing/2014/main" id="{AA1B6300-4150-9DD1-EAB2-84C678CB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3;p146">
            <a:extLst>
              <a:ext uri="{FF2B5EF4-FFF2-40B4-BE49-F238E27FC236}">
                <a16:creationId xmlns:a16="http://schemas.microsoft.com/office/drawing/2014/main" id="{664DDA98-0F6D-C54D-128F-679E03F50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99000">
                <a:schemeClr val="accent3">
                  <a:lumMod val="60000"/>
                  <a:lumOff val="40000"/>
                </a:schemeClr>
              </a:gs>
              <a:gs pos="0">
                <a:srgbClr val="7030A0"/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400" dirty="0"/>
              <a:t>Runtime </a:t>
            </a:r>
            <a:r>
              <a:rPr lang="en" sz="5400" dirty="0"/>
              <a:t>Considerations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1242754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>
          <a:extLst>
            <a:ext uri="{FF2B5EF4-FFF2-40B4-BE49-F238E27FC236}">
              <a16:creationId xmlns:a16="http://schemas.microsoft.com/office/drawing/2014/main" id="{3BE4B0FF-BB0D-B94C-5377-2ED07887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>
            <a:extLst>
              <a:ext uri="{FF2B5EF4-FFF2-40B4-BE49-F238E27FC236}">
                <a16:creationId xmlns:a16="http://schemas.microsoft.com/office/drawing/2014/main" id="{DFD168AF-42C8-6A28-F5A0-4F3F1DEBBA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5618" y="460684"/>
            <a:ext cx="11277833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" dirty="0"/>
              <a:t>Considerations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25012F-D809-9633-25D4-D71A786B669C}"/>
              </a:ext>
            </a:extLst>
          </p:cNvPr>
          <p:cNvSpPr txBox="1"/>
          <p:nvPr/>
        </p:nvSpPr>
        <p:spPr>
          <a:xfrm>
            <a:off x="455618" y="1437554"/>
            <a:ext cx="3180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6538" indent="-23653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Execution impact</a:t>
            </a:r>
          </a:p>
        </p:txBody>
      </p:sp>
    </p:spTree>
    <p:extLst>
      <p:ext uri="{BB962C8B-B14F-4D97-AF65-F5344CB8AC3E}">
        <p14:creationId xmlns:p14="http://schemas.microsoft.com/office/powerpoint/2010/main" val="3121116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>
          <a:extLst>
            <a:ext uri="{FF2B5EF4-FFF2-40B4-BE49-F238E27FC236}">
              <a16:creationId xmlns:a16="http://schemas.microsoft.com/office/drawing/2014/main" id="{30234E69-953D-C964-1A44-7AD56D5A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3;p146">
            <a:extLst>
              <a:ext uri="{FF2B5EF4-FFF2-40B4-BE49-F238E27FC236}">
                <a16:creationId xmlns:a16="http://schemas.microsoft.com/office/drawing/2014/main" id="{288F8EFA-BECD-D045-8DF8-934C782EE4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99000">
                <a:schemeClr val="accent3">
                  <a:lumMod val="60000"/>
                  <a:lumOff val="40000"/>
                </a:schemeClr>
              </a:gs>
              <a:gs pos="0">
                <a:srgbClr val="7030A0"/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/>
              <a:t>Recap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1118057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8" y="460684"/>
            <a:ext cx="11277833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" dirty="0"/>
              <a:t>Summary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15AB7C-3B20-E395-B8D1-B8413068BE32}"/>
              </a:ext>
            </a:extLst>
          </p:cNvPr>
          <p:cNvSpPr txBox="1"/>
          <p:nvPr/>
        </p:nvSpPr>
        <p:spPr>
          <a:xfrm>
            <a:off x="455618" y="1437554"/>
            <a:ext cx="575381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6538" indent="-23653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 SARIF for output</a:t>
            </a:r>
          </a:p>
          <a:p>
            <a:pPr marL="236538" indent="-23653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Consider the build system impact</a:t>
            </a:r>
          </a:p>
        </p:txBody>
      </p:sp>
    </p:spTree>
    <p:extLst>
      <p:ext uri="{BB962C8B-B14F-4D97-AF65-F5344CB8AC3E}">
        <p14:creationId xmlns:p14="http://schemas.microsoft.com/office/powerpoint/2010/main" val="170359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70D5F-8BD9-ECF4-AF82-900DA81B4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57110" y="1240537"/>
            <a:ext cx="4074598" cy="52812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8" y="480021"/>
            <a:ext cx="11277833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Further Reading</a:t>
            </a:r>
          </a:p>
        </p:txBody>
      </p:sp>
    </p:spTree>
    <p:extLst>
      <p:ext uri="{BB962C8B-B14F-4D97-AF65-F5344CB8AC3E}">
        <p14:creationId xmlns:p14="http://schemas.microsoft.com/office/powerpoint/2010/main" val="2868555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A2ADBF-13F1-8937-91E4-97FBA4F83B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13953" y="985083"/>
            <a:ext cx="8560918" cy="57784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8" y="460684"/>
            <a:ext cx="11277833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" dirty="0"/>
              <a:t>AVCDL on GitHub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38D5AC-F2CE-EEDF-F93C-BC5BEDC13283}"/>
              </a:ext>
            </a:extLst>
          </p:cNvPr>
          <p:cNvSpPr/>
          <p:nvPr/>
        </p:nvSpPr>
        <p:spPr>
          <a:xfrm>
            <a:off x="6476383" y="522829"/>
            <a:ext cx="525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https://github.com/AVCDL/AVCDL </a:t>
            </a:r>
          </a:p>
        </p:txBody>
      </p:sp>
    </p:spTree>
    <p:extLst>
      <p:ext uri="{BB962C8B-B14F-4D97-AF65-F5344CB8AC3E}">
        <p14:creationId xmlns:p14="http://schemas.microsoft.com/office/powerpoint/2010/main" val="2993404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875B67-DABD-EC7D-D876-FF0A75BC96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58351" y="985083"/>
            <a:ext cx="8483870" cy="5763705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AVCDL on YouTube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38D5AC-F2CE-EEDF-F93C-BC5BEDC13283}"/>
              </a:ext>
            </a:extLst>
          </p:cNvPr>
          <p:cNvSpPr/>
          <p:nvPr/>
        </p:nvSpPr>
        <p:spPr>
          <a:xfrm>
            <a:off x="5900286" y="522828"/>
            <a:ext cx="58329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https://youtube.com/@AVCDL</a:t>
            </a:r>
          </a:p>
        </p:txBody>
      </p:sp>
    </p:spTree>
    <p:extLst>
      <p:ext uri="{BB962C8B-B14F-4D97-AF65-F5344CB8AC3E}">
        <p14:creationId xmlns:p14="http://schemas.microsoft.com/office/powerpoint/2010/main" val="4071491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4"/>
            <a:ext cx="11277833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" dirty="0"/>
              <a:t>Next Steps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2B1944-9D2E-B660-DF63-98B36A597D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1952" y="326959"/>
            <a:ext cx="10704919" cy="620408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50291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47"/>
          <p:cNvSpPr txBox="1">
            <a:spLocks noGrp="1"/>
          </p:cNvSpPr>
          <p:nvPr>
            <p:ph type="title"/>
          </p:nvPr>
        </p:nvSpPr>
        <p:spPr>
          <a:xfrm>
            <a:off x="455617" y="460684"/>
            <a:ext cx="11277590" cy="524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2" name="Google Shape;879;p147">
            <a:extLst>
              <a:ext uri="{FF2B5EF4-FFF2-40B4-BE49-F238E27FC236}">
                <a16:creationId xmlns:a16="http://schemas.microsoft.com/office/drawing/2014/main" id="{EE699A1B-DC13-C84D-9B67-3E4E126EE2B9}"/>
              </a:ext>
            </a:extLst>
          </p:cNvPr>
          <p:cNvSpPr txBox="1">
            <a:spLocks/>
          </p:cNvSpPr>
          <p:nvPr/>
        </p:nvSpPr>
        <p:spPr>
          <a:xfrm>
            <a:off x="455615" y="1146448"/>
            <a:ext cx="11277592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−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erriweather Sans"/>
              <a:buChar char="−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AVCDL primary document</a:t>
            </a:r>
          </a:p>
          <a:p>
            <a:pPr marL="0" indent="0">
              <a:spcBef>
                <a:spcPts val="1200"/>
              </a:spcBef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Currently Used Deprecated Functions Document (AVCDL secondary document)</a:t>
            </a:r>
          </a:p>
          <a:p>
            <a:pPr marL="0" indent="0">
              <a:spcBef>
                <a:spcPts val="1200"/>
              </a:spcBef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Deprecated Functions – Perform Scan Procedure (AVCDL tertiary document)</a:t>
            </a:r>
          </a:p>
          <a:p>
            <a:pPr marL="0" indent="0">
              <a:spcBef>
                <a:spcPts val="1200"/>
              </a:spcBef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Static Analysis Results Interchange Format (SARIF) Version 2.1.0</a:t>
            </a:r>
          </a:p>
          <a:p>
            <a:pPr marL="0" indent="0"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  <a:hlinkClick r:id="rId3"/>
              </a:rPr>
              <a:t>https://docs.oasis-open.org/sarif/sarif/v2.1.0/os/sarif-v2.1.0-os.pdf</a:t>
            </a:r>
            <a:r>
              <a:rPr lang="en-US" sz="1400" b="1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</a:pP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96100-3210-8F6F-EB91-A22D494DD397}"/>
              </a:ext>
            </a:extLst>
          </p:cNvPr>
          <p:cNvSpPr txBox="1"/>
          <p:nvPr/>
        </p:nvSpPr>
        <p:spPr>
          <a:xfrm>
            <a:off x="11913079" y="508958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0004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onal Masters">
  <a:themeElements>
    <a:clrScheme name="Motional">
      <a:dk1>
        <a:srgbClr val="000000"/>
      </a:dk1>
      <a:lt1>
        <a:srgbClr val="FFFFFF"/>
      </a:lt1>
      <a:dk2>
        <a:srgbClr val="092871"/>
      </a:dk2>
      <a:lt2>
        <a:srgbClr val="5B48F6"/>
      </a:lt2>
      <a:accent1>
        <a:srgbClr val="C9EAF1"/>
      </a:accent1>
      <a:accent2>
        <a:srgbClr val="ADB9E3"/>
      </a:accent2>
      <a:accent3>
        <a:srgbClr val="00F6FF"/>
      </a:accent3>
      <a:accent4>
        <a:srgbClr val="D2DCDC"/>
      </a:accent4>
      <a:accent5>
        <a:srgbClr val="828791"/>
      </a:accent5>
      <a:accent6>
        <a:srgbClr val="404449"/>
      </a:accent6>
      <a:hlink>
        <a:srgbClr val="0000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onal Masters">
  <a:themeElements>
    <a:clrScheme name="Motional">
      <a:dk1>
        <a:srgbClr val="000000"/>
      </a:dk1>
      <a:lt1>
        <a:srgbClr val="FFFFFF"/>
      </a:lt1>
      <a:dk2>
        <a:srgbClr val="092871"/>
      </a:dk2>
      <a:lt2>
        <a:srgbClr val="5B48F6"/>
      </a:lt2>
      <a:accent1>
        <a:srgbClr val="C9EAF1"/>
      </a:accent1>
      <a:accent2>
        <a:srgbClr val="ADB9E3"/>
      </a:accent2>
      <a:accent3>
        <a:srgbClr val="00F6FF"/>
      </a:accent3>
      <a:accent4>
        <a:srgbClr val="D2DCDC"/>
      </a:accent4>
      <a:accent5>
        <a:srgbClr val="828791"/>
      </a:accent5>
      <a:accent6>
        <a:srgbClr val="404449"/>
      </a:accent6>
      <a:hlink>
        <a:srgbClr val="0000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404762</TotalTime>
  <Words>1022</Words>
  <Application>Microsoft Macintosh PowerPoint</Application>
  <PresentationFormat>Custom</PresentationFormat>
  <Paragraphs>198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Roboto Medium</vt:lpstr>
      <vt:lpstr>Roboto</vt:lpstr>
      <vt:lpstr>Courier New</vt:lpstr>
      <vt:lpstr>Arial</vt:lpstr>
      <vt:lpstr>Simple Light</vt:lpstr>
      <vt:lpstr>Motional Masters</vt:lpstr>
      <vt:lpstr>Motional Masters</vt:lpstr>
      <vt:lpstr>Deprecated Functions – Perform Scan</vt:lpstr>
      <vt:lpstr>Training Path</vt:lpstr>
      <vt:lpstr>Workflow</vt:lpstr>
      <vt:lpstr>Process Workflow</vt:lpstr>
      <vt:lpstr>Process Workflow</vt:lpstr>
      <vt:lpstr>Perform Scan</vt:lpstr>
      <vt:lpstr>Runtime Considerations</vt:lpstr>
      <vt:lpstr>Considerations</vt:lpstr>
      <vt:lpstr>Recap</vt:lpstr>
      <vt:lpstr>Summary</vt:lpstr>
      <vt:lpstr>Further Reading</vt:lpstr>
      <vt:lpstr>AVCDL on GitHub</vt:lpstr>
      <vt:lpstr>AVCDL on YouTube</vt:lpstr>
      <vt:lpstr>Next Steps</vt:lpstr>
      <vt:lpstr>References</vt:lpstr>
    </vt:vector>
  </TitlesOfParts>
  <Manager/>
  <Company>Torc Robotics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Deprecated Functions - Perform Scan (training)</dc:title>
  <dc:subject>deprecated functions scanning activity</dc:subject>
  <dc:creator>Charles Wilson</dc:creator>
  <cp:keywords>cybersecurity, deprecated functions</cp:keywords>
  <dc:description>This work was created by Torc Robotics and is licensed under the Creative Commons Attribution-Share Alike (CC BY-SA-4.0) License.
https://creativecommons.org/licenses/by/4.0/legalcode 
</dc:description>
  <cp:lastModifiedBy>Charles Wilson</cp:lastModifiedBy>
  <cp:revision>635</cp:revision>
  <cp:lastPrinted>2025-07-24T18:37:57Z</cp:lastPrinted>
  <dcterms:modified xsi:type="dcterms:W3CDTF">2026-04-14T18:37:26Z</dcterms:modified>
  <cp:category>deprecated functions</cp:category>
</cp:coreProperties>
</file>