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19"/>
  </p:notesMasterIdLst>
  <p:sldIdLst>
    <p:sldId id="256" r:id="rId4"/>
    <p:sldId id="306" r:id="rId5"/>
    <p:sldId id="648" r:id="rId6"/>
    <p:sldId id="637" r:id="rId7"/>
    <p:sldId id="682" r:id="rId8"/>
    <p:sldId id="641" r:id="rId9"/>
    <p:sldId id="667" r:id="rId10"/>
    <p:sldId id="668" r:id="rId11"/>
    <p:sldId id="603" r:id="rId12"/>
    <p:sldId id="488" r:id="rId13"/>
    <p:sldId id="343" r:id="rId14"/>
    <p:sldId id="606" r:id="rId15"/>
    <p:sldId id="461" r:id="rId16"/>
    <p:sldId id="420" r:id="rId17"/>
    <p:sldId id="659" r:id="rId18"/>
  </p:sldIdLst>
  <p:sldSz cx="12188825" cy="6858000"/>
  <p:notesSz cx="6858000" cy="9144000"/>
  <p:embeddedFontLst>
    <p:embeddedFont>
      <p:font typeface="Roboto" panose="02000000000000000000" pitchFamily="2" charset="0"/>
      <p:regular r:id="rId20"/>
      <p:bold r:id="rId21"/>
      <p:italic r:id="rId22"/>
      <p:boldItalic r:id="rId23"/>
    </p:embeddedFont>
    <p:embeddedFont>
      <p:font typeface="Roboto Medium" panose="02000000000000000000"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B2"/>
    <a:srgbClr val="E38194"/>
    <a:srgbClr val="A7E3B3"/>
    <a:srgbClr val="CCFFCC"/>
    <a:srgbClr val="4DE354"/>
    <a:srgbClr val="FFFFFF"/>
    <a:srgbClr val="FFC161"/>
    <a:srgbClr val="FFE6CC"/>
    <a:srgbClr val="FFF2CC"/>
    <a:srgbClr val="FDFF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178"/>
    <p:restoredTop sz="58226"/>
  </p:normalViewPr>
  <p:slideViewPr>
    <p:cSldViewPr snapToGrid="0">
      <p:cViewPr varScale="1">
        <p:scale>
          <a:sx n="121" d="100"/>
          <a:sy n="121" d="100"/>
        </p:scale>
        <p:origin x="2168" y="184"/>
      </p:cViewPr>
      <p:guideLst>
        <p:guide orient="horz" pos="2160"/>
        <p:guide pos="3839"/>
        <p:guide orient="horz" pos="3945"/>
      </p:guideLst>
    </p:cSldViewPr>
  </p:slideViewPr>
  <p:outlineViewPr>
    <p:cViewPr>
      <p:scale>
        <a:sx n="33" d="100"/>
        <a:sy n="33" d="100"/>
      </p:scale>
      <p:origin x="0" y="0"/>
    </p:cViewPr>
  </p:outlin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7.fntdata"/><Relationship Id="rId3" Type="http://schemas.openxmlformats.org/officeDocument/2006/relationships/slideMaster" Target="slideMasters/slideMaster3.xml"/><Relationship Id="rId21" Type="http://schemas.openxmlformats.org/officeDocument/2006/relationships/font" Target="fonts/font2.fntdata"/><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6.fntdata"/><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5.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I'm Charles Wilson, staff product cybersecurity architect at Torc Robotics.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presentation will cover the </a:t>
            </a:r>
            <a:r>
              <a:rPr lang="en-US" sz="1400" b="1" dirty="0">
                <a:solidFill>
                  <a:srgbClr val="1D1C1D"/>
                </a:solidFill>
                <a:effectLst/>
                <a:latin typeface="Calibri" panose="020F0502020204030204" pitchFamily="34" charset="0"/>
                <a:cs typeface="Calibri" panose="020F0502020204030204" pitchFamily="34" charset="0"/>
              </a:rPr>
              <a:t>Dynamic Analysis Perform Analysis </a:t>
            </a:r>
            <a:r>
              <a:rPr lang="en-US" sz="1400" dirty="0">
                <a:solidFill>
                  <a:srgbClr val="1D1C1D"/>
                </a:solidFill>
                <a:effectLst/>
                <a:latin typeface="Calibri" panose="020F0502020204030204" pitchFamily="34" charset="0"/>
                <a:cs typeface="Calibri" panose="020F0502020204030204" pitchFamily="34" charset="0"/>
              </a:rPr>
              <a:t>activity.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t>
            </a:r>
            <a:r>
              <a:rPr lang="en-US" sz="1400" b="1" dirty="0">
                <a:latin typeface="Calibri" panose="020F0502020204030204" pitchFamily="34" charset="0"/>
                <a:cs typeface="Calibri" panose="020F0502020204030204" pitchFamily="34" charset="0"/>
              </a:rPr>
              <a:t>AVCDL Overview </a:t>
            </a:r>
            <a:r>
              <a:rPr lang="en-US" sz="1400" dirty="0">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Apply Secure Design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Threat Prioritization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Coding</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Dynamic Analysis Overview</a:t>
            </a:r>
          </a:p>
          <a:p>
            <a:pPr marL="285750" marR="0" lvl="0" indent="-2857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400" b="1" dirty="0">
                <a:latin typeface="Calibri" panose="020F0502020204030204" pitchFamily="34" charset="0"/>
                <a:cs typeface="Calibri" panose="020F0502020204030204" pitchFamily="34" charset="0"/>
              </a:rPr>
              <a:t>Dynamic Analysis Establish Settings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Dynamic Analysis Instrument Element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trainings.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the </a:t>
            </a:r>
            <a:r>
              <a:rPr lang="en-US" sz="1400" b="1" dirty="0">
                <a:latin typeface="Calibri" panose="020F0502020204030204" pitchFamily="34" charset="0"/>
                <a:cs typeface="Calibri" panose="020F0502020204030204" pitchFamily="34" charset="0"/>
              </a:rPr>
              <a:t>Dynamic Analysis Perform Analysis </a:t>
            </a:r>
            <a:r>
              <a:rPr lang="en-US" sz="1400" b="0" dirty="0">
                <a:latin typeface="Calibri" panose="020F0502020204030204" pitchFamily="34" charset="0"/>
                <a:cs typeface="Calibri" panose="020F0502020204030204" pitchFamily="34" charset="0"/>
              </a:rPr>
              <a:t>activity</a:t>
            </a:r>
            <a:r>
              <a:rPr lang="en-US" sz="14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F06D203-A8E8-7236-860C-C2C7FAB30A5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6A9F786-C5EE-EC56-1F8E-7F9B2F273B7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C9B21B32-2591-BA66-7082-FA1FCE2708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t>Before getting into the performing analysis activity, let's briefly review where it fits in the overall dynamic analysis process.</a:t>
            </a:r>
          </a:p>
        </p:txBody>
      </p:sp>
    </p:spTree>
    <p:extLst>
      <p:ext uri="{BB962C8B-B14F-4D97-AF65-F5344CB8AC3E}">
        <p14:creationId xmlns:p14="http://schemas.microsoft.com/office/powerpoint/2010/main" val="1448404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9987C0B-F244-033E-9AF2-7B06566965E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752F3E5E-E291-AF33-85C4-E174B8DF89A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E5DFBE6-D102-45F1-9011-12DED4B37A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Here's the dynamic analysis process which we previously covered in the Dynamic Analysis Overview.</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focus for this training is going to be on the third activity, that of performing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146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4BA97DA-B138-04ED-D835-E3C36948586E}"/>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E07A8D2A-C7D9-EA9F-F683-2CC92D3E611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05AA5FF2-DB7C-88DC-67B8-30DB93D0D1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Here's the dynamic analysis process which we previously covered in the Dynamic Analysis Overview.</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Our focus for this training is going to be on the third activity, that of performing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848603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D7242B09-60CB-093C-3665-0BE0CBF28CD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CE8B22D-FCE0-EE21-395B-818BE302EE8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2BA6D2E-FA08-FBD1-5F48-24D2104786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Within the perform analysis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instrumented element test, based on a specific dynamic analysis tool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performs its analysis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generating a dynamic analysis output file.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this activity is presumed to be performed within a CI/CD pipeline and as such requires no participation by people.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may be the case that the test is run manually, however.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the general case, it's assumed that it's not, that automation is being employed.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56439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D40E8D6-08FB-5803-C3B5-AA5332D30DD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17958B4-3E6D-E43E-011E-7D5215E6D1D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8E68B1D8-C43A-BB3C-4E23-440F60CA3B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So given the title of this section, runtime considerations, one might be inspired to think,</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“Didn't we just cover this in the element instrumentation activity training?”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And the answer for that is yes.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Although the considerations that were discussed in that training should have been addressed during the actual instrumentation activity,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there may still be things which will need to be addressed when the test goes live.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revisit some of those.</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1825330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CB16CD0-7FDE-ADEB-6245-C2334D3B2FD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28D7E3E-8DED-BBAD-D7A3-0C91393B2D8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242069A6-5601-CDF4-4615-FFF7E30609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and arguably most important consideration is that of termination on error.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not uncommon for someone to create a test and put it into the build system,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only to have it crash and burn.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of course, the traditional, “it works on my machine” problem.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exacerbated because dynamic analysis tests which are configured to terminate on error, will in fact, do just that.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critical that regardless of whether the test terminates on error, or simply return an error code,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 you handle the behavior in a way that allows the CI/CD pipeline to continue to its next task.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includes cleaning up any residual state that may exist.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Regardless of how many times one emphasizes this, it still shows up as an issue.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next is related to the first, and that is issue occlusion.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an issue is detected, you have to ensure that it’s not masking more fundamental issues.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mechanism for this was addressed in the training on element instrumentation.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since the systems which are looking at cybersecurity from an external standpoint may be triggered by the data exposed by the element’s instrumentation,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need to make sure that these external tests are turned off for the duration of the dynamic analysis or otherwise flagged so that they're not generating false positives related to the element under consideration.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129559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With that, we've covered the treatment of the analysis activity within the dynamic analysis process.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look at some takeaways.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 are two main points to keep in mind when performing dynamic analysis, and strangely enough, they don’t have to do with performing the analysis itself.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is pre-flighting the pipeline before the actual test goes live.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second is accounting for error conditions after the test runs.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presumed that by the time you're putting the test into the build system that you’ve confirmed that the test runs with the code of interest.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a:t>
            </a:r>
            <a:r>
              <a:rPr lang="en-US" sz="1400" b="1" dirty="0">
                <a:latin typeface="Calibri" panose="020F0502020204030204" pitchFamily="34" charset="0"/>
                <a:cs typeface="Calibri" panose="020F0502020204030204" pitchFamily="34" charset="0"/>
              </a:rPr>
              <a:t>Dynamic Analysis Perform Analysis Procedure </a:t>
            </a:r>
            <a:r>
              <a:rPr lang="en-US" sz="1400" dirty="0">
                <a:latin typeface="Calibri" panose="020F0502020204030204" pitchFamily="34" charset="0"/>
                <a:cs typeface="Calibri" panose="020F0502020204030204" pitchFamily="34" charset="0"/>
              </a:rPr>
              <a:t>tertiary document is available in the AVCDL GitHub repository.</a:t>
            </a:r>
          </a:p>
        </p:txBody>
      </p:sp>
    </p:spTree>
    <p:extLst>
      <p:ext uri="{BB962C8B-B14F-4D97-AF65-F5344CB8AC3E}">
        <p14:creationId xmlns:p14="http://schemas.microsoft.com/office/powerpoint/2010/main" val="35780262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AVCDL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with the exception of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r>
              <a:rPr lang="en-US" sz="1400" dirty="0"/>
              <a:t>, if you’ve completed the other trainings covering the </a:t>
            </a:r>
            <a:r>
              <a:rPr lang="en-US" sz="1400" b="1" dirty="0"/>
              <a:t>Dynamic Analysis </a:t>
            </a:r>
            <a:r>
              <a:rPr lang="en-US" sz="1400" dirty="0"/>
              <a:t>process activities,  you can proceed to the other trainings at this level, these include:</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Static Analysis</a:t>
            </a:r>
          </a:p>
          <a:p>
            <a:pPr marL="285750" marR="0" indent="-285750" algn="just">
              <a:spcBef>
                <a:spcPts val="0"/>
              </a:spcBef>
              <a:spcAft>
                <a:spcPts val="1200"/>
              </a:spcAft>
            </a:pPr>
            <a:r>
              <a:rPr lang="en-US" sz="1400" b="1" dirty="0"/>
              <a:t>Fuzz Testing</a:t>
            </a:r>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Secure Code Review</a:t>
            </a:r>
          </a:p>
        </p:txBody>
      </p:sp>
    </p:spTree>
    <p:extLst>
      <p:ext uri="{BB962C8B-B14F-4D97-AF65-F5344CB8AC3E}">
        <p14:creationId xmlns:p14="http://schemas.microsoft.com/office/powerpoint/2010/main" val="37017396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a:extLst>
            <a:ext uri="{FF2B5EF4-FFF2-40B4-BE49-F238E27FC236}">
              <a16:creationId xmlns:a16="http://schemas.microsoft.com/office/drawing/2014/main" id="{B285F196-25D0-8F3C-8178-64DC8CB3369B}"/>
            </a:ext>
          </a:extLst>
        </p:cNvPr>
        <p:cNvGrpSpPr/>
        <p:nvPr/>
      </p:nvGrpSpPr>
      <p:grpSpPr>
        <a:xfrm>
          <a:off x="0" y="0"/>
          <a:ext cx="0" cy="0"/>
          <a:chOff x="0" y="0"/>
          <a:chExt cx="0" cy="0"/>
        </a:xfrm>
      </p:grpSpPr>
      <p:sp>
        <p:nvSpPr>
          <p:cNvPr id="875" name="Google Shape;875;gbd8f7373d4_0_397:notes">
            <a:extLst>
              <a:ext uri="{FF2B5EF4-FFF2-40B4-BE49-F238E27FC236}">
                <a16:creationId xmlns:a16="http://schemas.microsoft.com/office/drawing/2014/main" id="{757F2C4D-2029-4FAB-1591-57A08DEAD112}"/>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76" name="Google Shape;876;gbd8f7373d4_0_397:notes">
            <a:extLst>
              <a:ext uri="{FF2B5EF4-FFF2-40B4-BE49-F238E27FC236}">
                <a16:creationId xmlns:a16="http://schemas.microsoft.com/office/drawing/2014/main" id="{D79BEA73-39D9-9704-9FD9-0EA85D4533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the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2206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377441" y="6212114"/>
            <a:ext cx="9355958"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42" r:id="rId1"/>
    <p:sldLayoutId id="2147483789" r:id="rId2"/>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Dynamic Analysis –</a:t>
            </a:r>
            <a:br>
              <a:rPr lang="en" sz="5400" dirty="0"/>
            </a:br>
            <a:r>
              <a:rPr lang="en-US" sz="5400" dirty="0"/>
              <a:t>Perform Analysis</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2</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2025-11-06</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
        <p:nvSpPr>
          <p:cNvPr id="3" name="Rectangle 2">
            <a:extLst>
              <a:ext uri="{FF2B5EF4-FFF2-40B4-BE49-F238E27FC236}">
                <a16:creationId xmlns:a16="http://schemas.microsoft.com/office/drawing/2014/main" id="{9375FC61-BE70-0263-1C08-9607377D87C2}"/>
              </a:ext>
            </a:extLst>
          </p:cNvPr>
          <p:cNvSpPr/>
          <p:nvPr/>
        </p:nvSpPr>
        <p:spPr>
          <a:xfrm>
            <a:off x="9899855" y="139594"/>
            <a:ext cx="2169184" cy="276999"/>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AVCDL-Implementation-8.1.3</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435D019-8E84-BEF1-6D20-0079C9B9A767}"/>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A175A47-8003-CA64-DF9A-064FBF3329E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Introduction</a:t>
            </a:r>
            <a:endParaRPr sz="6600" dirty="0"/>
          </a:p>
        </p:txBody>
      </p:sp>
    </p:spTree>
    <p:extLst>
      <p:ext uri="{BB962C8B-B14F-4D97-AF65-F5344CB8AC3E}">
        <p14:creationId xmlns:p14="http://schemas.microsoft.com/office/powerpoint/2010/main" val="190089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4B2164A-295A-0288-9D11-2D1D1B6D7A8E}"/>
            </a:ext>
          </a:extLst>
        </p:cNvPr>
        <p:cNvGrpSpPr/>
        <p:nvPr/>
      </p:nvGrpSpPr>
      <p:grpSpPr>
        <a:xfrm>
          <a:off x="0" y="0"/>
          <a:ext cx="0" cy="0"/>
          <a:chOff x="0" y="0"/>
          <a:chExt cx="0" cy="0"/>
        </a:xfrm>
      </p:grpSpPr>
      <p:pic>
        <p:nvPicPr>
          <p:cNvPr id="11" name="Picture 10" descr="A diagram of a diagram of a diagram&#10;&#10;AI-generated content may be incorrect.">
            <a:extLst>
              <a:ext uri="{FF2B5EF4-FFF2-40B4-BE49-F238E27FC236}">
                <a16:creationId xmlns:a16="http://schemas.microsoft.com/office/drawing/2014/main" id="{B041E3D5-BC32-EDF3-A51A-32E4384144EA}"/>
              </a:ext>
            </a:extLst>
          </p:cNvPr>
          <p:cNvPicPr>
            <a:picLocks noChangeAspect="1"/>
          </p:cNvPicPr>
          <p:nvPr/>
        </p:nvPicPr>
        <p:blipFill>
          <a:blip r:embed="rId3">
            <a:alphaModFix amt="10000"/>
          </a:blip>
          <a:stretch>
            <a:fillRect/>
          </a:stretch>
        </p:blipFill>
        <p:spPr>
          <a:xfrm>
            <a:off x="274863" y="1562354"/>
            <a:ext cx="11712288" cy="3733291"/>
          </a:xfrm>
          <a:prstGeom prst="rect">
            <a:avLst/>
          </a:prstGeom>
        </p:spPr>
      </p:pic>
      <p:pic>
        <p:nvPicPr>
          <p:cNvPr id="10" name="Picture 9" descr="A diagram of a diagram of a diagram&#10;&#10;AI-generated content may be incorrect.">
            <a:extLst>
              <a:ext uri="{FF2B5EF4-FFF2-40B4-BE49-F238E27FC236}">
                <a16:creationId xmlns:a16="http://schemas.microsoft.com/office/drawing/2014/main" id="{4AFF14F0-B360-62DC-F70F-59062918A9B5}"/>
              </a:ext>
            </a:extLst>
          </p:cNvPr>
          <p:cNvPicPr>
            <a:picLocks noChangeAspect="1"/>
          </p:cNvPicPr>
          <p:nvPr/>
        </p:nvPicPr>
        <p:blipFill>
          <a:blip r:embed="rId4">
            <a:alphaModFix/>
          </a:blip>
          <a:stretch>
            <a:fillRect/>
          </a:stretch>
        </p:blipFill>
        <p:spPr>
          <a:xfrm>
            <a:off x="274866" y="1562354"/>
            <a:ext cx="11639091" cy="3733292"/>
          </a:xfrm>
          <a:prstGeom prst="rect">
            <a:avLst/>
          </a:prstGeom>
        </p:spPr>
      </p:pic>
      <p:sp>
        <p:nvSpPr>
          <p:cNvPr id="1199" name="Google Shape;1199;p156">
            <a:extLst>
              <a:ext uri="{FF2B5EF4-FFF2-40B4-BE49-F238E27FC236}">
                <a16:creationId xmlns:a16="http://schemas.microsoft.com/office/drawing/2014/main" id="{A978AB51-0A05-7CED-E08D-2D4FDCD3DA7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Dynamic Analysis Process</a:t>
            </a:r>
            <a:endParaRPr dirty="0"/>
          </a:p>
        </p:txBody>
      </p:sp>
      <p:pic>
        <p:nvPicPr>
          <p:cNvPr id="8" name="Picture 7">
            <a:extLst>
              <a:ext uri="{FF2B5EF4-FFF2-40B4-BE49-F238E27FC236}">
                <a16:creationId xmlns:a16="http://schemas.microsoft.com/office/drawing/2014/main" id="{3EE13257-C19F-94C4-5416-24672D4E9893}"/>
              </a:ext>
            </a:extLst>
          </p:cNvPr>
          <p:cNvPicPr>
            <a:picLocks noChangeAspect="1"/>
          </p:cNvPicPr>
          <p:nvPr/>
        </p:nvPicPr>
        <p:blipFill>
          <a:blip r:embed="rId5"/>
          <a:stretch>
            <a:fillRect/>
          </a:stretch>
        </p:blipFill>
        <p:spPr>
          <a:xfrm>
            <a:off x="5724706" y="1562354"/>
            <a:ext cx="3118397" cy="3733292"/>
          </a:xfrm>
          <a:prstGeom prst="rect">
            <a:avLst/>
          </a:prstGeom>
        </p:spPr>
      </p:pic>
    </p:spTree>
    <p:extLst>
      <p:ext uri="{BB962C8B-B14F-4D97-AF65-F5344CB8AC3E}">
        <p14:creationId xmlns:p14="http://schemas.microsoft.com/office/powerpoint/2010/main" val="3273970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98A699EF-FB8B-30CD-3F01-E097E5BFBD10}"/>
            </a:ext>
          </a:extLst>
        </p:cNvPr>
        <p:cNvGrpSpPr/>
        <p:nvPr/>
      </p:nvGrpSpPr>
      <p:grpSpPr>
        <a:xfrm>
          <a:off x="0" y="0"/>
          <a:ext cx="0" cy="0"/>
          <a:chOff x="0" y="0"/>
          <a:chExt cx="0" cy="0"/>
        </a:xfrm>
      </p:grpSpPr>
      <p:pic>
        <p:nvPicPr>
          <p:cNvPr id="11" name="Picture 10" descr="A diagram of a diagram of a diagram&#10;&#10;AI-generated content may be incorrect.">
            <a:extLst>
              <a:ext uri="{FF2B5EF4-FFF2-40B4-BE49-F238E27FC236}">
                <a16:creationId xmlns:a16="http://schemas.microsoft.com/office/drawing/2014/main" id="{B43D69E8-BEB8-2A3C-9D86-89F2A2A638C8}"/>
              </a:ext>
            </a:extLst>
          </p:cNvPr>
          <p:cNvPicPr>
            <a:picLocks noChangeAspect="1"/>
          </p:cNvPicPr>
          <p:nvPr/>
        </p:nvPicPr>
        <p:blipFill>
          <a:blip r:embed="rId3">
            <a:alphaModFix amt="10000"/>
          </a:blip>
          <a:stretch>
            <a:fillRect/>
          </a:stretch>
        </p:blipFill>
        <p:spPr>
          <a:xfrm>
            <a:off x="274863" y="1562354"/>
            <a:ext cx="11712288" cy="3733291"/>
          </a:xfrm>
          <a:prstGeom prst="rect">
            <a:avLst/>
          </a:prstGeom>
        </p:spPr>
      </p:pic>
      <p:sp>
        <p:nvSpPr>
          <p:cNvPr id="1199" name="Google Shape;1199;p156">
            <a:extLst>
              <a:ext uri="{FF2B5EF4-FFF2-40B4-BE49-F238E27FC236}">
                <a16:creationId xmlns:a16="http://schemas.microsoft.com/office/drawing/2014/main" id="{9AAF8608-B38F-BD1B-7E5B-A8017813FE0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Dynamic Analysis Process</a:t>
            </a:r>
            <a:endParaRPr dirty="0"/>
          </a:p>
        </p:txBody>
      </p:sp>
      <p:pic>
        <p:nvPicPr>
          <p:cNvPr id="8" name="Picture 7">
            <a:extLst>
              <a:ext uri="{FF2B5EF4-FFF2-40B4-BE49-F238E27FC236}">
                <a16:creationId xmlns:a16="http://schemas.microsoft.com/office/drawing/2014/main" id="{28AFE01F-2DE4-C332-57C3-257367A6D549}"/>
              </a:ext>
            </a:extLst>
          </p:cNvPr>
          <p:cNvPicPr>
            <a:picLocks noChangeAspect="1"/>
          </p:cNvPicPr>
          <p:nvPr/>
        </p:nvPicPr>
        <p:blipFill>
          <a:blip r:embed="rId4"/>
          <a:stretch>
            <a:fillRect/>
          </a:stretch>
        </p:blipFill>
        <p:spPr>
          <a:xfrm>
            <a:off x="5724706" y="1562354"/>
            <a:ext cx="3118397" cy="3733292"/>
          </a:xfrm>
          <a:prstGeom prst="rect">
            <a:avLst/>
          </a:prstGeom>
        </p:spPr>
      </p:pic>
    </p:spTree>
    <p:extLst>
      <p:ext uri="{BB962C8B-B14F-4D97-AF65-F5344CB8AC3E}">
        <p14:creationId xmlns:p14="http://schemas.microsoft.com/office/powerpoint/2010/main" val="919222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FAA94BC-298C-18D6-2BB8-65F2D81FA8E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468E23C8-A968-C328-D023-8AC961E7A180}"/>
              </a:ext>
            </a:extLst>
          </p:cNvPr>
          <p:cNvPicPr>
            <a:picLocks noChangeAspect="1"/>
          </p:cNvPicPr>
          <p:nvPr/>
        </p:nvPicPr>
        <p:blipFill>
          <a:blip r:embed="rId3"/>
          <a:stretch>
            <a:fillRect/>
          </a:stretch>
        </p:blipFill>
        <p:spPr>
          <a:xfrm>
            <a:off x="3873312" y="1144109"/>
            <a:ext cx="4442199" cy="5318125"/>
          </a:xfrm>
          <a:prstGeom prst="rect">
            <a:avLst/>
          </a:prstGeom>
        </p:spPr>
      </p:pic>
      <p:sp>
        <p:nvSpPr>
          <p:cNvPr id="1199" name="Google Shape;1199;p156">
            <a:extLst>
              <a:ext uri="{FF2B5EF4-FFF2-40B4-BE49-F238E27FC236}">
                <a16:creationId xmlns:a16="http://schemas.microsoft.com/office/drawing/2014/main" id="{DE102DF6-AAEB-1416-465B-EF11C55A307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Perform Analysis Activity</a:t>
            </a:r>
            <a:endParaRPr dirty="0"/>
          </a:p>
        </p:txBody>
      </p:sp>
    </p:spTree>
    <p:extLst>
      <p:ext uri="{BB962C8B-B14F-4D97-AF65-F5344CB8AC3E}">
        <p14:creationId xmlns:p14="http://schemas.microsoft.com/office/powerpoint/2010/main" val="1558582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A1B6300-4150-9DD1-EAB2-84C678CB072D}"/>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664DDA98-0F6D-C54D-128F-679E03F5053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Runtime Considerations</a:t>
            </a:r>
            <a:endParaRPr sz="6600" dirty="0"/>
          </a:p>
        </p:txBody>
      </p:sp>
    </p:spTree>
    <p:extLst>
      <p:ext uri="{BB962C8B-B14F-4D97-AF65-F5344CB8AC3E}">
        <p14:creationId xmlns:p14="http://schemas.microsoft.com/office/powerpoint/2010/main" val="1242754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BE4B0FF-BB0D-B94C-5377-2ED07887A12C}"/>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FD168AF-42C8-6A28-F5A0-4F3F1DEBBA6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Considerations</a:t>
            </a:r>
            <a:endParaRPr dirty="0"/>
          </a:p>
        </p:txBody>
      </p:sp>
      <p:sp>
        <p:nvSpPr>
          <p:cNvPr id="2" name="TextBox 1">
            <a:extLst>
              <a:ext uri="{FF2B5EF4-FFF2-40B4-BE49-F238E27FC236}">
                <a16:creationId xmlns:a16="http://schemas.microsoft.com/office/drawing/2014/main" id="{BB25012F-D809-9633-25D4-D71A786B669C}"/>
              </a:ext>
            </a:extLst>
          </p:cNvPr>
          <p:cNvSpPr txBox="1"/>
          <p:nvPr/>
        </p:nvSpPr>
        <p:spPr>
          <a:xfrm>
            <a:off x="455618" y="1437554"/>
            <a:ext cx="4575612" cy="1692771"/>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Termination on error</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Issue occlusion</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Cybersecurity side-effects</a:t>
            </a:r>
          </a:p>
        </p:txBody>
      </p:sp>
    </p:spTree>
    <p:extLst>
      <p:ext uri="{BB962C8B-B14F-4D97-AF65-F5344CB8AC3E}">
        <p14:creationId xmlns:p14="http://schemas.microsoft.com/office/powerpoint/2010/main" val="1083501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4907434"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Pre-flight the pipeline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Account for error conditions</a:t>
            </a:r>
          </a:p>
        </p:txBody>
      </p:sp>
    </p:spTree>
    <p:extLst>
      <p:ext uri="{BB962C8B-B14F-4D97-AF65-F5344CB8AC3E}">
        <p14:creationId xmlns:p14="http://schemas.microsoft.com/office/powerpoint/2010/main" val="170359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97170D5F-8BD9-ECF4-AF82-900DA81B4716}"/>
              </a:ext>
            </a:extLst>
          </p:cNvPr>
          <p:cNvPicPr>
            <a:picLocks noChangeAspect="1"/>
          </p:cNvPicPr>
          <p:nvPr/>
        </p:nvPicPr>
        <p:blipFill>
          <a:blip r:embed="rId3"/>
          <a:srcRect/>
          <a:stretch/>
        </p:blipFill>
        <p:spPr>
          <a:xfrm>
            <a:off x="4056310" y="1239500"/>
            <a:ext cx="4076199" cy="5283369"/>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spTree>
    <p:extLst>
      <p:ext uri="{BB962C8B-B14F-4D97-AF65-F5344CB8AC3E}">
        <p14:creationId xmlns:p14="http://schemas.microsoft.com/office/powerpoint/2010/main" val="2868555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C2A2ADBF-13F1-8937-91E4-97FBA4F83BB0}"/>
              </a:ext>
            </a:extLst>
          </p:cNvPr>
          <p:cNvPicPr>
            <a:picLocks noChangeAspect="1"/>
          </p:cNvPicPr>
          <p:nvPr/>
        </p:nvPicPr>
        <p:blipFill>
          <a:blip r:embed="rId3"/>
          <a:stretch>
            <a:fillRect/>
          </a:stretch>
        </p:blipFill>
        <p:spPr>
          <a:xfrm>
            <a:off x="1573706" y="985083"/>
            <a:ext cx="9041411"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24875B67-DABD-EC7D-D876-FF0A75BC967B}"/>
              </a:ext>
            </a:extLst>
          </p:cNvPr>
          <p:cNvPicPr>
            <a:picLocks noChangeAspect="1"/>
          </p:cNvPicPr>
          <p:nvPr/>
        </p:nvPicPr>
        <p:blipFill>
          <a:blip r:embed="rId3"/>
          <a:stretch>
            <a:fillRect/>
          </a:stretch>
        </p:blipFill>
        <p:spPr>
          <a:xfrm>
            <a:off x="1658351" y="985083"/>
            <a:ext cx="8483870" cy="5783298"/>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40714915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77">
          <a:extLst>
            <a:ext uri="{FF2B5EF4-FFF2-40B4-BE49-F238E27FC236}">
              <a16:creationId xmlns:a16="http://schemas.microsoft.com/office/drawing/2014/main" id="{BF51FD20-5E44-1096-92AD-A694134C77F0}"/>
            </a:ext>
          </a:extLst>
        </p:cNvPr>
        <p:cNvGrpSpPr/>
        <p:nvPr/>
      </p:nvGrpSpPr>
      <p:grpSpPr>
        <a:xfrm>
          <a:off x="0" y="0"/>
          <a:ext cx="0" cy="0"/>
          <a:chOff x="0" y="0"/>
          <a:chExt cx="0" cy="0"/>
        </a:xfrm>
      </p:grpSpPr>
      <p:sp>
        <p:nvSpPr>
          <p:cNvPr id="878" name="Google Shape;878;p147">
            <a:extLst>
              <a:ext uri="{FF2B5EF4-FFF2-40B4-BE49-F238E27FC236}">
                <a16:creationId xmlns:a16="http://schemas.microsoft.com/office/drawing/2014/main" id="{2CDA8FD7-8E5D-9D23-F17E-089B0DC94CDC}"/>
              </a:ext>
            </a:extLst>
          </p:cNvPr>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sp>
        <p:nvSpPr>
          <p:cNvPr id="2" name="Google Shape;879;p147">
            <a:extLst>
              <a:ext uri="{FF2B5EF4-FFF2-40B4-BE49-F238E27FC236}">
                <a16:creationId xmlns:a16="http://schemas.microsoft.com/office/drawing/2014/main" id="{CA327BB5-2B6F-DC45-6F06-8EDF4E981DDD}"/>
              </a:ext>
            </a:extLst>
          </p:cNvPr>
          <p:cNvSpPr txBox="1">
            <a:spLocks/>
          </p:cNvSpPr>
          <p:nvPr/>
        </p:nvSpPr>
        <p:spPr>
          <a:xfrm>
            <a:off x="455615" y="1146448"/>
            <a:ext cx="11277592" cy="1785104"/>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sz="1800" b="1"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1200"/>
              </a:spcBef>
            </a:pPr>
            <a:r>
              <a:rPr lang="en-US" sz="1800" b="1" dirty="0">
                <a:latin typeface="Roboto" panose="02000000000000000000" pitchFamily="2" charset="0"/>
                <a:ea typeface="Roboto" panose="02000000000000000000" pitchFamily="2" charset="0"/>
                <a:cs typeface="Courier New" panose="02070309020205020404" pitchFamily="49" charset="0"/>
              </a:rPr>
              <a:t>Dynamic Analysis Report (AVCDL secondary document)</a:t>
            </a:r>
          </a:p>
          <a:p>
            <a:pPr marL="0" indent="0">
              <a:spcBef>
                <a:spcPts val="1200"/>
              </a:spcBef>
            </a:pPr>
            <a:r>
              <a:rPr lang="en-US" sz="1800" b="1" dirty="0">
                <a:latin typeface="Roboto" panose="02000000000000000000" pitchFamily="2" charset="0"/>
                <a:ea typeface="Roboto" panose="02000000000000000000" pitchFamily="2" charset="0"/>
                <a:cs typeface="Courier New" panose="02070309020205020404" pitchFamily="49" charset="0"/>
              </a:rPr>
              <a:t>Dynamic Analysis Instrument Element Procedure (AVCDL tertiary document)</a:t>
            </a:r>
            <a:endParaRPr lang="en-US" sz="1400" b="1" dirty="0">
              <a:latin typeface="Courier New" panose="02070309020205020404" pitchFamily="49" charset="0"/>
              <a:cs typeface="Courier New" panose="02070309020205020404" pitchFamily="49" charset="0"/>
            </a:endParaRPr>
          </a:p>
          <a:p>
            <a:pPr marL="0" indent="0">
              <a:spcBef>
                <a:spcPts val="1200"/>
              </a:spcBef>
            </a:pPr>
            <a:r>
              <a:rPr lang="en-US" sz="1800" b="1" dirty="0">
                <a:latin typeface="Roboto" panose="02000000000000000000" pitchFamily="2" charset="0"/>
                <a:ea typeface="Roboto" panose="02000000000000000000" pitchFamily="2" charset="0"/>
                <a:cs typeface="Courier New" panose="02070309020205020404" pitchFamily="49" charset="0"/>
              </a:rPr>
              <a:t>Dynamic Analysis Perform Analysis Procedure (AVCDL tertiary document)</a:t>
            </a:r>
            <a:endParaRPr lang="en-US" sz="1400" b="1" dirty="0">
              <a:latin typeface="Courier New" panose="02070309020205020404" pitchFamily="49" charset="0"/>
              <a:cs typeface="Courier New" panose="02070309020205020404" pitchFamily="49" charset="0"/>
            </a:endParaRPr>
          </a:p>
          <a:p>
            <a:pPr marL="0" indent="0">
              <a:spcBef>
                <a:spcPts val="0"/>
              </a:spcBef>
            </a:pPr>
            <a:endParaRPr lang="en-US" sz="1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8817968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405747</TotalTime>
  <Words>1104</Words>
  <Application>Microsoft Macintosh PowerPoint</Application>
  <PresentationFormat>Custom</PresentationFormat>
  <Paragraphs>213</Paragraphs>
  <Slides>15</Slides>
  <Notes>15</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15</vt:i4>
      </vt:variant>
    </vt:vector>
  </HeadingPairs>
  <TitlesOfParts>
    <vt:vector size="23" baseType="lpstr">
      <vt:lpstr>Calibri</vt:lpstr>
      <vt:lpstr>Roboto Medium</vt:lpstr>
      <vt:lpstr>Roboto</vt:lpstr>
      <vt:lpstr>Courier New</vt:lpstr>
      <vt:lpstr>Arial</vt:lpstr>
      <vt:lpstr>Simple Light</vt:lpstr>
      <vt:lpstr>Motional Masters</vt:lpstr>
      <vt:lpstr>Motional Masters</vt:lpstr>
      <vt:lpstr>Dynamic Analysis – Perform Analysis</vt:lpstr>
      <vt:lpstr>Training Path</vt:lpstr>
      <vt:lpstr>Introduction</vt:lpstr>
      <vt:lpstr>Dynamic Analysis Process</vt:lpstr>
      <vt:lpstr>Dynamic Analysis Process</vt:lpstr>
      <vt:lpstr>Perform Analysis Activity</vt:lpstr>
      <vt:lpstr>Runtime Considerations</vt:lpstr>
      <vt:lpstr>Considerations</vt:lpstr>
      <vt:lpstr>Recap</vt:lpstr>
      <vt:lpstr>Summary</vt:lpstr>
      <vt:lpstr>Further Reading</vt:lpstr>
      <vt:lpstr>AVCDL on GitHub</vt:lpstr>
      <vt:lpstr>AVCDL on YouTube</vt:lpstr>
      <vt:lpstr>Next Steps</vt:lpstr>
      <vt:lpstr>References</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Analysis - Perform Analysis (training)</dc:title>
  <dc:subject>dynamic analysis activity</dc:subject>
  <dc:creator>Charles Wilson</dc:creator>
  <cp:keywords>cybersecurity, dynamic analysis</cp:keywords>
  <dc:description>This work was created by Torc Robotics and is licensed under the Creative Commons Attribution-Share Alike (CC BY-SA-4.0) License.
https://creativecommons.org/licenses/by/4.0/legalcode 
</dc:description>
  <cp:lastModifiedBy>Charles Wilson</cp:lastModifiedBy>
  <cp:revision>627</cp:revision>
  <cp:lastPrinted>2025-07-24T18:37:57Z</cp:lastPrinted>
  <dcterms:modified xsi:type="dcterms:W3CDTF">2025-11-06T20:32:32Z</dcterms:modified>
  <cp:category>dynamic analysis</cp:category>
</cp:coreProperties>
</file>