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56"/>
  </p:notesMasterIdLst>
  <p:sldIdLst>
    <p:sldId id="256" r:id="rId4"/>
    <p:sldId id="306" r:id="rId5"/>
    <p:sldId id="584" r:id="rId6"/>
    <p:sldId id="555" r:id="rId7"/>
    <p:sldId id="608" r:id="rId8"/>
    <p:sldId id="607" r:id="rId9"/>
    <p:sldId id="631" r:id="rId10"/>
    <p:sldId id="416" r:id="rId11"/>
    <p:sldId id="632" r:id="rId12"/>
    <p:sldId id="609" r:id="rId13"/>
    <p:sldId id="499" r:id="rId14"/>
    <p:sldId id="568" r:id="rId15"/>
    <p:sldId id="610" r:id="rId16"/>
    <p:sldId id="556" r:id="rId17"/>
    <p:sldId id="625" r:id="rId18"/>
    <p:sldId id="611" r:id="rId19"/>
    <p:sldId id="557" r:id="rId20"/>
    <p:sldId id="626" r:id="rId21"/>
    <p:sldId id="627" r:id="rId22"/>
    <p:sldId id="628" r:id="rId23"/>
    <p:sldId id="612" r:id="rId24"/>
    <p:sldId id="558" r:id="rId25"/>
    <p:sldId id="630" r:id="rId26"/>
    <p:sldId id="613" r:id="rId27"/>
    <p:sldId id="559" r:id="rId28"/>
    <p:sldId id="624" r:id="rId29"/>
    <p:sldId id="623" r:id="rId30"/>
    <p:sldId id="634" r:id="rId31"/>
    <p:sldId id="614" r:id="rId32"/>
    <p:sldId id="560" r:id="rId33"/>
    <p:sldId id="615" r:id="rId34"/>
    <p:sldId id="561" r:id="rId35"/>
    <p:sldId id="616" r:id="rId36"/>
    <p:sldId id="566" r:id="rId37"/>
    <p:sldId id="629" r:id="rId38"/>
    <p:sldId id="633" r:id="rId39"/>
    <p:sldId id="617" r:id="rId40"/>
    <p:sldId id="563" r:id="rId41"/>
    <p:sldId id="618" r:id="rId42"/>
    <p:sldId id="564" r:id="rId43"/>
    <p:sldId id="619" r:id="rId44"/>
    <p:sldId id="565" r:id="rId45"/>
    <p:sldId id="621" r:id="rId46"/>
    <p:sldId id="622" r:id="rId47"/>
    <p:sldId id="603" r:id="rId48"/>
    <p:sldId id="488" r:id="rId49"/>
    <p:sldId id="343" r:id="rId50"/>
    <p:sldId id="606" r:id="rId51"/>
    <p:sldId id="461" r:id="rId52"/>
    <p:sldId id="420" r:id="rId53"/>
    <p:sldId id="368" r:id="rId54"/>
    <p:sldId id="620" r:id="rId55"/>
  </p:sldIdLst>
  <p:sldSz cx="12188825" cy="6858000"/>
  <p:notesSz cx="6858000" cy="9144000"/>
  <p:embeddedFontLst>
    <p:embeddedFont>
      <p:font typeface="Roboto" panose="02000000000000000000" pitchFamily="2" charset="0"/>
      <p:regular r:id="rId57"/>
      <p:bold r:id="rId58"/>
      <p:italic r:id="rId59"/>
      <p:boldItalic r:id="rId60"/>
    </p:embeddedFont>
    <p:embeddedFont>
      <p:font typeface="Roboto Medium" panose="020F0502020204030204" pitchFamily="34"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7E3B3"/>
    <a:srgbClr val="CCFFCC"/>
    <a:srgbClr val="4DE354"/>
    <a:srgbClr val="FFFAB2"/>
    <a:srgbClr val="FFFFFF"/>
    <a:srgbClr val="FFC161"/>
    <a:srgbClr val="FFE6CC"/>
    <a:srgbClr val="E38194"/>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46"/>
    <p:restoredTop sz="63436"/>
  </p:normalViewPr>
  <p:slideViewPr>
    <p:cSldViewPr snapToGrid="0">
      <p:cViewPr varScale="1">
        <p:scale>
          <a:sx n="148" d="100"/>
          <a:sy n="148" d="100"/>
        </p:scale>
        <p:origin x="776" y="184"/>
      </p:cViewPr>
      <p:guideLst>
        <p:guide orient="horz" pos="2160"/>
        <p:guide pos="3839"/>
        <p:guide orient="horz" pos="3945"/>
      </p:guideLst>
    </p:cSldViewPr>
  </p:slid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font" Target="fonts/font7.fntdata"/><Relationship Id="rId68"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font" Target="fonts/font2.fntdata"/><Relationship Id="rId66"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font" Target="fonts/font5.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notesMaster" Target="notesMasters/notesMaster1.xml"/><Relationship Id="rId64" Type="http://schemas.openxmlformats.org/officeDocument/2006/relationships/font" Target="fonts/font8.fntdata"/><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3.fntdata"/><Relationship Id="rId67"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font" Target="fonts/font1.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font" Target="fonts/font4.fntdata"/><Relationship Id="rId65"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a:t>
            </a:r>
            <a:r>
              <a:rPr lang="en" sz="1400" dirty="0"/>
              <a:t>Secure Design Principles</a:t>
            </a:r>
            <a:r>
              <a:rPr lang="en-US" sz="1400" b="0" i="0" dirty="0">
                <a:solidFill>
                  <a:srgbClr val="000000"/>
                </a:solidFill>
                <a:effectLst/>
                <a:latin typeface="Calibri" panose="020F0502020204030204" pitchFamily="34" charset="0"/>
                <a:cs typeface="Calibri" panose="020F0502020204030204" pitchFamily="34" charset="0"/>
              </a:rPr>
              <a:t>.</a:t>
            </a:r>
            <a:endParaRPr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AVCDL overview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Secure Design Principles.</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6301617-5E10-8AC8-C2BD-037B2E5A1E9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A323960-849D-46A6-D2A8-DF3850020D8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9428C825-6727-09B7-3403-52A328181C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Unlike just about every other aspect of the AVCDL, secure design principles isn't about a specific activity and a specific outcome with specific metrics.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about a way of looking at how we treat the system and how we approach design from the standpoint of cybersecurity with an understanding that fundamentally cybersecurity engineering is about the soundness of the code and the system supporting the code.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We're going to look at a set of principles which, when applied, lead to a system which is much more conducive to having the cybersecurity processes and activities called out within the context of the AVCDL applied to that system, and which is fundamentally more secure because is has had these fundamental aspects put in place during its design.</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650761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we talk about design principles here and not design rules.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We're not going to have these completely orthogonal, well-defined, SMART-compliant INCOSE-</a:t>
            </a:r>
            <a:r>
              <a:rPr lang="en-US" sz="1400" dirty="0" err="1">
                <a:latin typeface="Calibri" panose="020F0502020204030204" pitchFamily="34" charset="0"/>
                <a:cs typeface="Calibri" panose="020F0502020204030204" pitchFamily="34" charset="0"/>
              </a:rPr>
              <a:t>esque</a:t>
            </a:r>
            <a:r>
              <a:rPr lang="en-US" sz="1400" dirty="0">
                <a:latin typeface="Calibri" panose="020F0502020204030204" pitchFamily="34" charset="0"/>
                <a:cs typeface="Calibri" panose="020F0502020204030204" pitchFamily="34" charset="0"/>
              </a:rPr>
              <a:t> rules.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we're going to have is principles, where a principle is a fundamental proposition that serves as a foundation for a system or behavior.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the behavior that we wish to ensure is that the system is secure within the context of cybersecurity.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short list that we have for our principles is going to be presented in a relatively hierarchical fashion.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ones that come first are built upon by the ones that come later.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list that we have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Modularize</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Minimize surface area</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Isolate security</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Isolate privilege</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Use least privilege</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Use hierarchical trust</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Limit lifetimes</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Use standards-based cryptography</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Use adaptive cryptography</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Use trusted communications channels</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Enable auditing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Degrade as necessary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let’s look at each of these in more detail.</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090637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EFC0475-E143-30F6-CD21-B130E2042BA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3C07636-55BB-9E17-E8A7-7746C6232AD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44385454-C342-1803-62BC-11CCBF39E9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first principle is perhaps the most obvious and the most overlooked, and that would be to modularize.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well appreciated that monolithic designs are Intrinsically difficult to analyze, build, debug, test, and also, by extension, defend.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is especially true in a cybersecurity context.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And so, when we talk about modularization, it's nothing new.</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just look at modularization within the context of cybersecurity.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Instead of just looking at function as the basis for modularization, we'll consider things like trust, privilege, and policy.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look at some of the areas where we consider modularization traditionally and how they translate.</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954141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Let's start with our first area of modularization.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that's refactoring.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here we have function 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during our development, we decide that that there's this useful piece.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decide that we could use it in our other function over here, 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we simply copy-and-paste that useful block into function 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Over time, this isn’t a really great approach because If the block in question is of a sufficient level of complexity, changes to it in the future become problematic to manage.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what we typically do is switch to an extraction approach.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just make it its own function and call it that way.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same thing is true for cybersecurity.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Cybersecurity, especially in the realm of cryptography tends to be one of those things that people look at the same way that they look at opening files.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I'm going to open a file now.</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I'm going to do stuff to the file.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eventually, I'll close the file.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For convenience's sake, let's just open it at the beginning of function and close it at the end of the function.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Or worse, at the beginning of the process, we will acquire our cryptographic bits and put them into the global state, and then we won't have to worry about them.</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We'll just pick at them as we go.</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Now, neither the file example nor the cryptographic one are modular in any sense.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What you have is this shared state, which is hard to manage, and something that you really could stand to extract, if simply for the purposes of being able to test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345FF8F-740B-2C9E-BA54-8D262D6B684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2FA7D5B6-B7A1-5723-EE8B-7254544C5A0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0BC6E873-C802-9E20-CB01-B273ECDFA8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Let's start with our first area of modularization.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that's refactoring.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here we have function F.</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during our development, we decide that that there's this useful piece.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decide that we could use it in our other function over here, 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we simply copy-and-paste that useful block into function 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Over time, this isn’t a really great approach because If the block in question is of a sufficient level of complexity, changes to it in the future become problematic to manage.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what we typically do is switch to an extraction approach.</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just make it its own function and call it that way.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same thing is true for cybersecurity.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Cybersecurity, especially in the realm of cryptography tends to be one of those things that people look at the same way that they look at opening files.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I'm going to open a file now.</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I'm going to do stuff to the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eventually, I'll close the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convenience's sake, let's just open it at the beginning of function and close it at the end of the function.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Or worse, at the beginning of the process, we will acquire our cryptographic bits and put them into the global state, and then we won't have to worry about them.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We'll just pick at them as we go.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neither the file example nor the cryptographic one are modular in any sense.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What you have is this shared state, which is hard to manage, and something that you really could stand to extract, if simply for the purposes of being able to test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090050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At a larger scale, this is all about decomposition.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Our system should not just be this amorphous blob that we can only reason on in the context of cybersecurity by using things like penetration testing, which is simply blind QA.</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may be perfectly attuned to a non-decomposed system, but that doesn't help us from a design standpoint.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we want is a decomposed system that helps us in the context of cybersecurity.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That means that we're going to look at things like the operating system broken down into its processes, things like the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 file system</a:t>
            </a: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 process manager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 network manager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We're going to think about the resources that we're trying to utilize.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Resources may be hardware, so direct hardware manipulation, or they may be data.</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Do we have third-party components in use?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Here, we're talking about things like data and audit log managers.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finally, we're going to look at the components that we're bringing along to the party.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These are our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 processes</a:t>
            </a: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 services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 drivers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7595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D971E71-0A30-1CB6-FAA4-0D0DA110854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B5F2EDA-B5DD-2EEE-A24D-70BCC53496C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DA06210-1690-0E09-C595-36865BE535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At a larger scale, this is all about decomposition.</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Our system should not just be this amorphous blob that we can only reason on in the context of cybersecurity by using things like penetration testing, which is simply blind QA.</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It may be perfectly attuned to a non-decomposed system, but that doesn't help us from a design standpoint.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What we want is a decomposed system that helps us in the context of cybersecurity.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That means that we're going to look at things like the operating system broken down into its processes, things like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file system</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process manager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network manager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We're going to think about the resources that we're trying to utilize.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Resources may be hardware, so direct hardware manipulation, or they may be data.</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Do we have third-party components in 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we're talking about things like data and audit log managers.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 we're going to look at the components that we're bringing along to the party.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our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processes</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services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drivers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415268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F2BA693-11A8-8E4A-F557-58C9049C1BE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B45D1A1-B9B1-E016-4342-78649B7A2E3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980405D-D691-1E30-1CC8-D749EFADDE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Our next principle is to minimize the surface area.</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And by surface area we're talking not about just the physicality of the system but also constructs that are within it.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 let's look at that.</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548618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D49A9DF-8B0B-7FB9-62E7-1D06FBC1BA1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D33A034-B289-510C-B77C-53F01CF2635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EF7130BA-F27E-6721-DA89-A937E96AD5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Here's a simple system that is used within the AVCDL as a basis for explaining various concepts.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the context of surface area, we're going to think about three different things.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is the ports that we have.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the physical holes in the box, if you will.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next are the protocols that run over the communications that traverses those holes in the box.</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 we have the processes that are handling the data that's typically traversing the communications protocols and the holes in the box.</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 are some interesting things to tease out with this diagram.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you can see, the system here is neatly decomposed.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Stuff on the left is inside of the element that we're concerned with.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stuff on the right is the system that is interacting with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we have from this diagram a basis for discussion.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fact that we've chosen the ports, the protocols, and the processes is not arbitrary.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things that we can look at and we can reason on in a very straightforward manner.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They are a very light touch.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Essentially what we're talking about is control points that allow us access to the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we're trying to do is keep them to the absolute minimum, because there's no point in having more gates into your castle than you can guard.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81658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I'm not going to go into any more depth on this point because it's specifically addressed in detail in the Attack Surface Analysis material that we have both in document form and in a training by the same name.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77957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7612383-85EA-5AD2-1F9A-861737243D6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21113F3-9074-CC16-C1E3-CC953846B5F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DC8313F-CC08-CE47-D89D-EFB7FC6B0C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Our next principle combines the concepts of modularization and surface area minimization.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We’ll now address an application of these in the form of isolation of security.</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4228405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Security isolation is going to come in two flavors, the first of which is data security isolation.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When we start out with things, we tend to have this structure where we have code, and we have our credentials, our cryptographic key, whatever, embedded within the code itself.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Our first step in isolation is to take those credentials and move them into a separate file accessed from the code.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Better, but not great, because, well, what if we need to change them?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if there's a different process that needs to access them?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our third stage, what we have is the code talking to a credentials manager, which handles the credentials. Here we show them as a database.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566017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6CB835B-B651-5565-7A7A-55E5CB601FE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24F8AD3-E957-792C-3BFC-114B9C2B71A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643F77C-2B11-CD4F-5251-4876C0F5D8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Likewise, as an extension of our modularization discussion, we have communications code that's embedded in the main code.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again is treating our secure communications as sort of the file system and we just sort of open it, we play with it, and stuff goes 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next approach is to take that and again split it into its own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final extension of this is to take that communications code and make a communications manager out of it, which pairs nicely with our handling of secure data.</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461976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72B10D2-CCE1-AC54-E972-A504448A4E7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4DA684F-8453-2238-1288-E1021855DC4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86D4BB61-5604-09DE-D31E-72E89F5713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consider a peer to isolating security, and that's going to be isolating privilege.</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9359050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We’ll start with our simplest case.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a process and it's going to be accessing a resource directly.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if it's the only process accessing this resource, then there really is no problem.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has to access it, can do so, and so we don't worry too much about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But we typically don't have situations this trivial.</a:t>
            </a:r>
          </a:p>
        </p:txBody>
      </p:sp>
    </p:spTree>
    <p:extLst>
      <p:ext uri="{BB962C8B-B14F-4D97-AF65-F5344CB8AC3E}">
        <p14:creationId xmlns:p14="http://schemas.microsoft.com/office/powerpoint/2010/main" val="28564994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0914882-069A-9D62-4435-74C0404EECB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A5FFA55-6754-BB11-CA61-4C38B7D30F1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B828CB59-8EF1-5242-435D-E6BCE82122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a more sophisticated scenario, we have multiple threads running within the process, and as you can see here, both threads are accessing our resource.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Since the process has the privilege to access that resource, any thread within that process will also have the privilege to access the resource.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Ignoring the fact that we now have a situation where there’s a risk of a race condition at some point in the future, we have the problem where we now question whether or not the privilege is isolated.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we have multiple threads accessing the same resource, we should be asking ourselves: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Do all threads need to access this resource?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How will we keep arbitrary threads within our process from being able to access the resource?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718241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0141688-8B11-A878-3E9A-6434F109A9C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4D15208-0F74-814C-54EF-E13B4F51C71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B67F92F2-5B55-61D1-61EF-A07173C9F4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One way to address this situation is ironically by introducing another thread.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give this thread direct control over the resource.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doesn't keep the other two threads from accessing that resource, but it makes it less likely that this will happen because we can take certain steps to access that resource exclusively.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still haven't gotten rid of the problem that we're trying to address, which is to isolate the privilege.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We've basically just isolated the 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privilege is still associated with every thread in this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601711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5A67532-9B25-028C-DEB9-280647E8545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372CB93-026A-871B-2506-F1291C42211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B8C4B69-7D74-20D0-381B-819FCA5AD6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order to completely isolate privilege we need to move control of the resource to its own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approach meshes well with the isolate security aspect.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also goes along with a recommendation that a resource should be controlled by a single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greatly simplifies control and makes it much simpler to test and mock the resource, and it deals with the case where multiple processes need to access the resource.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267686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A378315-69C0-4F31-8180-C0A8A86660A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2F3EBCFE-408A-4811-1956-CDD48042382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6EEC01D2-236A-6FDE-2EA2-939AC219EE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brings us to our next principle, that being use least privilege.</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222195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Extending the concept of isolated security and isolated privilege, with least privilege we’re taking a situation such as this, where we have a process accessing multiple resources.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don't know compositionally what's happening inside the process, but it's doing these discrete resource manipulation activities.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the generic case these resources require different sets of privilege.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so, to have a single process which has these three sets of privilege is not ideal.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There've been a lot of security issues that have come up over the years because a process has too much privilege.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type of constructs are leveraged to do things they otherwise shouldn't do.</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To address this, we echo of our previous guidance and employ complete mediation of each resource by adding dedicated resource managers.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limits the privilege required to the context of resource’s manager.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If you have a process which needs to access a resource, it should be going through the process which is the resource owner.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If you have a process which doesn't need to manipulate a resource, then the question becomes, is it necessary to access that resource at all?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609796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240D898-C08A-D06D-2B10-A382B658F58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E8A2385D-02ED-D1CE-7EFD-4672DED11B1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B036C64D-E61B-62CA-21EE-2F9AF7CED1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Extending the concept of isolated security and isolated privilege, with least privilege we’re taking a situation such as this, where we have a process accessing multiple resources.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don't know compositionally what's happening inside the process, but it's doing these discrete resource manipulation activities.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generic case these resources require different sets of privilege.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so, to have a single process which has these three sets of privilege is not ideal.</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There've been a lot of security issues that have come up over the years because a process has too much privilege.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These type of constructs are leveraged to do things they otherwise shouldn't do.</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To address this, we echo of our previous guidance and employ complete mediation of each resource by adding dedicated resource managers.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limits the privilege required to the context of resource’s manager.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 have a process which needs to access a resource, it should be going through the process which is the resource owner.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 have a process which doesn't need to manipulate a resource, then the question becomes, is it necessary to access that resource at all?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044537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4704EF8-EE35-6E94-7BBC-75739298033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F483262-D31D-8846-73A8-B03904775E5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8EA07AD0-4019-8B6E-2568-34E57B893C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With our next principle, we're going to shift gears a little bit and talk about trust, specifically hierarchical trust.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 let's get into what trust is and how it becomes hierarchical.</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8751645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When we talk about trust, we're going to consider four broad categories.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first is naturally self. Here shown in blue.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Anything that we create, or control directly has our implicit trust.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elephant in the room here is that we don't create everything.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Because of that, there are things which we're not going to trust at all by their very nature, and there are things that we're going to have to trust to function from a cybersecurity perspective.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thing that we're going to have to trust is the operating environment that we're based 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using a system that has access control lists, distinct ownership of processes, control of resources, memory, things of that nature within the context of the operating environment, unless you directly certify it yourself, you're putting trust in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 shouldn’t trust the operating system blindly.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where the operating system comes from, and how it's configured.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But fundamentally, we're going to trust the operating system and so we'll show it in green.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There's a lot we depend on that isn't the operating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 use a compiler, you’re using its libraries.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 are open-source and third-party materials we use to augment what we create ourselves.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do not have the same level of trust we give our own materials, and it certainly doesn't have the same level of trust that we give to the operating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we'll put these in its own bucket labeled third-party, shown in yellow.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incumbent upon us to make sure that we give this material an appropriate level of scrutiny before using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there's the outside world, external stuff.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Uniformly, we're going to treat anything that's external to our system as being hostile, because it is completely outside of our control.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you might say “well, I have this data center that I talked to,” or “I have this other device that I'm interacting with,” and to that I say that you need to take steps to ensure that when interacting external entities, you know who you're talking to, and apply a consistent level of controls to the communication channel.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this is most readily done by treating all external entities as untrusted, here shown in red.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210042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C3D62C7-F4F0-D748-3450-34BB3A36EEF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6CFD28A-B3CD-F13E-5491-505DF453D2B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606CDF7-5092-550D-B24F-DF14BB3FFF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let's consider some entities.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the operating system, there are three main entities we care about the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solidFill>
                  <a:srgbClr val="1D1C1D"/>
                </a:solidFill>
                <a:effectLst/>
                <a:latin typeface="Calibri" panose="020F0502020204030204" pitchFamily="34" charset="0"/>
                <a:cs typeface="Calibri" panose="020F0502020204030204" pitchFamily="34" charset="0"/>
              </a:rPr>
              <a:t>file system</a:t>
            </a:r>
          </a:p>
          <a:p>
            <a:pPr marL="285750" lvl="0" indent="-285750" algn="l" rtl="0">
              <a:spcBef>
                <a:spcPts val="0"/>
              </a:spcBef>
              <a:spcAft>
                <a:spcPts val="0"/>
              </a:spcAft>
            </a:pPr>
            <a:r>
              <a:rPr lang="en-US" sz="1400" dirty="0">
                <a:solidFill>
                  <a:srgbClr val="1D1C1D"/>
                </a:solidFill>
                <a:effectLst/>
                <a:latin typeface="Calibri" panose="020F0502020204030204" pitchFamily="34" charset="0"/>
                <a:cs typeface="Calibri" panose="020F0502020204030204" pitchFamily="34" charset="0"/>
              </a:rPr>
              <a:t>process manager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solidFill>
                  <a:srgbClr val="1D1C1D"/>
                </a:solidFill>
                <a:effectLst/>
                <a:latin typeface="Calibri" panose="020F0502020204030204" pitchFamily="34" charset="0"/>
                <a:cs typeface="Calibri" panose="020F0502020204030204" pitchFamily="34" charset="0"/>
              </a:rPr>
              <a:t>network manager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others, but fundamentally these are the ones we work with most often.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On the user side, we talk about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Processes - so standalone things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Services - highly structured and contextualized processes that work within a service manager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drivers - dedicated elements that do the work of connecting real world bits to the operating system such that they can then provide those bits up to the services and processes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380542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ED49F67-C476-41B0-F828-547038197CE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EAA46BC-9217-393C-DF09-72DABB4DB27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EE9F7FBC-71D0-3B4D-FAB8-6F68E217BC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we have these trust levels, and we’ve established some interesting entities.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Let’s consider what we mean by hierarchical trust.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take the simple case where process A wants to communicate with process B.</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Process A uses a communication provider, and that communication provider is a third-party component.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what does it mean for us?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know that the communication provider is something we need to pay attention to, but we also know it will be talking to the network manager.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the network manager is a trusted component.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great.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the network driver is also provided by the operating system, and so that's trusted.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What we’re doing here is building up a level of confidence in how we undertake our operations.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Keep in mind that this approach can be applied any set of operations.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58974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B6781DF-926E-6789-B8F2-213BC122B44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3408DFF-264B-A7C4-9FEF-19394E7D8A5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ECE90CC0-6E28-0E9E-75E3-5A10911F17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let's look at a more elaborate example.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Going back to the example system that we talked about earlier when we were considering surface area minimization.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its fully expressed data flow diagram, color-coded with trust levels.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you can see, it's not purely hierarchical.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don't go from the operating system through our own code, through third-party components to the outside world.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a partially-ordered hierarchy, but fundamentally we have established the system in such a way that aids us when we're thinking about where to put cybersecurity controls.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look at something like the core service talking through the web server and eventually to the web browser; what we see is that there is mediation being done by operating system components that we do trust.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Also, since the web server is a third-party component, we will need to pay greater attention to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it comes to external entities, don’t give them any trust.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Everything external is requires far more control from a cybersecurity standpoint.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Overall, what we're attempting to establish, when considering trust within the system, is what entities we’re dealing with.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 information will feed into downstream cybersecurity processes.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35391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85F7C1F-8861-55BB-70D2-4842DE93CD5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A16EF37-8423-A3CA-E0C8-7215D709027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8F1BB589-E2DD-CBF2-57BB-44FCB5FADC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Our next design principle is that of lifetime limitation.</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4244012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Let's consider a relatable scenario.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a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a resource.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going to consider the pressure that that puts on the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we're going to do it over a period of time.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At some point, our process starts and that creates a certain amount of pressure on the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bit later we open our resource which has an incremental impact on the system pressure.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go along in time.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at some point, we close that resource, lowering the system pressure.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at some later point, we stop the process, which drops the system pressure back down.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have a finite resource, that being the capabilities of the system, and we exert a particular pressure on it, at a certain point it reaches its limit and can no longer function in the way that we'd like.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we limit the individual impact of each of our processes and the usage of various resources.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You'll notice that the highest pressure exists within this window between when the resource is open and when the resource is closed.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Everyone can relate to this example.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If we think about this from a cybersecurity perspective.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process is the same.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resource might be a credential we’re working with and is therefore out in the open.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doing this over a particular period rather than thinking about system pressure.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context of an attack surface, this represents a window of opportunity during which an attacker could possibly gain access to that resource.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By limiting the lifetime, we reduce that window of opportunity.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what we are thinking about from the cybersecurity perspective.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Turning it around.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less time that you're using a resource, the less pressure it exerts.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less time that you're using a resource, the fewer variables are in play.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Therefore, it makes it easier to debug.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limiting lifetimes has advantages beyond simply the amount of pressure it's putting on a system or the window of opportunity that it's providing for attack.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86723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6889A38-5785-437E-1D08-5F973A17CE85}"/>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D9A4903-BC7B-C419-40BF-B4205CF8CD2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7F80878-0B6A-D45C-A44F-6A1CB14880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Our next principle is to use standards-based cryptography.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Regardless of how much math you studied in school or how many open-source projects you've worked on, there is no reason in this day and age to go about creating your own set of cryptographic methods.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number of times that bad cryptography has come out of well-intended individuals is well documented.</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2342594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great to say use standards-based cryptography, but which standard do you use when there are so many to choose from?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a domain-specific issue.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may also be to be constrained by your supply chain.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best way to handle these cases is to consult with your product cybersecurity SME because they will be up-to-date on what the appropriate algorithms, use cases, and key strengths are going to be for the specific domain and use case in question.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347495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989CF2B-423B-1B4B-E294-A6EA41F03B3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BDC30AA-2CCB-E03A-2A68-2DA71B33657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8974BE87-0C4D-6CAC-60D6-AAA6C39C6C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Unfortunately, it's not enough to just use standards-based cryptography.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Our next principle is that we should use adaptive cryptography.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As time progresses, even the best cryptographic suite will become susceptible to compromise as computing power increases.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means that the elements of cryptography, that is the cryptographic function, it's use case, and its key strength, all need to change over time in order to maintain the same level of security.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 let’s consider what this entails.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4811474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When NIST talks about the adaptive cryptographic approach, they use the term crypto agility.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they describe as the capabilities needed to replace and adapt cryptographic algorithms without interrupting the flow of a running system in order to achieve resiliency.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kind of things are we talking about?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Where could this possibly impact us?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NIST provides a list that includes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Protocols</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Applications</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software</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hardware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infrastructure</a:t>
            </a:r>
          </a:p>
        </p:txBody>
      </p:sp>
    </p:spTree>
    <p:extLst>
      <p:ext uri="{BB962C8B-B14F-4D97-AF65-F5344CB8AC3E}">
        <p14:creationId xmlns:p14="http://schemas.microsoft.com/office/powerpoint/2010/main" val="1888747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07E457B-B1C5-B7ED-AC1E-B7089B43FA2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1C0C593-4FFC-B6C2-C131-EF98359A91D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F54A251-DC7E-BCCD-F941-A3A1846034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we get to the specifics of what is changing within the context of cryptography, then we have three main variables.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First, there's the algorithm.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the use case.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can be hashing, encryption, authentication, or key exchange.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Second, there’s the cryptographic primitive.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the math underlying the operation.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include SHA, TDEA, also known as Triple-DES, AES, and KMAC.</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is the key strength.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Over time we need to increase the key size for a given algorithm to have the same strength for the current state of hardware.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039631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08C9EA5-DA95-09CC-F04D-0C46C00FDE0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FE161AC-5D3A-CADE-1931-0AE9D78068F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D5A70C8-0274-72EF-2E9F-ADDD1FC207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let's consider a real-world example of crypto agility done right.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that, we're going to use the transport layer security, also known as TLS as our example.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TLS is used, one of the first things that happens is a negotiation phase at which time a list of crypto suites is provided by both parties.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the thing about a crypto suite is that it includes several use cases, and TLS is an example where we use all the use cases mentioned earlier.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is one such crypto suite, and this is its official designator given by the IANA.</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starts with TLS which tells you that this crypto suite is intended for use with TLS.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next block is our key exchange that we're going to be using.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it’s specifying the elliptic curve Diffie-Hellman ephemeral key exchange algorithm.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next thing that we have is how we're going to be doing authentication.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this case, we're using the elliptic curve digital signature algorithm.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next block tells us what encryption we're using.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we're using AES (the Advanced Encryption Standard).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using a 128-bit key, and we're using it in Galois counter mode.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we have the hashing algorithm that we're using to ensure integrity.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this case, we're using the secure hashing algorithm 256.</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four different cryptographic algorithms are being used in the context of this protocol.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important to consider that this is just one entry in a list of crypto-suites that are being presented so that a negotiation can take place between the end points.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establish the most secure of all the suites in common.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Using this approach, TLS is future-proof.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don’t need to go in and manually adjust parameters over time.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just look and see what the standards are evolving toward and provide support for them or use libraries that provide support for them intrinsically.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Also, as various algorithms and key strengths are deprecated and then disallowed, the software need only be updated to remove these options from the crypto suites supported.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has been done in the case of hashing using RC4.</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453729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E73C893-0CCE-7FA9-BAC0-1F55DAA7A2B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093FE0E-55CC-7A03-8338-3328A904666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A05C290-3549-EF6E-819C-E9CAEB7C63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With all this discussion of trust boundaries and cryptographic algorithms and the like, wouldn't it be nice to just have something simplified?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Our next principle of used trusted communications channels is one of those higher-level abstraction which insulates you from having to deal with these other aspects.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you can assert up front that you have a trusted communications channel, then all the data inside of that channel is protected, and it's one fewer thing to have to worry about.</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8089243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why do we care about trusted channels?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Earlier we talked about limited lifetimes, and we did it in the context of the analog to an attack surface where we have a window of opportunity where information is present, which we wish to keep secure.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have communication going on between process A and process B going through a system-mediated inter-process communications mechanism, you’re going directly into a trusted component that will only provide that data to the process that you've established.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However, we don't tend to work point-to-point.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tend to use shared media.</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 leaves us open to impact from other entities.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we go from just our process-to-process here in the abstract, to a situation where we've got process A and process B, and they're traversing a shared medium.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Whether this is Ethernet, CAN, LIN, or some wireless modality, isn’t relevant.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What is relevant is that there can be other entities, in this case a process C, sharing that medium.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ignoring the issue of contention on a shared medium, we have data that's going across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Unless we can trust the channel that we're pushing through this medium, then any information we transmit is susceptible to modification, capture, or interruption.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what we want to do is establish mechanisms that are going to ensure none of these case occur.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can do this a whole host of ways.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One is that we can just not send information between these two processes.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don't have to do something, then don’t.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that combination of lifetime and pressure.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Do we need to utilize this medium at all?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Are we pushing too much through the medium?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are we ensuring that the data that we are pushing through the medium is done so in a secure fashion?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we do have a genuine need to communicate securely then using secured channels eliminates the need to worry about outside interference.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with standards-based cryptography, you should consult with your product cybersecurity SME to determine what means are available in order to ensure that you have trusted communication channels.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25254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4DD6C32-75DF-3F9C-2C2A-8976119204E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01CE3FC-6352-B4BA-4BCB-59E240C50BF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6D9A63FE-27BA-65FE-5BA3-2138BD2223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Our next principal tends to sort of be an afterthought, and that's to enable auditing.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talk about what it means to perform auditing in a cybersecurity context.</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0085779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I'm sure that everyone is familiar with the concept of data logging where we collect information about the system as it's running so that we can later go back and extract various features to assist in the debugging and optimization processes.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Less considered is that in systems which are safety or operationally critical that it's important to have a separate logging mechanism that is performing an audit function capturing specific high-level events that occur in such a way that should an event arise which disturbs the system in a way that prevents it from being able to undertake its mission, that that information is recorded.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more especially that it's recorded in a form which is not subject to tampering.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the case of vehicles, or medical devices, or other systems of this nature we want to be able to extract this critical information as expeditiously as possible.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reason to have a physically separate audit log is the security constraint of having a log which is immutable.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would preclude using just a data log because of the computational burden of enforcing immutability.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Having that data be as small and as isolated as possible also reduces the likelihood that we won't be able to extract it should something physically happen to the storage itself.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we need to consider that in a highly sophisticated system, there's a large amount of data going into the standard data log.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something goes wrong, there's a high likelihood that the last several messages destined for the data log are lost due to buffering.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Whereas an audit log has such a low frequency that it is unlikely that you'll drop messages in a similar situation.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543345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378B55F-0F25-6224-55C0-32164636B90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42223EC-B1C9-F705-C107-E84CE44C4D9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DABF3E85-045A-B0F6-C337-C1A0BD10D6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brings us to our last of the secure design principles and that's to degrade as necessary.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talked about system pressure and how it can reach a maximum.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didn't talk about what you do about that.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any system that is safety or operationally critical, you should have designed in is the ability to do less in order to ensure that your primary operational goals are achieved in situations where system pressure reaches its maximum allowable limit.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look a bit into that.</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0157259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order to be able to degrade the system and still have it handle its core functions, you must first decide what is and is not important.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One could argue that everything is important.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Well, if everything is important, then technically nothing is important.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start by identifying the critical elements.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Take your most safety or operationally critical elements and put them into a bucket, and those will be considered inviolate.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can’t perform those, then the system has failed.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next set are important features.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aren't at the same level as the critical features but are those which keep the system running smoothly.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are convenience features.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 things which if we didn't have them the system would still function.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might not be as elegant as one might like, but that's not the thing that we're considering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talking about those things which are not necessary to directly accomplish the goal.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771448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A8F11C2-701C-4FED-71EE-D451D07288F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552E00F-B59A-B3C0-A115-19213086D09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0C82783A-DFDE-D16B-745F-8897C27183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we take those buckets and ensure that the features that we're talking about in both the important and convenience ones are quantized.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coupling level needs to be sufficiently low so that we can turn off a feature or jettison it, as necessary.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30418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C02326E-5AF1-5232-DCCB-6F94563070B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EA631C6-3097-1CEE-721F-4BFAD624CB7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9E846B6-9CF6-09EC-A28B-458B513E5F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Let’s consider a real-world example and think about what it means in the context of needing to degrade.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have a communication stream that's coming into the system, then we could divide it as follows: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the core operation, which is our critical aspect.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an event processor, which is a high-level handler of events.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a communications channel handler, which is looking at specific channels that data is coming in over.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Both of these are in our important bucket.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 we have the channel listener, which is sitting on this specific modality.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put that in the convenience bucket.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this is not to say that if you can't get data from this, then that doesn't impact important stuff.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to say that this is a less important thing than the communications channel handler and the event processor.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let's talk about why this  particular arrangement has been chosen.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First, let's talk about abstraction level.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channel listener receives incoming packets where the data is fragmented with no intrinsic meaning to the system itself.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packets are handed off to the communications handler, which will then assemble a sequence of packets and form a cohesive message that is then handed to the event processor.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event processor will then send an appropriate command to the core operation.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Each of these steps is increasing in abstraction level.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Similarly, when we think about this from the standpoint of execution.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At the communication listener, execution time is very rapid.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You're dealing with a small amount of data.</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By the time we get to the core operation, the execution time is very large, because we're dealing with an abstract operation that we're attempting to engage in.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flipped when we look at the queue size.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queue size for the communications channel listener tends to be large with respect to the size of the data itself.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By the time we get to the core operation, the queue size is much smaller because we can only handle so many events.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Similarly, at the communications channel we're expecting that there be a high tolerance to error.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Whereas in the core, we're expecting that the tolerance to error is much lower.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coherence of the request needs to be high enough to ensure the request can be handled.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Because of all of this, if we end up with a situation where the channel listener is being flooded with noise for whatever reason, whether that's solar flares, or bad actors or whatever have you, we can take the active step of just stopping our active listening and periodically poll to see if the channel has quieted down.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One could argue that you don't want to lose data.</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problem is that you are trading off the ability to have the processing deal with the core versus having the processing being chewed up in the churn between the channel listener and the channel handler, which is trying to assemble this information and then pass it on down.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here we can see an example of where degrading is the correct way to approach this.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requires that we build in mechanisms that allow us to recognize that we are overwhelming the system and that we can selectively disable and re-enable functionality selectively.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mechanism of degrading and recovery is worthy of much discussion, but fundamentally it must be designed in. It can’t be easily retrofitted.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87465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covers the secure design principles.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take a step back and consider some of the takeaways.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secure design principles are intended to be comprehensible.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There's nothing in them beyond the capabilities of systems and development teams to wrap their heads around, which is why it was presented in a hierarchical fashion.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principles aid the downstream cybersecurity activities.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we know, the further downstream you are when you need to impose a cybersecurity control that should have been supported earlier, the more costly that is in time and resources.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There's a possible regulatory element here that can never be overstated in a safety-critical domain.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it should be appreciated by this point that a layered analysis approach to design should be used.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not simply from a cybersecurity perspective, but from the functional and adjacent safety perspectives as well.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Secure Design Principles secondary document is available in the AVCDL GitHub repository.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80262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except for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you can proceed to one of the other trainings at this level.</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These are: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Handling PII</a:t>
            </a:r>
          </a:p>
          <a:p>
            <a:pPr marL="285750" marR="0" indent="-285750" algn="just">
              <a:spcBef>
                <a:spcPts val="0"/>
              </a:spcBef>
              <a:spcAft>
                <a:spcPts val="1200"/>
              </a:spcAft>
            </a:pPr>
            <a:r>
              <a:rPr lang="en-US" sz="1400" b="1" dirty="0"/>
              <a:t>Secure Deployment</a:t>
            </a:r>
          </a:p>
          <a:p>
            <a:pPr marL="285750" marR="0" indent="-285750" algn="just">
              <a:spcBef>
                <a:spcPts val="0"/>
              </a:spcBef>
              <a:spcAft>
                <a:spcPts val="1200"/>
              </a:spcAft>
            </a:pPr>
            <a:r>
              <a:rPr lang="en-US" sz="1400" b="1" dirty="0"/>
              <a:t>Requirements Taxonomy</a:t>
            </a:r>
          </a:p>
          <a:p>
            <a:pPr marL="285750" marR="0" indent="-285750" algn="just">
              <a:spcBef>
                <a:spcPts val="0"/>
              </a:spcBef>
              <a:spcAft>
                <a:spcPts val="1200"/>
              </a:spcAft>
            </a:pPr>
            <a:r>
              <a:rPr lang="en-US" sz="1400" b="1" dirty="0"/>
              <a:t>Threat Prioritization</a:t>
            </a:r>
          </a:p>
          <a:p>
            <a:pPr marL="285750" marR="0" indent="-285750" algn="just">
              <a:spcBef>
                <a:spcPts val="0"/>
              </a:spcBef>
              <a:spcAft>
                <a:spcPts val="1200"/>
              </a:spcAft>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Traceability</a:t>
            </a:r>
          </a:p>
          <a:p>
            <a:pPr marL="285750" marR="0" indent="-285750" algn="just">
              <a:spcBef>
                <a:spcPts val="0"/>
              </a:spcBef>
              <a:spcAft>
                <a:spcPts val="1200"/>
              </a:spcAft>
            </a:pPr>
            <a:endParaRPr lang="en-US" sz="1400"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Additionally, you can also proceed to</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Apply Secure Design</a:t>
            </a:r>
          </a:p>
        </p:txBody>
      </p:sp>
    </p:spTree>
    <p:extLst>
      <p:ext uri="{BB962C8B-B14F-4D97-AF65-F5344CB8AC3E}">
        <p14:creationId xmlns:p14="http://schemas.microsoft.com/office/powerpoint/2010/main" val="37017396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a:extLst>
            <a:ext uri="{FF2B5EF4-FFF2-40B4-BE49-F238E27FC236}">
              <a16:creationId xmlns:a16="http://schemas.microsoft.com/office/drawing/2014/main" id="{936D84FF-496F-7A91-8884-9B261B2F583A}"/>
            </a:ext>
          </a:extLst>
        </p:cNvPr>
        <p:cNvGrpSpPr/>
        <p:nvPr/>
      </p:nvGrpSpPr>
      <p:grpSpPr>
        <a:xfrm>
          <a:off x="0" y="0"/>
          <a:ext cx="0" cy="0"/>
          <a:chOff x="0" y="0"/>
          <a:chExt cx="0" cy="0"/>
        </a:xfrm>
      </p:grpSpPr>
      <p:sp>
        <p:nvSpPr>
          <p:cNvPr id="875" name="Google Shape;875;gbd8f7373d4_0_397:notes">
            <a:extLst>
              <a:ext uri="{FF2B5EF4-FFF2-40B4-BE49-F238E27FC236}">
                <a16:creationId xmlns:a16="http://schemas.microsoft.com/office/drawing/2014/main" id="{23D92BB2-04E3-CB02-A71B-6E6A3A00F8B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a:extLst>
              <a:ext uri="{FF2B5EF4-FFF2-40B4-BE49-F238E27FC236}">
                <a16:creationId xmlns:a16="http://schemas.microsoft.com/office/drawing/2014/main" id="{2350BD72-AD5E-D716-C565-AB67691F1F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11671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hyperlink" Target="https://doi.org/10.6028/NIST.SP.800-57pt1r5" TargetMode="External"/><Relationship Id="rId7" Type="http://schemas.openxmlformats.org/officeDocument/2006/relationships/hyperlink" Target="https://datatracker.ietf.org/doc/rfc7465" TargetMode="External"/><Relationship Id="rId2" Type="http://schemas.openxmlformats.org/officeDocument/2006/relationships/notesSlide" Target="../notesSlides/notesSlide51.xml"/><Relationship Id="rId1" Type="http://schemas.openxmlformats.org/officeDocument/2006/relationships/slideLayout" Target="../slideLayouts/slideLayout13.xml"/><Relationship Id="rId6" Type="http://schemas.openxmlformats.org/officeDocument/2006/relationships/hyperlink" Target="https://csrc.nist.gov/projects/crypto-agility" TargetMode="External"/><Relationship Id="rId5" Type="http://schemas.openxmlformats.org/officeDocument/2006/relationships/hyperlink" Target="https://nvlpubs.nist.gov/nistpubs/SpecialPublications/NIST.SP.800-160v1r1.pdf" TargetMode="External"/><Relationship Id="rId4" Type="http://schemas.openxmlformats.org/officeDocument/2006/relationships/hyperlink" Target="https://doi.org/10.6028/NIST.SP.800-131Ar3.ipd" TargetMode="External"/></Relationships>
</file>

<file path=ppt/slides/_rels/slide52.xml.rels><?xml version="1.0" encoding="UTF-8" standalone="yes"?>
<Relationships xmlns="http://schemas.openxmlformats.org/package/2006/relationships"><Relationship Id="rId3" Type="http://schemas.openxmlformats.org/officeDocument/2006/relationships/hyperlink" Target="https://www.cs.virginia.edu/~evans/cs551/saltzer/" TargetMode="External"/><Relationship Id="rId2" Type="http://schemas.openxmlformats.org/officeDocument/2006/relationships/notesSlide" Target="../notesSlides/notesSlide52.xml"/><Relationship Id="rId1" Type="http://schemas.openxmlformats.org/officeDocument/2006/relationships/slideLayout" Target="../slideLayouts/slideLayout13.xml"/><Relationship Id="rId5" Type="http://schemas.openxmlformats.org/officeDocument/2006/relationships/hyperlink" Target="https://www.csl.sri.com/~neumann/chats4.pdf" TargetMode="External"/><Relationship Id="rId4" Type="http://schemas.openxmlformats.org/officeDocument/2006/relationships/hyperlink" Target="https://www.amazon.com/dp/180020209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Secure Design Principles</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5</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2025-07-28</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325CF8B-3AEB-C8FB-3B39-B59C981CF1F6}"/>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FEF81D3F-911E-5203-7C36-A9224AF4232C}"/>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Introduction</a:t>
            </a:r>
            <a:endParaRPr sz="6600" dirty="0"/>
          </a:p>
        </p:txBody>
      </p:sp>
    </p:spTree>
    <p:extLst>
      <p:ext uri="{BB962C8B-B14F-4D97-AF65-F5344CB8AC3E}">
        <p14:creationId xmlns:p14="http://schemas.microsoft.com/office/powerpoint/2010/main" val="925773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Principles</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3944028" cy="3447098"/>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Modularize </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Minimize surface area</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Isolate security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Isolate privilege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Use least privilege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Use hierarchical trust</a:t>
            </a:r>
          </a:p>
        </p:txBody>
      </p:sp>
      <p:sp>
        <p:nvSpPr>
          <p:cNvPr id="3" name="TextBox 2">
            <a:extLst>
              <a:ext uri="{FF2B5EF4-FFF2-40B4-BE49-F238E27FC236}">
                <a16:creationId xmlns:a16="http://schemas.microsoft.com/office/drawing/2014/main" id="{C112B419-2667-ADB1-2C64-EBB7ADAEB5BE}"/>
              </a:ext>
            </a:extLst>
          </p:cNvPr>
          <p:cNvSpPr txBox="1"/>
          <p:nvPr/>
        </p:nvSpPr>
        <p:spPr>
          <a:xfrm>
            <a:off x="5410322" y="1437554"/>
            <a:ext cx="6322885" cy="3447098"/>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Limit lifetimes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Use standards-based cryptography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Use adaptive cryptography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Use trusted communication channels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Enable auditing</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Degrade as necessary</a:t>
            </a:r>
          </a:p>
        </p:txBody>
      </p:sp>
    </p:spTree>
    <p:extLst>
      <p:ext uri="{BB962C8B-B14F-4D97-AF65-F5344CB8AC3E}">
        <p14:creationId xmlns:p14="http://schemas.microsoft.com/office/powerpoint/2010/main" val="4050181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395FCED-B9FD-9D12-843E-A17B4F1FFE7F}"/>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98EE0C12-EC1C-3CC4-2F17-DB9A0ED74466}"/>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Modularize</a:t>
            </a:r>
            <a:endParaRPr sz="6600" dirty="0"/>
          </a:p>
        </p:txBody>
      </p:sp>
    </p:spTree>
    <p:extLst>
      <p:ext uri="{BB962C8B-B14F-4D97-AF65-F5344CB8AC3E}">
        <p14:creationId xmlns:p14="http://schemas.microsoft.com/office/powerpoint/2010/main" val="702630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Refactoring</a:t>
            </a:r>
            <a:endParaRPr dirty="0"/>
          </a:p>
        </p:txBody>
      </p:sp>
      <p:pic>
        <p:nvPicPr>
          <p:cNvPr id="14" name="Picture 13" descr="A green line in the middle of a black background&#10;&#10;AI-generated content may be incorrect.">
            <a:extLst>
              <a:ext uri="{FF2B5EF4-FFF2-40B4-BE49-F238E27FC236}">
                <a16:creationId xmlns:a16="http://schemas.microsoft.com/office/drawing/2014/main" id="{A1E07899-5127-7D1D-6716-390C11F9BDB8}"/>
              </a:ext>
            </a:extLst>
          </p:cNvPr>
          <p:cNvPicPr>
            <a:picLocks noChangeAspect="1"/>
          </p:cNvPicPr>
          <p:nvPr/>
        </p:nvPicPr>
        <p:blipFill>
          <a:blip r:embed="rId3"/>
          <a:stretch>
            <a:fillRect/>
          </a:stretch>
        </p:blipFill>
        <p:spPr>
          <a:xfrm>
            <a:off x="2208212" y="1798472"/>
            <a:ext cx="7772400" cy="3261056"/>
          </a:xfrm>
          <a:prstGeom prst="rect">
            <a:avLst/>
          </a:prstGeom>
        </p:spPr>
      </p:pic>
    </p:spTree>
    <p:extLst>
      <p:ext uri="{BB962C8B-B14F-4D97-AF65-F5344CB8AC3E}">
        <p14:creationId xmlns:p14="http://schemas.microsoft.com/office/powerpoint/2010/main" val="4278405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6D9E5D0-E2FB-9A1F-F9AD-BF3619EA32AA}"/>
            </a:ext>
          </a:extLst>
        </p:cNvPr>
        <p:cNvGrpSpPr/>
        <p:nvPr/>
      </p:nvGrpSpPr>
      <p:grpSpPr>
        <a:xfrm>
          <a:off x="0" y="0"/>
          <a:ext cx="0" cy="0"/>
          <a:chOff x="0" y="0"/>
          <a:chExt cx="0" cy="0"/>
        </a:xfrm>
      </p:grpSpPr>
      <p:pic>
        <p:nvPicPr>
          <p:cNvPr id="3" name="Picture 2" descr="A white paper with blue lines&#10;&#10;AI-generated content may be incorrect.">
            <a:extLst>
              <a:ext uri="{FF2B5EF4-FFF2-40B4-BE49-F238E27FC236}">
                <a16:creationId xmlns:a16="http://schemas.microsoft.com/office/drawing/2014/main" id="{522D884E-34F0-4CC6-2BF2-DF8CDE3B870A}"/>
              </a:ext>
            </a:extLst>
          </p:cNvPr>
          <p:cNvPicPr>
            <a:picLocks noChangeAspect="1"/>
          </p:cNvPicPr>
          <p:nvPr/>
        </p:nvPicPr>
        <p:blipFill>
          <a:blip r:embed="rId3"/>
          <a:stretch>
            <a:fillRect/>
          </a:stretch>
        </p:blipFill>
        <p:spPr>
          <a:xfrm>
            <a:off x="2208212" y="1798472"/>
            <a:ext cx="7772400" cy="3261056"/>
          </a:xfrm>
          <a:prstGeom prst="rect">
            <a:avLst/>
          </a:prstGeom>
        </p:spPr>
      </p:pic>
      <p:sp>
        <p:nvSpPr>
          <p:cNvPr id="1199" name="Google Shape;1199;p156">
            <a:extLst>
              <a:ext uri="{FF2B5EF4-FFF2-40B4-BE49-F238E27FC236}">
                <a16:creationId xmlns:a16="http://schemas.microsoft.com/office/drawing/2014/main" id="{703F21FF-8349-C2FE-BAEC-87F9B369BED7}"/>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Refactoring</a:t>
            </a:r>
            <a:endParaRPr dirty="0"/>
          </a:p>
        </p:txBody>
      </p:sp>
    </p:spTree>
    <p:extLst>
      <p:ext uri="{BB962C8B-B14F-4D97-AF65-F5344CB8AC3E}">
        <p14:creationId xmlns:p14="http://schemas.microsoft.com/office/powerpoint/2010/main" val="573087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descr="A cloud with black text&#10;&#10;AI-generated content may be incorrect.">
            <a:extLst>
              <a:ext uri="{FF2B5EF4-FFF2-40B4-BE49-F238E27FC236}">
                <a16:creationId xmlns:a16="http://schemas.microsoft.com/office/drawing/2014/main" id="{DEC188D1-5A9F-6C2D-8A47-209C570F4252}"/>
              </a:ext>
            </a:extLst>
          </p:cNvPr>
          <p:cNvPicPr>
            <a:picLocks noChangeAspect="1"/>
          </p:cNvPicPr>
          <p:nvPr/>
        </p:nvPicPr>
        <p:blipFill>
          <a:blip r:embed="rId3"/>
          <a:stretch>
            <a:fillRect/>
          </a:stretch>
        </p:blipFill>
        <p:spPr>
          <a:xfrm>
            <a:off x="2208212" y="1055196"/>
            <a:ext cx="7772400" cy="4757809"/>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Decomposition</a:t>
            </a:r>
            <a:endParaRPr dirty="0"/>
          </a:p>
        </p:txBody>
      </p:sp>
    </p:spTree>
    <p:extLst>
      <p:ext uri="{BB962C8B-B14F-4D97-AF65-F5344CB8AC3E}">
        <p14:creationId xmlns:p14="http://schemas.microsoft.com/office/powerpoint/2010/main" val="4290254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DB5832D6-2581-75ED-FB73-7FD22640C19E}"/>
            </a:ext>
          </a:extLst>
        </p:cNvPr>
        <p:cNvGrpSpPr/>
        <p:nvPr/>
      </p:nvGrpSpPr>
      <p:grpSpPr>
        <a:xfrm>
          <a:off x="0" y="0"/>
          <a:ext cx="0" cy="0"/>
          <a:chOff x="0" y="0"/>
          <a:chExt cx="0" cy="0"/>
        </a:xfrm>
      </p:grpSpPr>
      <p:pic>
        <p:nvPicPr>
          <p:cNvPr id="7" name="Picture 6" descr="Several circular objects with text&#10;&#10;AI-generated content may be incorrect.">
            <a:extLst>
              <a:ext uri="{FF2B5EF4-FFF2-40B4-BE49-F238E27FC236}">
                <a16:creationId xmlns:a16="http://schemas.microsoft.com/office/drawing/2014/main" id="{F8271DFA-9037-BFAA-3EE6-4E67C0D57B8D}"/>
              </a:ext>
            </a:extLst>
          </p:cNvPr>
          <p:cNvPicPr>
            <a:picLocks noChangeAspect="1"/>
          </p:cNvPicPr>
          <p:nvPr/>
        </p:nvPicPr>
        <p:blipFill>
          <a:blip r:embed="rId3"/>
          <a:stretch>
            <a:fillRect/>
          </a:stretch>
        </p:blipFill>
        <p:spPr>
          <a:xfrm>
            <a:off x="2208212" y="1405392"/>
            <a:ext cx="7772400" cy="5001146"/>
          </a:xfrm>
          <a:prstGeom prst="rect">
            <a:avLst/>
          </a:prstGeom>
        </p:spPr>
      </p:pic>
      <p:sp>
        <p:nvSpPr>
          <p:cNvPr id="1199" name="Google Shape;1199;p156">
            <a:extLst>
              <a:ext uri="{FF2B5EF4-FFF2-40B4-BE49-F238E27FC236}">
                <a16:creationId xmlns:a16="http://schemas.microsoft.com/office/drawing/2014/main" id="{F0D41E25-653D-1FEA-0C53-7AB32B93938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Decomposition</a:t>
            </a:r>
            <a:endParaRPr dirty="0"/>
          </a:p>
        </p:txBody>
      </p:sp>
    </p:spTree>
    <p:extLst>
      <p:ext uri="{BB962C8B-B14F-4D97-AF65-F5344CB8AC3E}">
        <p14:creationId xmlns:p14="http://schemas.microsoft.com/office/powerpoint/2010/main" val="2286712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DFC2047-E10A-A33E-FC96-A000B74CD5B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36728B14-75DD-F919-F58D-9B9668DA6CD0}"/>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Minimize Surface Area</a:t>
            </a:r>
            <a:endParaRPr sz="6600" dirty="0"/>
          </a:p>
        </p:txBody>
      </p:sp>
    </p:spTree>
    <p:extLst>
      <p:ext uri="{BB962C8B-B14F-4D97-AF65-F5344CB8AC3E}">
        <p14:creationId xmlns:p14="http://schemas.microsoft.com/office/powerpoint/2010/main" val="4250837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44ED865-3563-F50E-8586-38AE1B0D1F7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61515F0-24D5-4691-5634-7AB48554E012}"/>
              </a:ext>
            </a:extLst>
          </p:cNvPr>
          <p:cNvPicPr>
            <a:picLocks noChangeAspect="1"/>
          </p:cNvPicPr>
          <p:nvPr/>
        </p:nvPicPr>
        <p:blipFill>
          <a:blip r:embed="rId3">
            <a:alphaModFix/>
          </a:blip>
          <a:stretch>
            <a:fillRect/>
          </a:stretch>
        </p:blipFill>
        <p:spPr>
          <a:xfrm>
            <a:off x="4904978" y="1096597"/>
            <a:ext cx="6828473" cy="5487804"/>
          </a:xfrm>
          <a:prstGeom prst="rect">
            <a:avLst/>
          </a:prstGeom>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71C7551B-338B-ED64-FF0E-C1C090BC0B4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Surface Area</a:t>
            </a:r>
            <a:endParaRPr dirty="0"/>
          </a:p>
        </p:txBody>
      </p:sp>
      <p:sp>
        <p:nvSpPr>
          <p:cNvPr id="2" name="TextBox 1">
            <a:extLst>
              <a:ext uri="{FF2B5EF4-FFF2-40B4-BE49-F238E27FC236}">
                <a16:creationId xmlns:a16="http://schemas.microsoft.com/office/drawing/2014/main" id="{FF1997CA-0053-75D7-A264-D3A4ED7F41A6}"/>
              </a:ext>
            </a:extLst>
          </p:cNvPr>
          <p:cNvSpPr txBox="1"/>
          <p:nvPr/>
        </p:nvSpPr>
        <p:spPr>
          <a:xfrm>
            <a:off x="455374" y="1293648"/>
            <a:ext cx="2103781" cy="1538883"/>
          </a:xfrm>
          <a:prstGeom prst="rect">
            <a:avLst/>
          </a:prstGeom>
          <a:noFill/>
        </p:spPr>
        <p:txBody>
          <a:bodyPr wrap="none" rtlCol="0">
            <a:spAutoFit/>
          </a:bodyPr>
          <a:lstStyle/>
          <a:p>
            <a:pPr marL="236538" indent="-236538">
              <a:spcAft>
                <a:spcPts val="6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Ports</a:t>
            </a:r>
          </a:p>
          <a:p>
            <a:pPr marL="236538" indent="-236538">
              <a:spcAft>
                <a:spcPts val="6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Protocols</a:t>
            </a:r>
          </a:p>
          <a:p>
            <a:pPr marL="236538" indent="-236538">
              <a:spcAft>
                <a:spcPts val="6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Processes</a:t>
            </a:r>
          </a:p>
        </p:txBody>
      </p:sp>
    </p:spTree>
    <p:extLst>
      <p:ext uri="{BB962C8B-B14F-4D97-AF65-F5344CB8AC3E}">
        <p14:creationId xmlns:p14="http://schemas.microsoft.com/office/powerpoint/2010/main" val="2706369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More Info</a:t>
            </a:r>
          </a:p>
        </p:txBody>
      </p:sp>
      <p:pic>
        <p:nvPicPr>
          <p:cNvPr id="4" name="Picture 3">
            <a:extLst>
              <a:ext uri="{FF2B5EF4-FFF2-40B4-BE49-F238E27FC236}">
                <a16:creationId xmlns:a16="http://schemas.microsoft.com/office/drawing/2014/main" id="{38527264-FF0E-C124-881E-78F540B6C020}"/>
              </a:ext>
            </a:extLst>
          </p:cNvPr>
          <p:cNvPicPr>
            <a:picLocks noChangeAspect="1"/>
          </p:cNvPicPr>
          <p:nvPr/>
        </p:nvPicPr>
        <p:blipFill>
          <a:blip r:embed="rId3"/>
          <a:stretch>
            <a:fillRect/>
          </a:stretch>
        </p:blipFill>
        <p:spPr>
          <a:xfrm>
            <a:off x="7617884" y="1071288"/>
            <a:ext cx="4115567" cy="5326028"/>
          </a:xfrm>
          <a:prstGeom prst="rect">
            <a:avLst/>
          </a:prstGeom>
          <a:ln w="12700">
            <a:solidFill>
              <a:schemeClr val="accent1">
                <a:shade val="15000"/>
              </a:schemeClr>
            </a:solidFill>
          </a:ln>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1283571F-53E1-E7E1-319F-7E40DA13C78B}"/>
              </a:ext>
            </a:extLst>
          </p:cNvPr>
          <p:cNvPicPr>
            <a:picLocks noChangeAspect="1"/>
          </p:cNvPicPr>
          <p:nvPr/>
        </p:nvPicPr>
        <p:blipFill>
          <a:blip r:embed="rId4"/>
          <a:stretch>
            <a:fillRect/>
          </a:stretch>
        </p:blipFill>
        <p:spPr>
          <a:xfrm>
            <a:off x="455374" y="1543446"/>
            <a:ext cx="6700800" cy="3769199"/>
          </a:xfrm>
          <a:prstGeom prst="rect">
            <a:avLst/>
          </a:prstGeom>
        </p:spPr>
      </p:pic>
    </p:spTree>
    <p:extLst>
      <p:ext uri="{BB962C8B-B14F-4D97-AF65-F5344CB8AC3E}">
        <p14:creationId xmlns:p14="http://schemas.microsoft.com/office/powerpoint/2010/main" val="1118883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6D9CE54-33FA-F238-E7D8-A5711AD5FBD2}"/>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B9B0661B-6930-CC7D-D8E4-67ACC1DE14BE}"/>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Isolate Security</a:t>
            </a:r>
            <a:endParaRPr sz="6600" dirty="0"/>
          </a:p>
        </p:txBody>
      </p:sp>
    </p:spTree>
    <p:extLst>
      <p:ext uri="{BB962C8B-B14F-4D97-AF65-F5344CB8AC3E}">
        <p14:creationId xmlns:p14="http://schemas.microsoft.com/office/powerpoint/2010/main" val="3766766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5" name="Picture 4" descr="A diagram of a computer process&#10;&#10;AI-generated content may be incorrect.">
            <a:extLst>
              <a:ext uri="{FF2B5EF4-FFF2-40B4-BE49-F238E27FC236}">
                <a16:creationId xmlns:a16="http://schemas.microsoft.com/office/drawing/2014/main" id="{5A9A9B4C-057D-41C3-45D0-136D7A8E2AE0}"/>
              </a:ext>
            </a:extLst>
          </p:cNvPr>
          <p:cNvPicPr>
            <a:picLocks noChangeAspect="1"/>
          </p:cNvPicPr>
          <p:nvPr/>
        </p:nvPicPr>
        <p:blipFill>
          <a:blip r:embed="rId3"/>
          <a:stretch>
            <a:fillRect/>
          </a:stretch>
        </p:blipFill>
        <p:spPr>
          <a:xfrm>
            <a:off x="2208212" y="1202827"/>
            <a:ext cx="7772400" cy="5194489"/>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Isolate Security Data</a:t>
            </a:r>
            <a:endParaRPr dirty="0"/>
          </a:p>
        </p:txBody>
      </p:sp>
    </p:spTree>
    <p:extLst>
      <p:ext uri="{BB962C8B-B14F-4D97-AF65-F5344CB8AC3E}">
        <p14:creationId xmlns:p14="http://schemas.microsoft.com/office/powerpoint/2010/main" val="3838239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BC76A75-4433-72B1-0972-C3F8D96E718E}"/>
            </a:ext>
          </a:extLst>
        </p:cNvPr>
        <p:cNvGrpSpPr/>
        <p:nvPr/>
      </p:nvGrpSpPr>
      <p:grpSpPr>
        <a:xfrm>
          <a:off x="0" y="0"/>
          <a:ext cx="0" cy="0"/>
          <a:chOff x="0" y="0"/>
          <a:chExt cx="0" cy="0"/>
        </a:xfrm>
      </p:grpSpPr>
      <p:pic>
        <p:nvPicPr>
          <p:cNvPr id="3" name="Picture 2" descr="A diagram of a computer code&#10;&#10;AI-generated content may be incorrect.">
            <a:extLst>
              <a:ext uri="{FF2B5EF4-FFF2-40B4-BE49-F238E27FC236}">
                <a16:creationId xmlns:a16="http://schemas.microsoft.com/office/drawing/2014/main" id="{8E40E499-F482-528C-A475-F658F0ACA6CC}"/>
              </a:ext>
            </a:extLst>
          </p:cNvPr>
          <p:cNvPicPr>
            <a:picLocks noChangeAspect="1"/>
          </p:cNvPicPr>
          <p:nvPr/>
        </p:nvPicPr>
        <p:blipFill>
          <a:blip r:embed="rId3"/>
          <a:stretch>
            <a:fillRect/>
          </a:stretch>
        </p:blipFill>
        <p:spPr>
          <a:xfrm>
            <a:off x="2208212" y="1202827"/>
            <a:ext cx="7772400" cy="4163325"/>
          </a:xfrm>
          <a:prstGeom prst="rect">
            <a:avLst/>
          </a:prstGeom>
        </p:spPr>
      </p:pic>
      <p:sp>
        <p:nvSpPr>
          <p:cNvPr id="1199" name="Google Shape;1199;p156">
            <a:extLst>
              <a:ext uri="{FF2B5EF4-FFF2-40B4-BE49-F238E27FC236}">
                <a16:creationId xmlns:a16="http://schemas.microsoft.com/office/drawing/2014/main" id="{FD50790A-57AC-BEBD-837B-0DF3B30DC956}"/>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Isolate Security Processes</a:t>
            </a:r>
            <a:endParaRPr dirty="0"/>
          </a:p>
        </p:txBody>
      </p:sp>
    </p:spTree>
    <p:extLst>
      <p:ext uri="{BB962C8B-B14F-4D97-AF65-F5344CB8AC3E}">
        <p14:creationId xmlns:p14="http://schemas.microsoft.com/office/powerpoint/2010/main" val="2423892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04BBC0A-8E8B-CAA3-8F4F-06517DE246C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87CA98D6-DB2D-8CDA-6922-1DF68B9075DE}"/>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Isolate Privilege</a:t>
            </a:r>
            <a:endParaRPr sz="6600" dirty="0"/>
          </a:p>
        </p:txBody>
      </p:sp>
    </p:spTree>
    <p:extLst>
      <p:ext uri="{BB962C8B-B14F-4D97-AF65-F5344CB8AC3E}">
        <p14:creationId xmlns:p14="http://schemas.microsoft.com/office/powerpoint/2010/main" val="23243866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descr="A white line on a black background&#10;&#10;AI-generated content may be incorrect.">
            <a:extLst>
              <a:ext uri="{FF2B5EF4-FFF2-40B4-BE49-F238E27FC236}">
                <a16:creationId xmlns:a16="http://schemas.microsoft.com/office/drawing/2014/main" id="{55982F67-53AF-A17B-6B42-C7F57BD93174}"/>
              </a:ext>
            </a:extLst>
          </p:cNvPr>
          <p:cNvPicPr>
            <a:picLocks noChangeAspect="1"/>
          </p:cNvPicPr>
          <p:nvPr/>
        </p:nvPicPr>
        <p:blipFill>
          <a:blip r:embed="rId3"/>
          <a:stretch>
            <a:fillRect/>
          </a:stretch>
        </p:blipFill>
        <p:spPr>
          <a:xfrm>
            <a:off x="2208212" y="3268076"/>
            <a:ext cx="7772400" cy="1069832"/>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Isolate Privilege</a:t>
            </a:r>
          </a:p>
        </p:txBody>
      </p:sp>
    </p:spTree>
    <p:extLst>
      <p:ext uri="{BB962C8B-B14F-4D97-AF65-F5344CB8AC3E}">
        <p14:creationId xmlns:p14="http://schemas.microsoft.com/office/powerpoint/2010/main" val="4210132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22FA14F-56B8-7CF7-11E1-6F5FFE1C1768}"/>
            </a:ext>
          </a:extLst>
        </p:cNvPr>
        <p:cNvGrpSpPr/>
        <p:nvPr/>
      </p:nvGrpSpPr>
      <p:grpSpPr>
        <a:xfrm>
          <a:off x="0" y="0"/>
          <a:ext cx="0" cy="0"/>
          <a:chOff x="0" y="0"/>
          <a:chExt cx="0" cy="0"/>
        </a:xfrm>
      </p:grpSpPr>
      <p:pic>
        <p:nvPicPr>
          <p:cNvPr id="3" name="Picture 2" descr="A white lines in a black background&#10;&#10;AI-generated content may be incorrect.">
            <a:extLst>
              <a:ext uri="{FF2B5EF4-FFF2-40B4-BE49-F238E27FC236}">
                <a16:creationId xmlns:a16="http://schemas.microsoft.com/office/drawing/2014/main" id="{775FCF6B-65A7-19F5-2AEE-42F3A39B940F}"/>
              </a:ext>
            </a:extLst>
          </p:cNvPr>
          <p:cNvPicPr>
            <a:picLocks noChangeAspect="1"/>
          </p:cNvPicPr>
          <p:nvPr/>
        </p:nvPicPr>
        <p:blipFill>
          <a:blip r:embed="rId3"/>
          <a:stretch>
            <a:fillRect/>
          </a:stretch>
        </p:blipFill>
        <p:spPr>
          <a:xfrm>
            <a:off x="2208212" y="2627586"/>
            <a:ext cx="8200648" cy="2617076"/>
          </a:xfrm>
          <a:prstGeom prst="rect">
            <a:avLst/>
          </a:prstGeom>
        </p:spPr>
      </p:pic>
      <p:sp>
        <p:nvSpPr>
          <p:cNvPr id="1199" name="Google Shape;1199;p156">
            <a:extLst>
              <a:ext uri="{FF2B5EF4-FFF2-40B4-BE49-F238E27FC236}">
                <a16:creationId xmlns:a16="http://schemas.microsoft.com/office/drawing/2014/main" id="{4906CE8F-BE40-740C-FDD9-EE9E079C0DE3}"/>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Isolate Privilege</a:t>
            </a:r>
          </a:p>
        </p:txBody>
      </p:sp>
    </p:spTree>
    <p:extLst>
      <p:ext uri="{BB962C8B-B14F-4D97-AF65-F5344CB8AC3E}">
        <p14:creationId xmlns:p14="http://schemas.microsoft.com/office/powerpoint/2010/main" val="3829390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D0590625-7CF3-EAAC-FA72-3001A06E7BB5}"/>
            </a:ext>
          </a:extLst>
        </p:cNvPr>
        <p:cNvGrpSpPr/>
        <p:nvPr/>
      </p:nvGrpSpPr>
      <p:grpSpPr>
        <a:xfrm>
          <a:off x="0" y="0"/>
          <a:ext cx="0" cy="0"/>
          <a:chOff x="0" y="0"/>
          <a:chExt cx="0" cy="0"/>
        </a:xfrm>
      </p:grpSpPr>
      <p:pic>
        <p:nvPicPr>
          <p:cNvPr id="3" name="Picture 2" descr="A diagram of a diagram of a diagram&#10;&#10;AI-generated content may be incorrect.">
            <a:extLst>
              <a:ext uri="{FF2B5EF4-FFF2-40B4-BE49-F238E27FC236}">
                <a16:creationId xmlns:a16="http://schemas.microsoft.com/office/drawing/2014/main" id="{A05554B9-0DE7-AA7F-F530-BDC62DA4111A}"/>
              </a:ext>
            </a:extLst>
          </p:cNvPr>
          <p:cNvPicPr>
            <a:picLocks noChangeAspect="1"/>
          </p:cNvPicPr>
          <p:nvPr/>
        </p:nvPicPr>
        <p:blipFill>
          <a:blip r:embed="rId3"/>
          <a:stretch>
            <a:fillRect/>
          </a:stretch>
        </p:blipFill>
        <p:spPr>
          <a:xfrm>
            <a:off x="2208211" y="985083"/>
            <a:ext cx="8203479" cy="5247552"/>
          </a:xfrm>
          <a:prstGeom prst="rect">
            <a:avLst/>
          </a:prstGeom>
        </p:spPr>
      </p:pic>
      <p:sp>
        <p:nvSpPr>
          <p:cNvPr id="1199" name="Google Shape;1199;p156">
            <a:extLst>
              <a:ext uri="{FF2B5EF4-FFF2-40B4-BE49-F238E27FC236}">
                <a16:creationId xmlns:a16="http://schemas.microsoft.com/office/drawing/2014/main" id="{A2BCA3F2-88AB-5316-477C-FDA62F7A25A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Isolate Privilege</a:t>
            </a:r>
          </a:p>
        </p:txBody>
      </p:sp>
    </p:spTree>
    <p:extLst>
      <p:ext uri="{BB962C8B-B14F-4D97-AF65-F5344CB8AC3E}">
        <p14:creationId xmlns:p14="http://schemas.microsoft.com/office/powerpoint/2010/main" val="1335979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0F80555-041E-F2B2-B9D0-099250C60C8E}"/>
            </a:ext>
          </a:extLst>
        </p:cNvPr>
        <p:cNvGrpSpPr/>
        <p:nvPr/>
      </p:nvGrpSpPr>
      <p:grpSpPr>
        <a:xfrm>
          <a:off x="0" y="0"/>
          <a:ext cx="0" cy="0"/>
          <a:chOff x="0" y="0"/>
          <a:chExt cx="0" cy="0"/>
        </a:xfrm>
      </p:grpSpPr>
      <p:pic>
        <p:nvPicPr>
          <p:cNvPr id="4" name="Picture 3" descr="A diagram of a resource management process&#10;&#10;AI-generated content may be incorrect.">
            <a:extLst>
              <a:ext uri="{FF2B5EF4-FFF2-40B4-BE49-F238E27FC236}">
                <a16:creationId xmlns:a16="http://schemas.microsoft.com/office/drawing/2014/main" id="{32BA3D0C-F829-FED8-AC74-238B15803097}"/>
              </a:ext>
            </a:extLst>
          </p:cNvPr>
          <p:cNvPicPr>
            <a:picLocks noChangeAspect="1"/>
          </p:cNvPicPr>
          <p:nvPr/>
        </p:nvPicPr>
        <p:blipFill>
          <a:blip r:embed="rId3"/>
          <a:stretch>
            <a:fillRect/>
          </a:stretch>
        </p:blipFill>
        <p:spPr>
          <a:xfrm>
            <a:off x="2208212" y="1914672"/>
            <a:ext cx="7772400" cy="3776639"/>
          </a:xfrm>
          <a:prstGeom prst="rect">
            <a:avLst/>
          </a:prstGeom>
        </p:spPr>
      </p:pic>
      <p:sp>
        <p:nvSpPr>
          <p:cNvPr id="1199" name="Google Shape;1199;p156">
            <a:extLst>
              <a:ext uri="{FF2B5EF4-FFF2-40B4-BE49-F238E27FC236}">
                <a16:creationId xmlns:a16="http://schemas.microsoft.com/office/drawing/2014/main" id="{7A06AED7-EB46-B2BF-6A6F-D26DF1F17F17}"/>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Isolate Privilege</a:t>
            </a:r>
          </a:p>
        </p:txBody>
      </p:sp>
    </p:spTree>
    <p:extLst>
      <p:ext uri="{BB962C8B-B14F-4D97-AF65-F5344CB8AC3E}">
        <p14:creationId xmlns:p14="http://schemas.microsoft.com/office/powerpoint/2010/main" val="914070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30C5E43-7C92-4D78-3AAA-77C827FA6012}"/>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9BB6E29F-8C05-566A-796C-5D13CEBC8BF4}"/>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Use Least Privilege</a:t>
            </a:r>
            <a:endParaRPr sz="6600" dirty="0"/>
          </a:p>
        </p:txBody>
      </p:sp>
    </p:spTree>
    <p:extLst>
      <p:ext uri="{BB962C8B-B14F-4D97-AF65-F5344CB8AC3E}">
        <p14:creationId xmlns:p14="http://schemas.microsoft.com/office/powerpoint/2010/main" val="564170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descr="Diagram of a diagram of a process&#10;&#10;AI-generated content may be incorrect.">
            <a:extLst>
              <a:ext uri="{FF2B5EF4-FFF2-40B4-BE49-F238E27FC236}">
                <a16:creationId xmlns:a16="http://schemas.microsoft.com/office/drawing/2014/main" id="{F556B529-B9E7-9908-4F94-03CDBFEA9FC6}"/>
              </a:ext>
            </a:extLst>
          </p:cNvPr>
          <p:cNvPicPr>
            <a:picLocks noChangeAspect="1"/>
          </p:cNvPicPr>
          <p:nvPr/>
        </p:nvPicPr>
        <p:blipFill>
          <a:blip r:embed="rId3"/>
          <a:stretch>
            <a:fillRect/>
          </a:stretch>
        </p:blipFill>
        <p:spPr>
          <a:xfrm>
            <a:off x="2208212" y="985082"/>
            <a:ext cx="7772400" cy="3541699"/>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Use Least Privilege</a:t>
            </a:r>
            <a:endParaRPr dirty="0"/>
          </a:p>
        </p:txBody>
      </p:sp>
    </p:spTree>
    <p:extLst>
      <p:ext uri="{BB962C8B-B14F-4D97-AF65-F5344CB8AC3E}">
        <p14:creationId xmlns:p14="http://schemas.microsoft.com/office/powerpoint/2010/main" val="657815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8976397-5A31-256E-5B91-2EB9806DC1DB}"/>
            </a:ext>
          </a:extLst>
        </p:cNvPr>
        <p:cNvGrpSpPr/>
        <p:nvPr/>
      </p:nvGrpSpPr>
      <p:grpSpPr>
        <a:xfrm>
          <a:off x="0" y="0"/>
          <a:ext cx="0" cy="0"/>
          <a:chOff x="0" y="0"/>
          <a:chExt cx="0" cy="0"/>
        </a:xfrm>
      </p:grpSpPr>
      <p:pic>
        <p:nvPicPr>
          <p:cNvPr id="8" name="Picture 7" descr="A diagram of a process&#10;&#10;AI-generated content may be incorrect.">
            <a:extLst>
              <a:ext uri="{FF2B5EF4-FFF2-40B4-BE49-F238E27FC236}">
                <a16:creationId xmlns:a16="http://schemas.microsoft.com/office/drawing/2014/main" id="{B260304F-DFD5-1194-3B7E-9D2770E2C8CE}"/>
              </a:ext>
            </a:extLst>
          </p:cNvPr>
          <p:cNvPicPr>
            <a:picLocks noChangeAspect="1"/>
          </p:cNvPicPr>
          <p:nvPr/>
        </p:nvPicPr>
        <p:blipFill>
          <a:blip r:embed="rId3"/>
          <a:stretch>
            <a:fillRect/>
          </a:stretch>
        </p:blipFill>
        <p:spPr>
          <a:xfrm>
            <a:off x="2208212" y="972996"/>
            <a:ext cx="7772400" cy="5113102"/>
          </a:xfrm>
          <a:prstGeom prst="rect">
            <a:avLst/>
          </a:prstGeom>
        </p:spPr>
      </p:pic>
      <p:sp>
        <p:nvSpPr>
          <p:cNvPr id="1199" name="Google Shape;1199;p156">
            <a:extLst>
              <a:ext uri="{FF2B5EF4-FFF2-40B4-BE49-F238E27FC236}">
                <a16:creationId xmlns:a16="http://schemas.microsoft.com/office/drawing/2014/main" id="{250D4421-A1C8-6430-2263-D50E4C5F003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Use Least Privilege</a:t>
            </a:r>
            <a:endParaRPr dirty="0"/>
          </a:p>
        </p:txBody>
      </p:sp>
    </p:spTree>
    <p:extLst>
      <p:ext uri="{BB962C8B-B14F-4D97-AF65-F5344CB8AC3E}">
        <p14:creationId xmlns:p14="http://schemas.microsoft.com/office/powerpoint/2010/main" val="3311549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E6428B5-9EF5-D6B1-0287-301889A0912A}"/>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903D9D4B-2D13-64FE-A7C2-268455DBDBE8}"/>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Use Hierarchical Trust</a:t>
            </a:r>
            <a:endParaRPr sz="6600" dirty="0"/>
          </a:p>
        </p:txBody>
      </p:sp>
    </p:spTree>
    <p:extLst>
      <p:ext uri="{BB962C8B-B14F-4D97-AF65-F5344CB8AC3E}">
        <p14:creationId xmlns:p14="http://schemas.microsoft.com/office/powerpoint/2010/main" val="4139821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5" name="Picture 4" descr="A close up of a light&#10;&#10;AI-generated content may be incorrect.">
            <a:extLst>
              <a:ext uri="{FF2B5EF4-FFF2-40B4-BE49-F238E27FC236}">
                <a16:creationId xmlns:a16="http://schemas.microsoft.com/office/drawing/2014/main" id="{C76680B8-BEDB-4EAB-0EA9-AE3CC7A576DB}"/>
              </a:ext>
            </a:extLst>
          </p:cNvPr>
          <p:cNvPicPr>
            <a:picLocks noChangeAspect="1"/>
          </p:cNvPicPr>
          <p:nvPr/>
        </p:nvPicPr>
        <p:blipFill>
          <a:blip r:embed="rId3"/>
          <a:stretch>
            <a:fillRect/>
          </a:stretch>
        </p:blipFill>
        <p:spPr>
          <a:xfrm>
            <a:off x="2208212" y="3289984"/>
            <a:ext cx="7772400" cy="1003280"/>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Trust Levels </a:t>
            </a:r>
          </a:p>
        </p:txBody>
      </p:sp>
    </p:spTree>
    <p:extLst>
      <p:ext uri="{BB962C8B-B14F-4D97-AF65-F5344CB8AC3E}">
        <p14:creationId xmlns:p14="http://schemas.microsoft.com/office/powerpoint/2010/main" val="25192911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B72EAD2F-559A-B10E-1810-1BE65D9B93AD}"/>
            </a:ext>
          </a:extLst>
        </p:cNvPr>
        <p:cNvGrpSpPr/>
        <p:nvPr/>
      </p:nvGrpSpPr>
      <p:grpSpPr>
        <a:xfrm>
          <a:off x="0" y="0"/>
          <a:ext cx="0" cy="0"/>
          <a:chOff x="0" y="0"/>
          <a:chExt cx="0" cy="0"/>
        </a:xfrm>
      </p:grpSpPr>
      <p:pic>
        <p:nvPicPr>
          <p:cNvPr id="3" name="Picture 2" descr="A black background with a black square&#10;&#10;AI-generated content may be incorrect.">
            <a:extLst>
              <a:ext uri="{FF2B5EF4-FFF2-40B4-BE49-F238E27FC236}">
                <a16:creationId xmlns:a16="http://schemas.microsoft.com/office/drawing/2014/main" id="{421A5EC2-6D3E-64BE-0119-3864CF6FE0B3}"/>
              </a:ext>
            </a:extLst>
          </p:cNvPr>
          <p:cNvPicPr>
            <a:picLocks noChangeAspect="1"/>
          </p:cNvPicPr>
          <p:nvPr/>
        </p:nvPicPr>
        <p:blipFill>
          <a:blip r:embed="rId3"/>
          <a:stretch>
            <a:fillRect/>
          </a:stretch>
        </p:blipFill>
        <p:spPr>
          <a:xfrm>
            <a:off x="2208212" y="1610838"/>
            <a:ext cx="7772400" cy="4321068"/>
          </a:xfrm>
          <a:prstGeom prst="rect">
            <a:avLst/>
          </a:prstGeom>
        </p:spPr>
      </p:pic>
      <p:sp>
        <p:nvSpPr>
          <p:cNvPr id="1199" name="Google Shape;1199;p156">
            <a:extLst>
              <a:ext uri="{FF2B5EF4-FFF2-40B4-BE49-F238E27FC236}">
                <a16:creationId xmlns:a16="http://schemas.microsoft.com/office/drawing/2014/main" id="{250CAC30-0A33-4B25-10E8-061FCDCF73A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Entities</a:t>
            </a:r>
          </a:p>
        </p:txBody>
      </p:sp>
    </p:spTree>
    <p:extLst>
      <p:ext uri="{BB962C8B-B14F-4D97-AF65-F5344CB8AC3E}">
        <p14:creationId xmlns:p14="http://schemas.microsoft.com/office/powerpoint/2010/main" val="24488142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AEF444C-BDB9-BFB1-DB61-9BDFD835B078}"/>
            </a:ext>
          </a:extLst>
        </p:cNvPr>
        <p:cNvGrpSpPr/>
        <p:nvPr/>
      </p:nvGrpSpPr>
      <p:grpSpPr>
        <a:xfrm>
          <a:off x="0" y="0"/>
          <a:ext cx="0" cy="0"/>
          <a:chOff x="0" y="0"/>
          <a:chExt cx="0" cy="0"/>
        </a:xfrm>
      </p:grpSpPr>
      <p:pic>
        <p:nvPicPr>
          <p:cNvPr id="3" name="Picture 2" descr="A diagram of a process&#10;&#10;AI-generated content may be incorrect.">
            <a:extLst>
              <a:ext uri="{FF2B5EF4-FFF2-40B4-BE49-F238E27FC236}">
                <a16:creationId xmlns:a16="http://schemas.microsoft.com/office/drawing/2014/main" id="{0AEA3ADC-5E17-3DB8-FE10-3ECD566772E7}"/>
              </a:ext>
            </a:extLst>
          </p:cNvPr>
          <p:cNvPicPr>
            <a:picLocks noChangeAspect="1"/>
          </p:cNvPicPr>
          <p:nvPr/>
        </p:nvPicPr>
        <p:blipFill>
          <a:blip r:embed="rId3"/>
          <a:stretch>
            <a:fillRect/>
          </a:stretch>
        </p:blipFill>
        <p:spPr>
          <a:xfrm>
            <a:off x="2208212" y="1050002"/>
            <a:ext cx="7772400" cy="5354856"/>
          </a:xfrm>
          <a:prstGeom prst="rect">
            <a:avLst/>
          </a:prstGeom>
        </p:spPr>
      </p:pic>
      <p:sp>
        <p:nvSpPr>
          <p:cNvPr id="1199" name="Google Shape;1199;p156">
            <a:extLst>
              <a:ext uri="{FF2B5EF4-FFF2-40B4-BE49-F238E27FC236}">
                <a16:creationId xmlns:a16="http://schemas.microsoft.com/office/drawing/2014/main" id="{FF69C504-FFF2-49C4-792E-8A565D3E9AA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Trust Traversal</a:t>
            </a:r>
          </a:p>
        </p:txBody>
      </p:sp>
    </p:spTree>
    <p:extLst>
      <p:ext uri="{BB962C8B-B14F-4D97-AF65-F5344CB8AC3E}">
        <p14:creationId xmlns:p14="http://schemas.microsoft.com/office/powerpoint/2010/main" val="11638672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E5CD351-91D8-94DA-556A-5AEFC8497D2B}"/>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3BFFBE98-6E91-CF71-0EDA-5B1938412BD8}"/>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Trust Levels Visualized</a:t>
            </a:r>
          </a:p>
        </p:txBody>
      </p:sp>
      <p:pic>
        <p:nvPicPr>
          <p:cNvPr id="3" name="Picture 2" descr="A diagram of a network&#10;&#10;AI-generated content may be incorrect.">
            <a:extLst>
              <a:ext uri="{FF2B5EF4-FFF2-40B4-BE49-F238E27FC236}">
                <a16:creationId xmlns:a16="http://schemas.microsoft.com/office/drawing/2014/main" id="{BEE8EF0A-803C-B1A5-C457-7FA923B8A399}"/>
              </a:ext>
            </a:extLst>
          </p:cNvPr>
          <p:cNvPicPr>
            <a:picLocks noChangeAspect="1"/>
          </p:cNvPicPr>
          <p:nvPr/>
        </p:nvPicPr>
        <p:blipFill>
          <a:blip r:embed="rId3"/>
          <a:stretch>
            <a:fillRect/>
          </a:stretch>
        </p:blipFill>
        <p:spPr>
          <a:xfrm>
            <a:off x="455374" y="1480363"/>
            <a:ext cx="11867878" cy="4916953"/>
          </a:xfrm>
          <a:prstGeom prst="rect">
            <a:avLst/>
          </a:prstGeom>
        </p:spPr>
      </p:pic>
    </p:spTree>
    <p:extLst>
      <p:ext uri="{BB962C8B-B14F-4D97-AF65-F5344CB8AC3E}">
        <p14:creationId xmlns:p14="http://schemas.microsoft.com/office/powerpoint/2010/main" val="61507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CA5451A-B35E-4C82-E62B-4FD4CFC1CC1C}"/>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65A95453-494D-09F2-E488-68D82438BDC0}"/>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Limit Lifetimes</a:t>
            </a:r>
            <a:endParaRPr sz="6600" dirty="0"/>
          </a:p>
        </p:txBody>
      </p:sp>
    </p:spTree>
    <p:extLst>
      <p:ext uri="{BB962C8B-B14F-4D97-AF65-F5344CB8AC3E}">
        <p14:creationId xmlns:p14="http://schemas.microsoft.com/office/powerpoint/2010/main" val="4776825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Resource Analog</a:t>
            </a:r>
            <a:endParaRPr dirty="0"/>
          </a:p>
        </p:txBody>
      </p:sp>
      <p:pic>
        <p:nvPicPr>
          <p:cNvPr id="5" name="Picture 4" descr="A red green and blue lines on a black background&#10;&#10;AI-generated content may be incorrect.">
            <a:extLst>
              <a:ext uri="{FF2B5EF4-FFF2-40B4-BE49-F238E27FC236}">
                <a16:creationId xmlns:a16="http://schemas.microsoft.com/office/drawing/2014/main" id="{C90067B0-C2AD-3BEA-544C-ECC4C77E3E14}"/>
              </a:ext>
            </a:extLst>
          </p:cNvPr>
          <p:cNvPicPr>
            <a:picLocks noChangeAspect="1"/>
          </p:cNvPicPr>
          <p:nvPr/>
        </p:nvPicPr>
        <p:blipFill>
          <a:blip r:embed="rId3"/>
          <a:stretch>
            <a:fillRect/>
          </a:stretch>
        </p:blipFill>
        <p:spPr>
          <a:xfrm>
            <a:off x="732703" y="1804303"/>
            <a:ext cx="10125074" cy="3983433"/>
          </a:xfrm>
          <a:prstGeom prst="rect">
            <a:avLst/>
          </a:prstGeom>
        </p:spPr>
      </p:pic>
    </p:spTree>
    <p:extLst>
      <p:ext uri="{BB962C8B-B14F-4D97-AF65-F5344CB8AC3E}">
        <p14:creationId xmlns:p14="http://schemas.microsoft.com/office/powerpoint/2010/main" val="4604336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B57A4B0D-0218-012E-8C07-D91D731DF12E}"/>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9976AEC5-8CC8-DACE-AEC9-EB8B1531C9C0}"/>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Use</a:t>
            </a:r>
            <a:br>
              <a:rPr lang="en" sz="5400" dirty="0"/>
            </a:br>
            <a:r>
              <a:rPr lang="en" sz="5400" dirty="0"/>
              <a:t>Standards-based Cryptography</a:t>
            </a:r>
            <a:endParaRPr sz="6600" dirty="0"/>
          </a:p>
        </p:txBody>
      </p:sp>
    </p:spTree>
    <p:extLst>
      <p:ext uri="{BB962C8B-B14F-4D97-AF65-F5344CB8AC3E}">
        <p14:creationId xmlns:p14="http://schemas.microsoft.com/office/powerpoint/2010/main" val="1247146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Consult Your Product Cybersecurity SME</a:t>
            </a:r>
          </a:p>
        </p:txBody>
      </p:sp>
    </p:spTree>
    <p:extLst>
      <p:ext uri="{BB962C8B-B14F-4D97-AF65-F5344CB8AC3E}">
        <p14:creationId xmlns:p14="http://schemas.microsoft.com/office/powerpoint/2010/main" val="32853596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8B95457-C2C9-02D8-F765-B4309123046A}"/>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5E353605-EF8F-897A-7A0A-9FE331FAE824}"/>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Use Adaptive Cryptography</a:t>
            </a:r>
            <a:endParaRPr sz="6600" dirty="0"/>
          </a:p>
        </p:txBody>
      </p:sp>
    </p:spTree>
    <p:extLst>
      <p:ext uri="{BB962C8B-B14F-4D97-AF65-F5344CB8AC3E}">
        <p14:creationId xmlns:p14="http://schemas.microsoft.com/office/powerpoint/2010/main" val="41508469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Crypto Agility</a:t>
            </a:r>
          </a:p>
        </p:txBody>
      </p:sp>
      <p:sp>
        <p:nvSpPr>
          <p:cNvPr id="5" name="TextBox 4">
            <a:extLst>
              <a:ext uri="{FF2B5EF4-FFF2-40B4-BE49-F238E27FC236}">
                <a16:creationId xmlns:a16="http://schemas.microsoft.com/office/drawing/2014/main" id="{4FB45187-631B-1884-9F66-718D12A914D2}"/>
              </a:ext>
            </a:extLst>
          </p:cNvPr>
          <p:cNvSpPr txBox="1"/>
          <p:nvPr/>
        </p:nvSpPr>
        <p:spPr>
          <a:xfrm>
            <a:off x="455131" y="1136616"/>
            <a:ext cx="11278076" cy="3252172"/>
          </a:xfrm>
          <a:prstGeom prst="rect">
            <a:avLst/>
          </a:prstGeom>
          <a:noFill/>
        </p:spPr>
        <p:txBody>
          <a:bodyPr wrap="square" rtlCol="0">
            <a:spAutoFit/>
          </a:bodyPr>
          <a:lstStyle/>
          <a:p>
            <a:pPr marL="173038" indent="-173038">
              <a:lnSpc>
                <a:spcPct val="150000"/>
              </a:lnSpc>
              <a:buFont typeface="Arial" panose="020B0604020202020204" pitchFamily="34" charset="0"/>
              <a:buChar char="•"/>
            </a:pPr>
            <a:r>
              <a:rPr lang="en-US" sz="2800" dirty="0">
                <a:effectLst/>
                <a:latin typeface="Roboto" panose="02000000000000000000" pitchFamily="2" charset="0"/>
                <a:ea typeface="Roboto" panose="02000000000000000000" pitchFamily="2" charset="0"/>
                <a:cs typeface="Roboto" panose="02000000000000000000" pitchFamily="2" charset="0"/>
              </a:rPr>
              <a:t>Protocols  </a:t>
            </a:r>
          </a:p>
          <a:p>
            <a:pPr marL="173038" indent="-173038">
              <a:lnSpc>
                <a:spcPct val="150000"/>
              </a:lnSpc>
              <a:buFont typeface="Arial" panose="020B0604020202020204" pitchFamily="34" charset="0"/>
              <a:buChar char="•"/>
            </a:pPr>
            <a:r>
              <a:rPr lang="en-US" sz="2800" dirty="0">
                <a:effectLst/>
                <a:latin typeface="Roboto" panose="02000000000000000000" pitchFamily="2" charset="0"/>
                <a:ea typeface="Roboto" panose="02000000000000000000" pitchFamily="2" charset="0"/>
                <a:cs typeface="Roboto" panose="02000000000000000000" pitchFamily="2" charset="0"/>
              </a:rPr>
              <a:t>Applications </a:t>
            </a:r>
          </a:p>
          <a:p>
            <a:pPr marL="173038" indent="-173038">
              <a:lnSpc>
                <a:spcPct val="150000"/>
              </a:lnSpc>
              <a:buFont typeface="Arial" panose="020B0604020202020204" pitchFamily="34" charset="0"/>
              <a:buChar char="•"/>
            </a:pPr>
            <a:r>
              <a:rPr lang="en-US" sz="2800" dirty="0">
                <a:effectLst/>
                <a:latin typeface="Roboto" panose="02000000000000000000" pitchFamily="2" charset="0"/>
                <a:ea typeface="Roboto" panose="02000000000000000000" pitchFamily="2" charset="0"/>
                <a:cs typeface="Roboto" panose="02000000000000000000" pitchFamily="2" charset="0"/>
              </a:rPr>
              <a:t>Software</a:t>
            </a:r>
          </a:p>
          <a:p>
            <a:pPr marL="173038" indent="-173038">
              <a:lnSpc>
                <a:spcPct val="150000"/>
              </a:lnSpc>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Hardware </a:t>
            </a:r>
          </a:p>
          <a:p>
            <a:pPr marL="173038" indent="-173038">
              <a:lnSpc>
                <a:spcPct val="150000"/>
              </a:lnSpc>
              <a:buFont typeface="Arial" panose="020B0604020202020204" pitchFamily="34" charset="0"/>
              <a:buChar char="•"/>
            </a:pPr>
            <a:r>
              <a:rPr lang="en-US" sz="2800" dirty="0">
                <a:effectLst/>
                <a:latin typeface="Roboto" panose="02000000000000000000" pitchFamily="2" charset="0"/>
                <a:ea typeface="Roboto" panose="02000000000000000000" pitchFamily="2" charset="0"/>
                <a:cs typeface="Roboto" panose="02000000000000000000" pitchFamily="2" charset="0"/>
              </a:rPr>
              <a:t>Infrastructure  </a:t>
            </a:r>
          </a:p>
        </p:txBody>
      </p:sp>
    </p:spTree>
    <p:extLst>
      <p:ext uri="{BB962C8B-B14F-4D97-AF65-F5344CB8AC3E}">
        <p14:creationId xmlns:p14="http://schemas.microsoft.com/office/powerpoint/2010/main" val="21251562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215D7E6-2537-014C-F60D-42DDB1A3845F}"/>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5ABDA9B4-A19A-5010-E886-ED95CB23E0C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Cryptographic Variables</a:t>
            </a:r>
          </a:p>
        </p:txBody>
      </p:sp>
      <p:sp>
        <p:nvSpPr>
          <p:cNvPr id="6" name="TextBox 5">
            <a:extLst>
              <a:ext uri="{FF2B5EF4-FFF2-40B4-BE49-F238E27FC236}">
                <a16:creationId xmlns:a16="http://schemas.microsoft.com/office/drawing/2014/main" id="{E91FE96A-4109-6F94-B360-E61ED1AAFD06}"/>
              </a:ext>
            </a:extLst>
          </p:cNvPr>
          <p:cNvSpPr txBox="1"/>
          <p:nvPr/>
        </p:nvSpPr>
        <p:spPr>
          <a:xfrm>
            <a:off x="455131" y="1136616"/>
            <a:ext cx="4199996" cy="1959511"/>
          </a:xfrm>
          <a:prstGeom prst="rect">
            <a:avLst/>
          </a:prstGeom>
          <a:noFill/>
        </p:spPr>
        <p:txBody>
          <a:bodyPr wrap="square" rtlCol="0">
            <a:spAutoFit/>
          </a:bodyPr>
          <a:lstStyle/>
          <a:p>
            <a:pPr marL="173038" indent="-173038">
              <a:lnSpc>
                <a:spcPct val="150000"/>
              </a:lnSpc>
              <a:buFont typeface="Arial" panose="020B0604020202020204" pitchFamily="34" charset="0"/>
              <a:buChar char="•"/>
            </a:pPr>
            <a:r>
              <a:rPr lang="en-US" sz="2800" dirty="0">
                <a:effectLst/>
                <a:latin typeface="Roboto" panose="02000000000000000000" pitchFamily="2" charset="0"/>
                <a:ea typeface="Roboto" panose="02000000000000000000" pitchFamily="2" charset="0"/>
                <a:cs typeface="Roboto" panose="02000000000000000000" pitchFamily="2" charset="0"/>
              </a:rPr>
              <a:t>Algorithm</a:t>
            </a:r>
          </a:p>
          <a:p>
            <a:pPr marL="173038" indent="-173038">
              <a:lnSpc>
                <a:spcPct val="150000"/>
              </a:lnSpc>
              <a:buFont typeface="Arial" panose="020B0604020202020204" pitchFamily="34" charset="0"/>
              <a:buChar char="•"/>
            </a:pPr>
            <a:r>
              <a:rPr lang="en-US" sz="2800" dirty="0">
                <a:effectLst/>
                <a:latin typeface="Roboto" panose="02000000000000000000" pitchFamily="2" charset="0"/>
                <a:ea typeface="Roboto" panose="02000000000000000000" pitchFamily="2" charset="0"/>
                <a:cs typeface="Roboto" panose="02000000000000000000" pitchFamily="2" charset="0"/>
              </a:rPr>
              <a:t>Cryptographic primitive </a:t>
            </a:r>
          </a:p>
          <a:p>
            <a:pPr marL="173038" indent="-173038">
              <a:lnSpc>
                <a:spcPct val="150000"/>
              </a:lnSpc>
              <a:buFont typeface="Arial" panose="020B0604020202020204" pitchFamily="34" charset="0"/>
              <a:buChar char="•"/>
            </a:pPr>
            <a:r>
              <a:rPr lang="en-US" sz="2800" dirty="0">
                <a:effectLst/>
                <a:latin typeface="Roboto" panose="02000000000000000000" pitchFamily="2" charset="0"/>
                <a:ea typeface="Roboto" panose="02000000000000000000" pitchFamily="2" charset="0"/>
                <a:cs typeface="Roboto" panose="02000000000000000000" pitchFamily="2" charset="0"/>
              </a:rPr>
              <a:t>Key strength</a:t>
            </a:r>
          </a:p>
        </p:txBody>
      </p:sp>
      <p:sp>
        <p:nvSpPr>
          <p:cNvPr id="7" name="TextBox 6">
            <a:extLst>
              <a:ext uri="{FF2B5EF4-FFF2-40B4-BE49-F238E27FC236}">
                <a16:creationId xmlns:a16="http://schemas.microsoft.com/office/drawing/2014/main" id="{0287DEB5-840A-2620-462C-B2DBDC76725D}"/>
              </a:ext>
            </a:extLst>
          </p:cNvPr>
          <p:cNvSpPr txBox="1"/>
          <p:nvPr/>
        </p:nvSpPr>
        <p:spPr>
          <a:xfrm>
            <a:off x="5374769" y="1136616"/>
            <a:ext cx="2792486" cy="2605842"/>
          </a:xfrm>
          <a:prstGeom prst="rect">
            <a:avLst/>
          </a:prstGeom>
          <a:noFill/>
        </p:spPr>
        <p:txBody>
          <a:bodyPr wrap="square" rtlCol="0">
            <a:spAutoFit/>
          </a:bodyPr>
          <a:lstStyle/>
          <a:p>
            <a:pPr marL="173038" indent="-173038">
              <a:lnSpc>
                <a:spcPct val="150000"/>
              </a:lnSpc>
              <a:buFont typeface="Arial" panose="020B0604020202020204" pitchFamily="34" charset="0"/>
              <a:buChar char="•"/>
            </a:pPr>
            <a:r>
              <a:rPr lang="en-US" sz="2800" dirty="0">
                <a:effectLst/>
                <a:latin typeface="Roboto" panose="02000000000000000000" pitchFamily="2" charset="0"/>
                <a:ea typeface="Roboto" panose="02000000000000000000" pitchFamily="2" charset="0"/>
                <a:cs typeface="Roboto" panose="02000000000000000000" pitchFamily="2" charset="0"/>
              </a:rPr>
              <a:t>Hashing </a:t>
            </a:r>
          </a:p>
          <a:p>
            <a:pPr marL="173038" indent="-173038">
              <a:lnSpc>
                <a:spcPct val="150000"/>
              </a:lnSpc>
              <a:buFont typeface="Arial" panose="020B0604020202020204" pitchFamily="34" charset="0"/>
              <a:buChar char="•"/>
            </a:pPr>
            <a:r>
              <a:rPr lang="en-US" sz="2800" dirty="0">
                <a:effectLst/>
                <a:latin typeface="Roboto" panose="02000000000000000000" pitchFamily="2" charset="0"/>
                <a:ea typeface="Roboto" panose="02000000000000000000" pitchFamily="2" charset="0"/>
                <a:cs typeface="Roboto" panose="02000000000000000000" pitchFamily="2" charset="0"/>
              </a:rPr>
              <a:t>Encryption </a:t>
            </a:r>
          </a:p>
          <a:p>
            <a:pPr marL="173038" indent="-173038">
              <a:lnSpc>
                <a:spcPct val="150000"/>
              </a:lnSpc>
              <a:buFont typeface="Arial" panose="020B0604020202020204" pitchFamily="34" charset="0"/>
              <a:buChar char="•"/>
            </a:pPr>
            <a:r>
              <a:rPr lang="en-US" sz="2800" dirty="0">
                <a:effectLst/>
                <a:latin typeface="Roboto" panose="02000000000000000000" pitchFamily="2" charset="0"/>
                <a:ea typeface="Roboto" panose="02000000000000000000" pitchFamily="2" charset="0"/>
                <a:cs typeface="Roboto" panose="02000000000000000000" pitchFamily="2" charset="0"/>
              </a:rPr>
              <a:t>Authentication</a:t>
            </a:r>
          </a:p>
          <a:p>
            <a:pPr marL="173038" indent="-173038">
              <a:lnSpc>
                <a:spcPct val="150000"/>
              </a:lnSpc>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Key exchange</a:t>
            </a:r>
            <a:r>
              <a:rPr lang="en-US" sz="2800" dirty="0">
                <a:effectLst/>
                <a:latin typeface="Roboto" panose="02000000000000000000" pitchFamily="2" charset="0"/>
                <a:ea typeface="Roboto" panose="02000000000000000000" pitchFamily="2" charset="0"/>
                <a:cs typeface="Roboto" panose="02000000000000000000" pitchFamily="2" charset="0"/>
              </a:rPr>
              <a:t> </a:t>
            </a:r>
          </a:p>
        </p:txBody>
      </p:sp>
      <p:sp>
        <p:nvSpPr>
          <p:cNvPr id="8" name="TextBox 7">
            <a:extLst>
              <a:ext uri="{FF2B5EF4-FFF2-40B4-BE49-F238E27FC236}">
                <a16:creationId xmlns:a16="http://schemas.microsoft.com/office/drawing/2014/main" id="{1CA1A6CF-B349-CB27-D566-E136EEAF7FEA}"/>
              </a:ext>
            </a:extLst>
          </p:cNvPr>
          <p:cNvSpPr txBox="1"/>
          <p:nvPr/>
        </p:nvSpPr>
        <p:spPr>
          <a:xfrm>
            <a:off x="8541327" y="1136616"/>
            <a:ext cx="1439285" cy="2605842"/>
          </a:xfrm>
          <a:prstGeom prst="rect">
            <a:avLst/>
          </a:prstGeom>
          <a:noFill/>
        </p:spPr>
        <p:txBody>
          <a:bodyPr wrap="square" rtlCol="0">
            <a:spAutoFit/>
          </a:bodyPr>
          <a:lstStyle/>
          <a:p>
            <a:pPr marL="173038" indent="-173038">
              <a:lnSpc>
                <a:spcPct val="150000"/>
              </a:lnSpc>
              <a:buFont typeface="Arial" panose="020B0604020202020204" pitchFamily="34" charset="0"/>
              <a:buChar char="•"/>
            </a:pPr>
            <a:r>
              <a:rPr lang="en-US" sz="2800" dirty="0">
                <a:effectLst/>
                <a:latin typeface="Roboto" panose="02000000000000000000" pitchFamily="2" charset="0"/>
                <a:ea typeface="Roboto" panose="02000000000000000000" pitchFamily="2" charset="0"/>
                <a:cs typeface="Roboto" panose="02000000000000000000" pitchFamily="2" charset="0"/>
              </a:rPr>
              <a:t>SHA</a:t>
            </a:r>
          </a:p>
          <a:p>
            <a:pPr marL="173038" indent="-173038">
              <a:lnSpc>
                <a:spcPct val="150000"/>
              </a:lnSpc>
              <a:buFont typeface="Arial" panose="020B0604020202020204" pitchFamily="34" charset="0"/>
              <a:buChar char="•"/>
            </a:pPr>
            <a:r>
              <a:rPr lang="en-US" sz="2800" dirty="0">
                <a:effectLst/>
                <a:latin typeface="Roboto" panose="02000000000000000000" pitchFamily="2" charset="0"/>
                <a:ea typeface="Roboto" panose="02000000000000000000" pitchFamily="2" charset="0"/>
                <a:cs typeface="Roboto" panose="02000000000000000000" pitchFamily="2" charset="0"/>
              </a:rPr>
              <a:t>TDEA</a:t>
            </a:r>
          </a:p>
          <a:p>
            <a:pPr marL="173038" indent="-173038">
              <a:lnSpc>
                <a:spcPct val="150000"/>
              </a:lnSpc>
              <a:buFont typeface="Arial" panose="020B0604020202020204" pitchFamily="34" charset="0"/>
              <a:buChar char="•"/>
            </a:pPr>
            <a:r>
              <a:rPr lang="en-US" sz="2800" dirty="0">
                <a:effectLst/>
                <a:latin typeface="Roboto" panose="02000000000000000000" pitchFamily="2" charset="0"/>
                <a:ea typeface="Roboto" panose="02000000000000000000" pitchFamily="2" charset="0"/>
                <a:cs typeface="Roboto" panose="02000000000000000000" pitchFamily="2" charset="0"/>
              </a:rPr>
              <a:t>AES</a:t>
            </a:r>
          </a:p>
          <a:p>
            <a:pPr marL="173038" indent="-173038">
              <a:lnSpc>
                <a:spcPct val="150000"/>
              </a:lnSpc>
              <a:buFont typeface="Arial" panose="020B0604020202020204" pitchFamily="34" charset="0"/>
              <a:buChar char="•"/>
            </a:pPr>
            <a:r>
              <a:rPr lang="en-US" sz="2800" dirty="0">
                <a:effectLst/>
                <a:latin typeface="Roboto" panose="02000000000000000000" pitchFamily="2" charset="0"/>
                <a:ea typeface="Roboto" panose="02000000000000000000" pitchFamily="2" charset="0"/>
                <a:cs typeface="Roboto" panose="02000000000000000000" pitchFamily="2" charset="0"/>
              </a:rPr>
              <a:t>KMAC </a:t>
            </a:r>
          </a:p>
        </p:txBody>
      </p:sp>
      <p:pic>
        <p:nvPicPr>
          <p:cNvPr id="19" name="Picture 18" descr="A screenshot of a video game&#10;&#10;AI-generated content may be incorrect.">
            <a:extLst>
              <a:ext uri="{FF2B5EF4-FFF2-40B4-BE49-F238E27FC236}">
                <a16:creationId xmlns:a16="http://schemas.microsoft.com/office/drawing/2014/main" id="{09CBDE6E-7AA3-FAA8-D4B4-5CB903DB13B7}"/>
              </a:ext>
            </a:extLst>
          </p:cNvPr>
          <p:cNvPicPr>
            <a:picLocks noChangeAspect="1"/>
          </p:cNvPicPr>
          <p:nvPr/>
        </p:nvPicPr>
        <p:blipFill>
          <a:blip r:embed="rId3"/>
          <a:stretch>
            <a:fillRect/>
          </a:stretch>
        </p:blipFill>
        <p:spPr>
          <a:xfrm>
            <a:off x="2208212" y="4500695"/>
            <a:ext cx="7772400" cy="1355771"/>
          </a:xfrm>
          <a:prstGeom prst="rect">
            <a:avLst/>
          </a:prstGeom>
        </p:spPr>
      </p:pic>
    </p:spTree>
    <p:extLst>
      <p:ext uri="{BB962C8B-B14F-4D97-AF65-F5344CB8AC3E}">
        <p14:creationId xmlns:p14="http://schemas.microsoft.com/office/powerpoint/2010/main" val="41510440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5208D17-BC24-49DD-AEDA-9E10296BC8F0}"/>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F3C2449B-4C53-6119-54C5-8A04865E3BC3}"/>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Transport Layer Security</a:t>
            </a:r>
          </a:p>
        </p:txBody>
      </p:sp>
      <p:pic>
        <p:nvPicPr>
          <p:cNvPr id="4" name="Picture 3" descr="A black background with a black square&#10;&#10;AI-generated content may be incorrect.">
            <a:extLst>
              <a:ext uri="{FF2B5EF4-FFF2-40B4-BE49-F238E27FC236}">
                <a16:creationId xmlns:a16="http://schemas.microsoft.com/office/drawing/2014/main" id="{9A31FB0F-430B-9A5D-FB12-D565204A44F8}"/>
              </a:ext>
            </a:extLst>
          </p:cNvPr>
          <p:cNvPicPr>
            <a:picLocks noChangeAspect="1"/>
          </p:cNvPicPr>
          <p:nvPr/>
        </p:nvPicPr>
        <p:blipFill>
          <a:blip r:embed="rId3"/>
          <a:stretch>
            <a:fillRect/>
          </a:stretch>
        </p:blipFill>
        <p:spPr>
          <a:xfrm>
            <a:off x="2208212" y="1572196"/>
            <a:ext cx="7772400" cy="4210049"/>
          </a:xfrm>
          <a:prstGeom prst="rect">
            <a:avLst/>
          </a:prstGeom>
        </p:spPr>
      </p:pic>
    </p:spTree>
    <p:extLst>
      <p:ext uri="{BB962C8B-B14F-4D97-AF65-F5344CB8AC3E}">
        <p14:creationId xmlns:p14="http://schemas.microsoft.com/office/powerpoint/2010/main" val="39486897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DC49185-688A-5FEA-BFC6-54AF6223FCA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75745F3B-6B04-1620-E839-4EC18F437A20}"/>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Use Trusted</a:t>
            </a:r>
            <a:br>
              <a:rPr lang="en" sz="5400" dirty="0"/>
            </a:br>
            <a:r>
              <a:rPr lang="en" sz="5400" dirty="0"/>
              <a:t>Communication Channels</a:t>
            </a:r>
            <a:endParaRPr sz="6600" dirty="0"/>
          </a:p>
        </p:txBody>
      </p:sp>
    </p:spTree>
    <p:extLst>
      <p:ext uri="{BB962C8B-B14F-4D97-AF65-F5344CB8AC3E}">
        <p14:creationId xmlns:p14="http://schemas.microsoft.com/office/powerpoint/2010/main" val="4561132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descr="A diagram of a process&#10;&#10;AI-generated content may be incorrect.">
            <a:extLst>
              <a:ext uri="{FF2B5EF4-FFF2-40B4-BE49-F238E27FC236}">
                <a16:creationId xmlns:a16="http://schemas.microsoft.com/office/drawing/2014/main" id="{877E4997-0D1A-4B2D-9B20-FB8A3C310283}"/>
              </a:ext>
            </a:extLst>
          </p:cNvPr>
          <p:cNvPicPr>
            <a:picLocks noChangeAspect="1"/>
          </p:cNvPicPr>
          <p:nvPr/>
        </p:nvPicPr>
        <p:blipFill>
          <a:blip r:embed="rId3"/>
          <a:stretch>
            <a:fillRect/>
          </a:stretch>
        </p:blipFill>
        <p:spPr>
          <a:xfrm>
            <a:off x="2208212" y="1552354"/>
            <a:ext cx="7772400" cy="3753292"/>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Trusted Channel</a:t>
            </a:r>
          </a:p>
        </p:txBody>
      </p:sp>
    </p:spTree>
    <p:extLst>
      <p:ext uri="{BB962C8B-B14F-4D97-AF65-F5344CB8AC3E}">
        <p14:creationId xmlns:p14="http://schemas.microsoft.com/office/powerpoint/2010/main" val="6882184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5D67B75-4636-E119-FAF0-B83BE6354955}"/>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EFDF42AF-1732-1B82-4DC1-DC73C3C947A4}"/>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Enable Auditing</a:t>
            </a:r>
            <a:endParaRPr sz="6600" dirty="0"/>
          </a:p>
        </p:txBody>
      </p:sp>
    </p:spTree>
    <p:extLst>
      <p:ext uri="{BB962C8B-B14F-4D97-AF65-F5344CB8AC3E}">
        <p14:creationId xmlns:p14="http://schemas.microsoft.com/office/powerpoint/2010/main" val="41835786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5" name="Picture 4" descr="Diagram of data log manager&#10;&#10;AI-generated content may be incorrect.">
            <a:extLst>
              <a:ext uri="{FF2B5EF4-FFF2-40B4-BE49-F238E27FC236}">
                <a16:creationId xmlns:a16="http://schemas.microsoft.com/office/drawing/2014/main" id="{773A14B0-A43F-6B88-E8D0-4C96C69D7A48}"/>
              </a:ext>
            </a:extLst>
          </p:cNvPr>
          <p:cNvPicPr>
            <a:picLocks noChangeAspect="1"/>
          </p:cNvPicPr>
          <p:nvPr/>
        </p:nvPicPr>
        <p:blipFill>
          <a:blip r:embed="rId3"/>
          <a:stretch>
            <a:fillRect/>
          </a:stretch>
        </p:blipFill>
        <p:spPr>
          <a:xfrm>
            <a:off x="2208212" y="1449011"/>
            <a:ext cx="7772400" cy="4948305"/>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Data Log vs. Audit Log</a:t>
            </a:r>
            <a:endParaRPr dirty="0"/>
          </a:p>
        </p:txBody>
      </p:sp>
    </p:spTree>
    <p:extLst>
      <p:ext uri="{BB962C8B-B14F-4D97-AF65-F5344CB8AC3E}">
        <p14:creationId xmlns:p14="http://schemas.microsoft.com/office/powerpoint/2010/main" val="39538343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015FD7D-2D54-B296-245B-FA58775E2DAF}"/>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0ADA00B8-5D47-7EAA-7821-7AB4054F04BF}"/>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Degrade as Necessary</a:t>
            </a:r>
            <a:endParaRPr sz="6600" dirty="0"/>
          </a:p>
        </p:txBody>
      </p:sp>
    </p:spTree>
    <p:extLst>
      <p:ext uri="{BB962C8B-B14F-4D97-AF65-F5344CB8AC3E}">
        <p14:creationId xmlns:p14="http://schemas.microsoft.com/office/powerpoint/2010/main" val="21935593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descr="A diagram of a circular structure&#10;&#10;AI-generated content may be incorrect.">
            <a:extLst>
              <a:ext uri="{FF2B5EF4-FFF2-40B4-BE49-F238E27FC236}">
                <a16:creationId xmlns:a16="http://schemas.microsoft.com/office/drawing/2014/main" id="{A5DF748A-742D-34F8-DCBC-9AAB73F5AB66}"/>
              </a:ext>
            </a:extLst>
          </p:cNvPr>
          <p:cNvPicPr>
            <a:picLocks noChangeAspect="1"/>
          </p:cNvPicPr>
          <p:nvPr/>
        </p:nvPicPr>
        <p:blipFill>
          <a:blip r:embed="rId3"/>
          <a:stretch>
            <a:fillRect/>
          </a:stretch>
        </p:blipFill>
        <p:spPr>
          <a:xfrm>
            <a:off x="3410648" y="1149536"/>
            <a:ext cx="5367528" cy="5367528"/>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Prioritize Features</a:t>
            </a:r>
          </a:p>
        </p:txBody>
      </p:sp>
    </p:spTree>
    <p:extLst>
      <p:ext uri="{BB962C8B-B14F-4D97-AF65-F5344CB8AC3E}">
        <p14:creationId xmlns:p14="http://schemas.microsoft.com/office/powerpoint/2010/main" val="38338483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1A7DD25-E38F-9333-4806-67327A9D7BB4}"/>
            </a:ext>
          </a:extLst>
        </p:cNvPr>
        <p:cNvGrpSpPr/>
        <p:nvPr/>
      </p:nvGrpSpPr>
      <p:grpSpPr>
        <a:xfrm>
          <a:off x="0" y="0"/>
          <a:ext cx="0" cy="0"/>
          <a:chOff x="0" y="0"/>
          <a:chExt cx="0" cy="0"/>
        </a:xfrm>
      </p:grpSpPr>
      <p:pic>
        <p:nvPicPr>
          <p:cNvPr id="3" name="Picture 2" descr="A circular diagram with text&#10;&#10;AI-generated content may be incorrect.">
            <a:extLst>
              <a:ext uri="{FF2B5EF4-FFF2-40B4-BE49-F238E27FC236}">
                <a16:creationId xmlns:a16="http://schemas.microsoft.com/office/drawing/2014/main" id="{9CD5FFA6-04EF-D68D-908D-F0C448476A40}"/>
              </a:ext>
            </a:extLst>
          </p:cNvPr>
          <p:cNvPicPr>
            <a:picLocks noChangeAspect="1"/>
          </p:cNvPicPr>
          <p:nvPr/>
        </p:nvPicPr>
        <p:blipFill>
          <a:blip r:embed="rId3"/>
          <a:stretch>
            <a:fillRect/>
          </a:stretch>
        </p:blipFill>
        <p:spPr>
          <a:xfrm>
            <a:off x="3423224" y="1159927"/>
            <a:ext cx="5367528" cy="5354404"/>
          </a:xfrm>
          <a:prstGeom prst="rect">
            <a:avLst/>
          </a:prstGeom>
        </p:spPr>
      </p:pic>
      <p:sp>
        <p:nvSpPr>
          <p:cNvPr id="1199" name="Google Shape;1199;p156">
            <a:extLst>
              <a:ext uri="{FF2B5EF4-FFF2-40B4-BE49-F238E27FC236}">
                <a16:creationId xmlns:a16="http://schemas.microsoft.com/office/drawing/2014/main" id="{9C0B099F-5AC7-22A2-7E98-11EF5E5E3B47}"/>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Feature-level Granularity</a:t>
            </a:r>
          </a:p>
        </p:txBody>
      </p:sp>
    </p:spTree>
    <p:extLst>
      <p:ext uri="{BB962C8B-B14F-4D97-AF65-F5344CB8AC3E}">
        <p14:creationId xmlns:p14="http://schemas.microsoft.com/office/powerpoint/2010/main" val="23821961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F002AEA-8A51-B40E-2742-1245FAD69A32}"/>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C51C171-1D56-8509-9266-157E3F21F94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Degradation Example</a:t>
            </a:r>
          </a:p>
        </p:txBody>
      </p:sp>
      <p:pic>
        <p:nvPicPr>
          <p:cNvPr id="6" name="Picture 5" descr="A black screen with different colored labels&#10;&#10;AI-generated content may be incorrect.">
            <a:extLst>
              <a:ext uri="{FF2B5EF4-FFF2-40B4-BE49-F238E27FC236}">
                <a16:creationId xmlns:a16="http://schemas.microsoft.com/office/drawing/2014/main" id="{6A8BF43B-EBC2-69E7-24B3-F37051B0B878}"/>
              </a:ext>
            </a:extLst>
          </p:cNvPr>
          <p:cNvPicPr>
            <a:picLocks noChangeAspect="1"/>
          </p:cNvPicPr>
          <p:nvPr/>
        </p:nvPicPr>
        <p:blipFill>
          <a:blip r:embed="rId3"/>
          <a:stretch>
            <a:fillRect/>
          </a:stretch>
        </p:blipFill>
        <p:spPr>
          <a:xfrm>
            <a:off x="1777281" y="1891420"/>
            <a:ext cx="8634262" cy="4062570"/>
          </a:xfrm>
          <a:prstGeom prst="rect">
            <a:avLst/>
          </a:prstGeom>
        </p:spPr>
      </p:pic>
    </p:spTree>
    <p:extLst>
      <p:ext uri="{BB962C8B-B14F-4D97-AF65-F5344CB8AC3E}">
        <p14:creationId xmlns:p14="http://schemas.microsoft.com/office/powerpoint/2010/main" val="35776793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Summary</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Take Aways</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6959277"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Comprehensible </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Aids downstream cybersecurity activities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Possible regulatory requirement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Layered analysis recommended</a:t>
            </a:r>
          </a:p>
        </p:txBody>
      </p:sp>
    </p:spTree>
    <p:extLst>
      <p:ext uri="{BB962C8B-B14F-4D97-AF65-F5344CB8AC3E}">
        <p14:creationId xmlns:p14="http://schemas.microsoft.com/office/powerpoint/2010/main" val="1703593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pic>
        <p:nvPicPr>
          <p:cNvPr id="3" name="Picture 2">
            <a:extLst>
              <a:ext uri="{FF2B5EF4-FFF2-40B4-BE49-F238E27FC236}">
                <a16:creationId xmlns:a16="http://schemas.microsoft.com/office/drawing/2014/main" id="{4E84AE5C-C0DB-6844-8CF6-6EEC847CFFAF}"/>
              </a:ext>
            </a:extLst>
          </p:cNvPr>
          <p:cNvPicPr>
            <a:picLocks noChangeAspect="1"/>
          </p:cNvPicPr>
          <p:nvPr/>
        </p:nvPicPr>
        <p:blipFill>
          <a:blip r:embed="rId3"/>
          <a:stretch>
            <a:fillRect/>
          </a:stretch>
        </p:blipFill>
        <p:spPr>
          <a:xfrm>
            <a:off x="4053109" y="1239500"/>
            <a:ext cx="4082605" cy="5283371"/>
          </a:xfrm>
          <a:prstGeom prst="rect">
            <a:avLst/>
          </a:prstGeom>
          <a:ln w="12700">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685550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24875B67-DABD-EC7D-D876-FF0A75BC967B}"/>
              </a:ext>
            </a:extLst>
          </p:cNvPr>
          <p:cNvPicPr>
            <a:picLocks noChangeAspect="1"/>
          </p:cNvPicPr>
          <p:nvPr/>
        </p:nvPicPr>
        <p:blipFill>
          <a:blip r:embed="rId3"/>
          <a:stretch>
            <a:fillRect/>
          </a:stretch>
        </p:blipFill>
        <p:spPr>
          <a:xfrm>
            <a:off x="1658351" y="985083"/>
            <a:ext cx="8483870" cy="5783298"/>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(1 of 2)</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6" y="1146448"/>
            <a:ext cx="11277592" cy="461664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Secure Design Principles (AVCDL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Attack Surface Analysis Report (AVCDL secondary document)</a:t>
            </a:r>
          </a:p>
          <a:p>
            <a:pPr marL="0" indent="0">
              <a:spcBef>
                <a:spcPts val="0"/>
              </a:spcBef>
            </a:pPr>
            <a:r>
              <a:rPr lang="en-US" b="1" dirty="0"/>
              <a:t>NIST SP 800-57 p1 r5 – Recommendation for Key Management: Part 1 – General</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3"/>
              </a:rPr>
              <a:t>https://doi.org/10.6028/NIST.SP.800-57pt1r5</a:t>
            </a:r>
            <a:endParaRPr lang="en-US" sz="1400" b="1" dirty="0">
              <a:latin typeface="Courier New" panose="02070309020205020404" pitchFamily="49" charset="0"/>
              <a:cs typeface="Courier New" panose="02070309020205020404" pitchFamily="49" charset="0"/>
            </a:endParaRPr>
          </a:p>
          <a:p>
            <a:pPr marL="0" indent="0">
              <a:spcBef>
                <a:spcPts val="0"/>
              </a:spcBef>
            </a:pPr>
            <a:r>
              <a:rPr lang="en-US" b="1" dirty="0"/>
              <a:t>NIST SP 800-131A r3 d1 – Transitioning the Use of Cryptographic Algorithms and Key Lengths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4"/>
              </a:rPr>
              <a:t>https://doi.org/10.6028/NIST.SP.800-131Ar3.ipd</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t>NIST SP 800-160 v1 – Engineering Trustworthy Secure Systems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5"/>
              </a:rPr>
              <a:t>https://nvlpubs.nist.gov/nistpubs/SpecialPublications/NIST.SP.800-160v1r1.pdf</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sz="1800" b="1" dirty="0"/>
              <a:t>Crypto Agility</a:t>
            </a:r>
          </a:p>
          <a:p>
            <a:pPr marL="0" indent="0">
              <a:spcBef>
                <a:spcPts val="0"/>
              </a:spcBef>
            </a:pPr>
            <a:r>
              <a:rPr lang="en-US" sz="1400" b="1" dirty="0">
                <a:latin typeface="Courier New" panose="02070309020205020404" pitchFamily="49" charset="0"/>
                <a:ea typeface="Arial" panose="020B0604020202020204" pitchFamily="34" charset="0"/>
                <a:cs typeface="Courier New" panose="02070309020205020404" pitchFamily="49" charset="0"/>
                <a:hlinkClick r:id="rId6"/>
              </a:rPr>
              <a:t>https://csrc.nist.gov/projects/crypto-agility</a:t>
            </a:r>
            <a:r>
              <a:rPr lang="en-US" sz="1400" b="1" dirty="0">
                <a:latin typeface="Courier New" panose="02070309020205020404" pitchFamily="49" charset="0"/>
                <a:ea typeface="Arial" panose="020B0604020202020204" pitchFamily="34" charset="0"/>
                <a:cs typeface="Courier New" panose="02070309020205020404" pitchFamily="49" charset="0"/>
              </a:rPr>
              <a:t> </a:t>
            </a:r>
          </a:p>
          <a:p>
            <a:pPr marL="0" indent="0">
              <a:spcBef>
                <a:spcPts val="0"/>
              </a:spcBef>
            </a:pPr>
            <a:endParaRPr lang="en-US" sz="1400" b="1" dirty="0">
              <a:effectLst/>
              <a:latin typeface="Courier New" panose="02070309020205020404" pitchFamily="49" charset="0"/>
              <a:ea typeface="Arial" panose="020B0604020202020204" pitchFamily="34" charset="0"/>
              <a:cs typeface="Courier New" panose="02070309020205020404" pitchFamily="49" charset="0"/>
            </a:endParaRPr>
          </a:p>
          <a:p>
            <a:pPr marL="0" indent="0">
              <a:spcBef>
                <a:spcPts val="0"/>
              </a:spcBef>
            </a:pPr>
            <a:r>
              <a:rPr lang="en-US" sz="1800" b="1" dirty="0"/>
              <a:t>Prohibiting RC4 Cipher Suites</a:t>
            </a:r>
          </a:p>
          <a:p>
            <a:pPr marL="0" indent="0">
              <a:spcBef>
                <a:spcPts val="0"/>
              </a:spcBef>
            </a:pPr>
            <a:r>
              <a:rPr lang="en-US" sz="1400" b="1" dirty="0">
                <a:latin typeface="Courier New" panose="02070309020205020404" pitchFamily="49" charset="0"/>
                <a:ea typeface="Arial" panose="020B0604020202020204" pitchFamily="34" charset="0"/>
                <a:cs typeface="Courier New" panose="02070309020205020404" pitchFamily="49" charset="0"/>
                <a:hlinkClick r:id="rId7"/>
              </a:rPr>
              <a:t>https://datatracker.ietf.org/doc/rfc7465</a:t>
            </a:r>
            <a:r>
              <a:rPr lang="en-US" sz="1400" b="1" dirty="0">
                <a:latin typeface="Courier New" panose="02070309020205020404" pitchFamily="49" charset="0"/>
                <a:ea typeface="Arial" panose="020B0604020202020204" pitchFamily="34" charset="0"/>
                <a:cs typeface="Courier New" panose="02070309020205020404" pitchFamily="49" charset="0"/>
              </a:rPr>
              <a:t> </a:t>
            </a:r>
            <a:endParaRPr lang="en-US" sz="1400" b="1" dirty="0">
              <a:effectLst/>
              <a:latin typeface="Courier New" panose="02070309020205020404" pitchFamily="49" charset="0"/>
              <a:ea typeface="Arial" panose="020B0604020202020204" pitchFamily="34" charset="0"/>
              <a:cs typeface="Courier New" panose="02070309020205020404" pitchFamily="49" charset="0"/>
            </a:endParaRPr>
          </a:p>
        </p:txBody>
      </p:sp>
    </p:spTree>
    <p:extLst>
      <p:ext uri="{BB962C8B-B14F-4D97-AF65-F5344CB8AC3E}">
        <p14:creationId xmlns:p14="http://schemas.microsoft.com/office/powerpoint/2010/main" val="25574000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77">
          <a:extLst>
            <a:ext uri="{FF2B5EF4-FFF2-40B4-BE49-F238E27FC236}">
              <a16:creationId xmlns:a16="http://schemas.microsoft.com/office/drawing/2014/main" id="{0707C613-E129-064A-0B75-A7E4CAE93310}"/>
            </a:ext>
          </a:extLst>
        </p:cNvPr>
        <p:cNvGrpSpPr/>
        <p:nvPr/>
      </p:nvGrpSpPr>
      <p:grpSpPr>
        <a:xfrm>
          <a:off x="0" y="0"/>
          <a:ext cx="0" cy="0"/>
          <a:chOff x="0" y="0"/>
          <a:chExt cx="0" cy="0"/>
        </a:xfrm>
      </p:grpSpPr>
      <p:sp>
        <p:nvSpPr>
          <p:cNvPr id="878" name="Google Shape;878;p147">
            <a:extLst>
              <a:ext uri="{FF2B5EF4-FFF2-40B4-BE49-F238E27FC236}">
                <a16:creationId xmlns:a16="http://schemas.microsoft.com/office/drawing/2014/main" id="{12C183E6-F3D0-47E2-5833-AA5E3EDBC603}"/>
              </a:ext>
            </a:extLst>
          </p:cNvPr>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(2 of 2)</a:t>
            </a:r>
            <a:endParaRPr dirty="0"/>
          </a:p>
        </p:txBody>
      </p:sp>
      <p:sp>
        <p:nvSpPr>
          <p:cNvPr id="2" name="Google Shape;879;p147">
            <a:extLst>
              <a:ext uri="{FF2B5EF4-FFF2-40B4-BE49-F238E27FC236}">
                <a16:creationId xmlns:a16="http://schemas.microsoft.com/office/drawing/2014/main" id="{E2C081EF-9B5D-5221-0876-F32EA1349A15}"/>
              </a:ext>
            </a:extLst>
          </p:cNvPr>
          <p:cNvSpPr txBox="1">
            <a:spLocks/>
          </p:cNvSpPr>
          <p:nvPr/>
        </p:nvSpPr>
        <p:spPr>
          <a:xfrm>
            <a:off x="455616" y="1146448"/>
            <a:ext cx="11277592" cy="206210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t>The Protection of Information in Computer Systems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3"/>
              </a:rPr>
              <a:t>https://www.cs.virginia.edu/~evans/cs551/saltzer/</a:t>
            </a:r>
            <a:endParaRPr lang="en-US" sz="1400" b="1" dirty="0">
              <a:latin typeface="Courier New" panose="02070309020205020404" pitchFamily="49" charset="0"/>
              <a:cs typeface="Courier New" panose="02070309020205020404" pitchFamily="49" charset="0"/>
            </a:endParaRPr>
          </a:p>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Industrial Cybersecurity - 2e (Ackerman)</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4"/>
              </a:rPr>
              <a:t>https://www.amazon.com/dp/1800202091</a:t>
            </a:r>
            <a:r>
              <a:rPr lang="en-US" sz="1400" b="1" dirty="0">
                <a:latin typeface="Courier New" panose="02070309020205020404" pitchFamily="49" charset="0"/>
                <a:cs typeface="Courier New" panose="02070309020205020404" pitchFamily="49" charset="0"/>
              </a:rPr>
              <a:t>  </a:t>
            </a:r>
          </a:p>
          <a:p>
            <a:pPr marL="0" indent="0">
              <a:spcBef>
                <a:spcPts val="0"/>
              </a:spcBef>
              <a:spcAft>
                <a:spcPts val="1200"/>
              </a:spcAft>
            </a:pPr>
            <a:r>
              <a:rPr lang="en-US" sz="1800" b="1" dirty="0">
                <a:effectLst/>
                <a:latin typeface="Arial" panose="020B0604020202020204" pitchFamily="34" charset="0"/>
                <a:ea typeface="Arial" panose="020B0604020202020204" pitchFamily="34" charset="0"/>
              </a:rPr>
              <a:t>Principled Assuredly Trustworthy Composable Architectures</a:t>
            </a:r>
            <a:br>
              <a:rPr lang="en-US" sz="1800" b="1" dirty="0">
                <a:effectLst/>
                <a:latin typeface="Arial" panose="020B0604020202020204" pitchFamily="34" charset="0"/>
                <a:ea typeface="Arial" panose="020B0604020202020204" pitchFamily="34" charset="0"/>
              </a:rPr>
            </a:br>
            <a:r>
              <a:rPr lang="en-US" sz="1400" b="1" u="sng" dirty="0">
                <a:solidFill>
                  <a:srgbClr val="0000FF"/>
                </a:solidFill>
                <a:effectLst/>
                <a:latin typeface="Courier New" panose="02070309020205020404" pitchFamily="49" charset="0"/>
                <a:ea typeface="Arial" panose="020B0604020202020204" pitchFamily="34" charset="0"/>
                <a:hlinkClick r:id="rId5"/>
              </a:rPr>
              <a:t>https://www.csl.sri.com/~neumann/chats4.pdf</a:t>
            </a:r>
            <a:r>
              <a:rPr lang="en-US" sz="1800" b="1" dirty="0">
                <a:effectLst/>
                <a:latin typeface="Courier New" panose="02070309020205020404" pitchFamily="49" charset="0"/>
                <a:ea typeface="Arial" panose="020B0604020202020204" pitchFamily="34" charset="0"/>
              </a:rPr>
              <a:t> </a:t>
            </a:r>
            <a:r>
              <a:rPr lang="en-US" sz="1800" b="1" dirty="0">
                <a:effectLst/>
                <a:latin typeface="Arial" panose="020B0604020202020204" pitchFamily="34" charset="0"/>
                <a:ea typeface="Arial" panose="020B0604020202020204" pitchFamily="34" charset="0"/>
              </a:rPr>
              <a:t> </a:t>
            </a:r>
            <a:endParaRPr lang="en-US" sz="18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95268803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328791</TotalTime>
  <Words>7661</Words>
  <Application>Microsoft Macintosh PowerPoint</Application>
  <PresentationFormat>Custom</PresentationFormat>
  <Paragraphs>1041</Paragraphs>
  <Slides>52</Slides>
  <Notes>52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52</vt:i4>
      </vt:variant>
    </vt:vector>
  </HeadingPairs>
  <TitlesOfParts>
    <vt:vector size="60" baseType="lpstr">
      <vt:lpstr>Calibri</vt:lpstr>
      <vt:lpstr>Roboto Medium</vt:lpstr>
      <vt:lpstr>Roboto</vt:lpstr>
      <vt:lpstr>Courier New</vt:lpstr>
      <vt:lpstr>Arial</vt:lpstr>
      <vt:lpstr>Simple Light</vt:lpstr>
      <vt:lpstr>Motional Masters</vt:lpstr>
      <vt:lpstr>Motional Masters</vt:lpstr>
      <vt:lpstr>Secure Design Principles</vt:lpstr>
      <vt:lpstr>Training Path</vt:lpstr>
      <vt:lpstr>Introduction</vt:lpstr>
      <vt:lpstr>Principles</vt:lpstr>
      <vt:lpstr>Modularize</vt:lpstr>
      <vt:lpstr>Refactoring</vt:lpstr>
      <vt:lpstr>Refactoring</vt:lpstr>
      <vt:lpstr>Decomposition</vt:lpstr>
      <vt:lpstr>Decomposition</vt:lpstr>
      <vt:lpstr>Minimize Surface Area</vt:lpstr>
      <vt:lpstr>Surface Area</vt:lpstr>
      <vt:lpstr>More Info</vt:lpstr>
      <vt:lpstr>Isolate Security</vt:lpstr>
      <vt:lpstr>Isolate Security Data</vt:lpstr>
      <vt:lpstr>Isolate Security Processes</vt:lpstr>
      <vt:lpstr>Isolate Privilege</vt:lpstr>
      <vt:lpstr>Isolate Privilege</vt:lpstr>
      <vt:lpstr>Isolate Privilege</vt:lpstr>
      <vt:lpstr>Isolate Privilege</vt:lpstr>
      <vt:lpstr>Isolate Privilege</vt:lpstr>
      <vt:lpstr>Use Least Privilege</vt:lpstr>
      <vt:lpstr>Use Least Privilege</vt:lpstr>
      <vt:lpstr>Use Least Privilege</vt:lpstr>
      <vt:lpstr>Use Hierarchical Trust</vt:lpstr>
      <vt:lpstr>Trust Levels </vt:lpstr>
      <vt:lpstr>Entities</vt:lpstr>
      <vt:lpstr>Trust Traversal</vt:lpstr>
      <vt:lpstr>Trust Levels Visualized</vt:lpstr>
      <vt:lpstr>Limit Lifetimes</vt:lpstr>
      <vt:lpstr>Resource Analog</vt:lpstr>
      <vt:lpstr>Use Standards-based Cryptography</vt:lpstr>
      <vt:lpstr>Consult Your Product Cybersecurity SME</vt:lpstr>
      <vt:lpstr>Use Adaptive Cryptography</vt:lpstr>
      <vt:lpstr>Crypto Agility</vt:lpstr>
      <vt:lpstr>Cryptographic Variables</vt:lpstr>
      <vt:lpstr>Transport Layer Security</vt:lpstr>
      <vt:lpstr>Use Trusted Communication Channels</vt:lpstr>
      <vt:lpstr>Trusted Channel</vt:lpstr>
      <vt:lpstr>Enable Auditing</vt:lpstr>
      <vt:lpstr>Data Log vs. Audit Log</vt:lpstr>
      <vt:lpstr>Degrade as Necessary</vt:lpstr>
      <vt:lpstr>Prioritize Features</vt:lpstr>
      <vt:lpstr>Feature-level Granularity</vt:lpstr>
      <vt:lpstr>Degradation Example</vt:lpstr>
      <vt:lpstr>Summary</vt:lpstr>
      <vt:lpstr>Take Aways</vt:lpstr>
      <vt:lpstr>Further Reading</vt:lpstr>
      <vt:lpstr>AVCDL on GitHub</vt:lpstr>
      <vt:lpstr>AVCDL on YouTube</vt:lpstr>
      <vt:lpstr>Next Steps</vt:lpstr>
      <vt:lpstr>References (1 of 2)</vt:lpstr>
      <vt:lpstr>References (2 of 2)</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Design Principles (training)</dc:title>
  <dc:subject>cybersecurity design principles</dc:subject>
  <dc:creator>Charles Wilson</dc:creator>
  <cp:keywords>cybersecurity, design principles</cp:keywords>
  <dc:description>This work was created by Torc Robotics and is licensed under the Creative Commons Attribution-Share Alike (CC BY-SA-4.0) License.
https://creativecommons.org/licenses/by/4.0/legalcode
</dc:description>
  <cp:lastModifiedBy>Charles Wilson</cp:lastModifiedBy>
  <cp:revision>560</cp:revision>
  <cp:lastPrinted>2025-07-24T18:37:57Z</cp:lastPrinted>
  <dcterms:modified xsi:type="dcterms:W3CDTF">2025-08-04T15:41:59Z</dcterms:modified>
  <cp:category/>
</cp:coreProperties>
</file>