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4" r:id="rId1"/>
  </p:sldMasterIdLst>
  <p:notesMasterIdLst>
    <p:notesMasterId r:id="rId36"/>
  </p:notesMasterIdLst>
  <p:sldIdLst>
    <p:sldId id="256" r:id="rId2"/>
    <p:sldId id="674" r:id="rId3"/>
    <p:sldId id="470" r:id="rId4"/>
    <p:sldId id="687" r:id="rId5"/>
    <p:sldId id="471" r:id="rId6"/>
    <p:sldId id="681" r:id="rId7"/>
    <p:sldId id="423" r:id="rId8"/>
    <p:sldId id="648" r:id="rId9"/>
    <p:sldId id="308" r:id="rId10"/>
    <p:sldId id="682" r:id="rId11"/>
    <p:sldId id="683" r:id="rId12"/>
    <p:sldId id="684" r:id="rId13"/>
    <p:sldId id="657" r:id="rId14"/>
    <p:sldId id="477" r:id="rId15"/>
    <p:sldId id="486" r:id="rId16"/>
    <p:sldId id="479" r:id="rId17"/>
    <p:sldId id="439" r:id="rId18"/>
    <p:sldId id="481" r:id="rId19"/>
    <p:sldId id="489" r:id="rId20"/>
    <p:sldId id="685" r:id="rId21"/>
    <p:sldId id="680" r:id="rId22"/>
    <p:sldId id="462" r:id="rId23"/>
    <p:sldId id="452" r:id="rId24"/>
    <p:sldId id="454" r:id="rId25"/>
    <p:sldId id="686" r:id="rId26"/>
    <p:sldId id="453" r:id="rId27"/>
    <p:sldId id="603" r:id="rId28"/>
    <p:sldId id="488" r:id="rId29"/>
    <p:sldId id="343" r:id="rId30"/>
    <p:sldId id="606" r:id="rId31"/>
    <p:sldId id="676" r:id="rId32"/>
    <p:sldId id="675" r:id="rId33"/>
    <p:sldId id="368" r:id="rId34"/>
    <p:sldId id="287" r:id="rId35"/>
  </p:sldIdLst>
  <p:sldSz cx="12188825" cy="6858000"/>
  <p:notesSz cx="6858000" cy="9144000"/>
  <p:embeddedFontLst>
    <p:embeddedFont>
      <p:font typeface="Roboto" panose="02000000000000000000" pitchFamily="2" charset="0"/>
      <p:regular r:id="rId37"/>
      <p:bold r:id="rId38"/>
      <p:italic r:id="rId39"/>
      <p:boldItalic r:id="rId40"/>
    </p:embeddedFont>
    <p:embeddedFont>
      <p:font typeface="Roboto Medium" panose="02000000000000000000" pitchFamily="2" charset="0"/>
      <p:regular r:id="rId41"/>
      <p: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E1F5"/>
    <a:srgbClr val="4DE354"/>
    <a:srgbClr val="CCFFCC"/>
    <a:srgbClr val="FFFAB2"/>
    <a:srgbClr val="FFFFFF"/>
    <a:srgbClr val="FFC161"/>
    <a:srgbClr val="FFE6CC"/>
    <a:srgbClr val="A7E3B3"/>
    <a:srgbClr val="E38194"/>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34"/>
    <p:restoredTop sz="72572"/>
  </p:normalViewPr>
  <p:slideViewPr>
    <p:cSldViewPr snapToGrid="0">
      <p:cViewPr varScale="1">
        <p:scale>
          <a:sx n="161" d="100"/>
          <a:sy n="161" d="100"/>
        </p:scale>
        <p:origin x="760" y="192"/>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an overview of the </a:t>
            </a:r>
            <a:r>
              <a:rPr lang="en-US" sz="1400" b="1" dirty="0"/>
              <a:t>Threat Prioritization </a:t>
            </a:r>
            <a:r>
              <a:rPr lang="en-US" sz="1400" b="0" dirty="0"/>
              <a:t>process</a:t>
            </a:r>
            <a:r>
              <a:rPr lang="en-US" sz="1400" b="0" i="0" dirty="0">
                <a:solidFill>
                  <a:srgbClr val="000000"/>
                </a:solidFill>
                <a:effectLst/>
                <a:latin typeface="Calibri" panose="020F0502020204030204" pitchFamily="34" charset="0"/>
                <a:cs typeface="Calibri" panose="020F0502020204030204" pitchFamily="34" charset="0"/>
              </a:rPr>
              <a:t>.</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AVCDL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covers an overview of threat prioritization.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we think about how cybersecurity is done in the context of product development, it tends to be in the same way that we think about a one man band.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They're responsible for bringing their own instruments, playing the music, and dealing with everything else related to the activity.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classic example of this is penetration testing.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can penetration test anything.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don't need input from anyone else.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just need the system to be evaluated.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you’re done, you produce a report.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consider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threat modeling.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threat modeling, you look at the system, conduct an analysis, and again produce a report.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report which typically looks nothing like the report that we get from penetration testing.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fuzz testing is another version of this same story.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our example here with our three one-man bands, if we were to have them play simultaneously, the result would probably not be pleasing to the ear.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 want is more like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symphony orchestra, where the products of each of the performers comes together into something greater than the sum of its parts.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the point of having a threat prioritization process applied uniformly across multiple activities.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want a methodology that produces consistent outputs, not requiring special handling for every cybersecurity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05351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F3EAC78-6CB0-7ACC-4DED-538CD540F1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8BDCF89-8516-9573-3679-659450CD90C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EFFB0DA-BF29-74E1-D05C-67EDC22556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overlay</a:t>
            </a:r>
          </a:p>
        </p:txBody>
      </p:sp>
    </p:spTree>
    <p:extLst>
      <p:ext uri="{BB962C8B-B14F-4D97-AF65-F5344CB8AC3E}">
        <p14:creationId xmlns:p14="http://schemas.microsoft.com/office/powerpoint/2010/main" val="1424253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When we think about how cybersecurity is done in the context of product development, it tends to be in the same way that we think about a one man band.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responsible for bringing their own instruments, playing the music, and dealing with everything else related to the activity.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classic example of this is penetration testing.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can penetration test anything.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don't need input from anyone else.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 just need the system to be evaluated.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When you’re done, you produce a report.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consider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threat modeling.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threat modeling, you look at the system, conduct an analysis, and again produce a report.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report which typically looks nothing like the report that we get from penetration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fuzz testing is another version of this same story.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our example here with our three one-man bands, if we were to have them play simultaneously, the result would probably not be pleasing to the ear.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What we want is more like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symphony orchestra, where the products of each of the performers comes together into something greater than the sum of its parts.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That's the point of having a threat prioritization process applied uniformly across multiple activities.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want a methodology that produces consistent outputs, not requiring special handling for every cybersecurity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9197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C60D7A0-3A91-9D68-51DA-28047BA5549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FF3647B-EE14-1F9D-7EB1-EAAF90FBA22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FE5F2A8-E6B6-C429-209D-B3B66D875B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strike="noStrike" dirty="0">
                <a:latin typeface="Calibri" panose="020F0502020204030204" pitchFamily="34" charset="0"/>
                <a:cs typeface="Calibri" panose="020F0502020204030204" pitchFamily="34" charset="0"/>
              </a:rPr>
              <a:t>It’s very useful to have a process that can handle the prioritization of threats coming from multiple sources, so let's take a moment to consider what those sources are.</a:t>
            </a:r>
          </a:p>
        </p:txBody>
      </p:sp>
    </p:spTree>
    <p:extLst>
      <p:ext uri="{BB962C8B-B14F-4D97-AF65-F5344CB8AC3E}">
        <p14:creationId xmlns:p14="http://schemas.microsoft.com/office/powerpoint/2010/main" val="2757826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For simplicity sake, we'll address the threat sources in AVCDL lifecycle sequence.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First we have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attack surface analysis.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It might not seem obvious that we'd include the attack surface analysis in this list, but not every issue identified in the attack surface analysis can go directly into the issue tracking system without review.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At the other end of the spectrum, we have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threat modeling.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The expectation is that threat modeling generates threat candidates which need further review, as the issues that come out of the activity need to be reviewed in a system context, which is what the threat prioritization process does.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Next is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deprecated functions.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Not all deprecated functions currently in use are going to need to be replaced in order to ensure the level of cybersecurity that we'd like to have.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So, we need to put them through this process.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More obvious sources are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static analysis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dynamic analysis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fuzz testing, and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penetration testing.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Keep in mind with this one, just because you can break it doesn't necessarily mean that it needs to be fixed.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We need to consider these issues in the greater system context.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Finally, we have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[pause]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incident response.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As with attack surface analysis, incident response doesn't come immediately to mind.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However, with incident response, once we've replicated the problem, we have a threat that we need to determine how it impacts the system.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As with penetration testing, just because it’s a valid issue, doesn't mean that it needs to be addressed.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We need to take issues and give them context, and that's part of the process that we go through in the threat prioritization process.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The only exception is that in incident response where the threat prioritization process takes place in the middle of the incident response process.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strike="noStrike" dirty="0">
                <a:latin typeface="Calibri" panose="020F0502020204030204" pitchFamily="34" charset="0"/>
                <a:cs typeface="Calibri" panose="020F0502020204030204" pitchFamily="34" charset="0"/>
              </a:rPr>
              <a:t>Refer to the incident response material for additional detail on this.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strike="noStrik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5435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Let’s now look at the threat prioritization process workflow itself.</a:t>
            </a:r>
          </a:p>
        </p:txBody>
      </p:sp>
    </p:spTree>
    <p:extLst>
      <p:ext uri="{BB962C8B-B14F-4D97-AF65-F5344CB8AC3E}">
        <p14:creationId xmlns:p14="http://schemas.microsoft.com/office/powerpoint/2010/main" val="1448404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 we have the main part of the threat prioritization process workflow.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comprised of three activities.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are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threat candidate ranking </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ranked threat candidate risking</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threat candidate slicing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440A541-D7EC-C517-693E-4487DF4F2D9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9B0DB2E-946B-119C-309D-06A93949FC4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44D5C51-EDDA-5660-AE57-6D8C49EBDE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 we have the main part of the threat prioritization process workflow.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comprised of three activities.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are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 </a:t>
            </a:r>
            <a:r>
              <a:rPr lang="en-US" sz="1400" b="1" dirty="0">
                <a:solidFill>
                  <a:srgbClr val="1D1C1D"/>
                </a:solidFill>
                <a:effectLst/>
                <a:latin typeface="Arial" panose="020B0604020202020204" pitchFamily="34" charset="0"/>
              </a:rPr>
              <a:t>threat candidate ranking </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ranked threat candidate risking</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threat candidate slicing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632999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776CA24-18F0-642A-BB58-E71C7DE86B6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43FCF8C-0D4C-38A3-0FCF-9F48CEC0B40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0B7CC34-6BE3-C503-B29A-02353F5885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 we have the main part of the threat prioritization process workflow.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comprised of three activities.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are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threat candidate ranking </a:t>
            </a:r>
          </a:p>
          <a:p>
            <a:pPr marL="0" lvl="0" indent="0" algn="l" rtl="0">
              <a:spcBef>
                <a:spcPts val="0"/>
              </a:spcBef>
              <a:spcAft>
                <a:spcPts val="0"/>
              </a:spcAft>
              <a:buNone/>
            </a:pPr>
            <a:r>
              <a:rPr lang="en-US" sz="1400" dirty="0">
                <a:solidFill>
                  <a:srgbClr val="1D1C1D"/>
                </a:solidFill>
                <a:effectLst/>
                <a:latin typeface="Arial" panose="020B0604020202020204" pitchFamily="34" charset="0"/>
              </a:rPr>
              <a:t>• </a:t>
            </a:r>
            <a:r>
              <a:rPr lang="en-US" sz="1400" b="1" dirty="0">
                <a:solidFill>
                  <a:srgbClr val="1D1C1D"/>
                </a:solidFill>
                <a:effectLst/>
                <a:latin typeface="Arial" panose="020B0604020202020204" pitchFamily="34" charset="0"/>
              </a:rPr>
              <a:t>ranked threat candidate risking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finally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threat candidate slicing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935155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5B11AEC-9C72-48BA-4C08-9F9E46CA21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96A6421-6A62-7728-6011-79D0FDA5CE8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58F452D0-08F4-3A82-1280-015083AAFA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 we have the main part of the threat prioritization process workflow.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comprised of three activities.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are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threat candidate ranking </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a:t>
            </a:r>
            <a:r>
              <a:rPr lang="en-US" sz="1400" b="1" strike="sngStrike" dirty="0">
                <a:solidFill>
                  <a:srgbClr val="1D1C1D"/>
                </a:solidFill>
                <a:effectLst/>
                <a:latin typeface="Arial" panose="020B0604020202020204" pitchFamily="34" charset="0"/>
              </a:rPr>
              <a:t>ranked threat candidate risking</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and finally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 </a:t>
            </a:r>
            <a:r>
              <a:rPr lang="en-US" sz="1400" b="1" dirty="0">
                <a:solidFill>
                  <a:srgbClr val="1D1C1D"/>
                </a:solidFill>
                <a:effectLst/>
                <a:latin typeface="Arial" panose="020B0604020202020204" pitchFamily="34" charset="0"/>
              </a:rPr>
              <a:t>threat candidate slicing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3515231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916994B-81A7-FD2F-0DD2-87A0F1D793F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19CD809-9EE9-F786-9A72-ABAC4499553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ACB8B14-8400-EE26-9BD8-C7664FFD4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Let's now turn our attention to each of the activities that go into the threat prioritization process.</a:t>
            </a:r>
            <a:endParaRPr lang="en-US" sz="11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210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first activity is that of threat candidate ranking.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goal of this activity is to establish the likelihood of each of the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security SME takes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triage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conducts a ranking on them, producing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list of ranked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Any candidates which are determined to be invalid are dismissed, and their source tracker is updated accordingly.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few things to consider here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we want to focus on the worst case outcome if the threat is realized.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Second, when performing this activity</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We seek to use a standard rubric so that we have consistency and reproducibility.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99149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Probably the most well-known likelihood ranking system is CVSS.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CVSS is a system which has a score ranging from 0.0 to 10.0 in increments of 0.1.</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a system based on the ordering of one hundred unique threats into a particular order, but we can quantize it into twelve buckets, as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CVSS also specifies a rating which quantized to only five levels of interest.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Technically four, but a true zero or none is added so that we can actually talk about a zero.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Those being none, low, medium, high, and critical.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values map directly to the requirement of ISO/SAE 21434 which has very low, low, medium, and high.</a:t>
            </a:r>
          </a:p>
        </p:txBody>
      </p:sp>
    </p:spTree>
    <p:extLst>
      <p:ext uri="{BB962C8B-B14F-4D97-AF65-F5344CB8AC3E}">
        <p14:creationId xmlns:p14="http://schemas.microsoft.com/office/powerpoint/2010/main" val="555218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second activity is that of threat candidate risking.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goal of this activity is to establish the impact of each of the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risk SME takes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ranked threat candidates and</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applies a risk rubric to them.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This yields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list of ranked risked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a ranked risked threat report is generated.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 the focus is at the system level, because it’s at this level that risk determination can be made.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Specifically, the risk SME is looking at how the threat candidates impact the system based on the worst case projection provided in the ranked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As with the candidate ranking activity, we want to, where possible,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use a standard rubric for the determination of the impact that the threat candidate has.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1458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quantization in the impact space, let's take a look at the safety domain.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ISO 26262, which is the safety standard for automotive.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also have ISO 14971, the safety standard for medical devices.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ISO/SAE 21434, which specifies a numeric quantization standard for use with automotive cybersecurity.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FIPS 199, which is the IT standard addressing risk.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You'll note that these don't line up perfectly as you can see 26262 has a three-value raking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with the likelihood quantization, a zero or no impact value has been added in order to have a true zero.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order to go from the ISO 26262 space to the ISO/SAE 21434 space, you actually require more resolution than the 26262 numeric value provides.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 have in the impact space is far less granular, when compared with what we see in the likelihood space.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vastly different from the continuous space presented earlier.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I’ve made the point of adding a true zero value twice now.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Does it really make that much of a difference?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Yes and no.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only consider true positive cases where the threat candidate has both a non-zero likelihood and impact, then we would never need a true zero. Mostly.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never use the values for anything other than in a text field in a report, then we wouldn’t need a true zero. Mostly.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if we need to store the value in a database or perform computations using numeric values or need to assign a value of zero likelihood or no impact, then we absolutely need a true zero.</a:t>
            </a:r>
          </a:p>
        </p:txBody>
      </p:sp>
    </p:spTree>
    <p:extLst>
      <p:ext uri="{BB962C8B-B14F-4D97-AF65-F5344CB8AC3E}">
        <p14:creationId xmlns:p14="http://schemas.microsoft.com/office/powerpoint/2010/main" val="24627693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second activity is that of threat candidate risking.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goal of this activity is to establish the impact of each of the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risk SME takes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ranked threat candidates and</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applies a risk rubric to them.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This yields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list of ranked risked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a ranked risked threat report is generated.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 the focus is at the system level, because it’s at this level that risk determination can be made.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Specifically, the risk SME is looking at how the threat candidates impact the system based on the worst case projection provided in the ranked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As with the candidate ranking activity, we want to, where possible,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use a standard rubric for the determination of the impact that the threat candidate has.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56281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let's take a moment and look at how we're going to actually do the slicing operation itself.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a diagram that shows the way that the slicing or determination of controlled and uncontrolled threats is achieved.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diagram is adapted from the FDA’s Post-market Management of Cybersecurity and Medical Devices document.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the values from the ranking and the risking activities, the likelihood and impact values.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showing them here as being continuous.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the range from controlled to uncontrolled is also being shown as continuous.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line bisecting the exploitability-severity space, shown here in red, is the risk appetite.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need it not only to establish those threats we consider controlled or uncontrolled, but also to prioritize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Above the line, the threats are deemed to be uncontrolled, that is, in need of mitigation.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will cover the mechanism used to make the determination of controlled versus uncontrolled and risk appetite in a bit.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43910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F3737FC-D4D5-ABD4-07E6-1D96988ECFF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1E8B5B1-33E5-3842-46FB-5257577E070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48C250-D71E-8BAB-AC34-5AA9A7BB4F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let's take a moment and look at how we're going to actually do the slicing operation itself.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&lt;pause&gt;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a diagram that shows the way that the slicing or determination of controlled and uncontrolled threats is achieved.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diagram is adapted from the FDA’s Post-market Management of Cybersecurity and Medical Devices document.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the values from the ranking and the risking activities, the likelihood and impact values.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showing them here as being continuous.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the range from controlled to uncontrolled is also being shown as continuous.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line bisecting the exploitability-severity space, shown here in red, is the risk appetite.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need it not only to establish those threats we consider controlled or uncontrolled, but also to prioritize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Above the line, the threats are deemed to be uncontrolled, that is, in need of mitigation.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will cover the mechanism used to make the determination of controlled versus uncontrolled and risk appetite in a bit.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0147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9E31F3F-4D19-223F-7955-37A682D4CAC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AE3B33A-E73A-17ED-38A8-9AC0144F348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8AA8E3C-7CA4-B872-94C5-A54796F14D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Typically, when we talk about risk in the context of safety-critical, cyber-physical systems, we're talking about safety risk, but in reality, there are multiple risk domains that we need to consider.</a:t>
            </a:r>
            <a:endParaRPr lang="en-US" sz="1100" strike="sngStrike"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1708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first and most obvious risk domain is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that of safety.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This is unsurprising given that we're dealing with safety-critical, cyber-physical systems.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Second is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finance, where issues impact individuals or the system’s manufacturer.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Third, we have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operational risk, where we may have interference in the operation of the system itself.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Note that this domain deals with impacts which are not safety related.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Finally, we have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privacy.</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This may be either related to the identification and tracking of the system itself, or of individuals who are either operating or proximate to the system.</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06204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have multiple risk domains, this poses a problem as the workflow doesn't seem to support this situation.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Keep in mind that each risk domain has its own basis for assigning impact values.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order to address this, we’ll need to take our ranked threat candidates feeding into the risking and slicing activities.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instead apply them on a per domain basis.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is going to yield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list of uncontrolled threats for each domain.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then need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to add an additional activity that will perform a consolidation of all of the uncontrolled threats.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that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9421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have multiple risk domains, this poses a problem as the workflow doesn't seem to support this situation.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Keep in mind that each risk domain has its own basis for assigning impact values.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order to address this, we’ll need to take our ranked threat candidates feeding into the risking and slicing activities.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instead apply them on a per domain basis.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going to yield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list of uncontrolled threats for each domain.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then need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to add an additional activity that will perform a consolidation of all of the uncontrolled threats.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that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926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2A5FE5E-C397-84B1-BEE5-BA34C5934A3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E60DA7D-E35C-9330-4F15-47741B74026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B8D90FE-C924-1A2E-3A99-4916C0B3DD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If we have multiple risk domains, this poses a problem as the workflow doesn't seem to support this situation.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Keep in mind that each risk domain has its own basis for assigning impact values.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order to address this, we’ll need to take our ranked threat candidates feeding into the risking and slicing activities.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instead apply them on a per domain basis.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is going to yield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list of uncontrolled threats for each domain. </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We'll then need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to add an additional activity that will perform a consolidation of all of the uncontrolled threats.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that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814822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consolidation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security SME takes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uncontrolled threats from each of the risk domains under consideration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consolidates them into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consolidated uncontrolled threat list which is then fed into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issue tracking system.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a consolidated threat report is generated.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you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considering all risk domains, you'll have cases where multiple risk domains call out the same threat as uncontrolled.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of this, it's important to preserve traceability so you can ensure and verify that each of the threats has been treated as appropriate for the risk domain it impacts.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80315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our overview of the threat prioritization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performing threat prioritization,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first determine the likelihood of each threat candidate.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determine the impact.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Third, identify the uncontrolled threats.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merge any multiple risk domain information.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Threat Prioritization Plan </a:t>
            </a:r>
            <a:r>
              <a:rPr lang="en-US" sz="1400" dirty="0">
                <a:latin typeface="Calibri" panose="020F0502020204030204" pitchFamily="34" charset="0"/>
                <a:cs typeface="Calibri" panose="020F0502020204030204" pitchFamily="34" charset="0"/>
              </a:rPr>
              <a:t>secondary document is available in the </a:t>
            </a:r>
            <a:r>
              <a:rPr lang="en-US" sz="1400" b="1" dirty="0">
                <a:latin typeface="Calibri" panose="020F0502020204030204" pitchFamily="34" charset="0"/>
                <a:cs typeface="Calibri" panose="020F0502020204030204" pitchFamily="34" charset="0"/>
              </a:rPr>
              <a:t>AVCDL GitHub </a:t>
            </a:r>
            <a:r>
              <a:rPr lang="en-US" sz="1400" dirty="0">
                <a:latin typeface="Calibri" panose="020F0502020204030204" pitchFamily="34" charset="0"/>
                <a:cs typeface="Calibri" panose="020F0502020204030204" pitchFamily="34" charset="0"/>
              </a:rPr>
              <a:t>repository.</a:t>
            </a:r>
          </a:p>
        </p:txBody>
      </p:sp>
    </p:spTree>
    <p:extLst>
      <p:ext uri="{BB962C8B-B14F-4D97-AF65-F5344CB8AC3E}">
        <p14:creationId xmlns:p14="http://schemas.microsoft.com/office/powerpoint/2010/main" val="35780262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Threat Prioritization </a:t>
            </a:r>
            <a:r>
              <a:rPr lang="en-US" sz="1400" dirty="0"/>
              <a:t>process activities,  you can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Threat modeling</a:t>
            </a:r>
          </a:p>
          <a:p>
            <a:pPr marL="285750" marR="0" indent="-285750" algn="just">
              <a:spcBef>
                <a:spcPts val="0"/>
              </a:spcBef>
              <a:spcAft>
                <a:spcPts val="1200"/>
              </a:spcAft>
            </a:pPr>
            <a:r>
              <a:rPr lang="en-US" sz="1400" b="1" dirty="0"/>
              <a:t>Penetration testing</a:t>
            </a:r>
            <a:endParaRPr lang="en-US" sz="1400" dirty="0"/>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Additionally, if you’ve completed </a:t>
            </a:r>
            <a:r>
              <a:rPr lang="en-US" sz="1400" b="1" dirty="0"/>
              <a:t>Secure Coding </a:t>
            </a:r>
            <a:r>
              <a:rPr lang="en-US" sz="1400" dirty="0"/>
              <a:t>and it’s prerequisites, you can proceed to</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285750" marR="0" indent="-285750" algn="just">
              <a:spcBef>
                <a:spcPts val="0"/>
              </a:spcBef>
              <a:spcAft>
                <a:spcPts val="1200"/>
              </a:spcAft>
            </a:pPr>
            <a:r>
              <a:rPr lang="en-US" sz="1400" b="1" dirty="0"/>
              <a:t>Fuzz testing</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(carry over to fit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5936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extLst>
      <p:ext uri="{BB962C8B-B14F-4D97-AF65-F5344CB8AC3E}">
        <p14:creationId xmlns:p14="http://schemas.microsoft.com/office/powerpoint/2010/main" val="883812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p15:clr>
            <a:srgbClr val="FA7B17"/>
          </p15:clr>
        </p15:guide>
        <p15:guide id="2" pos="5615">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50590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C" userDrawn="1">
  <p:cSld name="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269555" y="6212114"/>
            <a:ext cx="9463844"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extLst>
      <p:ext uri="{BB962C8B-B14F-4D97-AF65-F5344CB8AC3E}">
        <p14:creationId xmlns:p14="http://schemas.microsoft.com/office/powerpoint/2010/main" val="1035808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03173401"/>
      </p:ext>
    </p:extLst>
  </p:cSld>
  <p:clrMap bg1="lt1" tx1="dk1" bg2="dk2" tx2="lt2" accent1="accent1" accent2="accent2" accent3="accent3" accent4="accent4" accent5="accent5" accent6="accent6" hlink="hlink" folHlink="folHlink"/>
  <p:sldLayoutIdLst>
    <p:sldLayoutId id="2147483795" r:id="rId1"/>
    <p:sldLayoutId id="2147483796" r:id="rId2"/>
    <p:sldLayoutId id="2147483797" r:id="rId3"/>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pos="287">
          <p15:clr>
            <a:srgbClr val="F26B43"/>
          </p15:clr>
        </p15:guide>
        <p15:guide id="4" orient="horz" pos="288">
          <p15:clr>
            <a:srgbClr val="F26B43"/>
          </p15:clr>
        </p15:guide>
        <p15:guide id="5" orient="horz" pos="4032">
          <p15:clr>
            <a:srgbClr val="F26B43"/>
          </p15:clr>
        </p15:guide>
        <p15:guide id="6" pos="7391">
          <p15:clr>
            <a:srgbClr val="F26B43"/>
          </p15:clr>
        </p15:guide>
        <p15:guide id="7" orient="horz" pos="3888">
          <p15:clr>
            <a:srgbClr val="F26B43"/>
          </p15:clr>
        </p15:guide>
        <p15:guide id="8" orient="horz" pos="4176">
          <p15:clr>
            <a:srgbClr val="F26B43"/>
          </p15:clr>
        </p15:guide>
        <p15:guide id="9" orient="horz" pos="37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nvlpubs.nist.gov/nistpubs/Legacy/SP/nistspecialpublication800-39.pdf"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hyperlink" Target="https://commons.wikimedia.org/w/index.php?curid=5527428" TargetMode="External"/><Relationship Id="rId3" Type="http://schemas.openxmlformats.org/officeDocument/2006/relationships/hyperlink" Target="https://nvlpubs.nist.gov/nistpubs/Legacy/SP/nistspecialpublication800-30r1.pdf" TargetMode="External"/><Relationship Id="rId7" Type="http://schemas.openxmlformats.org/officeDocument/2006/relationships/hyperlink" Target="https://commons.wikimedia.org/w/index.php?curid=47237273"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hyperlink" Target="https://commons.wikimedia.org/w/index.php?curid=47370848" TargetMode="External"/><Relationship Id="rId5" Type="http://schemas.openxmlformats.org/officeDocument/2006/relationships/hyperlink" Target="https://www.flickr.com/photos/slgc/8037345945/" TargetMode="External"/><Relationship Id="rId4" Type="http://schemas.openxmlformats.org/officeDocument/2006/relationships/hyperlink" Target="https://zenodo.org/record/1188418/files/EVITAD2.3v1.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Threat Prioritization Overview</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3</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2026-07-20</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A883CDB7-CE2B-7EA1-6C94-8ECC474734EA}"/>
              </a:ext>
            </a:extLst>
          </p:cNvPr>
          <p:cNvSpPr/>
          <p:nvPr/>
        </p:nvSpPr>
        <p:spPr>
          <a:xfrm>
            <a:off x="10329460" y="139594"/>
            <a:ext cx="1739579"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AVCDL-Foundation-9.1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186224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73061BFB-B92A-5288-5D2A-2059EEBA683C}"/>
              </a:ext>
            </a:extLst>
          </p:cNvPr>
          <p:cNvPicPr>
            <a:picLocks noChangeAspect="1"/>
          </p:cNvPicPr>
          <p:nvPr/>
        </p:nvPicPr>
        <p:blipFill rotWithShape="1">
          <a:blip r:embed="rId3"/>
          <a:srcRect t="14985" b="10009"/>
          <a:stretch/>
        </p:blipFill>
        <p:spPr>
          <a:xfrm>
            <a:off x="1" y="0"/>
            <a:ext cx="12188824" cy="685800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tx1"/>
                </a:solidFill>
              </a:rPr>
              <a:t>Introduction</a:t>
            </a:r>
            <a:r>
              <a:rPr lang="en" baseline="30000" dirty="0">
                <a:solidFill>
                  <a:srgbClr val="FFFAB2"/>
                </a:solidFill>
              </a:rPr>
              <a:t>*</a:t>
            </a:r>
            <a:endParaRPr baseline="30000" dirty="0">
              <a:solidFill>
                <a:srgbClr val="FFFAB2"/>
              </a:solidFill>
            </a:endParaRPr>
          </a:p>
        </p:txBody>
      </p:sp>
      <p:sp>
        <p:nvSpPr>
          <p:cNvPr id="5" name="TextBox 4">
            <a:extLst>
              <a:ext uri="{FF2B5EF4-FFF2-40B4-BE49-F238E27FC236}">
                <a16:creationId xmlns:a16="http://schemas.microsoft.com/office/drawing/2014/main" id="{6917B4D1-3225-01F0-07A3-04829CC69DB6}"/>
              </a:ext>
            </a:extLst>
          </p:cNvPr>
          <p:cNvSpPr txBox="1"/>
          <p:nvPr/>
        </p:nvSpPr>
        <p:spPr>
          <a:xfrm>
            <a:off x="0" y="6596390"/>
            <a:ext cx="6094411"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Musician in London performs on electric guitar and a small drum kit </a:t>
            </a:r>
            <a:r>
              <a:rPr lang="en-US" sz="1100" dirty="0">
                <a:solidFill>
                  <a:srgbClr val="FFFAB2"/>
                </a:solidFill>
              </a:rPr>
              <a:t>(link in references) </a:t>
            </a:r>
          </a:p>
        </p:txBody>
      </p:sp>
    </p:spTree>
    <p:extLst>
      <p:ext uri="{BB962C8B-B14F-4D97-AF65-F5344CB8AC3E}">
        <p14:creationId xmlns:p14="http://schemas.microsoft.com/office/powerpoint/2010/main" val="2178533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2E83971-C255-A7FE-02CD-124885F24C94}"/>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AECBF7D-04C0-2C27-4D69-2C70ABDE205A}"/>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rgbClr val="FF0000"/>
                </a:solidFill>
              </a:rPr>
              <a:t>Introduction – Overlay</a:t>
            </a:r>
            <a:endParaRPr baseline="30000" dirty="0">
              <a:solidFill>
                <a:schemeClr val="tx2"/>
              </a:solidFill>
            </a:endParaRPr>
          </a:p>
        </p:txBody>
      </p:sp>
      <p:pic>
        <p:nvPicPr>
          <p:cNvPr id="2" name="Picture 1">
            <a:extLst>
              <a:ext uri="{FF2B5EF4-FFF2-40B4-BE49-F238E27FC236}">
                <a16:creationId xmlns:a16="http://schemas.microsoft.com/office/drawing/2014/main" id="{F986D243-A58A-5F14-4D99-492F02FEB37A}"/>
              </a:ext>
            </a:extLst>
          </p:cNvPr>
          <p:cNvPicPr>
            <a:picLocks noChangeAspect="1"/>
          </p:cNvPicPr>
          <p:nvPr/>
        </p:nvPicPr>
        <p:blipFill>
          <a:blip r:embed="rId3"/>
          <a:stretch>
            <a:fillRect/>
          </a:stretch>
        </p:blipFill>
        <p:spPr>
          <a:xfrm>
            <a:off x="8644476" y="1058480"/>
            <a:ext cx="3088975" cy="5033625"/>
          </a:xfrm>
          <a:prstGeom prst="rect">
            <a:avLst/>
          </a:prstGeom>
          <a:ln w="12700">
            <a:solidFill>
              <a:schemeClr val="tx1"/>
            </a:solidFill>
          </a:ln>
          <a:effectLst>
            <a:outerShdw blurRad="50800" dist="198058" dir="2700000" algn="tl" rotWithShape="0">
              <a:prstClr val="black">
                <a:alpha val="40000"/>
              </a:prstClr>
            </a:outerShdw>
          </a:effectLst>
        </p:spPr>
      </p:pic>
      <p:pic>
        <p:nvPicPr>
          <p:cNvPr id="3" name="Picture 2">
            <a:extLst>
              <a:ext uri="{FF2B5EF4-FFF2-40B4-BE49-F238E27FC236}">
                <a16:creationId xmlns:a16="http://schemas.microsoft.com/office/drawing/2014/main" id="{54B597C7-D015-51B1-3E48-992738ECB831}"/>
              </a:ext>
            </a:extLst>
          </p:cNvPr>
          <p:cNvPicPr>
            <a:picLocks noChangeAspect="1"/>
          </p:cNvPicPr>
          <p:nvPr/>
        </p:nvPicPr>
        <p:blipFill>
          <a:blip r:embed="rId4"/>
          <a:stretch>
            <a:fillRect/>
          </a:stretch>
        </p:blipFill>
        <p:spPr>
          <a:xfrm>
            <a:off x="336141" y="1058480"/>
            <a:ext cx="3355750" cy="5033625"/>
          </a:xfrm>
          <a:prstGeom prst="rect">
            <a:avLst/>
          </a:prstGeom>
          <a:ln w="12700">
            <a:solidFill>
              <a:schemeClr val="tx1"/>
            </a:solidFill>
          </a:ln>
          <a:effectLst>
            <a:outerShdw blurRad="50800" dist="198058" dir="2700000" algn="tl" rotWithShape="0">
              <a:schemeClr val="tx1">
                <a:alpha val="40000"/>
              </a:schemeClr>
            </a:outerShdw>
          </a:effectLst>
        </p:spPr>
      </p:pic>
      <p:sp>
        <p:nvSpPr>
          <p:cNvPr id="7" name="TextBox 6">
            <a:extLst>
              <a:ext uri="{FF2B5EF4-FFF2-40B4-BE49-F238E27FC236}">
                <a16:creationId xmlns:a16="http://schemas.microsoft.com/office/drawing/2014/main" id="{B3CC2B54-9826-55FF-4497-9041FA8C0DFE}"/>
              </a:ext>
            </a:extLst>
          </p:cNvPr>
          <p:cNvSpPr txBox="1"/>
          <p:nvPr/>
        </p:nvSpPr>
        <p:spPr>
          <a:xfrm>
            <a:off x="336140" y="6092105"/>
            <a:ext cx="3355750" cy="430887"/>
          </a:xfrm>
          <a:prstGeom prst="rect">
            <a:avLst/>
          </a:prstGeom>
          <a:solidFill>
            <a:schemeClr val="bg1">
              <a:lumMod val="95000"/>
            </a:schemeClr>
          </a:solid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Jeff Masin, a one-man band in New York City</a:t>
            </a:r>
            <a:br>
              <a:rPr lang="en-US" sz="1100" b="1" i="1" dirty="0">
                <a:solidFill>
                  <a:schemeClr val="tx2"/>
                </a:solidFill>
              </a:rPr>
            </a:br>
            <a:r>
              <a:rPr lang="en-US" sz="1100" dirty="0">
                <a:solidFill>
                  <a:schemeClr val="tx2"/>
                </a:solidFill>
              </a:rPr>
              <a:t>(link in references) </a:t>
            </a:r>
          </a:p>
        </p:txBody>
      </p:sp>
      <p:sp>
        <p:nvSpPr>
          <p:cNvPr id="8" name="TextBox 7">
            <a:extLst>
              <a:ext uri="{FF2B5EF4-FFF2-40B4-BE49-F238E27FC236}">
                <a16:creationId xmlns:a16="http://schemas.microsoft.com/office/drawing/2014/main" id="{4D7AD52A-53C0-95D1-492D-D0FF19096E8C}"/>
              </a:ext>
            </a:extLst>
          </p:cNvPr>
          <p:cNvSpPr txBox="1"/>
          <p:nvPr/>
        </p:nvSpPr>
        <p:spPr>
          <a:xfrm>
            <a:off x="8644474" y="6092105"/>
            <a:ext cx="3088975" cy="430887"/>
          </a:xfrm>
          <a:prstGeom prst="rect">
            <a:avLst/>
          </a:prstGeom>
          <a:solidFill>
            <a:schemeClr val="bg1">
              <a:lumMod val="95000"/>
            </a:schemeClr>
          </a:solidFill>
          <a:effectLst>
            <a:outerShdw blurRad="50800" dist="190500" dir="2700000" algn="tl" rotWithShape="0">
              <a:prstClr val="black">
                <a:alpha val="40000"/>
              </a:prstClr>
            </a:outerShdw>
          </a:effectLst>
        </p:spPr>
        <p:txBody>
          <a:bodyPr wrap="square">
            <a:spAutoFit/>
          </a:bodyPr>
          <a:lstStyle/>
          <a:p>
            <a:r>
              <a:rPr lang="en-US" sz="1100" b="1" i="1" dirty="0">
                <a:solidFill>
                  <a:schemeClr val="tx2"/>
                </a:solidFill>
              </a:rPr>
              <a:t>* One man band 1865</a:t>
            </a:r>
            <a:br>
              <a:rPr lang="en-US" sz="1100" b="1" i="1" dirty="0">
                <a:solidFill>
                  <a:schemeClr val="tx2"/>
                </a:solidFill>
              </a:rPr>
            </a:br>
            <a:r>
              <a:rPr lang="en-US" sz="1100" dirty="0">
                <a:solidFill>
                  <a:schemeClr val="tx2"/>
                </a:solidFill>
              </a:rPr>
              <a:t>(link in references) </a:t>
            </a:r>
          </a:p>
        </p:txBody>
      </p:sp>
    </p:spTree>
    <p:extLst>
      <p:ext uri="{BB962C8B-B14F-4D97-AF65-F5344CB8AC3E}">
        <p14:creationId xmlns:p14="http://schemas.microsoft.com/office/powerpoint/2010/main" val="297555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A419182F-B9EF-81BE-769F-0D69A152C0AA}"/>
              </a:ext>
            </a:extLst>
          </p:cNvPr>
          <p:cNvPicPr>
            <a:picLocks noChangeAspect="1"/>
          </p:cNvPicPr>
          <p:nvPr/>
        </p:nvPicPr>
        <p:blipFill rotWithShape="1">
          <a:blip r:embed="rId3"/>
          <a:srcRect t="-15328" b="15328"/>
          <a:stretch/>
        </p:blipFill>
        <p:spPr>
          <a:xfrm>
            <a:off x="0" y="-1241439"/>
            <a:ext cx="12188825" cy="8110728"/>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bg1"/>
                </a:solidFill>
              </a:rPr>
              <a:t>Introduction</a:t>
            </a:r>
            <a:r>
              <a:rPr lang="en" baseline="30000" dirty="0">
                <a:solidFill>
                  <a:srgbClr val="FFFAB2"/>
                </a:solidFill>
              </a:rPr>
              <a:t>*</a:t>
            </a:r>
            <a:endParaRPr baseline="30000" dirty="0">
              <a:solidFill>
                <a:srgbClr val="FFFAB2"/>
              </a:solidFill>
            </a:endParaRPr>
          </a:p>
        </p:txBody>
      </p:sp>
      <p:sp>
        <p:nvSpPr>
          <p:cNvPr id="5" name="TextBox 4">
            <a:extLst>
              <a:ext uri="{FF2B5EF4-FFF2-40B4-BE49-F238E27FC236}">
                <a16:creationId xmlns:a16="http://schemas.microsoft.com/office/drawing/2014/main" id="{6917B4D1-3225-01F0-07A3-04829CC69DB6}"/>
              </a:ext>
            </a:extLst>
          </p:cNvPr>
          <p:cNvSpPr txBox="1"/>
          <p:nvPr/>
        </p:nvSpPr>
        <p:spPr>
          <a:xfrm>
            <a:off x="1" y="6596390"/>
            <a:ext cx="3557588"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Orchestra Simfonica București </a:t>
            </a:r>
            <a:r>
              <a:rPr lang="en-US" sz="1100" dirty="0">
                <a:solidFill>
                  <a:srgbClr val="FFFAB2"/>
                </a:solidFill>
              </a:rPr>
              <a:t>(link in references) </a:t>
            </a:r>
          </a:p>
        </p:txBody>
      </p:sp>
    </p:spTree>
    <p:extLst>
      <p:ext uri="{BB962C8B-B14F-4D97-AF65-F5344CB8AC3E}">
        <p14:creationId xmlns:p14="http://schemas.microsoft.com/office/powerpoint/2010/main" val="4074851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F49A3DF-2DE8-D6DF-9502-0143B08534E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4AC51B87-0169-AEDC-B284-A057C63196C3}"/>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Threat Candidate Sources</a:t>
            </a:r>
            <a:endParaRPr sz="6600" dirty="0"/>
          </a:p>
        </p:txBody>
      </p:sp>
    </p:spTree>
    <p:extLst>
      <p:ext uri="{BB962C8B-B14F-4D97-AF65-F5344CB8AC3E}">
        <p14:creationId xmlns:p14="http://schemas.microsoft.com/office/powerpoint/2010/main" val="3607634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Sources</a:t>
            </a:r>
            <a:endParaRPr dirty="0"/>
          </a:p>
        </p:txBody>
      </p:sp>
      <p:sp>
        <p:nvSpPr>
          <p:cNvPr id="3" name="TextBox 2">
            <a:extLst>
              <a:ext uri="{FF2B5EF4-FFF2-40B4-BE49-F238E27FC236}">
                <a16:creationId xmlns:a16="http://schemas.microsoft.com/office/drawing/2014/main" id="{A93FC46C-723B-5036-67C2-6EAB972DAB16}"/>
              </a:ext>
            </a:extLst>
          </p:cNvPr>
          <p:cNvSpPr txBox="1"/>
          <p:nvPr/>
        </p:nvSpPr>
        <p:spPr>
          <a:xfrm>
            <a:off x="455618" y="1437554"/>
            <a:ext cx="4197303" cy="461664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rPr>
              <a:t>Attack Surface Analysis</a:t>
            </a:r>
          </a:p>
          <a:p>
            <a:pPr marL="236538" indent="-236538">
              <a:spcAft>
                <a:spcPts val="1200"/>
              </a:spcAft>
              <a:buFont typeface="Arial" panose="020B0604020202020204" pitchFamily="34" charset="0"/>
              <a:buChar char="•"/>
            </a:pPr>
            <a:r>
              <a:rPr lang="en-US" sz="2800" dirty="0">
                <a:solidFill>
                  <a:schemeClr val="tx1"/>
                </a:solidFill>
              </a:rPr>
              <a:t>Threat Modeling</a:t>
            </a:r>
          </a:p>
          <a:p>
            <a:pPr marL="236538" indent="-236538">
              <a:spcAft>
                <a:spcPts val="1200"/>
              </a:spcAft>
              <a:buFont typeface="Arial" panose="020B0604020202020204" pitchFamily="34" charset="0"/>
              <a:buChar char="•"/>
            </a:pPr>
            <a:r>
              <a:rPr lang="en-US" sz="2800" dirty="0">
                <a:solidFill>
                  <a:schemeClr val="tx1"/>
                </a:solidFill>
              </a:rPr>
              <a:t>Deprecated Functions</a:t>
            </a:r>
          </a:p>
          <a:p>
            <a:pPr marL="236538" indent="-236538">
              <a:spcAft>
                <a:spcPts val="1200"/>
              </a:spcAft>
              <a:buFont typeface="Arial" panose="020B0604020202020204" pitchFamily="34" charset="0"/>
              <a:buChar char="•"/>
            </a:pPr>
            <a:r>
              <a:rPr lang="en-US" sz="2800" dirty="0">
                <a:solidFill>
                  <a:schemeClr val="tx1"/>
                </a:solidFill>
              </a:rPr>
              <a:t>Static Analysis</a:t>
            </a:r>
          </a:p>
          <a:p>
            <a:pPr marL="236538" indent="-236538">
              <a:spcAft>
                <a:spcPts val="1200"/>
              </a:spcAft>
              <a:buFont typeface="Arial" panose="020B0604020202020204" pitchFamily="34" charset="0"/>
              <a:buChar char="•"/>
            </a:pPr>
            <a:r>
              <a:rPr lang="en-US" sz="2800" dirty="0">
                <a:solidFill>
                  <a:schemeClr val="tx1"/>
                </a:solidFill>
              </a:rPr>
              <a:t>Dynamic Analysis</a:t>
            </a:r>
          </a:p>
          <a:p>
            <a:pPr marL="236538" indent="-236538">
              <a:spcAft>
                <a:spcPts val="1200"/>
              </a:spcAft>
              <a:buFont typeface="Arial" panose="020B0604020202020204" pitchFamily="34" charset="0"/>
              <a:buChar char="•"/>
            </a:pPr>
            <a:r>
              <a:rPr lang="en-US" sz="2800" dirty="0">
                <a:solidFill>
                  <a:schemeClr val="tx1"/>
                </a:solidFill>
              </a:rPr>
              <a:t>Fuzz Testing</a:t>
            </a:r>
          </a:p>
          <a:p>
            <a:pPr marL="236538" indent="-236538">
              <a:spcAft>
                <a:spcPts val="1200"/>
              </a:spcAft>
              <a:buFont typeface="Arial" panose="020B0604020202020204" pitchFamily="34" charset="0"/>
              <a:buChar char="•"/>
            </a:pPr>
            <a:r>
              <a:rPr lang="en-US" sz="2800" dirty="0">
                <a:solidFill>
                  <a:schemeClr val="tx1"/>
                </a:solidFill>
              </a:rPr>
              <a:t>Penetration Testing</a:t>
            </a:r>
          </a:p>
          <a:p>
            <a:pPr marL="236538" indent="-236538">
              <a:spcAft>
                <a:spcPts val="1200"/>
              </a:spcAft>
              <a:buFont typeface="Arial" panose="020B0604020202020204" pitchFamily="34" charset="0"/>
              <a:buChar char="•"/>
            </a:pPr>
            <a:r>
              <a:rPr lang="en-US" sz="2800" dirty="0">
                <a:solidFill>
                  <a:schemeClr val="tx1"/>
                </a:solidFill>
              </a:rPr>
              <a:t>Incident Response</a:t>
            </a:r>
          </a:p>
        </p:txBody>
      </p:sp>
    </p:spTree>
    <p:extLst>
      <p:ext uri="{BB962C8B-B14F-4D97-AF65-F5344CB8AC3E}">
        <p14:creationId xmlns:p14="http://schemas.microsoft.com/office/powerpoint/2010/main" val="372815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Workflow</a:t>
            </a:r>
            <a:endParaRPr dirty="0"/>
          </a:p>
        </p:txBody>
      </p:sp>
      <p:pic>
        <p:nvPicPr>
          <p:cNvPr id="4" name="Picture 3">
            <a:extLst>
              <a:ext uri="{FF2B5EF4-FFF2-40B4-BE49-F238E27FC236}">
                <a16:creationId xmlns:a16="http://schemas.microsoft.com/office/drawing/2014/main" id="{06D5297C-03CA-BA6D-C8DA-9024375FD8D4}"/>
              </a:ext>
            </a:extLst>
          </p:cNvPr>
          <p:cNvPicPr>
            <a:picLocks noChangeAspect="1"/>
          </p:cNvPicPr>
          <p:nvPr/>
        </p:nvPicPr>
        <p:blipFill>
          <a:blip r:embed="rId3"/>
          <a:srcRect/>
          <a:stretch/>
        </p:blipFill>
        <p:spPr>
          <a:xfrm>
            <a:off x="449481" y="1383992"/>
            <a:ext cx="11271697" cy="4635090"/>
          </a:xfrm>
          <a:prstGeom prst="rect">
            <a:avLst/>
          </a:prstGeom>
        </p:spPr>
      </p:pic>
    </p:spTree>
    <p:extLst>
      <p:ext uri="{BB962C8B-B14F-4D97-AF65-F5344CB8AC3E}">
        <p14:creationId xmlns:p14="http://schemas.microsoft.com/office/powerpoint/2010/main" val="3876755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CA74A19-D021-6AC4-D569-4213DE0AE55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288A4D-C8F5-9EFA-7DC0-3549DBBE052B}"/>
              </a:ext>
            </a:extLst>
          </p:cNvPr>
          <p:cNvPicPr>
            <a:picLocks noChangeAspect="1"/>
          </p:cNvPicPr>
          <p:nvPr/>
        </p:nvPicPr>
        <p:blipFill>
          <a:blip r:embed="rId3">
            <a:alphaModFix amt="10000"/>
          </a:blip>
          <a:srcRect/>
          <a:stretch/>
        </p:blipFill>
        <p:spPr>
          <a:xfrm>
            <a:off x="449481" y="1383992"/>
            <a:ext cx="11271697" cy="4635090"/>
          </a:xfrm>
          <a:prstGeom prst="rect">
            <a:avLst/>
          </a:prstGeom>
        </p:spPr>
      </p:pic>
      <p:pic>
        <p:nvPicPr>
          <p:cNvPr id="2" name="Picture 1">
            <a:extLst>
              <a:ext uri="{FF2B5EF4-FFF2-40B4-BE49-F238E27FC236}">
                <a16:creationId xmlns:a16="http://schemas.microsoft.com/office/drawing/2014/main" id="{720167BD-593E-E05E-46D8-FB3B7A3B3178}"/>
              </a:ext>
            </a:extLst>
          </p:cNvPr>
          <p:cNvPicPr>
            <a:picLocks noChangeAspect="1"/>
          </p:cNvPicPr>
          <p:nvPr/>
        </p:nvPicPr>
        <p:blipFill>
          <a:blip r:embed="rId4"/>
          <a:srcRect/>
          <a:stretch/>
        </p:blipFill>
        <p:spPr>
          <a:xfrm>
            <a:off x="447769" y="1383991"/>
            <a:ext cx="4323013" cy="4639333"/>
          </a:xfrm>
          <a:prstGeom prst="rect">
            <a:avLst/>
          </a:prstGeom>
        </p:spPr>
      </p:pic>
      <p:sp>
        <p:nvSpPr>
          <p:cNvPr id="1199" name="Google Shape;1199;p156">
            <a:extLst>
              <a:ext uri="{FF2B5EF4-FFF2-40B4-BE49-F238E27FC236}">
                <a16:creationId xmlns:a16="http://schemas.microsoft.com/office/drawing/2014/main" id="{57A67043-977D-334F-478C-52B2D3677DE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Workflow</a:t>
            </a:r>
            <a:endParaRPr dirty="0"/>
          </a:p>
        </p:txBody>
      </p:sp>
      <p:pic>
        <p:nvPicPr>
          <p:cNvPr id="3" name="Picture 2">
            <a:extLst>
              <a:ext uri="{FF2B5EF4-FFF2-40B4-BE49-F238E27FC236}">
                <a16:creationId xmlns:a16="http://schemas.microsoft.com/office/drawing/2014/main" id="{DE71F096-A5B4-7C29-AE13-2EA21927DFF0}"/>
              </a:ext>
            </a:extLst>
          </p:cNvPr>
          <p:cNvPicPr>
            <a:picLocks noChangeAspect="1"/>
          </p:cNvPicPr>
          <p:nvPr/>
        </p:nvPicPr>
        <p:blipFill>
          <a:blip r:embed="rId3">
            <a:alphaModFix amt="10000"/>
          </a:blip>
          <a:srcRect/>
          <a:stretch/>
        </p:blipFill>
        <p:spPr>
          <a:xfrm>
            <a:off x="447769" y="1388234"/>
            <a:ext cx="11271697" cy="4635090"/>
          </a:xfrm>
          <a:prstGeom prst="rect">
            <a:avLst/>
          </a:prstGeom>
        </p:spPr>
      </p:pic>
    </p:spTree>
    <p:extLst>
      <p:ext uri="{BB962C8B-B14F-4D97-AF65-F5344CB8AC3E}">
        <p14:creationId xmlns:p14="http://schemas.microsoft.com/office/powerpoint/2010/main" val="614704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BF88213-17C4-2C54-A95A-FEFA6C0941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8DA48E-1821-E6B1-661A-24BFC68601D2}"/>
              </a:ext>
            </a:extLst>
          </p:cNvPr>
          <p:cNvPicPr>
            <a:picLocks noChangeAspect="1"/>
          </p:cNvPicPr>
          <p:nvPr/>
        </p:nvPicPr>
        <p:blipFill>
          <a:blip r:embed="rId3"/>
          <a:srcRect/>
          <a:stretch/>
        </p:blipFill>
        <p:spPr>
          <a:xfrm>
            <a:off x="3714607" y="1385826"/>
            <a:ext cx="4124054" cy="4640879"/>
          </a:xfrm>
          <a:prstGeom prst="rect">
            <a:avLst/>
          </a:prstGeom>
        </p:spPr>
      </p:pic>
      <p:sp>
        <p:nvSpPr>
          <p:cNvPr id="1199" name="Google Shape;1199;p156">
            <a:extLst>
              <a:ext uri="{FF2B5EF4-FFF2-40B4-BE49-F238E27FC236}">
                <a16:creationId xmlns:a16="http://schemas.microsoft.com/office/drawing/2014/main" id="{FD267F13-C526-B3EA-9138-D65BB404357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Workflow</a:t>
            </a:r>
            <a:endParaRPr dirty="0"/>
          </a:p>
        </p:txBody>
      </p:sp>
      <p:pic>
        <p:nvPicPr>
          <p:cNvPr id="4" name="Picture 3">
            <a:extLst>
              <a:ext uri="{FF2B5EF4-FFF2-40B4-BE49-F238E27FC236}">
                <a16:creationId xmlns:a16="http://schemas.microsoft.com/office/drawing/2014/main" id="{B63E55B6-A883-8F20-F38F-F8490933B7D3}"/>
              </a:ext>
            </a:extLst>
          </p:cNvPr>
          <p:cNvPicPr>
            <a:picLocks noChangeAspect="1"/>
          </p:cNvPicPr>
          <p:nvPr/>
        </p:nvPicPr>
        <p:blipFill>
          <a:blip r:embed="rId4">
            <a:alphaModFix amt="10000"/>
          </a:blip>
          <a:srcRect/>
          <a:stretch/>
        </p:blipFill>
        <p:spPr>
          <a:xfrm>
            <a:off x="449481" y="1383992"/>
            <a:ext cx="11271697" cy="4635090"/>
          </a:xfrm>
          <a:prstGeom prst="rect">
            <a:avLst/>
          </a:prstGeom>
        </p:spPr>
      </p:pic>
    </p:spTree>
    <p:extLst>
      <p:ext uri="{BB962C8B-B14F-4D97-AF65-F5344CB8AC3E}">
        <p14:creationId xmlns:p14="http://schemas.microsoft.com/office/powerpoint/2010/main" val="1195174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85C8F4E-9D79-632D-C189-18139D8250B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3122471-33A2-6992-884E-A0BF612E4F0C}"/>
              </a:ext>
            </a:extLst>
          </p:cNvPr>
          <p:cNvPicPr>
            <a:picLocks noChangeAspect="1"/>
          </p:cNvPicPr>
          <p:nvPr/>
        </p:nvPicPr>
        <p:blipFill>
          <a:blip r:embed="rId3"/>
          <a:srcRect/>
          <a:stretch/>
        </p:blipFill>
        <p:spPr>
          <a:xfrm>
            <a:off x="6671319" y="1395527"/>
            <a:ext cx="5055506" cy="4635090"/>
          </a:xfrm>
          <a:prstGeom prst="rect">
            <a:avLst/>
          </a:prstGeom>
        </p:spPr>
      </p:pic>
      <p:sp>
        <p:nvSpPr>
          <p:cNvPr id="1199" name="Google Shape;1199;p156">
            <a:extLst>
              <a:ext uri="{FF2B5EF4-FFF2-40B4-BE49-F238E27FC236}">
                <a16:creationId xmlns:a16="http://schemas.microsoft.com/office/drawing/2014/main" id="{57A679B5-9424-1B6C-62E3-9B273EF0C27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Prioritization Workflow</a:t>
            </a:r>
            <a:endParaRPr dirty="0"/>
          </a:p>
        </p:txBody>
      </p:sp>
      <p:pic>
        <p:nvPicPr>
          <p:cNvPr id="4" name="Picture 3">
            <a:extLst>
              <a:ext uri="{FF2B5EF4-FFF2-40B4-BE49-F238E27FC236}">
                <a16:creationId xmlns:a16="http://schemas.microsoft.com/office/drawing/2014/main" id="{22B18C43-8CC8-86AD-6761-572DBD654655}"/>
              </a:ext>
            </a:extLst>
          </p:cNvPr>
          <p:cNvPicPr>
            <a:picLocks noChangeAspect="1"/>
          </p:cNvPicPr>
          <p:nvPr/>
        </p:nvPicPr>
        <p:blipFill>
          <a:blip r:embed="rId4">
            <a:alphaModFix amt="10000"/>
          </a:blip>
          <a:srcRect/>
          <a:stretch/>
        </p:blipFill>
        <p:spPr>
          <a:xfrm>
            <a:off x="449481" y="1383992"/>
            <a:ext cx="11271697" cy="4635090"/>
          </a:xfrm>
          <a:prstGeom prst="rect">
            <a:avLst/>
          </a:prstGeom>
        </p:spPr>
      </p:pic>
    </p:spTree>
    <p:extLst>
      <p:ext uri="{BB962C8B-B14F-4D97-AF65-F5344CB8AC3E}">
        <p14:creationId xmlns:p14="http://schemas.microsoft.com/office/powerpoint/2010/main" val="1913508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683F98B-0865-389F-7AC7-DB4A13CA4584}"/>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D603143-1F2F-5768-3F3D-390A4DC5B798}"/>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Activities</a:t>
            </a:r>
            <a:endParaRPr sz="6600" dirty="0"/>
          </a:p>
        </p:txBody>
      </p:sp>
    </p:spTree>
    <p:extLst>
      <p:ext uri="{BB962C8B-B14F-4D97-AF65-F5344CB8AC3E}">
        <p14:creationId xmlns:p14="http://schemas.microsoft.com/office/powerpoint/2010/main" val="3803324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0" name="TextBox 9">
            <a:extLst>
              <a:ext uri="{FF2B5EF4-FFF2-40B4-BE49-F238E27FC236}">
                <a16:creationId xmlns:a16="http://schemas.microsoft.com/office/drawing/2014/main" id="{21EACE3A-75D3-2142-66F6-07AF99643EAC}"/>
              </a:ext>
            </a:extLst>
          </p:cNvPr>
          <p:cNvSpPr txBox="1"/>
          <p:nvPr/>
        </p:nvSpPr>
        <p:spPr>
          <a:xfrm>
            <a:off x="455618" y="2875002"/>
            <a:ext cx="3833422"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Worst case focus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a standard rubric</a:t>
            </a:r>
          </a:p>
        </p:txBody>
      </p:sp>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5787899" y="758975"/>
            <a:ext cx="4975955" cy="534005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Ranking</a:t>
            </a:r>
            <a:endParaRPr dirty="0"/>
          </a:p>
        </p:txBody>
      </p:sp>
    </p:spTree>
    <p:extLst>
      <p:ext uri="{BB962C8B-B14F-4D97-AF65-F5344CB8AC3E}">
        <p14:creationId xmlns:p14="http://schemas.microsoft.com/office/powerpoint/2010/main" val="3534932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198"/>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B7E9AC4-A6EE-8088-E122-011772742AFB}"/>
              </a:ext>
            </a:extLst>
          </p:cNvPr>
          <p:cNvCxnSpPr/>
          <p:nvPr/>
        </p:nvCxnSpPr>
        <p:spPr>
          <a:xfrm flipV="1">
            <a:off x="1137037" y="874643"/>
            <a:ext cx="10026594" cy="52876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6353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6145843" y="764912"/>
            <a:ext cx="4744278" cy="5338829"/>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Risking</a:t>
            </a:r>
            <a:endParaRPr dirty="0"/>
          </a:p>
        </p:txBody>
      </p:sp>
      <p:sp>
        <p:nvSpPr>
          <p:cNvPr id="8" name="TextBox 7">
            <a:extLst>
              <a:ext uri="{FF2B5EF4-FFF2-40B4-BE49-F238E27FC236}">
                <a16:creationId xmlns:a16="http://schemas.microsoft.com/office/drawing/2014/main" id="{64FF8743-E4B6-DD11-90D6-630AB500C2E7}"/>
              </a:ext>
            </a:extLst>
          </p:cNvPr>
          <p:cNvSpPr txBox="1"/>
          <p:nvPr/>
        </p:nvSpPr>
        <p:spPr>
          <a:xfrm>
            <a:off x="455618" y="2875002"/>
            <a:ext cx="3833422"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System-level focus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a standard rubric</a:t>
            </a:r>
          </a:p>
        </p:txBody>
      </p:sp>
    </p:spTree>
    <p:extLst>
      <p:ext uri="{BB962C8B-B14F-4D97-AF65-F5344CB8AC3E}">
        <p14:creationId xmlns:p14="http://schemas.microsoft.com/office/powerpoint/2010/main" val="3706802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198"/>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8A2B3B59-3995-4A54-5D5E-E9BA19F5149F}"/>
              </a:ext>
            </a:extLst>
          </p:cNvPr>
          <p:cNvCxnSpPr/>
          <p:nvPr/>
        </p:nvCxnSpPr>
        <p:spPr>
          <a:xfrm flipV="1">
            <a:off x="1137037" y="874643"/>
            <a:ext cx="10026594" cy="52876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278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5911820" y="761744"/>
            <a:ext cx="5821387" cy="5337281"/>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Candidate Slicing</a:t>
            </a:r>
            <a:endParaRPr dirty="0"/>
          </a:p>
        </p:txBody>
      </p:sp>
      <p:sp>
        <p:nvSpPr>
          <p:cNvPr id="8" name="TextBox 7">
            <a:extLst>
              <a:ext uri="{FF2B5EF4-FFF2-40B4-BE49-F238E27FC236}">
                <a16:creationId xmlns:a16="http://schemas.microsoft.com/office/drawing/2014/main" id="{9C828821-14DB-0B87-C1B4-625B76F82EC8}"/>
              </a:ext>
            </a:extLst>
          </p:cNvPr>
          <p:cNvSpPr txBox="1"/>
          <p:nvPr/>
        </p:nvSpPr>
        <p:spPr>
          <a:xfrm>
            <a:off x="455618" y="2875002"/>
            <a:ext cx="5159105"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an approved risk appetite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Don’t game the results</a:t>
            </a:r>
          </a:p>
        </p:txBody>
      </p:sp>
    </p:spTree>
    <p:extLst>
      <p:ext uri="{BB962C8B-B14F-4D97-AF65-F5344CB8AC3E}">
        <p14:creationId xmlns:p14="http://schemas.microsoft.com/office/powerpoint/2010/main" val="2158717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1198"/>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4687C36E-6BAA-39E0-630C-8B428BEABFE5}"/>
              </a:ext>
            </a:extLst>
          </p:cNvPr>
          <p:cNvCxnSpPr/>
          <p:nvPr/>
        </p:nvCxnSpPr>
        <p:spPr>
          <a:xfrm flipV="1">
            <a:off x="1137037" y="874643"/>
            <a:ext cx="10026594" cy="52876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9671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198">
          <a:extLst>
            <a:ext uri="{FF2B5EF4-FFF2-40B4-BE49-F238E27FC236}">
              <a16:creationId xmlns:a16="http://schemas.microsoft.com/office/drawing/2014/main" id="{48A68F8A-3BAA-3047-F31B-8428ACF3262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8E36E84-F554-2261-970F-8AC126AE9CCF}"/>
              </a:ext>
            </a:extLst>
          </p:cNvPr>
          <p:cNvSpPr/>
          <p:nvPr/>
        </p:nvSpPr>
        <p:spPr>
          <a:xfrm>
            <a:off x="4903304" y="1100656"/>
            <a:ext cx="5443880" cy="5243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AF514AB-5B35-6964-E02C-4A8119DD9713}"/>
              </a:ext>
            </a:extLst>
          </p:cNvPr>
          <p:cNvSpPr/>
          <p:nvPr/>
        </p:nvSpPr>
        <p:spPr>
          <a:xfrm>
            <a:off x="1841640" y="1100656"/>
            <a:ext cx="1193108" cy="49158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CA42F9-C533-6B01-C5F3-831F2BD7F670}"/>
              </a:ext>
            </a:extLst>
          </p:cNvPr>
          <p:cNvSpPr/>
          <p:nvPr/>
        </p:nvSpPr>
        <p:spPr>
          <a:xfrm>
            <a:off x="9154074" y="6016487"/>
            <a:ext cx="1193109" cy="3742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1A4E46F4-5216-7864-B98E-CC7AAB5031ED}"/>
              </a:ext>
            </a:extLst>
          </p:cNvPr>
          <p:cNvCxnSpPr/>
          <p:nvPr/>
        </p:nvCxnSpPr>
        <p:spPr>
          <a:xfrm flipV="1">
            <a:off x="1137037" y="874643"/>
            <a:ext cx="10026594" cy="52876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7921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5B88358-72C7-8AD8-7247-865B380ED04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E91CF19-B022-0824-E4EF-E74F7564FF18}"/>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Multiple Risk Domains</a:t>
            </a:r>
            <a:endParaRPr sz="6600" dirty="0"/>
          </a:p>
        </p:txBody>
      </p:sp>
    </p:spTree>
    <p:extLst>
      <p:ext uri="{BB962C8B-B14F-4D97-AF65-F5344CB8AC3E}">
        <p14:creationId xmlns:p14="http://schemas.microsoft.com/office/powerpoint/2010/main" val="1489101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Risk Domains</a:t>
            </a:r>
            <a:endParaRPr dirty="0"/>
          </a:p>
        </p:txBody>
      </p:sp>
      <p:pic>
        <p:nvPicPr>
          <p:cNvPr id="3" name="Picture 2">
            <a:extLst>
              <a:ext uri="{FF2B5EF4-FFF2-40B4-BE49-F238E27FC236}">
                <a16:creationId xmlns:a16="http://schemas.microsoft.com/office/drawing/2014/main" id="{48899258-C18B-C768-27CF-AEC4B54F6E63}"/>
              </a:ext>
            </a:extLst>
          </p:cNvPr>
          <p:cNvPicPr>
            <a:picLocks noChangeAspect="1"/>
          </p:cNvPicPr>
          <p:nvPr/>
        </p:nvPicPr>
        <p:blipFill>
          <a:blip r:embed="rId3"/>
          <a:srcRect/>
          <a:stretch/>
        </p:blipFill>
        <p:spPr>
          <a:xfrm>
            <a:off x="1076474" y="2211054"/>
            <a:ext cx="10035876" cy="2435892"/>
          </a:xfrm>
          <a:prstGeom prst="rect">
            <a:avLst/>
          </a:prstGeom>
        </p:spPr>
      </p:pic>
    </p:spTree>
    <p:extLst>
      <p:ext uri="{BB962C8B-B14F-4D97-AF65-F5344CB8AC3E}">
        <p14:creationId xmlns:p14="http://schemas.microsoft.com/office/powerpoint/2010/main" val="782557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Multi-domain Workflow</a:t>
            </a:r>
            <a:endParaRPr dirty="0"/>
          </a:p>
        </p:txBody>
      </p:sp>
      <p:pic>
        <p:nvPicPr>
          <p:cNvPr id="7" name="Picture 6">
            <a:extLst>
              <a:ext uri="{FF2B5EF4-FFF2-40B4-BE49-F238E27FC236}">
                <a16:creationId xmlns:a16="http://schemas.microsoft.com/office/drawing/2014/main" id="{EF4E085A-18A6-BFF1-E4AB-7979710815A2}"/>
              </a:ext>
            </a:extLst>
          </p:cNvPr>
          <p:cNvPicPr>
            <a:picLocks noChangeAspect="1"/>
          </p:cNvPicPr>
          <p:nvPr/>
        </p:nvPicPr>
        <p:blipFill>
          <a:blip r:embed="rId3"/>
          <a:srcRect/>
          <a:stretch/>
        </p:blipFill>
        <p:spPr>
          <a:xfrm>
            <a:off x="2193777" y="2029547"/>
            <a:ext cx="7144814" cy="2938054"/>
          </a:xfrm>
          <a:prstGeom prst="rect">
            <a:avLst/>
          </a:prstGeom>
        </p:spPr>
      </p:pic>
    </p:spTree>
    <p:extLst>
      <p:ext uri="{BB962C8B-B14F-4D97-AF65-F5344CB8AC3E}">
        <p14:creationId xmlns:p14="http://schemas.microsoft.com/office/powerpoint/2010/main" val="3152699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BCF1528C-8CA1-088A-4C6A-8F0A9EE7751A}"/>
              </a:ext>
            </a:extLst>
          </p:cNvPr>
          <p:cNvPicPr>
            <a:picLocks noChangeAspect="1"/>
          </p:cNvPicPr>
          <p:nvPr/>
        </p:nvPicPr>
        <p:blipFill>
          <a:blip r:embed="rId3"/>
          <a:srcRect/>
          <a:stretch/>
        </p:blipFill>
        <p:spPr>
          <a:xfrm>
            <a:off x="1791755" y="230342"/>
            <a:ext cx="9795890" cy="6397316"/>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Multi-domain Workflow</a:t>
            </a:r>
            <a:endParaRPr dirty="0"/>
          </a:p>
        </p:txBody>
      </p:sp>
      <p:sp>
        <p:nvSpPr>
          <p:cNvPr id="2" name="Rectangle 1">
            <a:extLst>
              <a:ext uri="{FF2B5EF4-FFF2-40B4-BE49-F238E27FC236}">
                <a16:creationId xmlns:a16="http://schemas.microsoft.com/office/drawing/2014/main" id="{26EB414D-B620-8ECC-AC4D-41B29811998D}"/>
              </a:ext>
            </a:extLst>
          </p:cNvPr>
          <p:cNvSpPr/>
          <p:nvPr/>
        </p:nvSpPr>
        <p:spPr>
          <a:xfrm>
            <a:off x="8792817" y="1623391"/>
            <a:ext cx="2794828" cy="34919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1DA5FE9-D2EA-3AEB-3C86-8457F99C582B}"/>
              </a:ext>
            </a:extLst>
          </p:cNvPr>
          <p:cNvSpPr/>
          <p:nvPr/>
        </p:nvSpPr>
        <p:spPr>
          <a:xfrm>
            <a:off x="8666922" y="1524001"/>
            <a:ext cx="125895" cy="262200"/>
          </a:xfrm>
          <a:prstGeom prst="rect">
            <a:avLst/>
          </a:prstGeom>
          <a:solidFill>
            <a:srgbClr val="D4E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E86028C-4CA6-9B83-F353-9250FC06DC0E}"/>
              </a:ext>
            </a:extLst>
          </p:cNvPr>
          <p:cNvSpPr/>
          <p:nvPr/>
        </p:nvSpPr>
        <p:spPr>
          <a:xfrm>
            <a:off x="8666889" y="4984239"/>
            <a:ext cx="125895" cy="262200"/>
          </a:xfrm>
          <a:prstGeom prst="rect">
            <a:avLst/>
          </a:prstGeom>
          <a:solidFill>
            <a:srgbClr val="D4E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1222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6231D8A-E4FA-F966-8FB9-369DC79376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EB12AFF-3FD9-1AD8-6544-DEC7FC553CA2}"/>
              </a:ext>
            </a:extLst>
          </p:cNvPr>
          <p:cNvPicPr>
            <a:picLocks noChangeAspect="1"/>
          </p:cNvPicPr>
          <p:nvPr/>
        </p:nvPicPr>
        <p:blipFill>
          <a:blip r:embed="rId3"/>
          <a:srcRect/>
          <a:stretch/>
        </p:blipFill>
        <p:spPr>
          <a:xfrm>
            <a:off x="1791755" y="230342"/>
            <a:ext cx="9795890" cy="6397316"/>
          </a:xfrm>
          <a:prstGeom prst="rect">
            <a:avLst/>
          </a:prstGeom>
        </p:spPr>
      </p:pic>
      <p:sp>
        <p:nvSpPr>
          <p:cNvPr id="1199" name="Google Shape;1199;p156">
            <a:extLst>
              <a:ext uri="{FF2B5EF4-FFF2-40B4-BE49-F238E27FC236}">
                <a16:creationId xmlns:a16="http://schemas.microsoft.com/office/drawing/2014/main" id="{704850A3-311D-8E70-AF95-DDBFDB70D92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Multi-domain Workflow</a:t>
            </a:r>
            <a:endParaRPr dirty="0"/>
          </a:p>
        </p:txBody>
      </p:sp>
    </p:spTree>
    <p:extLst>
      <p:ext uri="{BB962C8B-B14F-4D97-AF65-F5344CB8AC3E}">
        <p14:creationId xmlns:p14="http://schemas.microsoft.com/office/powerpoint/2010/main" val="1575429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9FF1CD1-917B-AD08-151D-AA26B00D296C}"/>
              </a:ext>
            </a:extLst>
          </p:cNvPr>
          <p:cNvPicPr>
            <a:picLocks noChangeAspect="1"/>
          </p:cNvPicPr>
          <p:nvPr/>
        </p:nvPicPr>
        <p:blipFill>
          <a:blip r:embed="rId3"/>
          <a:srcRect/>
          <a:stretch/>
        </p:blipFill>
        <p:spPr>
          <a:xfrm>
            <a:off x="5782113" y="758976"/>
            <a:ext cx="6077222" cy="533728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Multiple Risk Domain Consolidation</a:t>
            </a:r>
            <a:endParaRPr dirty="0"/>
          </a:p>
        </p:txBody>
      </p:sp>
      <p:sp>
        <p:nvSpPr>
          <p:cNvPr id="4" name="TextBox 3">
            <a:extLst>
              <a:ext uri="{FF2B5EF4-FFF2-40B4-BE49-F238E27FC236}">
                <a16:creationId xmlns:a16="http://schemas.microsoft.com/office/drawing/2014/main" id="{0BA7C414-F424-A3DB-EC84-3365EDD3A462}"/>
              </a:ext>
            </a:extLst>
          </p:cNvPr>
          <p:cNvSpPr txBox="1"/>
          <p:nvPr/>
        </p:nvSpPr>
        <p:spPr>
          <a:xfrm>
            <a:off x="455618" y="2875002"/>
            <a:ext cx="4452181"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Consider all risk domains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Preserve traceability</a:t>
            </a:r>
          </a:p>
        </p:txBody>
      </p:sp>
    </p:spTree>
    <p:extLst>
      <p:ext uri="{BB962C8B-B14F-4D97-AF65-F5344CB8AC3E}">
        <p14:creationId xmlns:p14="http://schemas.microsoft.com/office/powerpoint/2010/main" val="1501106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8765861"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rPr>
              <a:t>Determine the likelihood (rank)</a:t>
            </a:r>
          </a:p>
          <a:p>
            <a:pPr marL="236538" indent="-236538">
              <a:spcAft>
                <a:spcPts val="1200"/>
              </a:spcAft>
              <a:buFont typeface="Arial" panose="020B0604020202020204" pitchFamily="34" charset="0"/>
              <a:buChar char="•"/>
            </a:pPr>
            <a:r>
              <a:rPr lang="en-US" sz="2800" dirty="0">
                <a:solidFill>
                  <a:schemeClr val="tx1"/>
                </a:solidFill>
              </a:rPr>
              <a:t>Determine the impact (risk)</a:t>
            </a:r>
          </a:p>
          <a:p>
            <a:pPr marL="236538" indent="-236538">
              <a:spcAft>
                <a:spcPts val="1200"/>
              </a:spcAft>
              <a:buFont typeface="Arial" panose="020B0604020202020204" pitchFamily="34" charset="0"/>
              <a:buChar char="•"/>
            </a:pPr>
            <a:r>
              <a:rPr lang="en-US" sz="2800" dirty="0">
                <a:solidFill>
                  <a:schemeClr val="tx1"/>
                </a:solidFill>
              </a:rPr>
              <a:t>Identify uncontrolled threats (slice)</a:t>
            </a:r>
          </a:p>
          <a:p>
            <a:pPr marL="236538" indent="-236538">
              <a:spcAft>
                <a:spcPts val="1200"/>
              </a:spcAft>
              <a:buFont typeface="Arial" panose="020B0604020202020204" pitchFamily="34" charset="0"/>
              <a:buChar char="•"/>
            </a:pPr>
            <a:r>
              <a:rPr lang="en-US" sz="2800" dirty="0">
                <a:solidFill>
                  <a:schemeClr val="tx1"/>
                </a:solidFill>
              </a:rPr>
              <a:t>Merge multiple risk domain information (consolidate)</a:t>
            </a:r>
          </a:p>
        </p:txBody>
      </p:sp>
    </p:spTree>
    <p:extLst>
      <p:ext uri="{BB962C8B-B14F-4D97-AF65-F5344CB8AC3E}">
        <p14:creationId xmlns:p14="http://schemas.microsoft.com/office/powerpoint/2010/main" val="170359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7110" y="1244679"/>
            <a:ext cx="4074598" cy="527300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50291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513986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a:t>
            </a:r>
            <a:r>
              <a:rPr lang="en-US"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Incident Response Plan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Attack Surface Analysis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Modeling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Prioritization Plan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Static Analysis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Dynamic Analysis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Fuzz Testing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Penetration Testing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pPr>
            <a:r>
              <a:rPr lang="en-US" b="1" dirty="0"/>
              <a:t>NIST SP 800-39 - Managing Information Security Risk - Organization, Mission, and Information System View</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https://nvlpubs.nist.gov/nistpubs/Legacy/SP/nistspecialpublication800-39.pdf</a:t>
            </a: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57400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DE8A9917-F853-C175-0BD0-A65EC43610D9}"/>
              </a:ext>
            </a:extLst>
          </p:cNvPr>
          <p:cNvSpPr txBox="1">
            <a:spLocks/>
          </p:cNvSpPr>
          <p:nvPr/>
        </p:nvSpPr>
        <p:spPr>
          <a:xfrm>
            <a:off x="455616" y="1146448"/>
            <a:ext cx="11277592" cy="421653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t>NIST SP 800-30 r1 - Guide for Conducting Risk Assessments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https://nvlpubs.nist.gov/nistpubs/Legacy/SP/nistspecialpublication800-30r1.pdf</a:t>
            </a:r>
            <a:r>
              <a:rPr lang="en-US" sz="20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EVITA D2.3 Security requirements for automotive on-board networks based on dark-side scenarios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https://zenodo.org/record/1188418/files/EVITAD2.3v1.1.pdf</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Jeff Masin, a one-man band in New York City </a:t>
            </a:r>
            <a:r>
              <a:rPr lang="en-US" dirty="0"/>
              <a:t>[slgckgc, CC BY 2.0]</a:t>
            </a:r>
          </a:p>
          <a:p>
            <a:pPr marL="0" indent="0">
              <a:spcBef>
                <a:spcPts val="0"/>
              </a:spcBef>
            </a:pPr>
            <a:r>
              <a:rPr lang="en-US" sz="1400" b="1" dirty="0">
                <a:latin typeface="Courier New" panose="02070309020205020404" pitchFamily="49" charset="0"/>
                <a:cs typeface="Courier New" panose="02070309020205020404" pitchFamily="49" charset="0"/>
                <a:hlinkClick r:id="rId5"/>
              </a:rPr>
              <a:t>https://www.flickr.com/photos/slgc/8037345945/</a:t>
            </a:r>
            <a:endParaRPr lang="en-US" sz="1400" b="1" dirty="0">
              <a:latin typeface="Courier New" panose="02070309020205020404" pitchFamily="49"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6"/>
              </a:rPr>
              <a:t>https://commons.wikimedia.org/w/index.php?curid=47370848</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Orchestra Simfonica București </a:t>
            </a:r>
            <a:r>
              <a:rPr lang="en-US" dirty="0"/>
              <a:t>[Alxndrul - own work, CC BY-SA 4.0]</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7"/>
              </a:rPr>
              <a:t>https://commons.wikimedia.org/w/index.php?curid=47237273</a:t>
            </a:r>
            <a:r>
              <a:rPr lang="en-US" sz="1400" b="1" dirty="0">
                <a:latin typeface="Courier New" panose="02070309020205020404" pitchFamily="49" charset="0"/>
                <a:cs typeface="Courier New" panose="02070309020205020404" pitchFamily="49" charset="0"/>
              </a:rPr>
              <a:t> </a:t>
            </a:r>
          </a:p>
          <a:p>
            <a:pPr marL="0" lvl="0" indent="0">
              <a:spcBef>
                <a:spcPts val="0"/>
              </a:spcBef>
            </a:pPr>
            <a:r>
              <a:rPr lang="en-US" b="1" dirty="0">
                <a:latin typeface="Roboto" panose="02000000000000000000" pitchFamily="2" charset="0"/>
                <a:ea typeface="Roboto" panose="02000000000000000000" pitchFamily="2" charset="0"/>
                <a:cs typeface="Calibri" panose="020F0502020204030204" pitchFamily="34" charset="0"/>
              </a:rPr>
              <a:t>One man band 1865</a:t>
            </a:r>
            <a:r>
              <a:rPr lang="en-US" dirty="0">
                <a:latin typeface="Roboto" panose="02000000000000000000" pitchFamily="2" charset="0"/>
                <a:ea typeface="Roboto" panose="02000000000000000000" pitchFamily="2" charset="0"/>
                <a:cs typeface="Calibri" panose="020F0502020204030204" pitchFamily="34" charset="0"/>
              </a:rPr>
              <a:t> [Lemur12 - own work, CC BY-SA 3.0]</a:t>
            </a:r>
          </a:p>
          <a:p>
            <a:pPr marL="0" lvl="0" indent="0">
              <a:spcBef>
                <a:spcPts val="0"/>
              </a:spcBef>
            </a:pPr>
            <a:r>
              <a:rPr lang="en-US" sz="1400" b="1" dirty="0">
                <a:latin typeface="Courier New" panose="02070309020205020404" pitchFamily="49" charset="0"/>
                <a:cs typeface="Courier New" panose="02070309020205020404" pitchFamily="49" charset="0"/>
                <a:hlinkClick r:id="rId8"/>
              </a:rPr>
              <a:t>https://commons.wikimedia.org/w/index.php?curid=5527428</a:t>
            </a:r>
            <a:r>
              <a:rPr lang="en-US" sz="1400" b="1" dirty="0">
                <a:latin typeface="Courier New" panose="02070309020205020404" pitchFamily="49" charset="0"/>
                <a:cs typeface="Courier New" panose="02070309020205020404" pitchFamily="49" charset="0"/>
              </a:rPr>
              <a:t> </a:t>
            </a:r>
          </a:p>
          <a:p>
            <a:pPr marL="0" indent="0">
              <a:spcBef>
                <a:spcPts val="0"/>
              </a:spcBef>
              <a:spcAft>
                <a:spcPts val="1200"/>
              </a:spcAft>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13108038"/>
      </p:ext>
    </p:extLst>
  </p:cSld>
  <p:clrMapOvr>
    <a:masterClrMapping/>
  </p:clrMapOvr>
</p:sld>
</file>

<file path=ppt/theme/theme1.xml><?xml version="1.0" encoding="utf-8"?>
<a:theme xmlns:a="http://schemas.openxmlformats.org/drawingml/2006/main" name="1_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263019</TotalTime>
  <Words>3905</Words>
  <Application>Microsoft Macintosh PowerPoint</Application>
  <PresentationFormat>Custom</PresentationFormat>
  <Paragraphs>767</Paragraphs>
  <Slides>34</Slides>
  <Notes>34</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Roboto</vt:lpstr>
      <vt:lpstr>Calibri</vt:lpstr>
      <vt:lpstr>Roboto Medium</vt:lpstr>
      <vt:lpstr>Courier New</vt:lpstr>
      <vt:lpstr>1_Motional Masters</vt:lpstr>
      <vt:lpstr>Threat Prioritization Overview</vt:lpstr>
      <vt:lpstr>Training Path</vt:lpstr>
      <vt:lpstr>Introduction*</vt:lpstr>
      <vt:lpstr>Introduction – Overlay</vt:lpstr>
      <vt:lpstr>Introduction*</vt:lpstr>
      <vt:lpstr>Threat Candidate Sources</vt:lpstr>
      <vt:lpstr>Sources</vt:lpstr>
      <vt:lpstr>Workflow</vt:lpstr>
      <vt:lpstr>Threat Prioritization Workflow</vt:lpstr>
      <vt:lpstr>Threat Prioritization Workflow</vt:lpstr>
      <vt:lpstr>Threat Prioritization Workflow</vt:lpstr>
      <vt:lpstr>Threat Prioritization Workflow</vt:lpstr>
      <vt:lpstr>Activities</vt:lpstr>
      <vt:lpstr>Threat Candidate Ranking</vt:lpstr>
      <vt:lpstr>PowerPoint Presentation</vt:lpstr>
      <vt:lpstr>Threat Candidate Risking</vt:lpstr>
      <vt:lpstr>PowerPoint Presentation</vt:lpstr>
      <vt:lpstr>Threat Candidate Slicing</vt:lpstr>
      <vt:lpstr>PowerPoint Presentation</vt:lpstr>
      <vt:lpstr>PowerPoint Presentation</vt:lpstr>
      <vt:lpstr>Multiple Risk Domains</vt:lpstr>
      <vt:lpstr>Risk Domains</vt:lpstr>
      <vt:lpstr>Multi-domain Workflow</vt:lpstr>
      <vt:lpstr>Multi-domain Workflow</vt:lpstr>
      <vt:lpstr>Multi-domain Workflow</vt:lpstr>
      <vt:lpstr>Multiple Risk Domain Consolidation</vt:lpstr>
      <vt:lpstr>Recap</vt:lpstr>
      <vt:lpstr>Summary</vt:lpstr>
      <vt:lpstr>Further Reading</vt:lpstr>
      <vt:lpstr>AVCDL on GitHub</vt:lpstr>
      <vt:lpstr>AVCDL on YouTube</vt:lpstr>
      <vt:lpstr>Next Steps</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Prioritization Overview (training)</dc:title>
  <dc:subject>threat prioritization overview</dc:subject>
  <dc:creator>Charles Wilson</dc:creator>
  <cp:keywords>cybersecurity, threat prioritization</cp:keywords>
  <dc:description>This work was created by Torc Robotics and is licensed under the Creative Commons Attribution-Share Alike (CC BY-SA-4.0) License.
https://creativecommons.org/licenses/by/4.0/legalcode
</dc:description>
  <cp:lastModifiedBy>Charles Wilson</cp:lastModifiedBy>
  <cp:revision>484</cp:revision>
  <cp:lastPrinted>2023-10-06T18:22:29Z</cp:lastPrinted>
  <dcterms:modified xsi:type="dcterms:W3CDTF">2026-07-27T14:48:02Z</dcterms:modified>
  <cp:category>cybersecurity</cp:category>
</cp:coreProperties>
</file>