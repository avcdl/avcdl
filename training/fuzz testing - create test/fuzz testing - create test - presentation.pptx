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7"/>
  </p:notesMasterIdLst>
  <p:sldIdLst>
    <p:sldId id="256" r:id="rId4"/>
    <p:sldId id="306" r:id="rId5"/>
    <p:sldId id="648" r:id="rId6"/>
    <p:sldId id="607" r:id="rId7"/>
    <p:sldId id="636" r:id="rId8"/>
    <p:sldId id="682" r:id="rId9"/>
    <p:sldId id="678" r:id="rId10"/>
    <p:sldId id="679" r:id="rId11"/>
    <p:sldId id="672" r:id="rId12"/>
    <p:sldId id="675" r:id="rId13"/>
    <p:sldId id="676" r:id="rId14"/>
    <p:sldId id="687" r:id="rId15"/>
    <p:sldId id="688" r:id="rId16"/>
    <p:sldId id="689" r:id="rId17"/>
    <p:sldId id="667" r:id="rId18"/>
    <p:sldId id="668" r:id="rId19"/>
    <p:sldId id="603" r:id="rId20"/>
    <p:sldId id="488" r:id="rId21"/>
    <p:sldId id="343" r:id="rId22"/>
    <p:sldId id="683" r:id="rId23"/>
    <p:sldId id="684" r:id="rId24"/>
    <p:sldId id="420" r:id="rId25"/>
    <p:sldId id="659" r:id="rId26"/>
  </p:sldIdLst>
  <p:sldSz cx="12188825" cy="6858000"/>
  <p:notesSz cx="6858000" cy="9144000"/>
  <p:embeddedFontLst>
    <p:embeddedFont>
      <p:font typeface="Roboto" panose="02000000000000000000" pitchFamily="2" charset="0"/>
      <p:regular r:id="rId28"/>
      <p:bold r:id="rId29"/>
      <p:italic r:id="rId30"/>
      <p:boldItalic r:id="rId31"/>
    </p:embeddedFont>
    <p:embeddedFont>
      <p:font typeface="Roboto Medium" panose="02000000000000000000" pitchFamily="2" charset="0"/>
      <p:regular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99"/>
    <p:restoredTop sz="73447"/>
  </p:normalViewPr>
  <p:slideViewPr>
    <p:cSldViewPr snapToGrid="0">
      <p:cViewPr varScale="1">
        <p:scale>
          <a:sx n="186" d="100"/>
          <a:sy n="186" d="100"/>
        </p:scale>
        <p:origin x="248" y="216"/>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Charles Wilson, staff product cybersecurity architect at Torc Robotics.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presentation will cover the </a:t>
            </a:r>
            <a:r>
              <a:rPr lang="en-US" sz="1400" b="1" dirty="0">
                <a:solidFill>
                  <a:srgbClr val="1D1C1D"/>
                </a:solidFill>
                <a:effectLst/>
                <a:latin typeface="Calibri" panose="020F0502020204030204" pitchFamily="34" charset="0"/>
                <a:cs typeface="Calibri" panose="020F0502020204030204" pitchFamily="34" charset="0"/>
              </a:rPr>
              <a:t>Fuzz Testing test creation </a:t>
            </a:r>
            <a:r>
              <a:rPr lang="en-US" sz="1400" dirty="0">
                <a:solidFill>
                  <a:srgbClr val="1D1C1D"/>
                </a:solidFill>
                <a:effectLst/>
                <a:latin typeface="Calibri" panose="020F0502020204030204" pitchFamily="34" charset="0"/>
                <a:cs typeface="Calibri" panose="020F0502020204030204" pitchFamily="34" charset="0"/>
              </a:rPr>
              <a:t>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Fuzz Testing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Fuzz Testing Establish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latin typeface="Calibri" panose="020F0502020204030204" pitchFamily="34" charset="0"/>
                <a:cs typeface="Calibri" panose="020F0502020204030204" pitchFamily="34" charset="0"/>
              </a:rPr>
              <a:t>Fuzz Test Creation</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test creation, let's briefly review where it fits, in the overall fuzz testing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fuzz testing process which we previously covered in the </a:t>
            </a:r>
            <a:r>
              <a:rPr lang="en-US" sz="1400" b="1" dirty="0">
                <a:solidFill>
                  <a:srgbClr val="1D1C1D"/>
                </a:solidFill>
                <a:effectLst/>
                <a:latin typeface="Calibri" panose="020F0502020204030204" pitchFamily="34" charset="0"/>
                <a:cs typeface="Calibri" panose="020F0502020204030204" pitchFamily="34" charset="0"/>
              </a:rPr>
              <a:t>Fuzz Testing Overview </a:t>
            </a:r>
            <a:r>
              <a:rPr lang="en-US" sz="1400"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will be on the second activity, that of test creation.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fuzz testing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Fuzz Testing Overview </a:t>
            </a:r>
            <a:r>
              <a:rPr lang="en-US" sz="1400" strike="sngStrike"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for this training will be on the second activity, that of test creation.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create test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SME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DevOps SME,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updated build file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unit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using them, create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element fuzz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Some high level observations about this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fuzz testing should only be done in the context of test builds, not production builds.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Second, the activity itself may be performed without the participation of the DevOps SME.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all about how the build system is managed.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Third, the unit test for the element may not exist.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problem because of the way that fuzz tests are created.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absence of a unit test makes the fuzz test creation that much more difficult.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when creating a test to be run in the context of a CI/CD system, you have to keep in mind that there may be constraints in terms of timing and resources.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as discussed in the established settings activity, we need to pre-flight the activity in order to get a sense of what impact it's going to have.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require the participation of the DevOps SME in order to make adjustments to the CI/CD system, if we find that the test is going to exceed its resource budget.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D77128A-F533-735B-1681-B3D3CC9D06D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E3A61BA-B048-DAE2-95DE-32EDB25BE57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432B25C-A380-8C63-8C4A-8CC9BBCF71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6048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8F1755C-556D-4582-E22E-618275F1515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DB185FC-32E8-7168-8785-931A58F6BB0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1B35ECE-22E9-0306-41F3-18C26D4C5D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turn our attention to how we're going to approach fuzz test creation.</a:t>
            </a:r>
          </a:p>
        </p:txBody>
      </p:sp>
    </p:spTree>
    <p:extLst>
      <p:ext uri="{BB962C8B-B14F-4D97-AF65-F5344CB8AC3E}">
        <p14:creationId xmlns:p14="http://schemas.microsoft.com/office/powerpoint/2010/main" val="2859583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32F4BFD-A84B-EBA0-901A-C59495080D9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8F99BF8-E8C4-4D13-796B-727305D997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B74D12B-3B88-7C75-466F-2D760010E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order to effectively undertake fuzz test creation, it's critical to understand what's going on behind the scenes.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let's take a look and see what we're working with.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we're going to start with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system, which is simply the totality of the elements comprising the product.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not going to perform fuzz testing at the system level.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too large a scope to work with on a practical level in terms of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will take far too long to run.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there will be too many issues to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we limit the scope of fuzz testing to individual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elements.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Since fuzz tests operate at the function interface level, we want to apply it to the smallest operational context within the element.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way we think about fuzz testing isn't that much different from how we think about performing unit testing, which is why we take unit tests and extend them.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just like our unit test approach,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test harness that we build atop</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test framework.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 itself.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we were just doing a unit test, this would be where we'd stop.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would take known inputs, feed them into the function, take the output, and compare them against expected output.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testing, on the other hand, is an activity more akin to dynamic analysis as we have a strong possibility of generating either a crash or anomalous behavior such as memory corruption.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of this, the fuzz testing activity needs to be able to deal with both of these in order to be effective.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Crashing is something that's managed either in the test harness or test framework itself.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Handling anomalous behavior requires help from dynamic analysis tooling.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brings in consideration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runtime libraries.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Specifically,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dynamic analysis instrumented runtime libraries.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also requires that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instrumentation of the element under consideration in order to take advantage of the support that's given us by the instrumented dynamic analysis tooling to detect anomalous behavior.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more information on this, refer to the dynamic analysis process materials.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199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48B4653-A11D-8E8D-FEDF-399641A78FD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D5785F5-3595-8F67-2E25-AD25761CBBB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D1BD70D-B9BC-D2BC-1847-4A30D361C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8161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97D661-2A9D-55C3-90D5-EA3D6AF7B7B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2AA9E92-0F6B-9CA1-84A5-6B0AA730C9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78904FD-C3B1-B369-E9C9-FF635ED83C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77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CAB23AD-350D-76B2-49F4-B85DEC36676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7D91251-2ACB-4860-E567-91F804EADFD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F57FED8-779F-F341-478F-40B899E01E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talk about how we go from a unit test to a fuzz test.</a:t>
            </a:r>
          </a:p>
        </p:txBody>
      </p:sp>
    </p:spTree>
    <p:extLst>
      <p:ext uri="{BB962C8B-B14F-4D97-AF65-F5344CB8AC3E}">
        <p14:creationId xmlns:p14="http://schemas.microsoft.com/office/powerpoint/2010/main" val="608448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97690A5-1EE2-51A1-A09F-4E23CF1D4CC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399838A-3686-AC85-83EA-3A3FFB60B3B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CE07AB6-7237-AD2B-3BEC-1CC4B5AE76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the unit test, we come in with a set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specific assertions.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During the course of the test, we want to get to a set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specific expectations.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what does this look like in practice?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under consideration and create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unit test for it which exercises the element’s interface.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 do this, we're going to have to create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some inputs for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expectation is that the element is going to respond to the inputs, and generate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outputs.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we need to supply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expected outputs.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take both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expected outputs,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actual outputs,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compare them, and produce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set of results.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as stated, the unit test deals with specific assertions and specific expectations.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expect that for a particular input, we're going to get a particular output.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don't, then the element has not been constructed properly.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typical way that development would approach this.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look at how we're going to modify this approach to create a fuzz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5400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4BBC99A-3225-3F31-7E90-CCCA654E70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7A0C87D-98DF-3192-BC46-1058FFDE082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B934CEA-BF9A-FF2B-DCD4-613CABC2CB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Unlike the unit test where we have specific assertions and expectations, with fuzz tests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general assertions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general expectations, where we're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going from one to the other.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workflow for this is similar to that of unit testing.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fuzz test interfacing with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fuzz test inputs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Unlike unit test inputs, fuzz test inputs are randomly generated.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randomness is constrained within the context of a corpus of valid inputs.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expectation that there will be produced a set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 outputs.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differs is that the fuzz tests are property-based rather than value-based.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Instead of providing a specific input to a function and expecting a specific output, with fuzz tests, for any given set of inputs, we expect that the output will have specific characteristics.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specifics of how property-based testing works is outside the scope of this training.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Links to a video and blog post, both of which provide a good explanation, are included in the references at the end of the presentation.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fuzz testing may also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expected outputs which are also property-based.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have expected outputs, we will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compare those with the outputs from the fuzz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outcome of those comparisons go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 results.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as mentioned earlier, we don't know that we're going to get a particular behavior from a fuzz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may get an expected return value from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may get an unexpected return value.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may get anomalous behavior.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Or we may get a crash.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a crash, the fuzz test framework should be intercepting that and processing it appropriately.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run the test and nothing appears to be out of the ordinary, that doesn't mean that nothing bad has happened.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why it is recommended to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dynamic analysis framework to augment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framework is used to detect anomalous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this combination of constrained randomized inputs, property focus, and dynamic analysis support that elevates unit testing to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8171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look at some points to consider when we're creating fuzz tests.</a:t>
            </a:r>
          </a:p>
        </p:txBody>
      </p:sp>
    </p:spTree>
    <p:extLst>
      <p:ext uri="{BB962C8B-B14F-4D97-AF65-F5344CB8AC3E}">
        <p14:creationId xmlns:p14="http://schemas.microsoft.com/office/powerpoint/2010/main" val="2182533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recommended that if you are creating fuzz tests that you take time and review the considerations that are presented in the previous training on establishing settings, and also the underlying material from the secure settings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Both of those apply and are a good general rules of thumb whenever modifying the CI/CD pipeline.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context of creating fuzz tests, the first consideration is that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unit tests.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fuzz testing extends the concept of unit testing, it is presumed that a unit test exists for the functions within the element under consideration.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there isn't a unit test for the function, although it is possible to construct a fuzz test from the function’s documentation, this isn’t recommended.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highly recommended that cybersecurity fuzz tests only be created for those elements which development has already provided unit tests, because these act as baselines for expected behavior.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amount of time it would take to essentially build a unit test and then build a fuzz test atop it isn’t a productive use of time for a size-limited cybersecurity team.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keep in mind that there are going to be limitations as to what fuzz testing is going to be able to detect on its own.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Fuzz tests are not guaranteed to generate crashing behavior.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They're also not guaranteed to generate behavior detectable by dynamic analysis.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Even if a fuzz test generates an anomaly, that doesn't mean that you can detect it.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just because you run a fuzz test and it doesn't crash or it returns the results that you expected, doesn't indicate that you have the absence of a vulnerability.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strongly recommended that when you're doing fuzz testing, you do it in conjunction with dynamic analysis tooling to be able to catch as much anomalous behavior as possible.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keep in mind that fuzz testing should not be considered a replacement for more extensive testing of the element through unit testing, static analysis, and other approaches.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thing to consider is the cybersecurity relevancy.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because since we're focusing here on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in order to get as much benefit out of our effort as we 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to focus on those areas which deal with data and behaviors which are cybersecurity relevant.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Otherwise, this activity is just normal development QA, which is outside the scope of the product cybersecurity team.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in the context of fuzz testing, when we're talking about cybersecurity relevancy, we're talking about relevancy beyond just the general element-level.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talking about the cybersecurity relevancy of functions within the element under consideration that has itself been determined to be cybersecurity relevant.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Just because an element is cybersecurity relevant doesn't mean that every function is going to be dealing with things which are also cybersecurity relevant.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we have concurrency.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the advances in sophistication of CPUs now available, fuzz test concurrency becomes a possibility.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you a fuzz testing framework that supports this, you need to give special attention to the resource footprint impact.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you can configure the concurrency of the fuzz testing framework, make sure it’s not set to absorb all the CPU cores or set to use only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Choose settings appropriate to your use case.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Usually the CI/CD pipeline will be running on hardware which is far better resourced than either a developer's machine or the target device you're going to be deploying it on, so take advantage when you have those resources available.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we have the test scope.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to scope the fuzz test as minimally as possible in order to allow us to be able to reproduce and resolve issues efficiently.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also useful to limit the number of function parameters changing within a given test.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have automation.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an updated build file with the fuzz testing and dynamic analysis frameworks available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documentation of the element that fuzz testing is to be applied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documentation of the element function interfaces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documentation on the element’s behaviors,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may well be feasible to apply automation capable of using this information to generate fuzz tests.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an evolving area of work.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specifics of how this type of automation works,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 you would integrate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what your options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fall outside the scope of the AVCDL.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our treatment of the test creation activity within the fuzz testing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look at some takeaways.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creating fuzz tests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concentrate on cybersecurity-relevant functions within the element under consideration.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with all tooling,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don’t replicate the analysis that's performed by other tools.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 mindful of the analysis constraints and impacts.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Fuzz Testing – Create Test Procedure </a:t>
            </a:r>
            <a:r>
              <a:rPr lang="en-US" sz="1400" dirty="0">
                <a:latin typeface="Calibri" panose="020F0502020204030204" pitchFamily="34" charset="0"/>
                <a:cs typeface="Calibri" panose="020F0502020204030204" pitchFamily="34" charset="0"/>
              </a:rPr>
              <a:t>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Fuzz Testing </a:t>
            </a:r>
            <a:r>
              <a:rPr lang="en-US" sz="1400" dirty="0"/>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B285F196-25D0-8F3C-8178-64DC8CB3369B}"/>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757F2C4D-2029-4FAB-1591-57A08DEAD1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a:extLst>
              <a:ext uri="{FF2B5EF4-FFF2-40B4-BE49-F238E27FC236}">
                <a16:creationId xmlns:a16="http://schemas.microsoft.com/office/drawing/2014/main" id="{D79BEA73-39D9-9704-9FD9-0EA85D4533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06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s://fsharpforfunandprofit.com/pbt/"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hyperlink" Target="https://youtu.be/IYzDFHx6QPY?si=p0v9wXF5wS4B2U-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Fuzz Testing – </a:t>
            </a:r>
            <a:r>
              <a:rPr lang="en-US" sz="5400" dirty="0"/>
              <a:t>Create Test</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2026-06-10</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13292" y="139594"/>
            <a:ext cx="2255747"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AVCDL-Implementation-10.1.2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2" name="Picture 1">
            <a:extLst>
              <a:ext uri="{FF2B5EF4-FFF2-40B4-BE49-F238E27FC236}">
                <a16:creationId xmlns:a16="http://schemas.microsoft.com/office/drawing/2014/main" id="{C9A6CCC1-28EF-7C08-A721-C577CBE5EBB2}"/>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4DD5FF4-D58F-1BF9-8E1C-367DD4BEA5FB}"/>
              </a:ext>
            </a:extLst>
          </p:cNvPr>
          <p:cNvPicPr>
            <a:picLocks noChangeAspect="1"/>
          </p:cNvPicPr>
          <p:nvPr/>
        </p:nvPicPr>
        <p:blipFill>
          <a:blip r:embed="rId3"/>
          <a:srcRect/>
          <a:stretch/>
        </p:blipFill>
        <p:spPr>
          <a:xfrm>
            <a:off x="238268" y="1625725"/>
            <a:ext cx="11712288" cy="3606549"/>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7" name="Picture 6">
            <a:extLst>
              <a:ext uri="{FF2B5EF4-FFF2-40B4-BE49-F238E27FC236}">
                <a16:creationId xmlns:a16="http://schemas.microsoft.com/office/drawing/2014/main" id="{FB07FC00-A3BE-0727-1642-48A51B801757}"/>
              </a:ext>
            </a:extLst>
          </p:cNvPr>
          <p:cNvPicPr>
            <a:picLocks noChangeAspect="1"/>
          </p:cNvPicPr>
          <p:nvPr/>
        </p:nvPicPr>
        <p:blipFill>
          <a:blip r:embed="rId3"/>
          <a:srcRect/>
          <a:stretch/>
        </p:blipFill>
        <p:spPr>
          <a:xfrm>
            <a:off x="2573627" y="1625725"/>
            <a:ext cx="3714529" cy="3606549"/>
          </a:xfrm>
          <a:prstGeom prst="rect">
            <a:avLst/>
          </a:prstGeom>
        </p:spPr>
      </p:pic>
      <p:pic>
        <p:nvPicPr>
          <p:cNvPr id="2" name="Picture 1">
            <a:extLst>
              <a:ext uri="{FF2B5EF4-FFF2-40B4-BE49-F238E27FC236}">
                <a16:creationId xmlns:a16="http://schemas.microsoft.com/office/drawing/2014/main" id="{3AD4E2CD-1FC5-7D4B-9790-EDF843FDB015}"/>
              </a:ext>
            </a:extLst>
          </p:cNvPr>
          <p:cNvPicPr>
            <a:picLocks noChangeAspect="1"/>
          </p:cNvPicPr>
          <p:nvPr/>
        </p:nvPicPr>
        <p:blipFill>
          <a:blip r:embed="rId4">
            <a:alphaModFix amt="10000"/>
          </a:blip>
          <a:srcRect/>
          <a:stretch/>
        </p:blipFill>
        <p:spPr>
          <a:xfrm>
            <a:off x="238268" y="1625725"/>
            <a:ext cx="11712288" cy="3606549"/>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06015F5-2E88-1F8A-1637-A45FADACB9E0}"/>
              </a:ext>
            </a:extLst>
          </p:cNvPr>
          <p:cNvPicPr>
            <a:picLocks noChangeAspect="1"/>
          </p:cNvPicPr>
          <p:nvPr/>
        </p:nvPicPr>
        <p:blipFill>
          <a:blip r:embed="rId3"/>
          <a:srcRect/>
          <a:stretch/>
        </p:blipFill>
        <p:spPr>
          <a:xfrm>
            <a:off x="3345773" y="1144109"/>
            <a:ext cx="5497276" cy="5337472"/>
          </a:xfrm>
          <a:prstGeom prst="rect">
            <a:avLst/>
          </a:prstGeom>
        </p:spPr>
      </p:pic>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Create Test Activity</a:t>
            </a:r>
            <a:endParaRPr dirty="0"/>
          </a:p>
        </p:txBody>
      </p:sp>
    </p:spTree>
    <p:extLst>
      <p:ext uri="{BB962C8B-B14F-4D97-AF65-F5344CB8AC3E}">
        <p14:creationId xmlns:p14="http://schemas.microsoft.com/office/powerpoint/2010/main" val="3497160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alpha val="0"/>
          </a:schemeClr>
        </a:solidFill>
        <a:effectLst/>
      </p:bgPr>
    </p:bg>
    <p:spTree>
      <p:nvGrpSpPr>
        <p:cNvPr id="1" name="Shape 1198">
          <a:extLst>
            <a:ext uri="{FF2B5EF4-FFF2-40B4-BE49-F238E27FC236}">
              <a16:creationId xmlns:a16="http://schemas.microsoft.com/office/drawing/2014/main" id="{65B0278B-E805-1096-E707-3CF7A1168B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71FD77-94ED-560E-B128-80D2174DFA2C}"/>
              </a:ext>
            </a:extLst>
          </p:cNvPr>
          <p:cNvSpPr txBox="1"/>
          <p:nvPr/>
        </p:nvSpPr>
        <p:spPr>
          <a:xfrm>
            <a:off x="629161" y="2282062"/>
            <a:ext cx="2630032" cy="523220"/>
          </a:xfrm>
          <a:prstGeom prst="rect">
            <a:avLst/>
          </a:prstGeom>
          <a:noFill/>
        </p:spPr>
        <p:txBody>
          <a:bodyPr wrap="square">
            <a:spAutoFit/>
          </a:bodyPr>
          <a:lstStyle/>
          <a:p>
            <a:pPr algn="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only test builds</a:t>
            </a:r>
          </a:p>
        </p:txBody>
      </p:sp>
      <p:sp>
        <p:nvSpPr>
          <p:cNvPr id="4" name="TextBox 3">
            <a:extLst>
              <a:ext uri="{FF2B5EF4-FFF2-40B4-BE49-F238E27FC236}">
                <a16:creationId xmlns:a16="http://schemas.microsoft.com/office/drawing/2014/main" id="{148845C0-25FA-9985-B98D-C9662DAA6244}"/>
              </a:ext>
            </a:extLst>
          </p:cNvPr>
          <p:cNvSpPr txBox="1"/>
          <p:nvPr/>
        </p:nvSpPr>
        <p:spPr>
          <a:xfrm>
            <a:off x="629161" y="4889818"/>
            <a:ext cx="2630032" cy="523220"/>
          </a:xfrm>
          <a:prstGeom prst="rect">
            <a:avLst/>
          </a:prstGeom>
          <a:noFill/>
        </p:spPr>
        <p:txBody>
          <a:bodyPr wrap="square">
            <a:spAutoFit/>
          </a:bodyPr>
          <a:lstStyle/>
          <a:p>
            <a:pPr algn="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not exist</a:t>
            </a:r>
          </a:p>
        </p:txBody>
      </p:sp>
      <p:sp>
        <p:nvSpPr>
          <p:cNvPr id="6" name="TextBox 5">
            <a:extLst>
              <a:ext uri="{FF2B5EF4-FFF2-40B4-BE49-F238E27FC236}">
                <a16:creationId xmlns:a16="http://schemas.microsoft.com/office/drawing/2014/main" id="{5862DD7D-78E8-573D-9D36-349DF0725E52}"/>
              </a:ext>
            </a:extLst>
          </p:cNvPr>
          <p:cNvSpPr txBox="1"/>
          <p:nvPr/>
        </p:nvSpPr>
        <p:spPr>
          <a:xfrm>
            <a:off x="9149848" y="1437903"/>
            <a:ext cx="2802511" cy="523220"/>
          </a:xfrm>
          <a:prstGeom prst="rect">
            <a:avLst/>
          </a:prstGeom>
          <a:noFill/>
        </p:spPr>
        <p:txBody>
          <a:bodyPr wrap="square">
            <a:spAutoFit/>
          </a:bodyPr>
          <a:lstStyle/>
          <a:p>
            <a:pP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be optional</a:t>
            </a:r>
          </a:p>
        </p:txBody>
      </p:sp>
      <p:sp>
        <p:nvSpPr>
          <p:cNvPr id="7" name="TextBox 6">
            <a:extLst>
              <a:ext uri="{FF2B5EF4-FFF2-40B4-BE49-F238E27FC236}">
                <a16:creationId xmlns:a16="http://schemas.microsoft.com/office/drawing/2014/main" id="{8F98CF3B-BA7A-C95D-FF59-93971A2FD1D8}"/>
              </a:ext>
            </a:extLst>
          </p:cNvPr>
          <p:cNvSpPr txBox="1"/>
          <p:nvPr/>
        </p:nvSpPr>
        <p:spPr>
          <a:xfrm>
            <a:off x="9330674" y="5316759"/>
            <a:ext cx="1779682" cy="523220"/>
          </a:xfrm>
          <a:prstGeom prst="rect">
            <a:avLst/>
          </a:prstGeom>
          <a:noFill/>
        </p:spPr>
        <p:txBody>
          <a:bodyPr wrap="square">
            <a:spAutoFit/>
          </a:bodyPr>
          <a:lstStyle/>
          <a:p>
            <a:pP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preflight</a:t>
            </a:r>
          </a:p>
        </p:txBody>
      </p:sp>
      <p:cxnSp>
        <p:nvCxnSpPr>
          <p:cNvPr id="9" name="Straight Arrow Connector 8">
            <a:extLst>
              <a:ext uri="{FF2B5EF4-FFF2-40B4-BE49-F238E27FC236}">
                <a16:creationId xmlns:a16="http://schemas.microsoft.com/office/drawing/2014/main" id="{3B1167BC-01B0-EDDE-137B-AB448F899AD3}"/>
              </a:ext>
            </a:extLst>
          </p:cNvPr>
          <p:cNvCxnSpPr>
            <a:cxnSpLocks/>
            <a:stCxn id="4" idx="3"/>
          </p:cNvCxnSpPr>
          <p:nvPr/>
        </p:nvCxnSpPr>
        <p:spPr>
          <a:xfrm>
            <a:off x="3259193" y="5151428"/>
            <a:ext cx="1229680"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3FBF1F2-1E9A-9018-F181-6F96B941A783}"/>
              </a:ext>
            </a:extLst>
          </p:cNvPr>
          <p:cNvCxnSpPr>
            <a:cxnSpLocks/>
            <a:stCxn id="3" idx="2"/>
          </p:cNvCxnSpPr>
          <p:nvPr/>
        </p:nvCxnSpPr>
        <p:spPr>
          <a:xfrm>
            <a:off x="1944177" y="2805282"/>
            <a:ext cx="1315016" cy="1134951"/>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75A6607-9E6E-A328-128A-C6ADD494A612}"/>
              </a:ext>
            </a:extLst>
          </p:cNvPr>
          <p:cNvCxnSpPr>
            <a:cxnSpLocks/>
            <a:stCxn id="6" idx="1"/>
          </p:cNvCxnSpPr>
          <p:nvPr/>
        </p:nvCxnSpPr>
        <p:spPr>
          <a:xfrm flipH="1" flipV="1">
            <a:off x="7398327" y="1695291"/>
            <a:ext cx="1751521" cy="4222"/>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944D52-AE5C-0C72-22AF-C7363FF568E7}"/>
              </a:ext>
            </a:extLst>
          </p:cNvPr>
          <p:cNvCxnSpPr>
            <a:cxnSpLocks/>
            <a:stCxn id="7" idx="1"/>
          </p:cNvCxnSpPr>
          <p:nvPr/>
        </p:nvCxnSpPr>
        <p:spPr>
          <a:xfrm flipH="1" flipV="1">
            <a:off x="8486629" y="4794293"/>
            <a:ext cx="844045" cy="784076"/>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1199;p156">
            <a:extLst>
              <a:ext uri="{FF2B5EF4-FFF2-40B4-BE49-F238E27FC236}">
                <a16:creationId xmlns:a16="http://schemas.microsoft.com/office/drawing/2014/main" id="{9C70BB71-AA1A-156F-685F-4EF8F1A88F0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Create Test Activity </a:t>
            </a:r>
            <a:r>
              <a:rPr lang="en-US" dirty="0">
                <a:solidFill>
                  <a:srgbClr val="FF0000"/>
                </a:solidFill>
              </a:rPr>
              <a:t>(overlay)</a:t>
            </a:r>
            <a:endParaRPr dirty="0">
              <a:solidFill>
                <a:srgbClr val="FF0000"/>
              </a:solidFill>
            </a:endParaRPr>
          </a:p>
        </p:txBody>
      </p:sp>
    </p:spTree>
    <p:extLst>
      <p:ext uri="{BB962C8B-B14F-4D97-AF65-F5344CB8AC3E}">
        <p14:creationId xmlns:p14="http://schemas.microsoft.com/office/powerpoint/2010/main" val="3782432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7F8A7E2-4498-2CF8-408F-4B0A30931250}"/>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0084895C-6F44-5890-879D-773EDE8B21E2}"/>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Approach</a:t>
            </a:r>
            <a:endParaRPr sz="6600" dirty="0"/>
          </a:p>
        </p:txBody>
      </p:sp>
    </p:spTree>
    <p:extLst>
      <p:ext uri="{BB962C8B-B14F-4D97-AF65-F5344CB8AC3E}">
        <p14:creationId xmlns:p14="http://schemas.microsoft.com/office/powerpoint/2010/main" val="3085391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539643D-2355-6AAA-1FA3-6E297CE307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3186D7C-50FC-697E-E952-D23C704398E8}"/>
              </a:ext>
            </a:extLst>
          </p:cNvPr>
          <p:cNvPicPr>
            <a:picLocks noChangeAspect="1"/>
          </p:cNvPicPr>
          <p:nvPr/>
        </p:nvPicPr>
        <p:blipFill>
          <a:blip r:embed="rId3"/>
          <a:srcRect/>
          <a:stretch/>
        </p:blipFill>
        <p:spPr>
          <a:xfrm>
            <a:off x="3607567" y="1256127"/>
            <a:ext cx="4978629" cy="4978629"/>
          </a:xfrm>
          <a:prstGeom prst="rect">
            <a:avLst/>
          </a:prstGeom>
        </p:spPr>
      </p:pic>
      <p:sp>
        <p:nvSpPr>
          <p:cNvPr id="1199" name="Google Shape;1199;p156">
            <a:extLst>
              <a:ext uri="{FF2B5EF4-FFF2-40B4-BE49-F238E27FC236}">
                <a16:creationId xmlns:a16="http://schemas.microsoft.com/office/drawing/2014/main" id="{0E803557-9D9A-3988-888A-90EC0836233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spTree>
    <p:extLst>
      <p:ext uri="{BB962C8B-B14F-4D97-AF65-F5344CB8AC3E}">
        <p14:creationId xmlns:p14="http://schemas.microsoft.com/office/powerpoint/2010/main" val="4203033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alpha val="0"/>
          </a:schemeClr>
        </a:solidFill>
        <a:effectLst/>
      </p:bgPr>
    </p:bg>
    <p:spTree>
      <p:nvGrpSpPr>
        <p:cNvPr id="1" name="Shape 1198">
          <a:extLst>
            <a:ext uri="{FF2B5EF4-FFF2-40B4-BE49-F238E27FC236}">
              <a16:creationId xmlns:a16="http://schemas.microsoft.com/office/drawing/2014/main" id="{065D9E31-F3EA-F2A0-281A-58F4689F44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8474180-8A1D-5982-0D0A-84A34A88A2B4}"/>
              </a:ext>
            </a:extLst>
          </p:cNvPr>
          <p:cNvPicPr>
            <a:picLocks noChangeAspect="1"/>
          </p:cNvPicPr>
          <p:nvPr/>
        </p:nvPicPr>
        <p:blipFill>
          <a:blip r:embed="rId3"/>
          <a:stretch>
            <a:fillRect/>
          </a:stretch>
        </p:blipFill>
        <p:spPr>
          <a:xfrm>
            <a:off x="3607568" y="1256128"/>
            <a:ext cx="4978629" cy="4978629"/>
          </a:xfrm>
          <a:prstGeom prst="rect">
            <a:avLst/>
          </a:prstGeom>
        </p:spPr>
      </p:pic>
      <p:sp>
        <p:nvSpPr>
          <p:cNvPr id="2" name="Google Shape;1199;p156">
            <a:extLst>
              <a:ext uri="{FF2B5EF4-FFF2-40B4-BE49-F238E27FC236}">
                <a16:creationId xmlns:a16="http://schemas.microsoft.com/office/drawing/2014/main" id="{5415F189-6F8F-7B08-BB83-60DA73803D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 </a:t>
            </a:r>
            <a:r>
              <a:rPr lang="en-US" dirty="0">
                <a:solidFill>
                  <a:srgbClr val="FF0000"/>
                </a:solidFill>
              </a:rPr>
              <a:t>(overlay 1)</a:t>
            </a:r>
            <a:endParaRPr dirty="0">
              <a:solidFill>
                <a:srgbClr val="FF0000"/>
              </a:solidFill>
            </a:endParaRPr>
          </a:p>
        </p:txBody>
      </p:sp>
    </p:spTree>
    <p:extLst>
      <p:ext uri="{BB962C8B-B14F-4D97-AF65-F5344CB8AC3E}">
        <p14:creationId xmlns:p14="http://schemas.microsoft.com/office/powerpoint/2010/main" val="2948418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alpha val="0"/>
          </a:schemeClr>
        </a:solidFill>
        <a:effectLst/>
      </p:bgPr>
    </p:bg>
    <p:spTree>
      <p:nvGrpSpPr>
        <p:cNvPr id="1" name="Shape 1198">
          <a:extLst>
            <a:ext uri="{FF2B5EF4-FFF2-40B4-BE49-F238E27FC236}">
              <a16:creationId xmlns:a16="http://schemas.microsoft.com/office/drawing/2014/main" id="{968D53D0-EAA4-0C54-114D-9F81236485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4EF245-3D45-57AF-D0D2-941D125151E2}"/>
              </a:ext>
            </a:extLst>
          </p:cNvPr>
          <p:cNvPicPr>
            <a:picLocks noChangeAspect="1"/>
          </p:cNvPicPr>
          <p:nvPr/>
        </p:nvPicPr>
        <p:blipFill>
          <a:blip r:embed="rId3"/>
          <a:stretch>
            <a:fillRect/>
          </a:stretch>
        </p:blipFill>
        <p:spPr>
          <a:xfrm>
            <a:off x="3607568" y="1256128"/>
            <a:ext cx="4978629" cy="4978629"/>
          </a:xfrm>
          <a:prstGeom prst="rect">
            <a:avLst/>
          </a:prstGeom>
        </p:spPr>
      </p:pic>
      <p:sp>
        <p:nvSpPr>
          <p:cNvPr id="7" name="Rectangle 6">
            <a:extLst>
              <a:ext uri="{FF2B5EF4-FFF2-40B4-BE49-F238E27FC236}">
                <a16:creationId xmlns:a16="http://schemas.microsoft.com/office/drawing/2014/main" id="{5FE69A4D-EF9C-E087-39C9-997536280DD1}"/>
              </a:ext>
            </a:extLst>
          </p:cNvPr>
          <p:cNvSpPr/>
          <p:nvPr/>
        </p:nvSpPr>
        <p:spPr>
          <a:xfrm>
            <a:off x="5180012" y="3696345"/>
            <a:ext cx="18288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199;p156">
            <a:extLst>
              <a:ext uri="{FF2B5EF4-FFF2-40B4-BE49-F238E27FC236}">
                <a16:creationId xmlns:a16="http://schemas.microsoft.com/office/drawing/2014/main" id="{0C5F4EC3-D4D5-0F87-A60A-6E5FAA8E2EB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 </a:t>
            </a:r>
            <a:r>
              <a:rPr lang="en-US" dirty="0">
                <a:solidFill>
                  <a:srgbClr val="FF0000"/>
                </a:solidFill>
              </a:rPr>
              <a:t>(overlay 2)</a:t>
            </a:r>
            <a:endParaRPr dirty="0">
              <a:solidFill>
                <a:srgbClr val="FF0000"/>
              </a:solidFill>
            </a:endParaRPr>
          </a:p>
        </p:txBody>
      </p:sp>
    </p:spTree>
    <p:extLst>
      <p:ext uri="{BB962C8B-B14F-4D97-AF65-F5344CB8AC3E}">
        <p14:creationId xmlns:p14="http://schemas.microsoft.com/office/powerpoint/2010/main" val="1403770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96C69DC-16D3-274B-BEDA-4BF756C9A5AB}"/>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C4D3C257-EAAB-A24A-D6A3-06D85BA7C98D}"/>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Unit Test </a:t>
            </a:r>
            <a:r>
              <a:rPr lang="en" sz="5400" dirty="0">
                <a:sym typeface="Wingdings" pitchFamily="2" charset="2"/>
              </a:rPr>
              <a:t> Fuzz Test</a:t>
            </a:r>
            <a:endParaRPr sz="6600" dirty="0"/>
          </a:p>
        </p:txBody>
      </p:sp>
    </p:spTree>
    <p:extLst>
      <p:ext uri="{BB962C8B-B14F-4D97-AF65-F5344CB8AC3E}">
        <p14:creationId xmlns:p14="http://schemas.microsoft.com/office/powerpoint/2010/main" val="4217204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B0BB145-A374-3D0E-2B31-AB8B740720D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5C79881-510A-0E77-B868-066F2C9B840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Unit Test</a:t>
            </a:r>
            <a:endParaRPr dirty="0"/>
          </a:p>
        </p:txBody>
      </p:sp>
      <p:pic>
        <p:nvPicPr>
          <p:cNvPr id="4" name="Picture 3">
            <a:extLst>
              <a:ext uri="{FF2B5EF4-FFF2-40B4-BE49-F238E27FC236}">
                <a16:creationId xmlns:a16="http://schemas.microsoft.com/office/drawing/2014/main" id="{0400741F-010C-C84E-1BBA-253A1A1CB4B7}"/>
              </a:ext>
            </a:extLst>
          </p:cNvPr>
          <p:cNvPicPr>
            <a:picLocks noChangeAspect="1"/>
          </p:cNvPicPr>
          <p:nvPr/>
        </p:nvPicPr>
        <p:blipFill>
          <a:blip r:embed="rId3"/>
          <a:stretch>
            <a:fillRect/>
          </a:stretch>
        </p:blipFill>
        <p:spPr>
          <a:xfrm>
            <a:off x="3124200" y="286292"/>
            <a:ext cx="7772400" cy="873182"/>
          </a:xfrm>
          <a:prstGeom prst="rect">
            <a:avLst/>
          </a:prstGeom>
        </p:spPr>
      </p:pic>
      <p:pic>
        <p:nvPicPr>
          <p:cNvPr id="6" name="Picture 5">
            <a:extLst>
              <a:ext uri="{FF2B5EF4-FFF2-40B4-BE49-F238E27FC236}">
                <a16:creationId xmlns:a16="http://schemas.microsoft.com/office/drawing/2014/main" id="{9B731997-177B-CAD9-E4E7-394DD4585C37}"/>
              </a:ext>
            </a:extLst>
          </p:cNvPr>
          <p:cNvPicPr>
            <a:picLocks noChangeAspect="1"/>
          </p:cNvPicPr>
          <p:nvPr/>
        </p:nvPicPr>
        <p:blipFill>
          <a:blip r:embed="rId4"/>
          <a:stretch>
            <a:fillRect/>
          </a:stretch>
        </p:blipFill>
        <p:spPr>
          <a:xfrm>
            <a:off x="2172662" y="1606950"/>
            <a:ext cx="7843499" cy="3703874"/>
          </a:xfrm>
          <a:prstGeom prst="rect">
            <a:avLst/>
          </a:prstGeom>
        </p:spPr>
      </p:pic>
    </p:spTree>
    <p:extLst>
      <p:ext uri="{BB962C8B-B14F-4D97-AF65-F5344CB8AC3E}">
        <p14:creationId xmlns:p14="http://schemas.microsoft.com/office/powerpoint/2010/main" val="3857114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7DA9489-FC65-07C2-E752-B74399F30E1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A161D46-2075-0DBE-B509-959E94386E3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Fuzz Test</a:t>
            </a:r>
            <a:endParaRPr dirty="0"/>
          </a:p>
        </p:txBody>
      </p:sp>
      <p:pic>
        <p:nvPicPr>
          <p:cNvPr id="3" name="Picture 2">
            <a:extLst>
              <a:ext uri="{FF2B5EF4-FFF2-40B4-BE49-F238E27FC236}">
                <a16:creationId xmlns:a16="http://schemas.microsoft.com/office/drawing/2014/main" id="{15AFFA95-AB7A-4967-372E-593B1DCC49FB}"/>
              </a:ext>
            </a:extLst>
          </p:cNvPr>
          <p:cNvPicPr>
            <a:picLocks noChangeAspect="1"/>
          </p:cNvPicPr>
          <p:nvPr/>
        </p:nvPicPr>
        <p:blipFill>
          <a:blip r:embed="rId3"/>
          <a:stretch>
            <a:fillRect/>
          </a:stretch>
        </p:blipFill>
        <p:spPr>
          <a:xfrm>
            <a:off x="2175021" y="1606950"/>
            <a:ext cx="7838782" cy="4790366"/>
          </a:xfrm>
          <a:prstGeom prst="rect">
            <a:avLst/>
          </a:prstGeom>
        </p:spPr>
      </p:pic>
      <p:pic>
        <p:nvPicPr>
          <p:cNvPr id="5" name="Picture 4">
            <a:extLst>
              <a:ext uri="{FF2B5EF4-FFF2-40B4-BE49-F238E27FC236}">
                <a16:creationId xmlns:a16="http://schemas.microsoft.com/office/drawing/2014/main" id="{EB9E607E-A351-CFD7-7F70-9B85AA5DF99B}"/>
              </a:ext>
            </a:extLst>
          </p:cNvPr>
          <p:cNvPicPr>
            <a:picLocks noChangeAspect="1"/>
          </p:cNvPicPr>
          <p:nvPr/>
        </p:nvPicPr>
        <p:blipFill>
          <a:blip r:embed="rId4"/>
          <a:stretch>
            <a:fillRect/>
          </a:stretch>
        </p:blipFill>
        <p:spPr>
          <a:xfrm>
            <a:off x="3121800" y="286292"/>
            <a:ext cx="7772400" cy="873182"/>
          </a:xfrm>
          <a:prstGeom prst="rect">
            <a:avLst/>
          </a:prstGeom>
        </p:spPr>
      </p:pic>
    </p:spTree>
    <p:extLst>
      <p:ext uri="{BB962C8B-B14F-4D97-AF65-F5344CB8AC3E}">
        <p14:creationId xmlns:p14="http://schemas.microsoft.com/office/powerpoint/2010/main" val="2295031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Fuzz Testing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4205318"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Unit tests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Detection limitations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Cybersecurity relevancy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Concurrency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Test scope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Automation</a:t>
            </a:r>
          </a:p>
        </p:txBody>
      </p:sp>
    </p:spTree>
    <p:extLst>
      <p:ext uri="{BB962C8B-B14F-4D97-AF65-F5344CB8AC3E}">
        <p14:creationId xmlns:p14="http://schemas.microsoft.com/office/powerpoint/2010/main" val="1083501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8655255"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Concentrate on the cybersecurity-relevant functions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Don’t replicate analysis performed by other tools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Be mindful of analysis constraints and impacts</a:t>
            </a:r>
          </a:p>
        </p:txBody>
      </p:sp>
    </p:spTree>
    <p:extLst>
      <p:ext uri="{BB962C8B-B14F-4D97-AF65-F5344CB8AC3E}">
        <p14:creationId xmlns:p14="http://schemas.microsoft.com/office/powerpoint/2010/main" val="170359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39500"/>
            <a:ext cx="4076199" cy="5283368"/>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734176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3580906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2" name="Picture 1">
            <a:extLst>
              <a:ext uri="{FF2B5EF4-FFF2-40B4-BE49-F238E27FC236}">
                <a16:creationId xmlns:a16="http://schemas.microsoft.com/office/drawing/2014/main" id="{9AC7F443-51E8-08F3-5D6F-9821A06464C3}"/>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BF51FD20-5E44-1096-92AD-A694134C77F0}"/>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2CDA8FD7-8E5D-9D23-F17E-089B0DC94CDC}"/>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CA327BB5-2B6F-DC45-6F06-8EDF4E981DDD}"/>
              </a:ext>
            </a:extLst>
          </p:cNvPr>
          <p:cNvSpPr txBox="1">
            <a:spLocks/>
          </p:cNvSpPr>
          <p:nvPr/>
        </p:nvSpPr>
        <p:spPr>
          <a:xfrm>
            <a:off x="455615" y="1146448"/>
            <a:ext cx="11277592" cy="449353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Fuzz Testing Report </a:t>
            </a:r>
            <a:r>
              <a:rPr lang="en-US" sz="1800"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Fuzz Testing Establish Settings Procedure </a:t>
            </a:r>
            <a:r>
              <a:rPr lang="en-US" sz="1800" dirty="0">
                <a:latin typeface="Roboto" panose="02000000000000000000" pitchFamily="2" charset="0"/>
                <a:ea typeface="Roboto" panose="02000000000000000000" pitchFamily="2" charset="0"/>
                <a:cs typeface="Courier New" panose="02070309020205020404" pitchFamily="49" charset="0"/>
              </a:rPr>
              <a:t>(AVCDL tertiary document)</a:t>
            </a:r>
            <a:endParaRPr lang="en-US" sz="1400"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Fuzz Testing Create Test Procedure </a:t>
            </a:r>
            <a:r>
              <a:rPr lang="en-US" sz="1800" dirty="0">
                <a:latin typeface="Roboto" panose="02000000000000000000" pitchFamily="2" charset="0"/>
                <a:ea typeface="Roboto" panose="02000000000000000000" pitchFamily="2" charset="0"/>
                <a:cs typeface="Courier New" panose="02070309020205020404" pitchFamily="49" charset="0"/>
              </a:rPr>
              <a:t>(AVCDL tertiary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Report </a:t>
            </a:r>
            <a:r>
              <a:rPr lang="en-US" sz="1800"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Secure Settings Document </a:t>
            </a:r>
            <a:r>
              <a:rPr lang="en-US" sz="1800" dirty="0">
                <a:latin typeface="Roboto" panose="02000000000000000000" pitchFamily="2" charset="0"/>
                <a:ea typeface="Roboto" panose="02000000000000000000" pitchFamily="2" charset="0"/>
                <a:cs typeface="Courier New" panose="02070309020205020404" pitchFamily="49" charset="0"/>
              </a:rPr>
              <a:t>(AVCDL secondary document)</a:t>
            </a:r>
            <a:endParaRPr lang="en-US" sz="1800"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Element Cybersecurity Relevancy </a:t>
            </a:r>
            <a:r>
              <a:rPr lang="en-US" sz="1800"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An introduction to property based testing</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https://fsharpforfunandprofit.com/pbt/</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The lazy programmer's guide to writing 1000's of tests</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https://youtu.be/IYzDFHx6QPY?si=p0v9wXF5wS4B2U-0</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81796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418758</TotalTime>
  <Words>2953</Words>
  <Application>Microsoft Macintosh PowerPoint</Application>
  <PresentationFormat>Custom</PresentationFormat>
  <Paragraphs>618</Paragraphs>
  <Slides>23</Slides>
  <Notes>23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23</vt:i4>
      </vt:variant>
    </vt:vector>
  </HeadingPairs>
  <TitlesOfParts>
    <vt:vector size="32" baseType="lpstr">
      <vt:lpstr>Calibri</vt:lpstr>
      <vt:lpstr>Roboto Medium</vt:lpstr>
      <vt:lpstr>Wingdings</vt:lpstr>
      <vt:lpstr>Courier New</vt:lpstr>
      <vt:lpstr>Roboto</vt:lpstr>
      <vt:lpstr>Arial</vt:lpstr>
      <vt:lpstr>Simple Light</vt:lpstr>
      <vt:lpstr>Motional Masters</vt:lpstr>
      <vt:lpstr>Motional Masters</vt:lpstr>
      <vt:lpstr>Fuzz Testing – Create Test</vt:lpstr>
      <vt:lpstr>Training Path</vt:lpstr>
      <vt:lpstr>Workflow</vt:lpstr>
      <vt:lpstr>Process Workflow</vt:lpstr>
      <vt:lpstr>Process Workflow</vt:lpstr>
      <vt:lpstr>Create Test Activity</vt:lpstr>
      <vt:lpstr>Create Test Activity (overlay)</vt:lpstr>
      <vt:lpstr>Approach</vt:lpstr>
      <vt:lpstr>Methodology</vt:lpstr>
      <vt:lpstr>Methodology (overlay 1)</vt:lpstr>
      <vt:lpstr>Methodology (overlay 2)</vt:lpstr>
      <vt:lpstr>Unit Test  Fuzz Test</vt:lpstr>
      <vt:lpstr>Unit Test</vt:lpstr>
      <vt:lpstr>Fuzz Test</vt:lpstr>
      <vt:lpstr>Fuzz Testing Considerations</vt:lpstr>
      <vt:lpstr>Considerations</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 Testing - Create Test (training)</dc:title>
  <dc:subject>fuzz testing test creation</dc:subject>
  <dc:creator>Charles Wilson</dc:creator>
  <cp:keywords>cybersecurity, fuzz testing</cp:keywords>
  <dc:description>This work was created by Torc Robotics and is licensed under the Creative Commons Attribution-Share Alike (CC BY-SA-4.0) License.
https://creativecommons.org/licenses/by/4.0/legalcode 
</dc:description>
  <cp:lastModifiedBy>Charles Wilson</cp:lastModifiedBy>
  <cp:revision>635</cp:revision>
  <cp:lastPrinted>2025-07-24T18:37:57Z</cp:lastPrinted>
  <dcterms:modified xsi:type="dcterms:W3CDTF">2026-06-17T19:23:08Z</dcterms:modified>
  <cp:category>fuzz testing</cp:category>
</cp:coreProperties>
</file>