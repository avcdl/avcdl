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90" r:id="rId1"/>
    <p:sldMasterId id="2147483791" r:id="rId2"/>
    <p:sldMasterId id="2147483792" r:id="rId3"/>
  </p:sldMasterIdLst>
  <p:notesMasterIdLst>
    <p:notesMasterId r:id="rId29"/>
  </p:notesMasterIdLst>
  <p:sldIdLst>
    <p:sldId id="256" r:id="rId4"/>
    <p:sldId id="306" r:id="rId5"/>
    <p:sldId id="648" r:id="rId6"/>
    <p:sldId id="671" r:id="rId7"/>
    <p:sldId id="670" r:id="rId8"/>
    <p:sldId id="640" r:id="rId9"/>
    <p:sldId id="678" r:id="rId10"/>
    <p:sldId id="679" r:id="rId11"/>
    <p:sldId id="672" r:id="rId12"/>
    <p:sldId id="675" r:id="rId13"/>
    <p:sldId id="676" r:id="rId14"/>
    <p:sldId id="677" r:id="rId15"/>
    <p:sldId id="680" r:id="rId16"/>
    <p:sldId id="681" r:id="rId17"/>
    <p:sldId id="673" r:id="rId18"/>
    <p:sldId id="674" r:id="rId19"/>
    <p:sldId id="667" r:id="rId20"/>
    <p:sldId id="668" r:id="rId21"/>
    <p:sldId id="603" r:id="rId22"/>
    <p:sldId id="488" r:id="rId23"/>
    <p:sldId id="343" r:id="rId24"/>
    <p:sldId id="606" r:id="rId25"/>
    <p:sldId id="461" r:id="rId26"/>
    <p:sldId id="420" r:id="rId27"/>
    <p:sldId id="659" r:id="rId28"/>
  </p:sldIdLst>
  <p:sldSz cx="12188825" cy="6858000"/>
  <p:notesSz cx="6858000" cy="9144000"/>
  <p:embeddedFontLst>
    <p:embeddedFont>
      <p:font typeface="Roboto" panose="02000000000000000000" pitchFamily="2" charset="0"/>
      <p:regular r:id="rId30"/>
      <p:bold r:id="rId31"/>
      <p:italic r:id="rId32"/>
      <p:boldItalic r:id="rId33"/>
    </p:embeddedFont>
    <p:embeddedFont>
      <p:font typeface="Roboto Medium" panose="02000000000000000000" pitchFamily="2"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39" userDrawn="1">
          <p15:clr>
            <a:srgbClr val="A4A3A4"/>
          </p15:clr>
        </p15:guide>
        <p15:guide id="3" orient="horz" pos="3945" userDrawn="1">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AB2"/>
    <a:srgbClr val="E38194"/>
    <a:srgbClr val="A7E3B3"/>
    <a:srgbClr val="CCFFCC"/>
    <a:srgbClr val="4DE354"/>
    <a:srgbClr val="FFFFFF"/>
    <a:srgbClr val="FFC161"/>
    <a:srgbClr val="FFE6CC"/>
    <a:srgbClr val="FFF2CC"/>
    <a:srgbClr val="FDFF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9A1F375-83D2-49B6-B6D9-1E75FAB2CD22}">
  <a:tblStyle styleId="{F9A1F375-83D2-49B6-B6D9-1E75FAB2CD2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3178"/>
    <p:restoredTop sz="75713"/>
  </p:normalViewPr>
  <p:slideViewPr>
    <p:cSldViewPr snapToGrid="0">
      <p:cViewPr varScale="1">
        <p:scale>
          <a:sx n="114" d="100"/>
          <a:sy n="114" d="100"/>
        </p:scale>
        <p:origin x="192" y="736"/>
      </p:cViewPr>
      <p:guideLst>
        <p:guide orient="horz" pos="2160"/>
        <p:guide pos="3839"/>
        <p:guide orient="horz" pos="3945"/>
      </p:guideLst>
    </p:cSldViewPr>
  </p:slideViewPr>
  <p:outlineViewPr>
    <p:cViewPr>
      <p:scale>
        <a:sx n="33" d="100"/>
        <a:sy n="33" d="100"/>
      </p:scale>
      <p:origin x="0" y="0"/>
    </p:cViewPr>
  </p:outlineViewPr>
  <p:notesTextViewPr>
    <p:cViewPr>
      <p:scale>
        <a:sx n="1" d="1"/>
        <a:sy n="1" d="1"/>
      </p:scale>
      <p:origin x="0" y="0"/>
    </p:cViewPr>
  </p:notesTextViewPr>
  <p:sorterViewPr>
    <p:cViewPr>
      <p:scale>
        <a:sx n="130" d="100"/>
        <a:sy n="13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viewProps" Target="viewProps.xml"/><Relationship Id="rId21" Type="http://schemas.openxmlformats.org/officeDocument/2006/relationships/slide" Target="slides/slide18.xml"/><Relationship Id="rId34" Type="http://schemas.openxmlformats.org/officeDocument/2006/relationships/font" Target="fonts/font5.fntdata"/><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notesMaster" Target="notesMasters/notesMaster1.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font" Target="fonts/font7.fnt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font" Target="fonts/font2.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font" Target="fonts/font1.fntdata"/><Relationship Id="rId35" Type="http://schemas.openxmlformats.org/officeDocument/2006/relationships/font" Target="fonts/font6.fntdata"/><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font" Target="fonts/font4.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8f58836269_9_4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I'm Charles Wilson, staff product cybersecurity architect at Torc Robotics.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presentation will cover the </a:t>
            </a:r>
            <a:r>
              <a:rPr lang="en-US" sz="1400" b="1" dirty="0">
                <a:solidFill>
                  <a:srgbClr val="1D1C1D"/>
                </a:solidFill>
                <a:effectLst/>
                <a:latin typeface="Calibri" panose="020F0502020204030204" pitchFamily="34" charset="0"/>
                <a:cs typeface="Calibri" panose="020F0502020204030204" pitchFamily="34" charset="0"/>
              </a:rPr>
              <a:t>Dynamic Analysis Element Instrumentation </a:t>
            </a:r>
            <a:r>
              <a:rPr lang="en-US" sz="1400" dirty="0">
                <a:solidFill>
                  <a:srgbClr val="1D1C1D"/>
                </a:solidFill>
                <a:effectLst/>
                <a:latin typeface="Calibri" panose="020F0502020204030204" pitchFamily="34" charset="0"/>
                <a:cs typeface="Calibri" panose="020F0502020204030204" pitchFamily="34" charset="0"/>
              </a:rPr>
              <a:t>activity.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
        <p:nvSpPr>
          <p:cNvPr id="871" name="Google Shape;871;g8f58836269_9_43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diagram shows the overall AVCDL training path.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you're taking this training, it's assumed that you've already completed the </a:t>
            </a:r>
            <a:r>
              <a:rPr lang="en-US" sz="1400" b="1" dirty="0">
                <a:latin typeface="Calibri" panose="020F0502020204030204" pitchFamily="34" charset="0"/>
                <a:cs typeface="Calibri" panose="020F0502020204030204" pitchFamily="34" charset="0"/>
              </a:rPr>
              <a:t>AVCDL Overview </a:t>
            </a:r>
            <a:r>
              <a:rPr lang="en-US" sz="1400" dirty="0">
                <a:latin typeface="Calibri" panose="020F0502020204030204" pitchFamily="34" charset="0"/>
                <a:cs typeface="Calibri" panose="020F0502020204030204" pitchFamily="34" charset="0"/>
              </a:rPr>
              <a:t>training,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additionally, that you've completed the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Requirements Taxonomy</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Security Requirements</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Design Principles</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Apply Secure Design</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Threat Prioritization</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Settings</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Coding</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Dynamic Analysis Overview</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Dynamic Analysis Establish Settings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trainings.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training will cover </a:t>
            </a:r>
            <a:r>
              <a:rPr lang="en-US" sz="1400" b="1" dirty="0">
                <a:latin typeface="Calibri" panose="020F0502020204030204" pitchFamily="34" charset="0"/>
                <a:cs typeface="Calibri" panose="020F0502020204030204" pitchFamily="34" charset="0"/>
              </a:rPr>
              <a:t>Dynamic Analysis Element Instrumentation</a:t>
            </a:r>
            <a:r>
              <a:rPr lang="en-US" sz="1400" dirty="0">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30538546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2F06D203-A8E8-7236-860C-C2C7FAB30A58}"/>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6A9F786-C5EE-EC56-1F8E-7F9B2F273B7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C9B21B32-2591-BA66-7082-FA1FCE2708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1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dirty="0"/>
              <a:t>Before getting into element instrumentation, let's briefly review where it fits, in the overall dynamic analysis process.</a:t>
            </a:r>
          </a:p>
        </p:txBody>
      </p:sp>
    </p:spTree>
    <p:extLst>
      <p:ext uri="{BB962C8B-B14F-4D97-AF65-F5344CB8AC3E}">
        <p14:creationId xmlns:p14="http://schemas.microsoft.com/office/powerpoint/2010/main" val="1448404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9A0CBB7C-EB38-2CB6-0D13-D11B58B73E26}"/>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18E2732D-D8D0-D624-9008-FEDFF57093F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19DF1504-5183-61AF-1001-6C7C554957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Here's the dynamic analysis process which we previously covered in the Dynamic Analysis Overview.</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Our focus for this training is going to be on the second activity, that of element instrumentation.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402355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89581D16-2AAA-F089-A3F3-B878B8D745F1}"/>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802B9E84-AEDD-0CB6-AA00-17BFCDD0D269}"/>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798941A4-AE0F-42D0-65B5-19DEEEC7388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Here's the dynamic analysis process which we previously covered in the Dynamic Analysis Overview.</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Our focus for this training is going to be on the second activity, that of element instrumentation.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868446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6A81901D-29BF-2FE0-56C1-A75839F3490F}"/>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FC990A66-F118-07F7-B5DE-DD42E479AC3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ACA8DA5A-2CBE-879F-6500-EB52EC3D5C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Within the element instrumentation activity, the Security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DevOps SMEs take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updated build file created in the established settings activity,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the element test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make adjustments to allow for the dynamic analysis tool to perform its analysis activity,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creating an instrumented element test.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Before we get into the methodology of how the element is going to be instrumented, let's talk about some points that are going to be relevant as we go through this activity.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first of which is that the element test may not exist.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Just because you have a generalized QA process which includes automated tests, doesn't mean that there's going to be one for this particular element that the dynamic analysis is going to be able to leverage.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second aspect is with regards to the updated build file.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It's important that there be a separate test build which is not going to be burdened by either over-diagnostics found in a pure debug build, because that's going to have impact on both timing and memory.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Nor do you want this to be a release or production build because none of this should actually ever go into anything dealing with that and in the context of production builds, the options that have been chosen for compilation and linking may have impacts on the dynamic analysis tools ability to be able to be used effectively.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Next, the DevOps SME, as shown here, may be an optional player.</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That's going to depend on how the build system operates and what sort of levers need to be adjusted in order to handle the instrumentation process.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Similarly to the element test coming in, the instrumented element test going out is going to be contingent on there being an element test that you're starting with.</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So, this may need to be completely spun up, which is going to impact how the process goes forward.</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the final thing is that we want to ensure that regardless of what changes we make, we pre-flight them to ensure that they don't break the CI/CD system.</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393749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ED77128A-F533-735B-1681-B3D3CC9D06D6}"/>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3E3A61BA-B048-DAE2-95DE-32EDB25BE570}"/>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8432B25C-A380-8C63-8C4A-8CC9BBCF71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Within the element instrumentation activity, the Security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DevOps SMEs take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updated build file created in the established settings activity,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the element test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make adjustments to allow for the dynamic analysis tool to perform its analysis activity,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creating an instrumented element test.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Before we get into the methodology of how the element is going to be instrumented, let's talk about some points that are going to be relevant as we go through this activity.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first of which is that the element test may not exist.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Just because you have a generalized QA process which includes automated tests, doesn't mean that there's going to be one for this particular element that the dynamic analysis is going to be able to leverage.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second aspect is with regards to the updated build file.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It's important that there be a separate test build which is not going to be burdened by either over-diagnostics found in a pure debug build, because that's going to have impact on both timing and memory.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Nor do you want this to be a release or production build because none of this should actually ever go into anything dealing with that and in the context of production builds, the options that have been chosen for compilation and linking may have impacts on the dynamic analysis tools ability to be able to be used effectively.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Next, the DevOps SME, as shown here, may be an optional player.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That's going to depend on how the build system operates and what sort of levers need to be adjusted in order to handle the instrumentation process.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Similarly to the element test coming in, the instrumented element test going out is going to be contingent on there being an element test that you're starting with.</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So, this may need to be completely spun up, which is going to impact how the process goes forward.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the final thing is that we want to ensure that regardless of what changes we make, we pre-flight them to ensure that they don't break the CI/CD system.</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360480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88F1755C-556D-4582-E22E-618275F1515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DDB185FC-32E8-7168-8785-931A58F6BB0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41B35ECE-22E9-0306-41F3-18C26D4C5D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Now let's turn our attention to how we're going to approach element instrumentation.</a:t>
            </a:r>
          </a:p>
        </p:txBody>
      </p:sp>
    </p:spTree>
    <p:extLst>
      <p:ext uri="{BB962C8B-B14F-4D97-AF65-F5344CB8AC3E}">
        <p14:creationId xmlns:p14="http://schemas.microsoft.com/office/powerpoint/2010/main" val="28595839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C32F4BFD-A84B-EBA0-901A-C59495080D99}"/>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58F99BF8-E8C4-4D13-796B-727305D9977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FB74D12B-3B88-7C75-466F-2D760010E1C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 order to properly undertake element instrumentation, it's critical to understand what's going on behind the scenes.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So, let's take a look and see what we're working with and how we're going to approach element instrumentation.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First, we can talk about the system, which is simply the totality of the elements comprising the product.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Now, we're not going to perform dynamic analysis at the system level.</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It's too large a scope to work with on either a practical level in terms of attempting to do the instrumentation, or on the outcome level as there would be too many issues to process.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So, we always talk about an individual element and scoping it to the smallest operational context that allows us to perform dynamic analysis.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When we think about dynamic analysis, it really isn't that much different from how we think about performing a unit test.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We're going to have a test harness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built on a test framework.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Lastly, we need an element-specific test.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In most cases, that’s all we need consider.</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element would be left as is just as if we were talking about something like fuzz testing, because what we're doing is we're feeding an element inputs and looking at behaviors and outputs to ensure that it's doing what it's supposed to do.</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It's not just fuzz testing; unit tests also work this way.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In the case of dynamic analysis, we need to go a bit further.</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We may need to instrument the element in order to perform dynamic analysis.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Additionally, dynamic analysis has one additional dependency and that is on runtime libraries.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Developers tend to focus on their own code and the external libraries they include, but underlying any executable are the runtime libraries that provides access to the hardware or operating system.</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These are of interest in the context of dynamic analysis because they are responsible for things that are memory-related, which tend to be the ones that we care about in the context of cybersecurity.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Dynamic analysis is going to stress the element.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This might include things like memory starving the element to see how it behaves or tagging the allocated memory in order to observe how it responds over time to ensure that it's being accessed and disposed of properly.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To accomplish this, we need instrumented runtime libraries.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use of instrumented libraries highlight why scoping matters.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If we scope to the entirety of the system for a memory-oriented dynamic analysis, and are tagging all the memory, or are causing pointers to be invalidated, or whatever else may be happening in the instrumented memory management library, that's going to have a severe impact on the overall behavior of the system.</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So, when you're doing this instrumentation, we want to make sure that this is a test build (not a production build) and that it is scoped as tightly as possible because as one can imagine, any extra work that you're doing at the lowest level libraries is going to have a ripple effect throughout the executable that's being run.</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We may or may not have to instrumentation directly into the element, but in all likelihood, dynamic analysis is going to require the use of instrumented libraries.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So, if there was any question as to whether or not you need DevOps involvement, this should motivate that participation.</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In the worst case, we're going to need new build targets that include the instrument libraries to accompany the compiler-instrumented element.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81997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A48B4653-A11D-8E8D-FEDF-399641A78FD1}"/>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1D5785F5-3595-8F67-2E25-AD25761CBBB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2D1BD70D-B9BC-D2BC-1847-4A30D361C7F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In order to properly undertake element instrumentation, it's critical to understand what's going on behind the scenes.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So, let's take a look and see what we're working with and how we're going to approach element instrumentation.</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First, we can talk about the system, which is simply the totality of the elements comprising the product.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Now, we're not going to perform dynamic analysis at the system level.</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It's too large a scope to work with on either a practical level in terms of attempting to do the instrumentation, or on the outcome level as there would be too many issues to process.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So, we always talk about an individual element and scoping it to the smallest operational context that allows us to perform dynamic analysis.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When we think about dynamic analysis, it really isn't that much different from how we think about performing a unit test.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We're going to have a test harness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built on a test framework.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Lastly, we need an element-specific test.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In most cases, that’s all we need consider.</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element would be left as is just as if we were talking about something like fuzz testing, because what we're doing is we're feeding an element inputs and looking at behaviors and outputs to ensure that it's doing what it's supposed to do.</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It's not just fuzz testing; unit tests also work this way.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In the case of dynamic analysis, we need to go a bit further.</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We may need to instrument the element in order to perform dynamic analysis.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Additionally, dynamic analysis has one additional dependency and that is on runtime libraries.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Developers tend to focus on their own code and the external libraries they include, but underlying any executable are the runtime libraries that provides access to the hardware or operating system.</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These are of interest in the context of dynamic analysis because they are responsible for things that are memory-related, which tend to be the ones that we care about in the context of cybersecurity.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Dynamic analysis is going to stress the element.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This might include things like memory starving the element to see how it behaves or tagging the allocated memory in order to observe how it responds over time to ensure that it's being accessed and disposed of properly.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To accomplish this, we need instrumented runtime libraries.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use of instrumented libraries highlight why scoping matters.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If we scope to the entirety of the system for a memory-oriented dynamic analysis, and are tagging all the memory, or are causing pointers to be invalidated, or whatever else may be happening in the instrumented memory management library, that's going to have a severe impact on the overall behavior of the system.</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So, when you're doing this instrumentation, we want to make sure that this is a test build (not a production build) and that it is scoped as tightly as possible because as one can imagine, any extra work that you're doing at the lowest level libraries is going to have a ripple effect throughout the executable that's being run.</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We may or may not have to instrumentation directly into the element, but in all likelihood, dynamic analysis is going to require the use of instrumented libraries.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So, if there was any question as to whether or not you need DevOps involvement, this should motivate that participation.</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In the worst case, we're going to need new build targets that include the instrument libraries to accompany the compiler-instrumented element.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781617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2297D661-2A9D-55C3-90D5-EA3D6AF7B7B7}"/>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82AA9E92-0F6B-9CA1-84A5-6B0AA730C985}"/>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978904FD-C3B1-B369-E9C9-FF635ED83C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In order to properly undertake element instrumentation, it's critical to understand what's going on behind the scenes.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So, let's take a look and see what we're working with and how we're going to approach element instrumentation.</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First, we can talk about the system, which is simply the totality of the elements comprising the product.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Now, we're not going to perform dynamic analysis at the system level.</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It's too large a scope to work with on either a practical level in terms of attempting to do the instrumentation, or on the outcome level as there would be too many issues to process.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So, we always talk about an individual element and scoping it to the smallest operational context that allows us to perform dynamic analysis.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When we think about dynamic analysis, it really isn't that much different from how we think about performing a unit test.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We're going to have a test harness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built on a test framework.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Lastly, we need an element-specific test.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 most cases, that’s all we need consider.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element would be left as is just as if we were talking about something like fuzz testing, because what we're doing is we're feeding an element inputs and looking at behaviors and outputs to ensure that it's doing what it's supposed to do.</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It's not just fuzz testing; unit tests also work this way.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 the case of dynamic analysis, we need to go a bit further.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We may need to instrument the element in order to perform dynamic analysis.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Additionally, dynamic analysis has one additional dependency and that is on runtime libraries.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Developers tend to focus on their own code and the external libraries they include, but underlying any executable are the runtime libraries that provides access to the hardware or operating system.</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These are of interest in the context of dynamic analysis because they are responsible for things that are memory-related, which tend to be the ones that we care about in the context of cybersecurity.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Dynamic analysis is going to stress the element.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This might include things like memory starving the element to see how it behaves or tagging the allocated memory in order to observe how it responds over time to ensure that it's being accessed and disposed of properly.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To accomplish this, we need instrumented runtime libraries.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use of instrumented libraries highlight why scoping matters.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If we scope to the entirety of the system for a memory-oriented dynamic analysis, and are tagging all the memory, or are causing pointers to be invalidated, or whatever else may be happening in the instrumented memory management library, that's going to have a severe impact on the overall behavior of the system.</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So, when you're doing this instrumentation, we want to make sure that this is a test build (not a production build) and that it is scoped as tightly as possible because as one can imagine, any extra work that you're doing at the lowest level libraries is going to have a ripple effect throughout the executable that's being run.</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We may or may not have to instrumentation directly into the element, but in all likelihood, dynamic analysis is going to require the use of instrumented libraries.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So, if there was any question as to whether or not you need DevOps involvement, this should motivate that participation.</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In the worst case, we're going to need new build targets that include the instrument libraries to accompany the compiler-instrumented element.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847734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AA6999BF-2374-6BC7-CEB2-812FC3FB724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65AD29CC-B387-6AB4-9F54-69D3B4E74765}"/>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4EA738F8-A22A-AA89-D5C2-8F7C9951B94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In order to properly undertake element instrumentation, it's critical to understand what's going on behind the scenes.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So, let's take a look and see what we're working with and how we're going to approach element instrumentation.</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First, we can talk about the system, which is simply the totality of the elements comprising the product.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Now, we're not going to perform dynamic analysis at the system level.</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It's too large a scope to work with on either a practical level in terms of attempting to do the instrumentation, or on the outcome level as there would be too many issues to process.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So, we always talk about an individual element and scoping it to the smallest operational context that allows us to perform dynamic analysis.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When we think about dynamic analysis, it really isn't that much different from how we think about performing a unit test.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We're going to have a test harness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built on a test framework.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Lastly, we need an element-specific test.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In most cases, that’s all we need consider.</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element would be left as is just as if we were talking about something like fuzz testing, because what we're doing is we're feeding an element inputs and looking at behaviors and outputs to ensure that it's doing what it's supposed to do.</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It's not just fuzz testing; unit tests also work this way.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In the case of dynamic analysis, we need to go a bit further.</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may need to instrument the element in order to perform dynamic analysis.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Additionally, dynamic analysis has one additional dependency and that is on runtime libraries.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Developers tend to focus on their own code and the external libraries they include, but underlying any executable are the runtime libraries that provides access to the hardware or operating system.</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These are of interest in the context of dynamic analysis because they are responsible for things that are memory-related, which tend to be the ones that we care about in the context of cybersecurity.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Dynamic analysis is going to stress the element.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This might include things like memory starving the element to see how it behaves or tagging the allocated memory in order to observe how it responds over time to ensure that it's being accessed and disposed of properly.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To accomplish this, we need instrumented runtime libraries.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use of instrumented libraries highlight why scoping matters.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If we scope to the entirety of the system for a memory-oriented dynamic analysis, and are tagging all the memory, or are causing pointers to be invalidated, or whatever else may be happening in the instrumented memory management library, that's going to have a severe impact on the overall behavior of the system.</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So, when you're doing this instrumentation, we want to make sure that this is a test build (not a production build) and that it is scoped as tightly as possible because as one can imagine, any extra work that you're doing at the lowest level libraries is going to have a ripple effect throughout the executable that's being run.</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We may or may not have to instrumentation directly into the element, but in all likelihood, dynamic analysis is going to require the use of instrumented libraries.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So, if there was any question as to whether or not you need DevOps involvement, this should motivate that participation.</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In the worst case, we're going to need new build targets that include the instrument libraries to accompany the compiler-instrumented element.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568419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278954F1-0BF0-15BF-DBAC-0516BF9E6007}"/>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1FEDBD2F-B103-B7A3-79B2-E7CBA1CC8916}"/>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58D68C78-71BE-D690-D961-3306E674B6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In order to properly undertake element instrumentation, it's critical to understand what's going on behind the scenes.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So, let's take a look and see what we're working with and how we're going to approach element instrumentation.</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First, we can talk about the system, which is simply the totality of the elements comprising the product.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Now, we're not going to perform dynamic analysis at the system level.</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It's too large a scope to work with on either a practical level in terms of attempting to do the instrumentation, or on the outcome level as there would be too many issues to process.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So, we always talk about an individual element and scoping it to the smallest operational context that allows us to perform dynamic analysis.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When we think about dynamic analysis, it really isn't that much different from how we think about performing a unit test.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We're going to have a test harness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built on a test framework.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Lastly, we need an element-specific test.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In most cases, that’s all we need consider.</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element would be left as is just as if we were talking about something like fuzz testing, because what we're doing is we're feeding an element inputs and looking at behaviors and outputs to ensure that it's doing what it's supposed to do.</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It's not just fuzz testing; unit tests also work this way.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In the case of dynamic analysis, we need to go a bit further.</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We may need to instrument the element in order to perform dynamic analysis.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Additionally, dynamic analysis has one additional dependency and that is on runtime libraries.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Developers tend to focus on their own code and the external libraries they include, but underlying any executable are the runtime libraries that provides access to the hardware or operating system.</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These are of interest in the context of dynamic analysis because they are responsible for things that are memory-related, which tend to be the ones that we care about in the context of cybersecurity.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Dynamic analysis is going to stress the element.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might include things like memory starving the element to see how it behaves or tagging the allocated memory in order to observe how it responds over time to ensure that it's being accessed and disposed of properly.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To accomplish this, we need instrumented runtime libraries.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use of instrumented libraries highlight why scoping matters.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If we scope to the entirety of the system for a memory-oriented dynamic analysis, and are tagging all the memory, or are causing pointers to be invalidated, or whatever else may be happening in the instrumented memory management library, that's going to have a severe impact on the overall behavior of the system.</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So, when you're doing this instrumentation, we want to make sure that this is a test build (not a production build) and that it is scoped as tightly as possible because as one can imagine, any extra work that you're doing at the lowest level libraries is going to have a ripple effect throughout the executable that's being run.</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We may or may not have to instrumentation directly into the element, but in all likelihood, dynamic analysis is going to require the use of instrumented libraries.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So, if there was any question as to whether or not you need DevOps involvement, this should motivate that participation.</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In the worst case, we're going to need new build targets that include the instrument libraries to accompany the compiler-instrumented element.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789158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9DCB4D23-5775-B417-02F2-B082DC5C6426}"/>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F2BD1E5-6331-CA71-DE94-AFD048E88DF6}"/>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55B10167-D208-5245-F07A-CC3EF5B2CF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In order to properly undertake element instrumentation, it's critical to understand what's going on behind the scenes.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So, let's take a look and see what we're working with and how we're going to approach element instrumentation.</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First, we can talk about the system, which is simply the totality of the elements comprising the product.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Now, we're not going to perform dynamic analysis at the system level.</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It's too large a scope to work with on either a practical level in terms of attempting to do the instrumentation, or on the outcome level as there would be too many issues to process.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So, we always talk about an individual element and scoping it to the smallest operational context that allows us to perform dynamic analysis.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When we think about dynamic analysis, it really isn't that much different from how we think about performing a unit test.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We're going to have a test harness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built on a test framework.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Lastly, we need an element-specific test.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In most cases, that’s all we need consider.</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element would be left as is just as if we were talking about something like fuzz testing, because what we're doing is we're feeding an element inputs and looking at behaviors and outputs to ensure that it's doing what it's supposed to do.</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It's not just fuzz testing; unit tests also work this way.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In the case of dynamic analysis, we need to go a bit further.</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We may need to instrument the element in order to perform dynamic analysis.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Additionally, dynamic analysis has one additional dependency and that is on runtime libraries.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Developers tend to focus on their own code and the external libraries they include, but underlying any executable are the runtime libraries that provides access to the hardware or operating system.</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These are of interest in the context of dynamic analysis because they are responsible for things that are memory-related, which tend to be the ones that we care about in the context of cybersecurity.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Dynamic analysis is going to stress the element.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This might include things like memory starving the element to see how it behaves or tagging the allocated memory in order to observe how it responds over time to ensure that it's being accessed and disposed of properly.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To accomplish this, we need instrumented runtime libraries.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use of instrumented libraries highlight why scoping matters.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we scope to the entirety of the system for a memory-oriented dynamic analysis, and are tagging all the memory, or are causing pointers to be invalidated, or whatever else may be happening in the instrumented memory management library, that's going to have a severe impact on the overall behavior of the system.</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So, when you're doing this instrumentation, we want to make sure that this is a test build (not a production build) and that it is scoped as tightly as possible because as one can imagine, any extra work that you're doing at the lowest level libraries is going to have a ripple effect throughout the executable that's being run.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may or may not have to instrumentation directly into the element, but in all likelihood, dynamic analysis is going to require the use of instrumented libraries.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So, if there was any question as to whether or not you need DevOps involvement, this should motivate that participation.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 the worst case, we're going to need new build targets that include the instrument libraries to accompany the compiler-instrumented element.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093074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C403C9C0-66F5-38A4-6A9C-AF9A0038B363}"/>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BD2060D0-FEB4-1387-AD8F-9D2583790E3C}"/>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9B81B6FB-38D3-60E6-042D-D720BD75564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Now, let's highlight some dynamic analysis best practices.</a:t>
            </a:r>
          </a:p>
        </p:txBody>
      </p:sp>
    </p:spTree>
    <p:extLst>
      <p:ext uri="{BB962C8B-B14F-4D97-AF65-F5344CB8AC3E}">
        <p14:creationId xmlns:p14="http://schemas.microsoft.com/office/powerpoint/2010/main" val="41566053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B88D795E-C0D4-973B-1F9C-90AE6712C7A1}"/>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AFE48715-7399-6990-27DD-36ED3C85FDB0}"/>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001EE6B0-9173-B862-FAAA-524B4ABECCD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As mentioned earlier and emphasized several times, we want to start small because dynamic analysis is a stressor to the system, you should focus on the smallest necessary part that you have and work from there.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Once a construct that's managing a resource, typically, has been dealt with, then you can build upon that.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So, taking a compositional approach is a reasonable one.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You should have logical separation between the tests.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 dynamic analysis test that’s stressing two separable elements will, to some extent, expose issues with their interplay.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you've already dealt with them individually, then that’s fine, but you have to start by dealing with each separately.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importance of this will be covered again in the runtime considerations discussion.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Next, avoid high-churn elements.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there's an element that is under active development and is changing at a fairly rapid rate, then dynamic analysis is probably not what you want to apply to it, because it’s not in a stable state.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finally, you should avoid replicating test coverage.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When there is automated tooling in use which addresses the same cybersecurity-relevant issues, those issues should be addressed before applying dynamic analysis.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929257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1D40E8D6-08FB-5803-C3B5-AA5332D30DD3}"/>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117958B4-3E6D-E43E-011E-7D5215E6D1D8}"/>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8E68B1D8-C43A-BB3C-4E23-440F60CA3B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Finally, let's consider some runtime aspects that are going to influence how we're doing dynamic analysis.</a:t>
            </a:r>
          </a:p>
        </p:txBody>
      </p:sp>
    </p:spTree>
    <p:extLst>
      <p:ext uri="{BB962C8B-B14F-4D97-AF65-F5344CB8AC3E}">
        <p14:creationId xmlns:p14="http://schemas.microsoft.com/office/powerpoint/2010/main" val="21825330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0CB16CD0-7FDE-ADEB-6245-C2334D3B2FD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028D7E3E-8DED-BBAD-D7A3-0C91393B2D8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242069A6-5601-CDF4-4615-FFF7E30609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Some dynamic analysis tools terminate when an error is detected.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Others can be configured to do so.</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behavior which although providing us actionable results, because a crash is a crash, may be difficult to replicate because of sensitivity to initial conditions.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Additionally, this may slow the rate at which issues are identified.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alternative requires the addition of error state handling when testing is performed within a CI/CD pipeline.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second consideration is that of issue occlusion.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When you're dealing with things related to memory and address, if you determine that an error condition is present, then arguably, the system is in a compromised state, and any further analysis would not be prudent.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However, if one just takes that approach, then you can end up masking other things that might be more significant and so, one should consider whenever you find an error, to not necessarily ignore everything and then address that one directly, but rather to rework the tests in order to suppress that error, so that you can determine if there's anything else which may be underlying the error that's been detected.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Issues may also be occluded by the abovementioned termination on error behavior and also tooling which has finding limits.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third consideration is that of footprint.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Now, we talked about footprint before, but in light of the discussion on runtime libraries, it becomes more obvious how footprint comes into play here.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 the case of memory-oriented dynamic analysis, you have instrumentation which is putting guards around allocated memory, and detection logic checking allocations, de-allocations and accesses.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can dramatically increase executable size and execution time compared to the baseline.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Finally, the cybersecurity side-effects of doing this instrumentation cannot be overstated.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Whether instrumentation tags memory or adds explicit checks to memory access, it has to be done in a way which is visible to the test harness.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resultant code would probably trigger any cybersecurity checks being done against the system by other external tools.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is yet another reason to not perform dynamic analysis at the system level.</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129559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C9D6BA4B-F2CC-7456-C563-FCAAFF596B9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18B19F7-EB23-2069-BFF3-F3B32545E2D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1E83C649-D857-D4E3-D095-345CF4203E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That covers our treatment of the element instrumentation activity within the dynamic analysis process.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Now let's look at some takeaways.</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4145680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As you're approaching element instrumentation.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Take an incremental approach, both in scope and in what you're trying to look at simultaneously.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Concentrate on the critical elements.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goes along with the scope but is more focused.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Remember that dynamic analysis is an expensive process, relatively speaking, and if you have elements that just aren't critical, then do those later.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Don't replicate the analysis that you're getting out of other tools because, again, dynamic analysis is probably the most expensive option, in terms of setup, execution, and speed to detection.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Finally, be mindful of what the dynamic analysis constraints and impacts are.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It's really important that you allow for the time, resource, and external tool impacts that may occur during dynamic analysis.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841265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additional information and to get a more in-depth set of references, the </a:t>
            </a:r>
            <a:r>
              <a:rPr lang="en-US" sz="1400" b="1" dirty="0">
                <a:latin typeface="Calibri" panose="020F0502020204030204" pitchFamily="34" charset="0"/>
                <a:cs typeface="Calibri" panose="020F0502020204030204" pitchFamily="34" charset="0"/>
              </a:rPr>
              <a:t>Dynamic Analysis Instrument Element Procedure </a:t>
            </a:r>
            <a:r>
              <a:rPr lang="en-US" sz="1400" dirty="0">
                <a:latin typeface="Calibri" panose="020F0502020204030204" pitchFamily="34" charset="0"/>
                <a:cs typeface="Calibri" panose="020F0502020204030204" pitchFamily="34" charset="0"/>
              </a:rPr>
              <a:t>tertiary document is available in the AVCDL GitHub repository.</a:t>
            </a:r>
          </a:p>
        </p:txBody>
      </p:sp>
    </p:spTree>
    <p:extLst>
      <p:ext uri="{BB962C8B-B14F-4D97-AF65-F5344CB8AC3E}">
        <p14:creationId xmlns:p14="http://schemas.microsoft.com/office/powerpoint/2010/main" val="35780262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All </a:t>
            </a:r>
            <a:r>
              <a:rPr lang="en-US" sz="1400" dirty="0">
                <a:effectLst/>
                <a:latin typeface="Calibri" panose="020F0502020204030204" pitchFamily="34" charset="0"/>
                <a:ea typeface="Calibri" panose="020F0502020204030204" pitchFamily="34" charset="0"/>
                <a:cs typeface="Calibri" panose="020F0502020204030204" pitchFamily="34" charset="0"/>
              </a:rPr>
              <a:t>AVCDL materials, both in source and distribution forms, are available on our GitHub site, as shown here.</a:t>
            </a:r>
          </a:p>
          <a:p>
            <a:pPr marL="0" marR="0" indent="0" algn="just">
              <a:spcBef>
                <a:spcPts val="0"/>
              </a:spcBef>
              <a:spcAft>
                <a:spcPts val="1200"/>
              </a:spcAft>
              <a:buNone/>
            </a:pP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Because of the size of the repository, it's recommended that you either clone the repository or download a ZIP archive of it, if you're not familiar with using git.</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Instructions for downloading a ZIP archive are linked to on the repository’s front page. </a:t>
            </a: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endParaRPr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219874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Videos covering various aspects of the AVCDL are available on our YouTube channel, as shown here.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It's important to note that all AVCDL materials with the exception of the introductory blog posts are intended for product cybersecurity engineering practitioners.</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1061892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defTabSz="914400" rtl="0" eaLnBrk="1" fontAlgn="auto" latinLnBrk="0" hangingPunct="1">
              <a:lnSpc>
                <a:spcPct val="100000"/>
              </a:lnSpc>
              <a:spcBef>
                <a:spcPts val="0"/>
              </a:spcBef>
              <a:spcAft>
                <a:spcPts val="1200"/>
              </a:spcAft>
              <a:buClr>
                <a:srgbClr val="000000"/>
              </a:buClr>
              <a:buSzPts val="1100"/>
              <a:buFont typeface="Arial"/>
              <a:buNone/>
              <a:tabLst/>
              <a:defRPr/>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With this training complete</a:t>
            </a:r>
            <a:r>
              <a:rPr lang="en-US" sz="1400" dirty="0"/>
              <a:t>, if you’ve completed the other trainings covering the </a:t>
            </a:r>
            <a:r>
              <a:rPr lang="en-US" sz="1400" b="1" dirty="0"/>
              <a:t>Dynamic Analysis </a:t>
            </a:r>
            <a:r>
              <a:rPr lang="en-US" sz="1400" dirty="0"/>
              <a:t>process activities,  you can proceed to the other trainings at this level, these include:</a:t>
            </a:r>
          </a:p>
          <a:p>
            <a:pPr marL="0" marR="0" indent="0" algn="just">
              <a:spcBef>
                <a:spcPts val="0"/>
              </a:spcBef>
              <a:spcAft>
                <a:spcPts val="1200"/>
              </a:spcAft>
              <a:buNone/>
            </a:pPr>
            <a:endParaRPr lang="en-US" sz="1400" dirty="0"/>
          </a:p>
          <a:p>
            <a:pPr marL="285750" marR="0" indent="-285750" algn="just">
              <a:spcBef>
                <a:spcPts val="0"/>
              </a:spcBef>
              <a:spcAft>
                <a:spcPts val="1200"/>
              </a:spcAft>
            </a:pPr>
            <a:r>
              <a:rPr lang="en-US" sz="1400" b="1" dirty="0"/>
              <a:t>Static Analysis</a:t>
            </a:r>
          </a:p>
          <a:p>
            <a:pPr marL="285750" marR="0" indent="-285750" algn="just">
              <a:spcBef>
                <a:spcPts val="0"/>
              </a:spcBef>
              <a:spcAft>
                <a:spcPts val="1200"/>
              </a:spcAft>
            </a:pPr>
            <a:r>
              <a:rPr lang="en-US" sz="1400" b="1" dirty="0"/>
              <a:t>Fuzz Testing</a:t>
            </a:r>
          </a:p>
          <a:p>
            <a:pPr marL="0" marR="0" indent="0" algn="just">
              <a:spcBef>
                <a:spcPts val="0"/>
              </a:spcBef>
              <a:spcAft>
                <a:spcPts val="1200"/>
              </a:spcAft>
              <a:buNone/>
            </a:pPr>
            <a:endParaRPr lang="en-US" sz="1400" dirty="0"/>
          </a:p>
          <a:p>
            <a:pPr marL="0" marR="0" indent="0" algn="just">
              <a:spcBef>
                <a:spcPts val="0"/>
              </a:spcBef>
              <a:spcAft>
                <a:spcPts val="1200"/>
              </a:spcAft>
              <a:buNone/>
            </a:pPr>
            <a:r>
              <a:rPr lang="en-US" sz="1400" dirty="0"/>
              <a:t>and</a:t>
            </a:r>
          </a:p>
          <a:p>
            <a:pPr marL="285750" marR="0" indent="-285750" algn="just">
              <a:spcBef>
                <a:spcPts val="0"/>
              </a:spcBef>
              <a:spcAft>
                <a:spcPts val="1200"/>
              </a:spcAft>
            </a:pPr>
            <a:endParaRPr lang="en-US" sz="1400" dirty="0"/>
          </a:p>
          <a:p>
            <a:pPr marL="285750" marR="0" indent="-285750" algn="just">
              <a:spcBef>
                <a:spcPts val="0"/>
              </a:spcBef>
              <a:spcAft>
                <a:spcPts val="1200"/>
              </a:spcAft>
            </a:pPr>
            <a:r>
              <a:rPr lang="en-US" sz="1400" b="1" dirty="0"/>
              <a:t>Secure Code Review</a:t>
            </a:r>
          </a:p>
        </p:txBody>
      </p:sp>
    </p:spTree>
    <p:extLst>
      <p:ext uri="{BB962C8B-B14F-4D97-AF65-F5344CB8AC3E}">
        <p14:creationId xmlns:p14="http://schemas.microsoft.com/office/powerpoint/2010/main" val="37017396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a:extLst>
            <a:ext uri="{FF2B5EF4-FFF2-40B4-BE49-F238E27FC236}">
              <a16:creationId xmlns:a16="http://schemas.microsoft.com/office/drawing/2014/main" id="{B285F196-25D0-8F3C-8178-64DC8CB3369B}"/>
            </a:ext>
          </a:extLst>
        </p:cNvPr>
        <p:cNvGrpSpPr/>
        <p:nvPr/>
      </p:nvGrpSpPr>
      <p:grpSpPr>
        <a:xfrm>
          <a:off x="0" y="0"/>
          <a:ext cx="0" cy="0"/>
          <a:chOff x="0" y="0"/>
          <a:chExt cx="0" cy="0"/>
        </a:xfrm>
      </p:grpSpPr>
      <p:sp>
        <p:nvSpPr>
          <p:cNvPr id="875" name="Google Shape;875;gbd8f7373d4_0_397:notes">
            <a:extLst>
              <a:ext uri="{FF2B5EF4-FFF2-40B4-BE49-F238E27FC236}">
                <a16:creationId xmlns:a16="http://schemas.microsoft.com/office/drawing/2014/main" id="{757F2C4D-2029-4FAB-1591-57A08DEAD112}"/>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876" name="Google Shape;876;gbd8f7373d4_0_397:notes">
            <a:extLst>
              <a:ext uri="{FF2B5EF4-FFF2-40B4-BE49-F238E27FC236}">
                <a16:creationId xmlns:a16="http://schemas.microsoft.com/office/drawing/2014/main" id="{D79BEA73-39D9-9704-9FD9-0EA85D4533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 are the references to the source material used in the creation of this presentation.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They'll also be included in the video description.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Additionally, this presentation’s source material will be provided on the AVCDL GitHub repository.</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22064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creativecommons.org/licenses/by/4.0/legalcode" TargetMode="Externa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507" y="992767"/>
            <a:ext cx="11358000" cy="27369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a:endParaRPr/>
          </a:p>
        </p:txBody>
      </p:sp>
      <p:sp>
        <p:nvSpPr>
          <p:cNvPr id="11" name="Google Shape;11;p2"/>
          <p:cNvSpPr txBox="1">
            <a:spLocks noGrp="1"/>
          </p:cNvSpPr>
          <p:nvPr>
            <p:ph type="subTitle" idx="1"/>
          </p:nvPr>
        </p:nvSpPr>
        <p:spPr>
          <a:xfrm>
            <a:off x="415496" y="3778833"/>
            <a:ext cx="11358000" cy="1056900"/>
          </a:xfrm>
          <a:prstGeom prst="rect">
            <a:avLst/>
          </a:prstGeom>
        </p:spPr>
        <p:txBody>
          <a:bodyPr spcFirstLastPara="1" wrap="square" lIns="121875" tIns="121875" rIns="121875" bIns="121875" anchor="t" anchorCtr="0">
            <a:no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12" name="Google Shape;12;p2"/>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496" y="2867800"/>
            <a:ext cx="11358000" cy="1122300"/>
          </a:xfrm>
          <a:prstGeom prst="rect">
            <a:avLst/>
          </a:prstGeom>
        </p:spPr>
        <p:txBody>
          <a:bodyPr spcFirstLastPara="1" wrap="square" lIns="121875" tIns="121875" rIns="121875" bIns="121875" anchor="ctr"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5" name="Google Shape;15;p3"/>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18" name="Google Shape;18;p4"/>
          <p:cNvSpPr txBox="1">
            <a:spLocks noGrp="1"/>
          </p:cNvSpPr>
          <p:nvPr>
            <p:ph type="body" idx="1"/>
          </p:nvPr>
        </p:nvSpPr>
        <p:spPr>
          <a:xfrm>
            <a:off x="415496" y="1536633"/>
            <a:ext cx="11358000" cy="4555200"/>
          </a:xfrm>
          <a:prstGeom prst="rect">
            <a:avLst/>
          </a:prstGeom>
        </p:spPr>
        <p:txBody>
          <a:bodyPr spcFirstLastPara="1" wrap="square" lIns="121875" tIns="121875" rIns="121875" bIns="121875" anchor="t" anchorCtr="0">
            <a:noAutofit/>
          </a:bodyPr>
          <a:lstStyle>
            <a:lvl1pPr marL="457207" lvl="0" indent="-381006">
              <a:spcBef>
                <a:spcPts val="0"/>
              </a:spcBef>
              <a:spcAft>
                <a:spcPts val="0"/>
              </a:spcAft>
              <a:buSzPts val="2400"/>
              <a:buChar char="●"/>
              <a:defRPr/>
            </a:lvl1pPr>
            <a:lvl2pPr marL="914415" lvl="1" indent="-349255">
              <a:spcBef>
                <a:spcPts val="2099"/>
              </a:spcBef>
              <a:spcAft>
                <a:spcPts val="0"/>
              </a:spcAft>
              <a:buSzPts val="1900"/>
              <a:buChar char="○"/>
              <a:defRPr/>
            </a:lvl2pPr>
            <a:lvl3pPr marL="1371622" lvl="2" indent="-349255">
              <a:spcBef>
                <a:spcPts val="2099"/>
              </a:spcBef>
              <a:spcAft>
                <a:spcPts val="0"/>
              </a:spcAft>
              <a:buSzPts val="1900"/>
              <a:buChar char="■"/>
              <a:defRPr/>
            </a:lvl3pPr>
            <a:lvl4pPr marL="1828831" lvl="3" indent="-349255">
              <a:spcBef>
                <a:spcPts val="2099"/>
              </a:spcBef>
              <a:spcAft>
                <a:spcPts val="0"/>
              </a:spcAft>
              <a:buSzPts val="1900"/>
              <a:buChar char="●"/>
              <a:defRPr/>
            </a:lvl4pPr>
            <a:lvl5pPr marL="2286038" lvl="4" indent="-349255">
              <a:spcBef>
                <a:spcPts val="2099"/>
              </a:spcBef>
              <a:spcAft>
                <a:spcPts val="0"/>
              </a:spcAft>
              <a:buSzPts val="1900"/>
              <a:buChar char="○"/>
              <a:defRPr/>
            </a:lvl5pPr>
            <a:lvl6pPr marL="2743246" lvl="5" indent="-349255">
              <a:spcBef>
                <a:spcPts val="2099"/>
              </a:spcBef>
              <a:spcAft>
                <a:spcPts val="0"/>
              </a:spcAft>
              <a:buSzPts val="1900"/>
              <a:buChar char="■"/>
              <a:defRPr/>
            </a:lvl6pPr>
            <a:lvl7pPr marL="3200453" lvl="6" indent="-349255">
              <a:spcBef>
                <a:spcPts val="2099"/>
              </a:spcBef>
              <a:spcAft>
                <a:spcPts val="0"/>
              </a:spcAft>
              <a:buSzPts val="1900"/>
              <a:buChar char="●"/>
              <a:defRPr/>
            </a:lvl7pPr>
            <a:lvl8pPr marL="3657661" lvl="7" indent="-349255">
              <a:spcBef>
                <a:spcPts val="2099"/>
              </a:spcBef>
              <a:spcAft>
                <a:spcPts val="0"/>
              </a:spcAft>
              <a:buSzPts val="1900"/>
              <a:buChar char="○"/>
              <a:defRPr/>
            </a:lvl8pPr>
            <a:lvl9pPr marL="4114868" lvl="8" indent="-349255">
              <a:spcBef>
                <a:spcPts val="2099"/>
              </a:spcBef>
              <a:spcAft>
                <a:spcPts val="2099"/>
              </a:spcAft>
              <a:buSzPts val="1900"/>
              <a:buChar char="■"/>
              <a:defRPr/>
            </a:lvl9pPr>
          </a:lstStyle>
          <a:p>
            <a:endParaRPr/>
          </a:p>
        </p:txBody>
      </p:sp>
      <p:sp>
        <p:nvSpPr>
          <p:cNvPr id="19" name="Google Shape;19;p4"/>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2" name="Google Shape;22;p5"/>
          <p:cNvSpPr txBox="1">
            <a:spLocks noGrp="1"/>
          </p:cNvSpPr>
          <p:nvPr>
            <p:ph type="body" idx="1"/>
          </p:nvPr>
        </p:nvSpPr>
        <p:spPr>
          <a:xfrm>
            <a:off x="415497" y="1536633"/>
            <a:ext cx="5331900" cy="4555200"/>
          </a:xfrm>
          <a:prstGeom prst="rect">
            <a:avLst/>
          </a:prstGeom>
        </p:spPr>
        <p:txBody>
          <a:bodyPr spcFirstLastPara="1" wrap="square" lIns="121875" tIns="121875" rIns="121875" bIns="121875" anchor="t" anchorCtr="0">
            <a:noAutofit/>
          </a:bodyPr>
          <a:lstStyle>
            <a:lvl1pPr marL="457207" lvl="0" indent="-349255">
              <a:spcBef>
                <a:spcPts val="0"/>
              </a:spcBef>
              <a:spcAft>
                <a:spcPts val="0"/>
              </a:spcAft>
              <a:buSzPts val="1900"/>
              <a:buChar char="●"/>
              <a:defRPr sz="19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23" name="Google Shape;23;p5"/>
          <p:cNvSpPr txBox="1">
            <a:spLocks noGrp="1"/>
          </p:cNvSpPr>
          <p:nvPr>
            <p:ph type="body" idx="2"/>
          </p:nvPr>
        </p:nvSpPr>
        <p:spPr>
          <a:xfrm>
            <a:off x="6441588" y="1536633"/>
            <a:ext cx="5331900" cy="4555200"/>
          </a:xfrm>
          <a:prstGeom prst="rect">
            <a:avLst/>
          </a:prstGeom>
        </p:spPr>
        <p:txBody>
          <a:bodyPr spcFirstLastPara="1" wrap="square" lIns="121875" tIns="121875" rIns="121875" bIns="121875" anchor="t" anchorCtr="0">
            <a:noAutofit/>
          </a:bodyPr>
          <a:lstStyle>
            <a:lvl1pPr marL="457207" lvl="0" indent="-349255">
              <a:spcBef>
                <a:spcPts val="0"/>
              </a:spcBef>
              <a:spcAft>
                <a:spcPts val="0"/>
              </a:spcAft>
              <a:buSzPts val="1900"/>
              <a:buChar char="●"/>
              <a:defRPr sz="19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24" name="Google Shape;24;p5"/>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7" name="Google Shape;27;p6"/>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496" y="740800"/>
            <a:ext cx="3743100" cy="1007700"/>
          </a:xfrm>
          <a:prstGeom prst="rect">
            <a:avLst/>
          </a:prstGeom>
        </p:spPr>
        <p:txBody>
          <a:bodyPr spcFirstLastPara="1" wrap="square" lIns="121875" tIns="121875" rIns="121875" bIns="121875" anchor="b" anchorCtr="0">
            <a:noAutofit/>
          </a:bodyPr>
          <a:lstStyle>
            <a:lvl1pPr lvl="0">
              <a:spcBef>
                <a:spcPts val="0"/>
              </a:spcBef>
              <a:spcAft>
                <a:spcPts val="0"/>
              </a:spcAft>
              <a:buSzPts val="3200"/>
              <a:buNone/>
              <a:defRPr sz="3201"/>
            </a:lvl1pPr>
            <a:lvl2pPr lvl="1">
              <a:spcBef>
                <a:spcPts val="0"/>
              </a:spcBef>
              <a:spcAft>
                <a:spcPts val="0"/>
              </a:spcAft>
              <a:buSzPts val="3200"/>
              <a:buNone/>
              <a:defRPr sz="3201"/>
            </a:lvl2pPr>
            <a:lvl3pPr lvl="2">
              <a:spcBef>
                <a:spcPts val="0"/>
              </a:spcBef>
              <a:spcAft>
                <a:spcPts val="0"/>
              </a:spcAft>
              <a:buSzPts val="3200"/>
              <a:buNone/>
              <a:defRPr sz="3201"/>
            </a:lvl3pPr>
            <a:lvl4pPr lvl="3">
              <a:spcBef>
                <a:spcPts val="0"/>
              </a:spcBef>
              <a:spcAft>
                <a:spcPts val="0"/>
              </a:spcAft>
              <a:buSzPts val="3200"/>
              <a:buNone/>
              <a:defRPr sz="3201"/>
            </a:lvl4pPr>
            <a:lvl5pPr lvl="4">
              <a:spcBef>
                <a:spcPts val="0"/>
              </a:spcBef>
              <a:spcAft>
                <a:spcPts val="0"/>
              </a:spcAft>
              <a:buSzPts val="3200"/>
              <a:buNone/>
              <a:defRPr sz="3201"/>
            </a:lvl5pPr>
            <a:lvl6pPr lvl="5">
              <a:spcBef>
                <a:spcPts val="0"/>
              </a:spcBef>
              <a:spcAft>
                <a:spcPts val="0"/>
              </a:spcAft>
              <a:buSzPts val="3200"/>
              <a:buNone/>
              <a:defRPr sz="3201"/>
            </a:lvl6pPr>
            <a:lvl7pPr lvl="6">
              <a:spcBef>
                <a:spcPts val="0"/>
              </a:spcBef>
              <a:spcAft>
                <a:spcPts val="0"/>
              </a:spcAft>
              <a:buSzPts val="3200"/>
              <a:buNone/>
              <a:defRPr sz="3201"/>
            </a:lvl7pPr>
            <a:lvl8pPr lvl="7">
              <a:spcBef>
                <a:spcPts val="0"/>
              </a:spcBef>
              <a:spcAft>
                <a:spcPts val="0"/>
              </a:spcAft>
              <a:buSzPts val="3200"/>
              <a:buNone/>
              <a:defRPr sz="3201"/>
            </a:lvl8pPr>
            <a:lvl9pPr lvl="8">
              <a:spcBef>
                <a:spcPts val="0"/>
              </a:spcBef>
              <a:spcAft>
                <a:spcPts val="0"/>
              </a:spcAft>
              <a:buSzPts val="3200"/>
              <a:buNone/>
              <a:defRPr sz="3201"/>
            </a:lvl9pPr>
          </a:lstStyle>
          <a:p>
            <a:endParaRPr/>
          </a:p>
        </p:txBody>
      </p:sp>
      <p:sp>
        <p:nvSpPr>
          <p:cNvPr id="30" name="Google Shape;30;p7"/>
          <p:cNvSpPr txBox="1">
            <a:spLocks noGrp="1"/>
          </p:cNvSpPr>
          <p:nvPr>
            <p:ph type="body" idx="1"/>
          </p:nvPr>
        </p:nvSpPr>
        <p:spPr>
          <a:xfrm>
            <a:off x="415496" y="1852800"/>
            <a:ext cx="3743100" cy="4239300"/>
          </a:xfrm>
          <a:prstGeom prst="rect">
            <a:avLst/>
          </a:prstGeom>
        </p:spPr>
        <p:txBody>
          <a:bodyPr spcFirstLastPara="1" wrap="square" lIns="121875" tIns="121875" rIns="121875" bIns="121875" anchor="t" anchorCtr="0">
            <a:noAutofit/>
          </a:bodyPr>
          <a:lstStyle>
            <a:lvl1pPr marL="457207" lvl="0" indent="-330205">
              <a:spcBef>
                <a:spcPts val="0"/>
              </a:spcBef>
              <a:spcAft>
                <a:spcPts val="0"/>
              </a:spcAft>
              <a:buSzPts val="1600"/>
              <a:buChar char="●"/>
              <a:defRPr sz="16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31" name="Google Shape;31;p7"/>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503" y="600200"/>
            <a:ext cx="8488200" cy="5454300"/>
          </a:xfrm>
          <a:prstGeom prst="rect">
            <a:avLst/>
          </a:prstGeom>
        </p:spPr>
        <p:txBody>
          <a:bodyPr spcFirstLastPara="1" wrap="square" lIns="121875" tIns="121875" rIns="121875" bIns="121875" anchor="ctr" anchorCtr="0">
            <a:no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a:endParaRPr/>
          </a:p>
        </p:txBody>
      </p:sp>
      <p:sp>
        <p:nvSpPr>
          <p:cNvPr id="34" name="Google Shape;34;p8"/>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6094475" y="-167"/>
            <a:ext cx="6094500" cy="6858000"/>
          </a:xfrm>
          <a:prstGeom prst="rect">
            <a:avLst/>
          </a:prstGeom>
          <a:solidFill>
            <a:schemeClr val="lt2"/>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sz="1400"/>
          </a:p>
        </p:txBody>
      </p:sp>
      <p:sp>
        <p:nvSpPr>
          <p:cNvPr id="37" name="Google Shape;37;p9"/>
          <p:cNvSpPr txBox="1">
            <a:spLocks noGrp="1"/>
          </p:cNvSpPr>
          <p:nvPr>
            <p:ph type="title"/>
          </p:nvPr>
        </p:nvSpPr>
        <p:spPr>
          <a:xfrm>
            <a:off x="353913" y="1644233"/>
            <a:ext cx="5392199" cy="19764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a:endParaRPr/>
          </a:p>
        </p:txBody>
      </p:sp>
      <p:sp>
        <p:nvSpPr>
          <p:cNvPr id="38" name="Google Shape;38;p9"/>
          <p:cNvSpPr txBox="1">
            <a:spLocks noGrp="1"/>
          </p:cNvSpPr>
          <p:nvPr>
            <p:ph type="subTitle" idx="1"/>
          </p:nvPr>
        </p:nvSpPr>
        <p:spPr>
          <a:xfrm>
            <a:off x="353913" y="3737433"/>
            <a:ext cx="5392199" cy="1646700"/>
          </a:xfrm>
          <a:prstGeom prst="rect">
            <a:avLst/>
          </a:prstGeom>
        </p:spPr>
        <p:txBody>
          <a:bodyPr spcFirstLastPara="1" wrap="square" lIns="121875" tIns="121875" rIns="121875" bIns="121875" anchor="t" anchorCtr="0">
            <a:noAutofit/>
          </a:bodyPr>
          <a:lstStyle>
            <a:lvl1pPr lvl="0" algn="ctr">
              <a:lnSpc>
                <a:spcPct val="100000"/>
              </a:lnSpc>
              <a:spcBef>
                <a:spcPts val="0"/>
              </a:spcBef>
              <a:spcAft>
                <a:spcPts val="0"/>
              </a:spcAft>
              <a:buSzPts val="2800"/>
              <a:buNone/>
              <a:defRPr sz="2801"/>
            </a:lvl1pPr>
            <a:lvl2pPr lvl="1" algn="ctr">
              <a:lnSpc>
                <a:spcPct val="100000"/>
              </a:lnSpc>
              <a:spcBef>
                <a:spcPts val="0"/>
              </a:spcBef>
              <a:spcAft>
                <a:spcPts val="0"/>
              </a:spcAft>
              <a:buSzPts val="2800"/>
              <a:buNone/>
              <a:defRPr sz="2801"/>
            </a:lvl2pPr>
            <a:lvl3pPr lvl="2" algn="ctr">
              <a:lnSpc>
                <a:spcPct val="100000"/>
              </a:lnSpc>
              <a:spcBef>
                <a:spcPts val="0"/>
              </a:spcBef>
              <a:spcAft>
                <a:spcPts val="0"/>
              </a:spcAft>
              <a:buSzPts val="2800"/>
              <a:buNone/>
              <a:defRPr sz="2801"/>
            </a:lvl3pPr>
            <a:lvl4pPr lvl="3" algn="ctr">
              <a:lnSpc>
                <a:spcPct val="100000"/>
              </a:lnSpc>
              <a:spcBef>
                <a:spcPts val="0"/>
              </a:spcBef>
              <a:spcAft>
                <a:spcPts val="0"/>
              </a:spcAft>
              <a:buSzPts val="2800"/>
              <a:buNone/>
              <a:defRPr sz="2801"/>
            </a:lvl4pPr>
            <a:lvl5pPr lvl="4" algn="ctr">
              <a:lnSpc>
                <a:spcPct val="100000"/>
              </a:lnSpc>
              <a:spcBef>
                <a:spcPts val="0"/>
              </a:spcBef>
              <a:spcAft>
                <a:spcPts val="0"/>
              </a:spcAft>
              <a:buSzPts val="2800"/>
              <a:buNone/>
              <a:defRPr sz="2801"/>
            </a:lvl5pPr>
            <a:lvl6pPr lvl="5" algn="ctr">
              <a:lnSpc>
                <a:spcPct val="100000"/>
              </a:lnSpc>
              <a:spcBef>
                <a:spcPts val="0"/>
              </a:spcBef>
              <a:spcAft>
                <a:spcPts val="0"/>
              </a:spcAft>
              <a:buSzPts val="2800"/>
              <a:buNone/>
              <a:defRPr sz="2801"/>
            </a:lvl6pPr>
            <a:lvl7pPr lvl="6" algn="ctr">
              <a:lnSpc>
                <a:spcPct val="100000"/>
              </a:lnSpc>
              <a:spcBef>
                <a:spcPts val="0"/>
              </a:spcBef>
              <a:spcAft>
                <a:spcPts val="0"/>
              </a:spcAft>
              <a:buSzPts val="2800"/>
              <a:buNone/>
              <a:defRPr sz="2801"/>
            </a:lvl7pPr>
            <a:lvl8pPr lvl="7" algn="ctr">
              <a:lnSpc>
                <a:spcPct val="100000"/>
              </a:lnSpc>
              <a:spcBef>
                <a:spcPts val="0"/>
              </a:spcBef>
              <a:spcAft>
                <a:spcPts val="0"/>
              </a:spcAft>
              <a:buSzPts val="2800"/>
              <a:buNone/>
              <a:defRPr sz="2801"/>
            </a:lvl8pPr>
            <a:lvl9pPr lvl="8" algn="ctr">
              <a:lnSpc>
                <a:spcPct val="100000"/>
              </a:lnSpc>
              <a:spcBef>
                <a:spcPts val="0"/>
              </a:spcBef>
              <a:spcAft>
                <a:spcPts val="0"/>
              </a:spcAft>
              <a:buSzPts val="2800"/>
              <a:buNone/>
              <a:defRPr sz="2801"/>
            </a:lvl9pPr>
          </a:lstStyle>
          <a:p>
            <a:endParaRPr/>
          </a:p>
        </p:txBody>
      </p:sp>
      <p:sp>
        <p:nvSpPr>
          <p:cNvPr id="39" name="Google Shape;39;p9"/>
          <p:cNvSpPr txBox="1">
            <a:spLocks noGrp="1"/>
          </p:cNvSpPr>
          <p:nvPr>
            <p:ph type="body" idx="2"/>
          </p:nvPr>
        </p:nvSpPr>
        <p:spPr>
          <a:xfrm>
            <a:off x="6584351" y="965433"/>
            <a:ext cx="5114700" cy="4926900"/>
          </a:xfrm>
          <a:prstGeom prst="rect">
            <a:avLst/>
          </a:prstGeom>
        </p:spPr>
        <p:txBody>
          <a:bodyPr spcFirstLastPara="1" wrap="square" lIns="121875" tIns="121875" rIns="121875" bIns="121875" anchor="ctr" anchorCtr="0">
            <a:noAutofit/>
          </a:bodyPr>
          <a:lstStyle>
            <a:lvl1pPr marL="457207" lvl="0" indent="-381006">
              <a:spcBef>
                <a:spcPts val="0"/>
              </a:spcBef>
              <a:spcAft>
                <a:spcPts val="0"/>
              </a:spcAft>
              <a:buSzPts val="2400"/>
              <a:buChar char="●"/>
              <a:defRPr/>
            </a:lvl1pPr>
            <a:lvl2pPr marL="914415" lvl="1" indent="-349255">
              <a:spcBef>
                <a:spcPts val="2099"/>
              </a:spcBef>
              <a:spcAft>
                <a:spcPts val="0"/>
              </a:spcAft>
              <a:buSzPts val="1900"/>
              <a:buChar char="○"/>
              <a:defRPr/>
            </a:lvl2pPr>
            <a:lvl3pPr marL="1371622" lvl="2" indent="-349255">
              <a:spcBef>
                <a:spcPts val="2099"/>
              </a:spcBef>
              <a:spcAft>
                <a:spcPts val="0"/>
              </a:spcAft>
              <a:buSzPts val="1900"/>
              <a:buChar char="■"/>
              <a:defRPr/>
            </a:lvl3pPr>
            <a:lvl4pPr marL="1828831" lvl="3" indent="-349255">
              <a:spcBef>
                <a:spcPts val="2099"/>
              </a:spcBef>
              <a:spcAft>
                <a:spcPts val="0"/>
              </a:spcAft>
              <a:buSzPts val="1900"/>
              <a:buChar char="●"/>
              <a:defRPr/>
            </a:lvl4pPr>
            <a:lvl5pPr marL="2286038" lvl="4" indent="-349255">
              <a:spcBef>
                <a:spcPts val="2099"/>
              </a:spcBef>
              <a:spcAft>
                <a:spcPts val="0"/>
              </a:spcAft>
              <a:buSzPts val="1900"/>
              <a:buChar char="○"/>
              <a:defRPr/>
            </a:lvl5pPr>
            <a:lvl6pPr marL="2743246" lvl="5" indent="-349255">
              <a:spcBef>
                <a:spcPts val="2099"/>
              </a:spcBef>
              <a:spcAft>
                <a:spcPts val="0"/>
              </a:spcAft>
              <a:buSzPts val="1900"/>
              <a:buChar char="■"/>
              <a:defRPr/>
            </a:lvl6pPr>
            <a:lvl7pPr marL="3200453" lvl="6" indent="-349255">
              <a:spcBef>
                <a:spcPts val="2099"/>
              </a:spcBef>
              <a:spcAft>
                <a:spcPts val="0"/>
              </a:spcAft>
              <a:buSzPts val="1900"/>
              <a:buChar char="●"/>
              <a:defRPr/>
            </a:lvl7pPr>
            <a:lvl8pPr marL="3657661" lvl="7" indent="-349255">
              <a:spcBef>
                <a:spcPts val="2099"/>
              </a:spcBef>
              <a:spcAft>
                <a:spcPts val="0"/>
              </a:spcAft>
              <a:buSzPts val="1900"/>
              <a:buChar char="○"/>
              <a:defRPr/>
            </a:lvl8pPr>
            <a:lvl9pPr marL="4114868" lvl="8" indent="-349255">
              <a:spcBef>
                <a:spcPts val="2099"/>
              </a:spcBef>
              <a:spcAft>
                <a:spcPts val="2099"/>
              </a:spcAft>
              <a:buSzPts val="1900"/>
              <a:buChar char="■"/>
              <a:defRPr/>
            </a:lvl9pPr>
          </a:lstStyle>
          <a:p>
            <a:endParaRPr/>
          </a:p>
        </p:txBody>
      </p:sp>
      <p:sp>
        <p:nvSpPr>
          <p:cNvPr id="40" name="Google Shape;40;p9"/>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496" y="5640767"/>
            <a:ext cx="7996500" cy="806700"/>
          </a:xfrm>
          <a:prstGeom prst="rect">
            <a:avLst/>
          </a:prstGeom>
        </p:spPr>
        <p:txBody>
          <a:bodyPr spcFirstLastPara="1" wrap="square" lIns="121875" tIns="121875" rIns="121875" bIns="121875" anchor="ctr" anchorCtr="0">
            <a:noAutofit/>
          </a:bodyPr>
          <a:lstStyle>
            <a:lvl1pPr marL="457207" lvl="0" indent="-228604">
              <a:lnSpc>
                <a:spcPct val="100000"/>
              </a:lnSpc>
              <a:spcBef>
                <a:spcPts val="0"/>
              </a:spcBef>
              <a:spcAft>
                <a:spcPts val="0"/>
              </a:spcAft>
              <a:buSzPts val="2400"/>
              <a:buNone/>
              <a:defRPr/>
            </a:lvl1pPr>
          </a:lstStyle>
          <a:p>
            <a:endParaRPr/>
          </a:p>
        </p:txBody>
      </p:sp>
      <p:sp>
        <p:nvSpPr>
          <p:cNvPr id="43" name="Google Shape;43;p10"/>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496" y="1474833"/>
            <a:ext cx="11358000" cy="26181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46" name="Google Shape;46;p11"/>
          <p:cNvSpPr txBox="1">
            <a:spLocks noGrp="1"/>
          </p:cNvSpPr>
          <p:nvPr>
            <p:ph type="body" idx="1"/>
          </p:nvPr>
        </p:nvSpPr>
        <p:spPr>
          <a:xfrm>
            <a:off x="415496" y="4202967"/>
            <a:ext cx="11358000" cy="1734300"/>
          </a:xfrm>
          <a:prstGeom prst="rect">
            <a:avLst/>
          </a:prstGeom>
        </p:spPr>
        <p:txBody>
          <a:bodyPr spcFirstLastPara="1" wrap="square" lIns="121875" tIns="121875" rIns="121875" bIns="121875" anchor="t" anchorCtr="0">
            <a:noAutofit/>
          </a:bodyPr>
          <a:lstStyle>
            <a:lvl1pPr marL="457207" lvl="0" indent="-381006" algn="ctr">
              <a:spcBef>
                <a:spcPts val="0"/>
              </a:spcBef>
              <a:spcAft>
                <a:spcPts val="0"/>
              </a:spcAft>
              <a:buSzPts val="2400"/>
              <a:buChar char="●"/>
              <a:defRPr/>
            </a:lvl1pPr>
            <a:lvl2pPr marL="914415" lvl="1" indent="-349255" algn="ctr">
              <a:spcBef>
                <a:spcPts val="2099"/>
              </a:spcBef>
              <a:spcAft>
                <a:spcPts val="0"/>
              </a:spcAft>
              <a:buSzPts val="1900"/>
              <a:buChar char="○"/>
              <a:defRPr/>
            </a:lvl2pPr>
            <a:lvl3pPr marL="1371622" lvl="2" indent="-349255" algn="ctr">
              <a:spcBef>
                <a:spcPts val="2099"/>
              </a:spcBef>
              <a:spcAft>
                <a:spcPts val="0"/>
              </a:spcAft>
              <a:buSzPts val="1900"/>
              <a:buChar char="■"/>
              <a:defRPr/>
            </a:lvl3pPr>
            <a:lvl4pPr marL="1828831" lvl="3" indent="-349255" algn="ctr">
              <a:spcBef>
                <a:spcPts val="2099"/>
              </a:spcBef>
              <a:spcAft>
                <a:spcPts val="0"/>
              </a:spcAft>
              <a:buSzPts val="1900"/>
              <a:buChar char="●"/>
              <a:defRPr/>
            </a:lvl4pPr>
            <a:lvl5pPr marL="2286038" lvl="4" indent="-349255" algn="ctr">
              <a:spcBef>
                <a:spcPts val="2099"/>
              </a:spcBef>
              <a:spcAft>
                <a:spcPts val="0"/>
              </a:spcAft>
              <a:buSzPts val="1900"/>
              <a:buChar char="○"/>
              <a:defRPr/>
            </a:lvl5pPr>
            <a:lvl6pPr marL="2743246" lvl="5" indent="-349255" algn="ctr">
              <a:spcBef>
                <a:spcPts val="2099"/>
              </a:spcBef>
              <a:spcAft>
                <a:spcPts val="0"/>
              </a:spcAft>
              <a:buSzPts val="1900"/>
              <a:buChar char="■"/>
              <a:defRPr/>
            </a:lvl6pPr>
            <a:lvl7pPr marL="3200453" lvl="6" indent="-349255" algn="ctr">
              <a:spcBef>
                <a:spcPts val="2099"/>
              </a:spcBef>
              <a:spcAft>
                <a:spcPts val="0"/>
              </a:spcAft>
              <a:buSzPts val="1900"/>
              <a:buChar char="●"/>
              <a:defRPr/>
            </a:lvl7pPr>
            <a:lvl8pPr marL="3657661" lvl="7" indent="-349255" algn="ctr">
              <a:spcBef>
                <a:spcPts val="2099"/>
              </a:spcBef>
              <a:spcAft>
                <a:spcPts val="0"/>
              </a:spcAft>
              <a:buSzPts val="1900"/>
              <a:buChar char="○"/>
              <a:defRPr/>
            </a:lvl8pPr>
            <a:lvl9pPr marL="4114868" lvl="8" indent="-349255" algn="ctr">
              <a:spcBef>
                <a:spcPts val="2099"/>
              </a:spcBef>
              <a:spcAft>
                <a:spcPts val="2099"/>
              </a:spcAft>
              <a:buSzPts val="1900"/>
              <a:buChar char="■"/>
              <a:defRPr/>
            </a:lvl9pPr>
          </a:lstStyle>
          <a:p>
            <a:endParaRPr/>
          </a:p>
        </p:txBody>
      </p:sp>
      <p:sp>
        <p:nvSpPr>
          <p:cNvPr id="47" name="Google Shape;47;p11"/>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ver C" userDrawn="1">
  <p:cSld name="1_Cover C">
    <p:bg>
      <p:bgPr>
        <a:solidFill>
          <a:srgbClr val="030A14"/>
        </a:solidFill>
        <a:effectLst/>
      </p:bgPr>
    </p:bg>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455623" y="2364060"/>
            <a:ext cx="8915583" cy="3789320"/>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1"/>
              </a:buClr>
              <a:buSzPts val="9600"/>
              <a:buFont typeface="Roboto"/>
              <a:buNone/>
              <a:defRPr sz="9600" b="0" i="0" cap="none">
                <a:solidFill>
                  <a:schemeClr val="lt1"/>
                </a:solidFill>
                <a:latin typeface="Roboto"/>
                <a:ea typeface="Roboto"/>
                <a:cs typeface="Roboto"/>
                <a:sym typeface="Robo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58" name="Google Shape;58;p14"/>
          <p:cNvSpPr txBox="1"/>
          <p:nvPr/>
        </p:nvSpPr>
        <p:spPr>
          <a:xfrm>
            <a:off x="2377441" y="6212114"/>
            <a:ext cx="9355958" cy="417286"/>
          </a:xfrm>
          <a:prstGeom prst="rect">
            <a:avLst/>
          </a:prstGeom>
          <a:noFill/>
          <a:ln>
            <a:noFill/>
          </a:ln>
        </p:spPr>
        <p:txBody>
          <a:bodyPr spcFirstLastPara="1" wrap="square" lIns="0" tIns="0" rIns="0" bIns="0" anchor="b" anchorCtr="0">
            <a:noAutofit/>
          </a:bodyPr>
          <a:lstStyle/>
          <a:p>
            <a:pPr algn="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This work was created by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Torc Robotics</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and is licensed under the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Creative Commons Attribution-Share Alike (CC BY-SA-4.0)</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License.</a:t>
            </a:r>
          </a:p>
          <a:p>
            <a:pPr algn="r"/>
            <a:r>
              <a:rPr lang="en-US" sz="1200" b="1" i="0" u="sng"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hlinkClick r:id="rId2">
                  <a:extLst>
                    <a:ext uri="{A12FA001-AC4F-418D-AE19-62706E023703}">
                      <ahyp:hlinkClr xmlns:ahyp="http://schemas.microsoft.com/office/drawing/2018/hyperlinkcolor" val="tx"/>
                    </a:ext>
                  </a:extLst>
                </a:hlinkClick>
              </a:rPr>
              <a:t>https://creativecommons.org/licenses/by/4.0/legalcode</a:t>
            </a:r>
            <a:endParaRPr lang="en-US" sz="1200" b="0" i="0" u="none"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WHITE 1Col Title | Text">
  <p:cSld name="WHITE 1Col Title | Text">
    <p:spTree>
      <p:nvGrpSpPr>
        <p:cNvPr id="1" name="Shape 540"/>
        <p:cNvGrpSpPr/>
        <p:nvPr/>
      </p:nvGrpSpPr>
      <p:grpSpPr>
        <a:xfrm>
          <a:off x="0" y="0"/>
          <a:ext cx="0" cy="0"/>
          <a:chOff x="0" y="0"/>
          <a:chExt cx="0" cy="0"/>
        </a:xfrm>
      </p:grpSpPr>
      <p:sp>
        <p:nvSpPr>
          <p:cNvPr id="541" name="Google Shape;541;p9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42" name="Google Shape;542;p98"/>
          <p:cNvSpPr txBox="1">
            <a:spLocks noGrp="1"/>
          </p:cNvSpPr>
          <p:nvPr>
            <p:ph type="body" idx="1"/>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43" name="Google Shape;543;p98"/>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sp>
        <p:nvSpPr>
          <p:cNvPr id="545" name="Google Shape;545;p98"/>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endParaRPr sz="1000" dirty="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extLst>
    <p:ext uri="{DCECCB84-F9BA-43D5-87BE-67443E8EF086}">
      <p15:sldGuideLst xmlns:p15="http://schemas.microsoft.com/office/powerpoint/2012/main">
        <p15:guide id="1" orient="horz" pos="1872" userDrawn="1">
          <p15:clr>
            <a:srgbClr val="FA7B17"/>
          </p15:clr>
        </p15:guide>
        <p15:guide id="2" pos="5615" userDrawn="1">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6"/>
        <p:cNvGrpSpPr/>
        <p:nvPr/>
      </p:nvGrpSpPr>
      <p:grpSpPr>
        <a:xfrm>
          <a:off x="0" y="0"/>
          <a:ext cx="0" cy="0"/>
          <a:chOff x="0" y="0"/>
          <a:chExt cx="0" cy="0"/>
        </a:xfrm>
      </p:grpSpPr>
      <p:sp>
        <p:nvSpPr>
          <p:cNvPr id="867" name="Google Shape;867;p145"/>
          <p:cNvSpPr txBox="1">
            <a:spLocks noGrp="1"/>
          </p:cNvSpPr>
          <p:nvPr>
            <p:ph type="body" idx="1"/>
          </p:nvPr>
        </p:nvSpPr>
        <p:spPr>
          <a:xfrm>
            <a:off x="415496" y="5640767"/>
            <a:ext cx="7996500" cy="806700"/>
          </a:xfrm>
          <a:prstGeom prst="rect">
            <a:avLst/>
          </a:prstGeom>
        </p:spPr>
        <p:txBody>
          <a:bodyPr spcFirstLastPara="1" wrap="square" lIns="0" tIns="0" rIns="0" bIns="0" anchor="ctr" anchorCtr="0">
            <a:noAutofit/>
          </a:bodyPr>
          <a:lstStyle>
            <a:lvl1pPr marL="457207" lvl="0" indent="-228604" rtl="0">
              <a:lnSpc>
                <a:spcPct val="100000"/>
              </a:lnSpc>
              <a:spcBef>
                <a:spcPts val="0"/>
              </a:spcBef>
              <a:spcAft>
                <a:spcPts val="0"/>
              </a:spcAft>
              <a:buSzPts val="2000"/>
              <a:buNone/>
              <a:defRPr/>
            </a:lvl1pPr>
          </a:lstStyle>
          <a:p>
            <a:endParaRPr/>
          </a:p>
        </p:txBody>
      </p:sp>
      <p:sp>
        <p:nvSpPr>
          <p:cNvPr id="868" name="Google Shape;868;p145"/>
          <p:cNvSpPr txBox="1">
            <a:spLocks noGrp="1"/>
          </p:cNvSpPr>
          <p:nvPr>
            <p:ph type="sldNum" idx="12"/>
          </p:nvPr>
        </p:nvSpPr>
        <p:spPr>
          <a:xfrm>
            <a:off x="11293784" y="6217622"/>
            <a:ext cx="731400" cy="5247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496" y="593367"/>
            <a:ext cx="11358000" cy="763500"/>
          </a:xfrm>
          <a:prstGeom prst="rect">
            <a:avLst/>
          </a:prstGeom>
          <a:noFill/>
          <a:ln>
            <a:noFill/>
          </a:ln>
        </p:spPr>
        <p:txBody>
          <a:bodyPr spcFirstLastPara="1" wrap="square" lIns="121875" tIns="121875" rIns="121875" bIns="121875" anchor="t" anchorCtr="0">
            <a:no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a:endParaRPr/>
          </a:p>
        </p:txBody>
      </p:sp>
      <p:sp>
        <p:nvSpPr>
          <p:cNvPr id="7" name="Google Shape;7;p1"/>
          <p:cNvSpPr txBox="1">
            <a:spLocks noGrp="1"/>
          </p:cNvSpPr>
          <p:nvPr>
            <p:ph type="body" idx="1"/>
          </p:nvPr>
        </p:nvSpPr>
        <p:spPr>
          <a:xfrm>
            <a:off x="415496" y="1536633"/>
            <a:ext cx="11358000" cy="4555200"/>
          </a:xfrm>
          <a:prstGeom prst="rect">
            <a:avLst/>
          </a:prstGeom>
          <a:noFill/>
          <a:ln>
            <a:noFill/>
          </a:ln>
        </p:spPr>
        <p:txBody>
          <a:bodyPr spcFirstLastPara="1" wrap="square" lIns="121875" tIns="121875" rIns="121875" bIns="121875" anchor="t" anchorCtr="0">
            <a:noAutofit/>
          </a:bodyPr>
          <a:lstStyle>
            <a:lvl1pPr marL="457200" lvl="0" indent="-381000">
              <a:lnSpc>
                <a:spcPct val="115000"/>
              </a:lnSpc>
              <a:spcBef>
                <a:spcPts val="0"/>
              </a:spcBef>
              <a:spcAft>
                <a:spcPts val="0"/>
              </a:spcAft>
              <a:buClr>
                <a:schemeClr val="dk2"/>
              </a:buClr>
              <a:buSzPts val="2400"/>
              <a:buChar char="●"/>
              <a:defRPr sz="2400">
                <a:solidFill>
                  <a:schemeClr val="dk2"/>
                </a:solidFill>
              </a:defRPr>
            </a:lvl1pPr>
            <a:lvl2pPr marL="914400" lvl="1" indent="-349250">
              <a:lnSpc>
                <a:spcPct val="115000"/>
              </a:lnSpc>
              <a:spcBef>
                <a:spcPts val="2100"/>
              </a:spcBef>
              <a:spcAft>
                <a:spcPts val="0"/>
              </a:spcAft>
              <a:buClr>
                <a:schemeClr val="dk2"/>
              </a:buClr>
              <a:buSzPts val="1900"/>
              <a:buChar char="○"/>
              <a:defRPr sz="1900">
                <a:solidFill>
                  <a:schemeClr val="dk2"/>
                </a:solidFill>
              </a:defRPr>
            </a:lvl2pPr>
            <a:lvl3pPr marL="1371600" lvl="2" indent="-349250">
              <a:lnSpc>
                <a:spcPct val="115000"/>
              </a:lnSpc>
              <a:spcBef>
                <a:spcPts val="2100"/>
              </a:spcBef>
              <a:spcAft>
                <a:spcPts val="0"/>
              </a:spcAft>
              <a:buClr>
                <a:schemeClr val="dk2"/>
              </a:buClr>
              <a:buSzPts val="1900"/>
              <a:buChar char="■"/>
              <a:defRPr sz="1900">
                <a:solidFill>
                  <a:schemeClr val="dk2"/>
                </a:solidFill>
              </a:defRPr>
            </a:lvl3pPr>
            <a:lvl4pPr marL="1828800" lvl="3" indent="-349250">
              <a:lnSpc>
                <a:spcPct val="115000"/>
              </a:lnSpc>
              <a:spcBef>
                <a:spcPts val="2100"/>
              </a:spcBef>
              <a:spcAft>
                <a:spcPts val="0"/>
              </a:spcAft>
              <a:buClr>
                <a:schemeClr val="dk2"/>
              </a:buClr>
              <a:buSzPts val="1900"/>
              <a:buChar char="●"/>
              <a:defRPr sz="1900">
                <a:solidFill>
                  <a:schemeClr val="dk2"/>
                </a:solidFill>
              </a:defRPr>
            </a:lvl4pPr>
            <a:lvl5pPr marL="2286000" lvl="4" indent="-349250">
              <a:lnSpc>
                <a:spcPct val="115000"/>
              </a:lnSpc>
              <a:spcBef>
                <a:spcPts val="2100"/>
              </a:spcBef>
              <a:spcAft>
                <a:spcPts val="0"/>
              </a:spcAft>
              <a:buClr>
                <a:schemeClr val="dk2"/>
              </a:buClr>
              <a:buSzPts val="1900"/>
              <a:buChar char="○"/>
              <a:defRPr sz="1900">
                <a:solidFill>
                  <a:schemeClr val="dk2"/>
                </a:solidFill>
              </a:defRPr>
            </a:lvl5pPr>
            <a:lvl6pPr marL="2743200" lvl="5" indent="-349250">
              <a:lnSpc>
                <a:spcPct val="115000"/>
              </a:lnSpc>
              <a:spcBef>
                <a:spcPts val="2100"/>
              </a:spcBef>
              <a:spcAft>
                <a:spcPts val="0"/>
              </a:spcAft>
              <a:buClr>
                <a:schemeClr val="dk2"/>
              </a:buClr>
              <a:buSzPts val="1900"/>
              <a:buChar char="■"/>
              <a:defRPr sz="1900">
                <a:solidFill>
                  <a:schemeClr val="dk2"/>
                </a:solidFill>
              </a:defRPr>
            </a:lvl6pPr>
            <a:lvl7pPr marL="3200400" lvl="6" indent="-349250">
              <a:lnSpc>
                <a:spcPct val="115000"/>
              </a:lnSpc>
              <a:spcBef>
                <a:spcPts val="2100"/>
              </a:spcBef>
              <a:spcAft>
                <a:spcPts val="0"/>
              </a:spcAft>
              <a:buClr>
                <a:schemeClr val="dk2"/>
              </a:buClr>
              <a:buSzPts val="1900"/>
              <a:buChar char="●"/>
              <a:defRPr sz="1900">
                <a:solidFill>
                  <a:schemeClr val="dk2"/>
                </a:solidFill>
              </a:defRPr>
            </a:lvl7pPr>
            <a:lvl8pPr marL="3657600" lvl="7" indent="-349250">
              <a:lnSpc>
                <a:spcPct val="115000"/>
              </a:lnSpc>
              <a:spcBef>
                <a:spcPts val="2100"/>
              </a:spcBef>
              <a:spcAft>
                <a:spcPts val="0"/>
              </a:spcAft>
              <a:buClr>
                <a:schemeClr val="dk2"/>
              </a:buClr>
              <a:buSzPts val="1900"/>
              <a:buChar char="○"/>
              <a:defRPr sz="1900">
                <a:solidFill>
                  <a:schemeClr val="dk2"/>
                </a:solidFill>
              </a:defRPr>
            </a:lvl8pPr>
            <a:lvl9pPr marL="4114800" lvl="8" indent="-349250">
              <a:lnSpc>
                <a:spcPct val="115000"/>
              </a:lnSpc>
              <a:spcBef>
                <a:spcPts val="2100"/>
              </a:spcBef>
              <a:spcAft>
                <a:spcPts val="2100"/>
              </a:spcAft>
              <a:buClr>
                <a:schemeClr val="dk2"/>
              </a:buClr>
              <a:buSzPts val="1900"/>
              <a:buChar char="■"/>
              <a:defRPr sz="1900">
                <a:solidFill>
                  <a:schemeClr val="dk2"/>
                </a:solidFill>
              </a:defRPr>
            </a:lvl9pPr>
          </a:lstStyle>
          <a:p>
            <a:endParaRPr/>
          </a:p>
        </p:txBody>
      </p:sp>
      <p:sp>
        <p:nvSpPr>
          <p:cNvPr id="8" name="Google Shape;8;p1"/>
          <p:cNvSpPr txBox="1">
            <a:spLocks noGrp="1"/>
          </p:cNvSpPr>
          <p:nvPr>
            <p:ph type="sldNum" idx="12"/>
          </p:nvPr>
        </p:nvSpPr>
        <p:spPr>
          <a:xfrm>
            <a:off x="11293784" y="6217622"/>
            <a:ext cx="731400" cy="524700"/>
          </a:xfrm>
          <a:prstGeom prst="rect">
            <a:avLst/>
          </a:prstGeom>
          <a:noFill/>
          <a:ln>
            <a:noFill/>
          </a:ln>
        </p:spPr>
        <p:txBody>
          <a:bodyPr spcFirstLastPara="1" wrap="square" lIns="121875" tIns="121875" rIns="121875" bIns="121875" anchor="ctr" anchorCtr="0">
            <a:no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2" name="Google Shape;52;p13"/>
          <p:cNvSpPr txBox="1">
            <a:spLocks noGrp="1"/>
          </p:cNvSpPr>
          <p:nvPr>
            <p:ph type="body" idx="1"/>
          </p:nvPr>
        </p:nvSpPr>
        <p:spPr>
          <a:xfrm>
            <a:off x="457206" y="1810776"/>
            <a:ext cx="8915492" cy="4132824"/>
          </a:xfrm>
          <a:prstGeom prst="rect">
            <a:avLst/>
          </a:prstGeom>
          <a:noFill/>
          <a:ln>
            <a:noFill/>
          </a:ln>
        </p:spPr>
        <p:txBody>
          <a:bodyPr spcFirstLastPara="1" wrap="square" lIns="0" tIns="0" rIns="0" bIns="0" anchor="t" anchorCtr="0">
            <a:noAutofit/>
          </a:bodyPr>
          <a:lstStyle>
            <a:lvl1pPr marL="457200" marR="0" lvl="0" indent="-228600" algn="l" rtl="0">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Lst>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82"/>
        <p:cNvGrpSpPr/>
        <p:nvPr/>
      </p:nvGrpSpPr>
      <p:grpSpPr>
        <a:xfrm>
          <a:off x="0" y="0"/>
          <a:ext cx="0" cy="0"/>
          <a:chOff x="0" y="0"/>
          <a:chExt cx="0" cy="0"/>
        </a:xfrm>
      </p:grpSpPr>
      <p:sp>
        <p:nvSpPr>
          <p:cNvPr id="483" name="Google Shape;483;p8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484" name="Google Shape;484;p88"/>
          <p:cNvSpPr txBox="1">
            <a:spLocks noGrp="1"/>
          </p:cNvSpPr>
          <p:nvPr>
            <p:ph type="body" idx="1"/>
          </p:nvPr>
        </p:nvSpPr>
        <p:spPr>
          <a:xfrm>
            <a:off x="457205" y="1810776"/>
            <a:ext cx="8915400" cy="4132800"/>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85" name="Google Shape;485;p88"/>
          <p:cNvSpPr txBox="1">
            <a:spLocks noGrp="1"/>
          </p:cNvSpPr>
          <p:nvPr>
            <p:ph type="sldNum" idx="12"/>
          </p:nvPr>
        </p:nvSpPr>
        <p:spPr>
          <a:xfrm>
            <a:off x="11406192" y="6333134"/>
            <a:ext cx="731400" cy="525000"/>
          </a:xfrm>
          <a:prstGeom prst="rect">
            <a:avLst/>
          </a:prstGeom>
          <a:noFill/>
          <a:ln>
            <a:noFill/>
          </a:ln>
        </p:spPr>
        <p:txBody>
          <a:bodyPr spcFirstLastPara="1" wrap="square" lIns="91425" tIns="91425" rIns="91425" bIns="91425" anchor="t" anchorCtr="0">
            <a:noAutofit/>
          </a:bodyPr>
          <a:lstStyle>
            <a:lvl1pPr lvl="0" algn="r" rtl="0">
              <a:buNone/>
              <a:defRPr sz="1300">
                <a:solidFill>
                  <a:schemeClr val="dk1"/>
                </a:solidFill>
                <a:latin typeface="Roboto"/>
                <a:ea typeface="Roboto"/>
                <a:cs typeface="Roboto"/>
                <a:sym typeface="Roboto"/>
              </a:defRPr>
            </a:lvl1pPr>
            <a:lvl2pPr lvl="1" algn="r" rtl="0">
              <a:buNone/>
              <a:defRPr sz="1300">
                <a:solidFill>
                  <a:schemeClr val="dk1"/>
                </a:solidFill>
                <a:latin typeface="Roboto"/>
                <a:ea typeface="Roboto"/>
                <a:cs typeface="Roboto"/>
                <a:sym typeface="Roboto"/>
              </a:defRPr>
            </a:lvl2pPr>
            <a:lvl3pPr lvl="2" algn="r" rtl="0">
              <a:buNone/>
              <a:defRPr sz="1300">
                <a:solidFill>
                  <a:schemeClr val="dk1"/>
                </a:solidFill>
                <a:latin typeface="Roboto"/>
                <a:ea typeface="Roboto"/>
                <a:cs typeface="Roboto"/>
                <a:sym typeface="Roboto"/>
              </a:defRPr>
            </a:lvl3pPr>
            <a:lvl4pPr lvl="3" algn="r" rtl="0">
              <a:buNone/>
              <a:defRPr sz="1300">
                <a:solidFill>
                  <a:schemeClr val="dk1"/>
                </a:solidFill>
                <a:latin typeface="Roboto"/>
                <a:ea typeface="Roboto"/>
                <a:cs typeface="Roboto"/>
                <a:sym typeface="Roboto"/>
              </a:defRPr>
            </a:lvl4pPr>
            <a:lvl5pPr lvl="4" algn="r" rtl="0">
              <a:buNone/>
              <a:defRPr sz="1300">
                <a:solidFill>
                  <a:schemeClr val="dk1"/>
                </a:solidFill>
                <a:latin typeface="Roboto"/>
                <a:ea typeface="Roboto"/>
                <a:cs typeface="Roboto"/>
                <a:sym typeface="Roboto"/>
              </a:defRPr>
            </a:lvl5pPr>
            <a:lvl6pPr lvl="5" algn="r" rtl="0">
              <a:buNone/>
              <a:defRPr sz="1300">
                <a:solidFill>
                  <a:schemeClr val="dk1"/>
                </a:solidFill>
                <a:latin typeface="Roboto"/>
                <a:ea typeface="Roboto"/>
                <a:cs typeface="Roboto"/>
                <a:sym typeface="Roboto"/>
              </a:defRPr>
            </a:lvl6pPr>
            <a:lvl7pPr lvl="6" algn="r" rtl="0">
              <a:buNone/>
              <a:defRPr sz="1300">
                <a:solidFill>
                  <a:schemeClr val="dk1"/>
                </a:solidFill>
                <a:latin typeface="Roboto"/>
                <a:ea typeface="Roboto"/>
                <a:cs typeface="Roboto"/>
                <a:sym typeface="Roboto"/>
              </a:defRPr>
            </a:lvl7pPr>
            <a:lvl8pPr lvl="7" algn="r" rtl="0">
              <a:buNone/>
              <a:defRPr sz="1300">
                <a:solidFill>
                  <a:schemeClr val="dk1"/>
                </a:solidFill>
                <a:latin typeface="Roboto"/>
                <a:ea typeface="Roboto"/>
                <a:cs typeface="Roboto"/>
                <a:sym typeface="Roboto"/>
              </a:defRPr>
            </a:lvl8pPr>
            <a:lvl9pPr lvl="8" algn="r" rtl="0">
              <a:buNone/>
              <a:defRPr sz="1300">
                <a:solidFill>
                  <a:schemeClr val="dk1"/>
                </a:solidFill>
                <a:latin typeface="Roboto"/>
                <a:ea typeface="Roboto"/>
                <a:cs typeface="Roboto"/>
                <a:sym typeface="Roboto"/>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742" r:id="rId1"/>
    <p:sldLayoutId id="2147483789" r:id="rId2"/>
  </p:sldLayoutIdLst>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hyperlink" Target="https://github.com/google/sanitizers" TargetMode="External"/><Relationship Id="rId2" Type="http://schemas.openxmlformats.org/officeDocument/2006/relationships/notesSlide" Target="../notesSlides/notesSlide25.xml"/><Relationship Id="rId1" Type="http://schemas.openxmlformats.org/officeDocument/2006/relationships/slideLayout" Target="../slideLayouts/slideLayout13.xml"/><Relationship Id="rId4" Type="http://schemas.openxmlformats.org/officeDocument/2006/relationships/hyperlink" Target="https://wootconference.org/papers/woot23-paper34.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p146"/>
          <p:cNvSpPr txBox="1">
            <a:spLocks noGrp="1"/>
          </p:cNvSpPr>
          <p:nvPr>
            <p:ph type="title"/>
          </p:nvPr>
        </p:nvSpPr>
        <p:spPr>
          <a:xfrm>
            <a:off x="668910" y="1815384"/>
            <a:ext cx="10851007" cy="3227235"/>
          </a:xfrm>
          <a:prstGeom prst="rect">
            <a:avLst/>
          </a:prstGeom>
          <a:noFill/>
          <a:ln>
            <a:noFill/>
          </a:ln>
        </p:spPr>
        <p:txBody>
          <a:bodyPr spcFirstLastPara="1" wrap="square" lIns="0" tIns="0" rIns="0" bIns="0" anchor="ctr" anchorCtr="0">
            <a:noAutofit/>
          </a:bodyPr>
          <a:lstStyle/>
          <a:p>
            <a:pPr>
              <a:lnSpc>
                <a:spcPct val="100000"/>
              </a:lnSpc>
            </a:pPr>
            <a:r>
              <a:rPr lang="en" sz="5400" dirty="0"/>
              <a:t>Dynamic Analysis –</a:t>
            </a:r>
            <a:br>
              <a:rPr lang="en" sz="5400" dirty="0"/>
            </a:br>
            <a:r>
              <a:rPr lang="en-US" sz="5400" dirty="0"/>
              <a:t>Instrument Element</a:t>
            </a:r>
            <a:endParaRPr sz="6600" dirty="0"/>
          </a:p>
        </p:txBody>
      </p:sp>
      <p:sp>
        <p:nvSpPr>
          <p:cNvPr id="2" name="Rectangle 1">
            <a:extLst>
              <a:ext uri="{FF2B5EF4-FFF2-40B4-BE49-F238E27FC236}">
                <a16:creationId xmlns:a16="http://schemas.microsoft.com/office/drawing/2014/main" id="{2FB5F0EE-3344-3E43-B412-5327D36C6F8A}"/>
              </a:ext>
            </a:extLst>
          </p:cNvPr>
          <p:cNvSpPr/>
          <p:nvPr/>
        </p:nvSpPr>
        <p:spPr>
          <a:xfrm>
            <a:off x="10741247" y="5270394"/>
            <a:ext cx="963726" cy="461665"/>
          </a:xfrm>
          <a:prstGeom prst="rect">
            <a:avLst/>
          </a:prstGeom>
        </p:spPr>
        <p:txBody>
          <a:bodyPr wrap="none">
            <a:spAutoFit/>
          </a:bodyPr>
          <a:lstStyle/>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version 6</a:t>
            </a:r>
          </a:p>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2025-10-29</a:t>
            </a:r>
          </a:p>
        </p:txBody>
      </p:sp>
      <p:sp>
        <p:nvSpPr>
          <p:cNvPr id="4" name="Rectangle 3">
            <a:extLst>
              <a:ext uri="{FF2B5EF4-FFF2-40B4-BE49-F238E27FC236}">
                <a16:creationId xmlns:a16="http://schemas.microsoft.com/office/drawing/2014/main" id="{74CD8A9C-5CEA-AD48-B075-78C4F71699EB}"/>
              </a:ext>
            </a:extLst>
          </p:cNvPr>
          <p:cNvSpPr/>
          <p:nvPr/>
        </p:nvSpPr>
        <p:spPr>
          <a:xfrm>
            <a:off x="668909" y="5208838"/>
            <a:ext cx="6374149" cy="523220"/>
          </a:xfrm>
          <a:prstGeom prst="rect">
            <a:avLst/>
          </a:prstGeom>
        </p:spPr>
        <p:txBody>
          <a:bodyPr wrap="square">
            <a:spAutoFit/>
          </a:bodyPr>
          <a:lstStyle/>
          <a:p>
            <a:r>
              <a:rPr lang="en-US" dirty="0">
                <a:solidFill>
                  <a:schemeClr val="accent3">
                    <a:lumMod val="20000"/>
                    <a:lumOff val="80000"/>
                  </a:schemeClr>
                </a:solidFill>
                <a:latin typeface="Roboto" panose="02000000000000000000" pitchFamily="2" charset="0"/>
                <a:ea typeface="Roboto" panose="02000000000000000000" pitchFamily="2" charset="0"/>
              </a:rPr>
              <a:t>Charles Wilson</a:t>
            </a:r>
          </a:p>
          <a:p>
            <a:r>
              <a:rPr lang="en-US" dirty="0">
                <a:solidFill>
                  <a:schemeClr val="accent3">
                    <a:lumMod val="20000"/>
                    <a:lumOff val="80000"/>
                  </a:schemeClr>
                </a:solidFill>
                <a:latin typeface="Roboto" panose="02000000000000000000" pitchFamily="2" charset="0"/>
                <a:ea typeface="Roboto" panose="02000000000000000000" pitchFamily="2" charset="0"/>
              </a:rPr>
              <a:t>Staff Product Cybersecurity Architect</a:t>
            </a:r>
          </a:p>
        </p:txBody>
      </p:sp>
      <p:sp>
        <p:nvSpPr>
          <p:cNvPr id="3" name="Rectangle 2">
            <a:extLst>
              <a:ext uri="{FF2B5EF4-FFF2-40B4-BE49-F238E27FC236}">
                <a16:creationId xmlns:a16="http://schemas.microsoft.com/office/drawing/2014/main" id="{9375FC61-BE70-0263-1C08-9607377D87C2}"/>
              </a:ext>
            </a:extLst>
          </p:cNvPr>
          <p:cNvSpPr/>
          <p:nvPr/>
        </p:nvSpPr>
        <p:spPr>
          <a:xfrm>
            <a:off x="9899855" y="139594"/>
            <a:ext cx="2169184" cy="276999"/>
          </a:xfrm>
          <a:prstGeom prst="rect">
            <a:avLst/>
          </a:prstGeom>
        </p:spPr>
        <p:txBody>
          <a:bodyPr wrap="none">
            <a:spAutoFit/>
          </a:bodyPr>
          <a:lstStyle/>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AVCDL-Implementation-8.1.2</a:t>
            </a: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Training Path</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tretch>
            <a:fillRect/>
          </a:stretch>
        </p:blipFill>
        <p:spPr>
          <a:xfrm>
            <a:off x="741952" y="326959"/>
            <a:ext cx="10704920" cy="6204081"/>
          </a:xfrm>
          <a:prstGeom prst="rect">
            <a:avLst/>
          </a:prstGeom>
          <a:effectLst/>
        </p:spPr>
      </p:pic>
    </p:spTree>
    <p:extLst>
      <p:ext uri="{BB962C8B-B14F-4D97-AF65-F5344CB8AC3E}">
        <p14:creationId xmlns:p14="http://schemas.microsoft.com/office/powerpoint/2010/main" val="2777678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4435D019-8E84-BEF1-6D20-0079C9B9A767}"/>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1A175A47-8003-CA64-DF9A-064FBF3329EE}"/>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Introduction</a:t>
            </a:r>
            <a:endParaRPr sz="6600" dirty="0"/>
          </a:p>
        </p:txBody>
      </p:sp>
    </p:spTree>
    <p:extLst>
      <p:ext uri="{BB962C8B-B14F-4D97-AF65-F5344CB8AC3E}">
        <p14:creationId xmlns:p14="http://schemas.microsoft.com/office/powerpoint/2010/main" val="190089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04E3669D-F86E-FDE7-7E31-F90D50DD3DEE}"/>
            </a:ext>
          </a:extLst>
        </p:cNvPr>
        <p:cNvGrpSpPr/>
        <p:nvPr/>
      </p:nvGrpSpPr>
      <p:grpSpPr>
        <a:xfrm>
          <a:off x="0" y="0"/>
          <a:ext cx="0" cy="0"/>
          <a:chOff x="0" y="0"/>
          <a:chExt cx="0" cy="0"/>
        </a:xfrm>
      </p:grpSpPr>
      <p:pic>
        <p:nvPicPr>
          <p:cNvPr id="10" name="Picture 9" descr="A diagram of a diagram of a diagram&#10;&#10;AI-generated content may be incorrect.">
            <a:extLst>
              <a:ext uri="{FF2B5EF4-FFF2-40B4-BE49-F238E27FC236}">
                <a16:creationId xmlns:a16="http://schemas.microsoft.com/office/drawing/2014/main" id="{14DD5FF4-D58F-1BF9-8E1C-367DD4BEA5FB}"/>
              </a:ext>
            </a:extLst>
          </p:cNvPr>
          <p:cNvPicPr>
            <a:picLocks noChangeAspect="1"/>
          </p:cNvPicPr>
          <p:nvPr/>
        </p:nvPicPr>
        <p:blipFill>
          <a:blip r:embed="rId3"/>
          <a:stretch>
            <a:fillRect/>
          </a:stretch>
        </p:blipFill>
        <p:spPr>
          <a:xfrm>
            <a:off x="274863" y="1562354"/>
            <a:ext cx="11712288" cy="3733291"/>
          </a:xfrm>
          <a:prstGeom prst="rect">
            <a:avLst/>
          </a:prstGeom>
        </p:spPr>
      </p:pic>
      <p:sp>
        <p:nvSpPr>
          <p:cNvPr id="1199" name="Google Shape;1199;p156">
            <a:extLst>
              <a:ext uri="{FF2B5EF4-FFF2-40B4-BE49-F238E27FC236}">
                <a16:creationId xmlns:a16="http://schemas.microsoft.com/office/drawing/2014/main" id="{C3048004-0C1B-3382-FC33-11D83421F449}"/>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Dynamic Analysis Process</a:t>
            </a:r>
            <a:endParaRPr dirty="0"/>
          </a:p>
        </p:txBody>
      </p:sp>
    </p:spTree>
    <p:extLst>
      <p:ext uri="{BB962C8B-B14F-4D97-AF65-F5344CB8AC3E}">
        <p14:creationId xmlns:p14="http://schemas.microsoft.com/office/powerpoint/2010/main" val="39818844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501C6719-B3C7-99B9-D116-187133B21736}"/>
            </a:ext>
          </a:extLst>
        </p:cNvPr>
        <p:cNvGrpSpPr/>
        <p:nvPr/>
      </p:nvGrpSpPr>
      <p:grpSpPr>
        <a:xfrm>
          <a:off x="0" y="0"/>
          <a:ext cx="0" cy="0"/>
          <a:chOff x="0" y="0"/>
          <a:chExt cx="0" cy="0"/>
        </a:xfrm>
      </p:grpSpPr>
      <p:pic>
        <p:nvPicPr>
          <p:cNvPr id="10" name="Picture 9" descr="A diagram of a diagram of a diagram&#10;&#10;AI-generated content may be incorrect.">
            <a:extLst>
              <a:ext uri="{FF2B5EF4-FFF2-40B4-BE49-F238E27FC236}">
                <a16:creationId xmlns:a16="http://schemas.microsoft.com/office/drawing/2014/main" id="{99892FD3-CB53-8342-1EB1-16D08D5C4BD9}"/>
              </a:ext>
            </a:extLst>
          </p:cNvPr>
          <p:cNvPicPr>
            <a:picLocks noChangeAspect="1"/>
          </p:cNvPicPr>
          <p:nvPr/>
        </p:nvPicPr>
        <p:blipFill>
          <a:blip r:embed="rId3">
            <a:alphaModFix amt="10000"/>
          </a:blip>
          <a:stretch>
            <a:fillRect/>
          </a:stretch>
        </p:blipFill>
        <p:spPr>
          <a:xfrm>
            <a:off x="274863" y="1562354"/>
            <a:ext cx="11712288" cy="3733291"/>
          </a:xfrm>
          <a:prstGeom prst="rect">
            <a:avLst/>
          </a:prstGeom>
        </p:spPr>
      </p:pic>
      <p:sp>
        <p:nvSpPr>
          <p:cNvPr id="1199" name="Google Shape;1199;p156">
            <a:extLst>
              <a:ext uri="{FF2B5EF4-FFF2-40B4-BE49-F238E27FC236}">
                <a16:creationId xmlns:a16="http://schemas.microsoft.com/office/drawing/2014/main" id="{3D79D334-DC71-24A0-9370-01C6335C3AA4}"/>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Dynamic Analysis Process</a:t>
            </a:r>
            <a:endParaRPr dirty="0"/>
          </a:p>
        </p:txBody>
      </p:sp>
      <p:pic>
        <p:nvPicPr>
          <p:cNvPr id="7" name="Picture 6">
            <a:extLst>
              <a:ext uri="{FF2B5EF4-FFF2-40B4-BE49-F238E27FC236}">
                <a16:creationId xmlns:a16="http://schemas.microsoft.com/office/drawing/2014/main" id="{FB07FC00-A3BE-0727-1642-48A51B801757}"/>
              </a:ext>
            </a:extLst>
          </p:cNvPr>
          <p:cNvPicPr>
            <a:picLocks noChangeAspect="1"/>
          </p:cNvPicPr>
          <p:nvPr/>
        </p:nvPicPr>
        <p:blipFill>
          <a:blip r:embed="rId4"/>
          <a:stretch>
            <a:fillRect/>
          </a:stretch>
        </p:blipFill>
        <p:spPr>
          <a:xfrm>
            <a:off x="2688118" y="1562354"/>
            <a:ext cx="3887017" cy="3733292"/>
          </a:xfrm>
          <a:prstGeom prst="rect">
            <a:avLst/>
          </a:prstGeom>
        </p:spPr>
      </p:pic>
    </p:spTree>
    <p:extLst>
      <p:ext uri="{BB962C8B-B14F-4D97-AF65-F5344CB8AC3E}">
        <p14:creationId xmlns:p14="http://schemas.microsoft.com/office/powerpoint/2010/main" val="25658731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10580769-23E8-EBAD-DBED-BE0153CC0020}"/>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F2E758C0-EE8E-BCA6-A63C-D6F8021B3991}"/>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Instrument Element Activity</a:t>
            </a:r>
            <a:endParaRPr dirty="0"/>
          </a:p>
        </p:txBody>
      </p:sp>
      <p:pic>
        <p:nvPicPr>
          <p:cNvPr id="2" name="Picture 1">
            <a:extLst>
              <a:ext uri="{FF2B5EF4-FFF2-40B4-BE49-F238E27FC236}">
                <a16:creationId xmlns:a16="http://schemas.microsoft.com/office/drawing/2014/main" id="{8F8EACC6-4E75-912E-A78E-5E553F121FE7}"/>
              </a:ext>
            </a:extLst>
          </p:cNvPr>
          <p:cNvPicPr>
            <a:picLocks noChangeAspect="1"/>
          </p:cNvPicPr>
          <p:nvPr/>
        </p:nvPicPr>
        <p:blipFill>
          <a:blip r:embed="rId3"/>
          <a:stretch>
            <a:fillRect/>
          </a:stretch>
        </p:blipFill>
        <p:spPr>
          <a:xfrm>
            <a:off x="3315786" y="1144109"/>
            <a:ext cx="5557251" cy="5337472"/>
          </a:xfrm>
          <a:prstGeom prst="rect">
            <a:avLst/>
          </a:prstGeom>
        </p:spPr>
      </p:pic>
    </p:spTree>
    <p:extLst>
      <p:ext uri="{BB962C8B-B14F-4D97-AF65-F5344CB8AC3E}">
        <p14:creationId xmlns:p14="http://schemas.microsoft.com/office/powerpoint/2010/main" val="24580969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65B0278B-E805-1096-E707-3CF7A1168B35}"/>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5FC36855-0955-0B98-E6C7-42C2922A3AD2}"/>
              </a:ext>
            </a:extLst>
          </p:cNvPr>
          <p:cNvPicPr>
            <a:picLocks noChangeAspect="1"/>
          </p:cNvPicPr>
          <p:nvPr/>
        </p:nvPicPr>
        <p:blipFill>
          <a:blip r:embed="rId3"/>
          <a:stretch>
            <a:fillRect/>
          </a:stretch>
        </p:blipFill>
        <p:spPr>
          <a:xfrm>
            <a:off x="3315786" y="1144109"/>
            <a:ext cx="5557251" cy="5337472"/>
          </a:xfrm>
          <a:prstGeom prst="rect">
            <a:avLst/>
          </a:prstGeom>
        </p:spPr>
      </p:pic>
      <p:sp>
        <p:nvSpPr>
          <p:cNvPr id="1199" name="Google Shape;1199;p156">
            <a:extLst>
              <a:ext uri="{FF2B5EF4-FFF2-40B4-BE49-F238E27FC236}">
                <a16:creationId xmlns:a16="http://schemas.microsoft.com/office/drawing/2014/main" id="{CA044A31-583E-621F-DF9D-222B9563BFAE}"/>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Instrument Element Activity</a:t>
            </a:r>
            <a:endParaRPr dirty="0"/>
          </a:p>
        </p:txBody>
      </p:sp>
      <p:sp>
        <p:nvSpPr>
          <p:cNvPr id="3" name="TextBox 2">
            <a:extLst>
              <a:ext uri="{FF2B5EF4-FFF2-40B4-BE49-F238E27FC236}">
                <a16:creationId xmlns:a16="http://schemas.microsoft.com/office/drawing/2014/main" id="{0771FD77-94ED-560E-B128-80D2174DFA2C}"/>
              </a:ext>
            </a:extLst>
          </p:cNvPr>
          <p:cNvSpPr txBox="1"/>
          <p:nvPr/>
        </p:nvSpPr>
        <p:spPr>
          <a:xfrm>
            <a:off x="512783" y="5283309"/>
            <a:ext cx="2630032" cy="523220"/>
          </a:xfrm>
          <a:prstGeom prst="rect">
            <a:avLst/>
          </a:prstGeom>
          <a:noFill/>
        </p:spPr>
        <p:txBody>
          <a:bodyPr wrap="square">
            <a:spAutoFit/>
          </a:bodyPr>
          <a:lstStyle/>
          <a:p>
            <a:pPr algn="r">
              <a:spcAft>
                <a:spcPts val="1200"/>
              </a:spcAft>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only test builds</a:t>
            </a:r>
          </a:p>
        </p:txBody>
      </p:sp>
      <p:sp>
        <p:nvSpPr>
          <p:cNvPr id="4" name="TextBox 3">
            <a:extLst>
              <a:ext uri="{FF2B5EF4-FFF2-40B4-BE49-F238E27FC236}">
                <a16:creationId xmlns:a16="http://schemas.microsoft.com/office/drawing/2014/main" id="{148845C0-25FA-9985-B98D-C9662DAA6244}"/>
              </a:ext>
            </a:extLst>
          </p:cNvPr>
          <p:cNvSpPr txBox="1"/>
          <p:nvPr/>
        </p:nvSpPr>
        <p:spPr>
          <a:xfrm>
            <a:off x="512783" y="1631133"/>
            <a:ext cx="2630032" cy="523220"/>
          </a:xfrm>
          <a:prstGeom prst="rect">
            <a:avLst/>
          </a:prstGeom>
          <a:noFill/>
        </p:spPr>
        <p:txBody>
          <a:bodyPr wrap="square">
            <a:spAutoFit/>
          </a:bodyPr>
          <a:lstStyle/>
          <a:p>
            <a:pPr algn="r">
              <a:spcAft>
                <a:spcPts val="1200"/>
              </a:spcAft>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may not exist</a:t>
            </a:r>
          </a:p>
        </p:txBody>
      </p:sp>
      <p:sp>
        <p:nvSpPr>
          <p:cNvPr id="5" name="TextBox 4">
            <a:extLst>
              <a:ext uri="{FF2B5EF4-FFF2-40B4-BE49-F238E27FC236}">
                <a16:creationId xmlns:a16="http://schemas.microsoft.com/office/drawing/2014/main" id="{59DA0AB3-345F-C862-B479-9580A582A17C}"/>
              </a:ext>
            </a:extLst>
          </p:cNvPr>
          <p:cNvSpPr txBox="1"/>
          <p:nvPr/>
        </p:nvSpPr>
        <p:spPr>
          <a:xfrm>
            <a:off x="9149848" y="2910593"/>
            <a:ext cx="2383992" cy="523220"/>
          </a:xfrm>
          <a:prstGeom prst="rect">
            <a:avLst/>
          </a:prstGeom>
          <a:noFill/>
        </p:spPr>
        <p:txBody>
          <a:bodyPr wrap="square">
            <a:spAutoFit/>
          </a:bodyPr>
          <a:lstStyle/>
          <a:p>
            <a:pPr>
              <a:spcAft>
                <a:spcPts val="1200"/>
              </a:spcAft>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may not exist</a:t>
            </a:r>
          </a:p>
        </p:txBody>
      </p:sp>
      <p:sp>
        <p:nvSpPr>
          <p:cNvPr id="6" name="TextBox 5">
            <a:extLst>
              <a:ext uri="{FF2B5EF4-FFF2-40B4-BE49-F238E27FC236}">
                <a16:creationId xmlns:a16="http://schemas.microsoft.com/office/drawing/2014/main" id="{5862DD7D-78E8-573D-9D36-349DF0725E52}"/>
              </a:ext>
            </a:extLst>
          </p:cNvPr>
          <p:cNvSpPr txBox="1"/>
          <p:nvPr/>
        </p:nvSpPr>
        <p:spPr>
          <a:xfrm>
            <a:off x="9149848" y="2027351"/>
            <a:ext cx="2802511" cy="523220"/>
          </a:xfrm>
          <a:prstGeom prst="rect">
            <a:avLst/>
          </a:prstGeom>
          <a:noFill/>
        </p:spPr>
        <p:txBody>
          <a:bodyPr wrap="square">
            <a:spAutoFit/>
          </a:bodyPr>
          <a:lstStyle/>
          <a:p>
            <a:pPr>
              <a:spcAft>
                <a:spcPts val="1200"/>
              </a:spcAft>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may be optional</a:t>
            </a:r>
          </a:p>
        </p:txBody>
      </p:sp>
      <p:sp>
        <p:nvSpPr>
          <p:cNvPr id="7" name="TextBox 6">
            <a:extLst>
              <a:ext uri="{FF2B5EF4-FFF2-40B4-BE49-F238E27FC236}">
                <a16:creationId xmlns:a16="http://schemas.microsoft.com/office/drawing/2014/main" id="{8F98CF3B-BA7A-C95D-FF59-93971A2FD1D8}"/>
              </a:ext>
            </a:extLst>
          </p:cNvPr>
          <p:cNvSpPr txBox="1"/>
          <p:nvPr/>
        </p:nvSpPr>
        <p:spPr>
          <a:xfrm>
            <a:off x="9149848" y="5283309"/>
            <a:ext cx="1779682" cy="523220"/>
          </a:xfrm>
          <a:prstGeom prst="rect">
            <a:avLst/>
          </a:prstGeom>
          <a:noFill/>
        </p:spPr>
        <p:txBody>
          <a:bodyPr wrap="square">
            <a:spAutoFit/>
          </a:bodyPr>
          <a:lstStyle/>
          <a:p>
            <a:pPr>
              <a:spcAft>
                <a:spcPts val="1200"/>
              </a:spcAft>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preflight</a:t>
            </a:r>
          </a:p>
        </p:txBody>
      </p:sp>
      <p:cxnSp>
        <p:nvCxnSpPr>
          <p:cNvPr id="9" name="Straight Arrow Connector 8">
            <a:extLst>
              <a:ext uri="{FF2B5EF4-FFF2-40B4-BE49-F238E27FC236}">
                <a16:creationId xmlns:a16="http://schemas.microsoft.com/office/drawing/2014/main" id="{3B1167BC-01B0-EDDE-137B-AB448F899AD3}"/>
              </a:ext>
            </a:extLst>
          </p:cNvPr>
          <p:cNvCxnSpPr>
            <a:stCxn id="4" idx="3"/>
          </p:cNvCxnSpPr>
          <p:nvPr/>
        </p:nvCxnSpPr>
        <p:spPr>
          <a:xfrm>
            <a:off x="3142815" y="1892743"/>
            <a:ext cx="1465399" cy="964216"/>
          </a:xfrm>
          <a:prstGeom prst="straightConnector1">
            <a:avLst/>
          </a:prstGeom>
          <a:ln w="508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63FBF1F2-1E9A-9018-F181-6F96B941A783}"/>
              </a:ext>
            </a:extLst>
          </p:cNvPr>
          <p:cNvCxnSpPr>
            <a:cxnSpLocks/>
            <a:stCxn id="3" idx="3"/>
          </p:cNvCxnSpPr>
          <p:nvPr/>
        </p:nvCxnSpPr>
        <p:spPr>
          <a:xfrm flipV="1">
            <a:off x="3142815" y="4887091"/>
            <a:ext cx="534663" cy="657828"/>
          </a:xfrm>
          <a:prstGeom prst="straightConnector1">
            <a:avLst/>
          </a:prstGeom>
          <a:ln w="508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75A6607-9E6E-A328-128A-C6ADD494A612}"/>
              </a:ext>
            </a:extLst>
          </p:cNvPr>
          <p:cNvCxnSpPr>
            <a:cxnSpLocks/>
            <a:stCxn id="6" idx="1"/>
          </p:cNvCxnSpPr>
          <p:nvPr/>
        </p:nvCxnSpPr>
        <p:spPr>
          <a:xfrm flipH="1" flipV="1">
            <a:off x="7238246" y="1701061"/>
            <a:ext cx="1911602" cy="587900"/>
          </a:xfrm>
          <a:prstGeom prst="straightConnector1">
            <a:avLst/>
          </a:prstGeom>
          <a:ln w="508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4F1BA58B-586D-E388-F496-C84F2A071061}"/>
              </a:ext>
            </a:extLst>
          </p:cNvPr>
          <p:cNvCxnSpPr>
            <a:cxnSpLocks/>
            <a:stCxn id="5" idx="1"/>
          </p:cNvCxnSpPr>
          <p:nvPr/>
        </p:nvCxnSpPr>
        <p:spPr>
          <a:xfrm flipH="1">
            <a:off x="8497957" y="3172203"/>
            <a:ext cx="651891" cy="621632"/>
          </a:xfrm>
          <a:prstGeom prst="straightConnector1">
            <a:avLst/>
          </a:prstGeom>
          <a:ln w="508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0944D52-AE5C-0C72-22AF-C7363FF568E7}"/>
              </a:ext>
            </a:extLst>
          </p:cNvPr>
          <p:cNvCxnSpPr>
            <a:cxnSpLocks/>
            <a:stCxn id="7" idx="1"/>
          </p:cNvCxnSpPr>
          <p:nvPr/>
        </p:nvCxnSpPr>
        <p:spPr>
          <a:xfrm flipH="1" flipV="1">
            <a:off x="8130209" y="4760843"/>
            <a:ext cx="1019639" cy="784076"/>
          </a:xfrm>
          <a:prstGeom prst="straightConnector1">
            <a:avLst/>
          </a:prstGeom>
          <a:ln w="508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24324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A7F8A7E2-4498-2CF8-408F-4B0A30931250}"/>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0084895C-6F44-5890-879D-773EDE8B21E2}"/>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Approach</a:t>
            </a:r>
            <a:endParaRPr sz="6600" dirty="0"/>
          </a:p>
        </p:txBody>
      </p:sp>
    </p:spTree>
    <p:extLst>
      <p:ext uri="{BB962C8B-B14F-4D97-AF65-F5344CB8AC3E}">
        <p14:creationId xmlns:p14="http://schemas.microsoft.com/office/powerpoint/2010/main" val="30853914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539643D-2355-6AAA-1FA3-6E297CE30795}"/>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0E803557-9D9A-3988-888A-90EC0836233E}"/>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Methodology</a:t>
            </a:r>
            <a:endParaRPr dirty="0"/>
          </a:p>
        </p:txBody>
      </p:sp>
      <p:pic>
        <p:nvPicPr>
          <p:cNvPr id="4" name="Picture 3">
            <a:extLst>
              <a:ext uri="{FF2B5EF4-FFF2-40B4-BE49-F238E27FC236}">
                <a16:creationId xmlns:a16="http://schemas.microsoft.com/office/drawing/2014/main" id="{43186D7C-50FC-697E-E952-D23C704398E8}"/>
              </a:ext>
            </a:extLst>
          </p:cNvPr>
          <p:cNvPicPr>
            <a:picLocks noChangeAspect="1"/>
          </p:cNvPicPr>
          <p:nvPr/>
        </p:nvPicPr>
        <p:blipFill>
          <a:blip r:embed="rId3"/>
          <a:srcRect/>
          <a:stretch/>
        </p:blipFill>
        <p:spPr>
          <a:xfrm>
            <a:off x="3607568" y="1256128"/>
            <a:ext cx="4978629" cy="3831920"/>
          </a:xfrm>
          <a:prstGeom prst="rect">
            <a:avLst/>
          </a:prstGeom>
        </p:spPr>
      </p:pic>
      <p:sp>
        <p:nvSpPr>
          <p:cNvPr id="5" name="Rectangle 4">
            <a:extLst>
              <a:ext uri="{FF2B5EF4-FFF2-40B4-BE49-F238E27FC236}">
                <a16:creationId xmlns:a16="http://schemas.microsoft.com/office/drawing/2014/main" id="{3A238CD5-293D-B6CF-C80D-7447FFA0294C}"/>
              </a:ext>
            </a:extLst>
          </p:cNvPr>
          <p:cNvSpPr/>
          <p:nvPr/>
        </p:nvSpPr>
        <p:spPr>
          <a:xfrm>
            <a:off x="3607568" y="3361192"/>
            <a:ext cx="4978629" cy="17902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030338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065D9E31-F3EA-F2A0-281A-58F4689F4415}"/>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ABC0705B-F532-A846-DBAF-6D37DE4CF908}"/>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Methodology</a:t>
            </a:r>
            <a:endParaRPr dirty="0"/>
          </a:p>
        </p:txBody>
      </p:sp>
      <p:pic>
        <p:nvPicPr>
          <p:cNvPr id="4" name="Picture 3">
            <a:extLst>
              <a:ext uri="{FF2B5EF4-FFF2-40B4-BE49-F238E27FC236}">
                <a16:creationId xmlns:a16="http://schemas.microsoft.com/office/drawing/2014/main" id="{198B6DFF-81FD-37A6-0571-7727C8D6C22C}"/>
              </a:ext>
            </a:extLst>
          </p:cNvPr>
          <p:cNvPicPr>
            <a:picLocks noChangeAspect="1"/>
          </p:cNvPicPr>
          <p:nvPr/>
        </p:nvPicPr>
        <p:blipFill>
          <a:blip r:embed="rId3"/>
          <a:srcRect/>
          <a:stretch/>
        </p:blipFill>
        <p:spPr>
          <a:xfrm>
            <a:off x="3607568" y="1256128"/>
            <a:ext cx="4978629" cy="3831920"/>
          </a:xfrm>
          <a:prstGeom prst="rect">
            <a:avLst/>
          </a:prstGeom>
        </p:spPr>
      </p:pic>
    </p:spTree>
    <p:extLst>
      <p:ext uri="{BB962C8B-B14F-4D97-AF65-F5344CB8AC3E}">
        <p14:creationId xmlns:p14="http://schemas.microsoft.com/office/powerpoint/2010/main" val="29484189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968D53D0-EAA4-0C54-114D-9F8123648540}"/>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B8702223-A20A-6027-F801-B0369B63202D}"/>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Methodology</a:t>
            </a:r>
            <a:endParaRPr dirty="0"/>
          </a:p>
        </p:txBody>
      </p:sp>
      <p:pic>
        <p:nvPicPr>
          <p:cNvPr id="4" name="Picture 3">
            <a:extLst>
              <a:ext uri="{FF2B5EF4-FFF2-40B4-BE49-F238E27FC236}">
                <a16:creationId xmlns:a16="http://schemas.microsoft.com/office/drawing/2014/main" id="{FD02275B-44F1-CA8F-7768-5B246A8295EC}"/>
              </a:ext>
            </a:extLst>
          </p:cNvPr>
          <p:cNvPicPr>
            <a:picLocks noChangeAspect="1"/>
          </p:cNvPicPr>
          <p:nvPr/>
        </p:nvPicPr>
        <p:blipFill>
          <a:blip r:embed="rId3"/>
          <a:srcRect/>
          <a:stretch/>
        </p:blipFill>
        <p:spPr>
          <a:xfrm>
            <a:off x="3607568" y="1256128"/>
            <a:ext cx="4978629" cy="3831920"/>
          </a:xfrm>
          <a:prstGeom prst="rect">
            <a:avLst/>
          </a:prstGeom>
        </p:spPr>
      </p:pic>
    </p:spTree>
    <p:extLst>
      <p:ext uri="{BB962C8B-B14F-4D97-AF65-F5344CB8AC3E}">
        <p14:creationId xmlns:p14="http://schemas.microsoft.com/office/powerpoint/2010/main" val="14037701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7C435136-108E-A75B-BE04-8895B15F3404}"/>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BAD3321E-7465-F6F0-F0C4-6AE03F36D39C}"/>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Methodology</a:t>
            </a:r>
            <a:endParaRPr dirty="0"/>
          </a:p>
        </p:txBody>
      </p:sp>
      <p:pic>
        <p:nvPicPr>
          <p:cNvPr id="4" name="Picture 3" descr="A diagram of a basic element&#10;&#10;AI-generated content may be incorrect.">
            <a:extLst>
              <a:ext uri="{FF2B5EF4-FFF2-40B4-BE49-F238E27FC236}">
                <a16:creationId xmlns:a16="http://schemas.microsoft.com/office/drawing/2014/main" id="{3BFF4842-9432-0E6A-28F7-0B4F14ED1EEE}"/>
              </a:ext>
            </a:extLst>
          </p:cNvPr>
          <p:cNvPicPr>
            <a:picLocks noChangeAspect="1"/>
          </p:cNvPicPr>
          <p:nvPr/>
        </p:nvPicPr>
        <p:blipFill>
          <a:blip r:embed="rId3"/>
          <a:stretch>
            <a:fillRect/>
          </a:stretch>
        </p:blipFill>
        <p:spPr>
          <a:xfrm>
            <a:off x="3607568" y="1256128"/>
            <a:ext cx="4978629" cy="3831920"/>
          </a:xfrm>
          <a:prstGeom prst="rect">
            <a:avLst/>
          </a:prstGeom>
        </p:spPr>
      </p:pic>
    </p:spTree>
    <p:extLst>
      <p:ext uri="{BB962C8B-B14F-4D97-AF65-F5344CB8AC3E}">
        <p14:creationId xmlns:p14="http://schemas.microsoft.com/office/powerpoint/2010/main" val="10785518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7ED70E47-92C7-B028-DBF9-B350F0FDE2DF}"/>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4A857C3D-EB65-F27D-8B62-48A1BE59E74E}"/>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Methodology</a:t>
            </a:r>
            <a:endParaRPr dirty="0"/>
          </a:p>
        </p:txBody>
      </p:sp>
      <p:pic>
        <p:nvPicPr>
          <p:cNvPr id="4" name="Picture 3">
            <a:extLst>
              <a:ext uri="{FF2B5EF4-FFF2-40B4-BE49-F238E27FC236}">
                <a16:creationId xmlns:a16="http://schemas.microsoft.com/office/drawing/2014/main" id="{9663A408-8F59-4462-B8F5-C30CD1BD6F55}"/>
              </a:ext>
            </a:extLst>
          </p:cNvPr>
          <p:cNvPicPr>
            <a:picLocks noChangeAspect="1"/>
          </p:cNvPicPr>
          <p:nvPr/>
        </p:nvPicPr>
        <p:blipFill>
          <a:blip r:embed="rId3"/>
          <a:srcRect/>
          <a:stretch/>
        </p:blipFill>
        <p:spPr>
          <a:xfrm>
            <a:off x="3607568" y="1256128"/>
            <a:ext cx="4973686" cy="4973686"/>
          </a:xfrm>
          <a:prstGeom prst="rect">
            <a:avLst/>
          </a:prstGeom>
        </p:spPr>
      </p:pic>
    </p:spTree>
    <p:extLst>
      <p:ext uri="{BB962C8B-B14F-4D97-AF65-F5344CB8AC3E}">
        <p14:creationId xmlns:p14="http://schemas.microsoft.com/office/powerpoint/2010/main" val="42454131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D4CD5C0F-3118-D7C0-5729-13526B4A2A5C}"/>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5FAF0E25-3058-D78A-3BFA-1C70D1B51F58}"/>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Methodology</a:t>
            </a:r>
            <a:endParaRPr dirty="0"/>
          </a:p>
        </p:txBody>
      </p:sp>
      <p:pic>
        <p:nvPicPr>
          <p:cNvPr id="4" name="Picture 3">
            <a:extLst>
              <a:ext uri="{FF2B5EF4-FFF2-40B4-BE49-F238E27FC236}">
                <a16:creationId xmlns:a16="http://schemas.microsoft.com/office/drawing/2014/main" id="{8B7BE8BA-9E82-487E-48B3-67D7C5D82E7E}"/>
              </a:ext>
            </a:extLst>
          </p:cNvPr>
          <p:cNvPicPr>
            <a:picLocks noChangeAspect="1"/>
          </p:cNvPicPr>
          <p:nvPr/>
        </p:nvPicPr>
        <p:blipFill>
          <a:blip r:embed="rId3"/>
          <a:srcRect/>
          <a:stretch/>
        </p:blipFill>
        <p:spPr>
          <a:xfrm>
            <a:off x="3607568" y="1256128"/>
            <a:ext cx="4973686" cy="4973686"/>
          </a:xfrm>
          <a:prstGeom prst="rect">
            <a:avLst/>
          </a:prstGeom>
        </p:spPr>
      </p:pic>
    </p:spTree>
    <p:extLst>
      <p:ext uri="{BB962C8B-B14F-4D97-AF65-F5344CB8AC3E}">
        <p14:creationId xmlns:p14="http://schemas.microsoft.com/office/powerpoint/2010/main" val="37707037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8923DD35-DDF4-7309-FD50-2C68FB12E96B}"/>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3627A5BF-CF17-0F65-F4E5-76FA13EF5C8C}"/>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Dynamic Analysis Best Practices</a:t>
            </a:r>
            <a:endParaRPr sz="6600" dirty="0"/>
          </a:p>
        </p:txBody>
      </p:sp>
    </p:spTree>
    <p:extLst>
      <p:ext uri="{BB962C8B-B14F-4D97-AF65-F5344CB8AC3E}">
        <p14:creationId xmlns:p14="http://schemas.microsoft.com/office/powerpoint/2010/main" val="12942551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068EFE2F-4421-81B5-F75B-76C2409DBED4}"/>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FDC5BA3D-6CED-E807-BF68-25BA146BF0C0}"/>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Best Practices</a:t>
            </a:r>
            <a:endParaRPr dirty="0"/>
          </a:p>
        </p:txBody>
      </p:sp>
      <p:sp>
        <p:nvSpPr>
          <p:cNvPr id="2" name="TextBox 1">
            <a:extLst>
              <a:ext uri="{FF2B5EF4-FFF2-40B4-BE49-F238E27FC236}">
                <a16:creationId xmlns:a16="http://schemas.microsoft.com/office/drawing/2014/main" id="{D4BBF26E-149E-4149-67ED-E93497A35DF8}"/>
              </a:ext>
            </a:extLst>
          </p:cNvPr>
          <p:cNvSpPr txBox="1"/>
          <p:nvPr/>
        </p:nvSpPr>
        <p:spPr>
          <a:xfrm>
            <a:off x="455618" y="1437554"/>
            <a:ext cx="5715347" cy="2277547"/>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Start small</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Keep tests separate</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Avoid high-churn elements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Avoid duplicating coverage areas</a:t>
            </a:r>
          </a:p>
        </p:txBody>
      </p:sp>
    </p:spTree>
    <p:extLst>
      <p:ext uri="{BB962C8B-B14F-4D97-AF65-F5344CB8AC3E}">
        <p14:creationId xmlns:p14="http://schemas.microsoft.com/office/powerpoint/2010/main" val="2372422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AA1B6300-4150-9DD1-EAB2-84C678CB072D}"/>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664DDA98-0F6D-C54D-128F-679E03F5053E}"/>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Runtime Considerations</a:t>
            </a:r>
            <a:endParaRPr sz="6600" dirty="0"/>
          </a:p>
        </p:txBody>
      </p:sp>
    </p:spTree>
    <p:extLst>
      <p:ext uri="{BB962C8B-B14F-4D97-AF65-F5344CB8AC3E}">
        <p14:creationId xmlns:p14="http://schemas.microsoft.com/office/powerpoint/2010/main" val="12427547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BE4B0FF-BB0D-B94C-5377-2ED07887A12C}"/>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DFD168AF-42C8-6A28-F5A0-4F3F1DEBBA6C}"/>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Considerations</a:t>
            </a:r>
            <a:endParaRPr dirty="0"/>
          </a:p>
        </p:txBody>
      </p:sp>
      <p:sp>
        <p:nvSpPr>
          <p:cNvPr id="2" name="TextBox 1">
            <a:extLst>
              <a:ext uri="{FF2B5EF4-FFF2-40B4-BE49-F238E27FC236}">
                <a16:creationId xmlns:a16="http://schemas.microsoft.com/office/drawing/2014/main" id="{BB25012F-D809-9633-25D4-D71A786B669C}"/>
              </a:ext>
            </a:extLst>
          </p:cNvPr>
          <p:cNvSpPr txBox="1"/>
          <p:nvPr/>
        </p:nvSpPr>
        <p:spPr>
          <a:xfrm>
            <a:off x="455618" y="1437554"/>
            <a:ext cx="4575612" cy="2277547"/>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Termination on error</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Issue occlusion</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Footprint</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Cybersecurity side-effects</a:t>
            </a:r>
          </a:p>
        </p:txBody>
      </p:sp>
    </p:spTree>
    <p:extLst>
      <p:ext uri="{BB962C8B-B14F-4D97-AF65-F5344CB8AC3E}">
        <p14:creationId xmlns:p14="http://schemas.microsoft.com/office/powerpoint/2010/main" val="10835011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0234E69-953D-C964-1A44-7AD56D5A6C18}"/>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288F8EFA-BECD-D045-8DF8-934C782EE42C}"/>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Recap</a:t>
            </a:r>
            <a:endParaRPr sz="6600" dirty="0"/>
          </a:p>
        </p:txBody>
      </p:sp>
    </p:spTree>
    <p:extLst>
      <p:ext uri="{BB962C8B-B14F-4D97-AF65-F5344CB8AC3E}">
        <p14:creationId xmlns:p14="http://schemas.microsoft.com/office/powerpoint/2010/main" val="11180574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Summary</a:t>
            </a:r>
            <a:endParaRPr dirty="0"/>
          </a:p>
        </p:txBody>
      </p:sp>
      <p:sp>
        <p:nvSpPr>
          <p:cNvPr id="2" name="TextBox 1">
            <a:extLst>
              <a:ext uri="{FF2B5EF4-FFF2-40B4-BE49-F238E27FC236}">
                <a16:creationId xmlns:a16="http://schemas.microsoft.com/office/drawing/2014/main" id="{7815AB7C-3B20-E395-B8D1-B8413068BE32}"/>
              </a:ext>
            </a:extLst>
          </p:cNvPr>
          <p:cNvSpPr txBox="1"/>
          <p:nvPr/>
        </p:nvSpPr>
        <p:spPr>
          <a:xfrm>
            <a:off x="455618" y="1437554"/>
            <a:ext cx="8151912" cy="2277547"/>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Take an incremental approach</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Concentrate on the critical elements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Don’t replicate analysis performed by other tools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Be mindful of analysis constraints and impacts</a:t>
            </a:r>
          </a:p>
        </p:txBody>
      </p:sp>
    </p:spTree>
    <p:extLst>
      <p:ext uri="{BB962C8B-B14F-4D97-AF65-F5344CB8AC3E}">
        <p14:creationId xmlns:p14="http://schemas.microsoft.com/office/powerpoint/2010/main" val="1703593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3" name="Picture 2">
            <a:extLst>
              <a:ext uri="{FF2B5EF4-FFF2-40B4-BE49-F238E27FC236}">
                <a16:creationId xmlns:a16="http://schemas.microsoft.com/office/drawing/2014/main" id="{97170D5F-8BD9-ECF4-AF82-900DA81B4716}"/>
              </a:ext>
            </a:extLst>
          </p:cNvPr>
          <p:cNvPicPr>
            <a:picLocks noChangeAspect="1"/>
          </p:cNvPicPr>
          <p:nvPr/>
        </p:nvPicPr>
        <p:blipFill>
          <a:blip r:embed="rId3"/>
          <a:srcRect/>
          <a:stretch/>
        </p:blipFill>
        <p:spPr>
          <a:xfrm>
            <a:off x="4056310" y="1239500"/>
            <a:ext cx="4076200" cy="5283369"/>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80021"/>
            <a:ext cx="11277833" cy="524399"/>
          </a:xfrm>
          <a:prstGeom prst="rect">
            <a:avLst/>
          </a:prstGeom>
        </p:spPr>
        <p:txBody>
          <a:bodyPr spcFirstLastPara="1" wrap="square" lIns="0" tIns="0" rIns="0" bIns="0" anchor="ctr" anchorCtr="0">
            <a:noAutofit/>
          </a:bodyPr>
          <a:lstStyle/>
          <a:p>
            <a:pPr>
              <a:lnSpc>
                <a:spcPct val="100000"/>
              </a:lnSpc>
            </a:pPr>
            <a:r>
              <a:rPr lang="en-US" dirty="0"/>
              <a:t>Further Reading</a:t>
            </a:r>
          </a:p>
        </p:txBody>
      </p:sp>
    </p:spTree>
    <p:extLst>
      <p:ext uri="{BB962C8B-B14F-4D97-AF65-F5344CB8AC3E}">
        <p14:creationId xmlns:p14="http://schemas.microsoft.com/office/powerpoint/2010/main" val="28685550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C2A2ADBF-13F1-8937-91E4-97FBA4F83BB0}"/>
              </a:ext>
            </a:extLst>
          </p:cNvPr>
          <p:cNvPicPr>
            <a:picLocks noChangeAspect="1"/>
          </p:cNvPicPr>
          <p:nvPr/>
        </p:nvPicPr>
        <p:blipFill>
          <a:blip r:embed="rId3"/>
          <a:stretch>
            <a:fillRect/>
          </a:stretch>
        </p:blipFill>
        <p:spPr>
          <a:xfrm>
            <a:off x="1573706" y="985083"/>
            <a:ext cx="9041411" cy="5778453"/>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AVCDL on GitHub</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6476383" y="522829"/>
            <a:ext cx="5256824"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cs typeface="Courier New" panose="02070309020205020404" pitchFamily="49" charset="0"/>
              </a:rPr>
              <a:t>https://github.com/AVCDL/AVCDL </a:t>
            </a:r>
          </a:p>
        </p:txBody>
      </p:sp>
    </p:spTree>
    <p:extLst>
      <p:ext uri="{BB962C8B-B14F-4D97-AF65-F5344CB8AC3E}">
        <p14:creationId xmlns:p14="http://schemas.microsoft.com/office/powerpoint/2010/main" val="29934041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24875B67-DABD-EC7D-D876-FF0A75BC967B}"/>
              </a:ext>
            </a:extLst>
          </p:cNvPr>
          <p:cNvPicPr>
            <a:picLocks noChangeAspect="1"/>
          </p:cNvPicPr>
          <p:nvPr/>
        </p:nvPicPr>
        <p:blipFill>
          <a:blip r:embed="rId3"/>
          <a:stretch>
            <a:fillRect/>
          </a:stretch>
        </p:blipFill>
        <p:spPr>
          <a:xfrm>
            <a:off x="1658351" y="985083"/>
            <a:ext cx="8483870" cy="5783298"/>
          </a:xfrm>
          <a:prstGeom prst="rect">
            <a:avLst/>
          </a:prstGeom>
          <a:ln w="12700">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7" y="460683"/>
            <a:ext cx="11277833" cy="524400"/>
          </a:xfrm>
          <a:prstGeom prst="rect">
            <a:avLst/>
          </a:prstGeom>
        </p:spPr>
        <p:txBody>
          <a:bodyPr spcFirstLastPara="1" wrap="square" lIns="0" tIns="0" rIns="0" bIns="0" anchor="ctr" anchorCtr="0">
            <a:noAutofit/>
          </a:bodyPr>
          <a:lstStyle/>
          <a:p>
            <a:pPr marL="0" lvl="0" indent="0" algn="l" rtl="0">
              <a:lnSpc>
                <a:spcPct val="100000"/>
              </a:lnSpc>
              <a:spcBef>
                <a:spcPts val="0"/>
              </a:spcBef>
              <a:spcAft>
                <a:spcPts val="0"/>
              </a:spcAft>
              <a:buNone/>
            </a:pPr>
            <a:r>
              <a:rPr lang="en" dirty="0"/>
              <a:t>AVCDL on YouTube</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5900286" y="522828"/>
            <a:ext cx="5832922"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ea typeface="Roboto" panose="02000000000000000000" pitchFamily="2" charset="0"/>
                <a:cs typeface="Courier New" panose="02070309020205020404" pitchFamily="49" charset="0"/>
              </a:rPr>
              <a:t>https://youtube.com/@AVCDL</a:t>
            </a:r>
          </a:p>
        </p:txBody>
      </p:sp>
    </p:spTree>
    <p:extLst>
      <p:ext uri="{BB962C8B-B14F-4D97-AF65-F5344CB8AC3E}">
        <p14:creationId xmlns:p14="http://schemas.microsoft.com/office/powerpoint/2010/main" val="40714915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Next Steps</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tretch>
            <a:fillRect/>
          </a:stretch>
        </p:blipFill>
        <p:spPr>
          <a:xfrm>
            <a:off x="741952" y="326959"/>
            <a:ext cx="10704920" cy="6204081"/>
          </a:xfrm>
          <a:prstGeom prst="rect">
            <a:avLst/>
          </a:prstGeom>
          <a:effectLst/>
        </p:spPr>
      </p:pic>
    </p:spTree>
    <p:extLst>
      <p:ext uri="{BB962C8B-B14F-4D97-AF65-F5344CB8AC3E}">
        <p14:creationId xmlns:p14="http://schemas.microsoft.com/office/powerpoint/2010/main" val="39623094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77">
          <a:extLst>
            <a:ext uri="{FF2B5EF4-FFF2-40B4-BE49-F238E27FC236}">
              <a16:creationId xmlns:a16="http://schemas.microsoft.com/office/drawing/2014/main" id="{BF51FD20-5E44-1096-92AD-A694134C77F0}"/>
            </a:ext>
          </a:extLst>
        </p:cNvPr>
        <p:cNvGrpSpPr/>
        <p:nvPr/>
      </p:nvGrpSpPr>
      <p:grpSpPr>
        <a:xfrm>
          <a:off x="0" y="0"/>
          <a:ext cx="0" cy="0"/>
          <a:chOff x="0" y="0"/>
          <a:chExt cx="0" cy="0"/>
        </a:xfrm>
      </p:grpSpPr>
      <p:sp>
        <p:nvSpPr>
          <p:cNvPr id="878" name="Google Shape;878;p147">
            <a:extLst>
              <a:ext uri="{FF2B5EF4-FFF2-40B4-BE49-F238E27FC236}">
                <a16:creationId xmlns:a16="http://schemas.microsoft.com/office/drawing/2014/main" id="{2CDA8FD7-8E5D-9D23-F17E-089B0DC94CDC}"/>
              </a:ext>
            </a:extLst>
          </p:cNvPr>
          <p:cNvSpPr txBox="1">
            <a:spLocks noGrp="1"/>
          </p:cNvSpPr>
          <p:nvPr>
            <p:ph type="title"/>
          </p:nvPr>
        </p:nvSpPr>
        <p:spPr>
          <a:xfrm>
            <a:off x="455617" y="460684"/>
            <a:ext cx="11277590" cy="524399"/>
          </a:xfrm>
          <a:prstGeom prst="rect">
            <a:avLst/>
          </a:prstGeom>
        </p:spPr>
        <p:txBody>
          <a:bodyPr spcFirstLastPara="1" wrap="square" lIns="0" tIns="0" rIns="0" bIns="0" anchor="ctr" anchorCtr="0">
            <a:noAutofit/>
          </a:bodyPr>
          <a:lstStyle/>
          <a:p>
            <a:pPr>
              <a:lnSpc>
                <a:spcPct val="100000"/>
              </a:lnSpc>
            </a:pPr>
            <a:r>
              <a:rPr lang="en" dirty="0"/>
              <a:t>References</a:t>
            </a:r>
            <a:endParaRPr dirty="0"/>
          </a:p>
        </p:txBody>
      </p:sp>
      <p:sp>
        <p:nvSpPr>
          <p:cNvPr id="2" name="Google Shape;879;p147">
            <a:extLst>
              <a:ext uri="{FF2B5EF4-FFF2-40B4-BE49-F238E27FC236}">
                <a16:creationId xmlns:a16="http://schemas.microsoft.com/office/drawing/2014/main" id="{CA327BB5-2B6F-DC45-6F06-8EDF4E981DDD}"/>
              </a:ext>
            </a:extLst>
          </p:cNvPr>
          <p:cNvSpPr txBox="1">
            <a:spLocks/>
          </p:cNvSpPr>
          <p:nvPr/>
        </p:nvSpPr>
        <p:spPr>
          <a:xfrm>
            <a:off x="455615" y="1146448"/>
            <a:ext cx="11277592" cy="3139321"/>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lnSpc>
                <a:spcPct val="100000"/>
              </a:lnSpc>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lnSpc>
                <a:spcPct val="100000"/>
              </a:lnSpc>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6pPr>
            <a:lvl7pPr marL="3200400" marR="0" lvl="6"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7pPr>
            <a:lvl8pPr marL="3657600" marR="0" lvl="7"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8pPr>
            <a:lvl9pPr marL="4114800" marR="0" lvl="8"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9pPr>
          </a:lstStyle>
          <a:p>
            <a:pPr marL="0" indent="0">
              <a:spcBef>
                <a:spcPts val="0"/>
              </a:spcBef>
            </a:pPr>
            <a:r>
              <a:rPr lang="en-US" sz="1800" b="1" dirty="0">
                <a:latin typeface="Roboto" panose="02000000000000000000" pitchFamily="2" charset="0"/>
                <a:ea typeface="Roboto" panose="02000000000000000000" pitchFamily="2" charset="0"/>
                <a:cs typeface="Courier New" panose="02070309020205020404" pitchFamily="49" charset="0"/>
              </a:rPr>
              <a:t>AVCDL primary document</a:t>
            </a:r>
          </a:p>
          <a:p>
            <a:pPr marL="0" indent="0">
              <a:spcBef>
                <a:spcPts val="1200"/>
              </a:spcBef>
            </a:pPr>
            <a:r>
              <a:rPr lang="en-US" sz="1800" b="1" dirty="0">
                <a:latin typeface="Roboto" panose="02000000000000000000" pitchFamily="2" charset="0"/>
                <a:ea typeface="Roboto" panose="02000000000000000000" pitchFamily="2" charset="0"/>
                <a:cs typeface="Courier New" panose="02070309020205020404" pitchFamily="49" charset="0"/>
              </a:rPr>
              <a:t>Dynamic Analysis Report (AVCDL secondary document)</a:t>
            </a:r>
          </a:p>
          <a:p>
            <a:pPr marL="0" indent="0">
              <a:spcBef>
                <a:spcPts val="1200"/>
              </a:spcBef>
            </a:pPr>
            <a:r>
              <a:rPr lang="en-US" sz="1800" b="1" dirty="0">
                <a:latin typeface="Roboto" panose="02000000000000000000" pitchFamily="2" charset="0"/>
                <a:ea typeface="Roboto" panose="02000000000000000000" pitchFamily="2" charset="0"/>
                <a:cs typeface="Courier New" panose="02070309020205020404" pitchFamily="49" charset="0"/>
              </a:rPr>
              <a:t>Dynamic Analysis Establish Settings Procedure (AVCDL tertiary document)</a:t>
            </a:r>
            <a:endParaRPr lang="en-US" sz="1400" b="1" dirty="0">
              <a:latin typeface="Courier New" panose="02070309020205020404" pitchFamily="49" charset="0"/>
              <a:cs typeface="Courier New" panose="02070309020205020404" pitchFamily="49" charset="0"/>
            </a:endParaRPr>
          </a:p>
          <a:p>
            <a:pPr marL="0" indent="0">
              <a:spcBef>
                <a:spcPts val="1200"/>
              </a:spcBef>
            </a:pPr>
            <a:r>
              <a:rPr lang="en-US" sz="1800" b="1" dirty="0">
                <a:latin typeface="Roboto" panose="02000000000000000000" pitchFamily="2" charset="0"/>
                <a:ea typeface="Roboto" panose="02000000000000000000" pitchFamily="2" charset="0"/>
                <a:cs typeface="Courier New" panose="02070309020205020404" pitchFamily="49" charset="0"/>
              </a:rPr>
              <a:t>Dynamic Analysis Instrument  Settings Procedure (AVCDL tertiary document)</a:t>
            </a:r>
            <a:endParaRPr lang="en-US" sz="1400" b="1" dirty="0">
              <a:latin typeface="Courier New" panose="02070309020205020404" pitchFamily="49" charset="0"/>
              <a:cs typeface="Courier New" panose="02070309020205020404" pitchFamily="49" charset="0"/>
            </a:endParaRPr>
          </a:p>
          <a:p>
            <a:pPr marL="0" indent="0">
              <a:spcBef>
                <a:spcPts val="1200"/>
              </a:spcBef>
            </a:pPr>
            <a:r>
              <a:rPr lang="en-US" sz="1800" b="1" dirty="0">
                <a:latin typeface="Roboto" panose="02000000000000000000" pitchFamily="2" charset="0"/>
                <a:ea typeface="Roboto" panose="02000000000000000000" pitchFamily="2" charset="0"/>
                <a:cs typeface="Roboto" panose="02000000000000000000" pitchFamily="2" charset="0"/>
              </a:rPr>
              <a:t>Google Sanitizers GitHub (archive)</a:t>
            </a:r>
          </a:p>
          <a:p>
            <a:pPr marL="0" indent="0">
              <a:spcBef>
                <a:spcPts val="0"/>
              </a:spcBef>
            </a:pPr>
            <a:r>
              <a:rPr lang="en-US" sz="1400" b="1" dirty="0">
                <a:latin typeface="Courier New" panose="02070309020205020404" pitchFamily="49" charset="0"/>
                <a:cs typeface="Courier New" panose="02070309020205020404" pitchFamily="49" charset="0"/>
                <a:hlinkClick r:id="rId3"/>
              </a:rPr>
              <a:t>https://github.com/google/sanitizers</a:t>
            </a:r>
            <a:r>
              <a:rPr lang="en-US" sz="1400" b="1" dirty="0">
                <a:latin typeface="Courier New" panose="02070309020205020404" pitchFamily="49" charset="0"/>
                <a:cs typeface="Courier New" panose="02070309020205020404" pitchFamily="49" charset="0"/>
              </a:rPr>
              <a:t> </a:t>
            </a:r>
          </a:p>
          <a:p>
            <a:pPr marL="0" indent="0">
              <a:spcBef>
                <a:spcPts val="0"/>
              </a:spcBef>
            </a:pPr>
            <a:endParaRPr lang="en-US" sz="1400" b="1" dirty="0">
              <a:latin typeface="Courier New" panose="02070309020205020404" pitchFamily="49" charset="0"/>
              <a:cs typeface="Courier New" panose="02070309020205020404" pitchFamily="49" charset="0"/>
            </a:endParaRPr>
          </a:p>
          <a:p>
            <a:pPr marL="0" indent="0">
              <a:spcBef>
                <a:spcPts val="0"/>
              </a:spcBef>
            </a:pPr>
            <a:r>
              <a:rPr lang="en-US" sz="1800" b="1" dirty="0">
                <a:latin typeface="Roboto" panose="02000000000000000000" pitchFamily="2" charset="0"/>
                <a:ea typeface="Roboto" panose="02000000000000000000" pitchFamily="2" charset="0"/>
                <a:cs typeface="Courier New" panose="02070309020205020404" pitchFamily="49" charset="0"/>
              </a:rPr>
              <a:t>ASanity: On Bug Shadowing by Early ASan Exits </a:t>
            </a:r>
          </a:p>
          <a:p>
            <a:pPr marL="0" indent="0">
              <a:spcBef>
                <a:spcPts val="0"/>
              </a:spcBef>
            </a:pPr>
            <a:r>
              <a:rPr lang="en-US" sz="1400" b="1" dirty="0">
                <a:latin typeface="Courier New" panose="02070309020205020404" pitchFamily="49" charset="0"/>
                <a:ea typeface="Roboto" panose="02000000000000000000" pitchFamily="2" charset="0"/>
                <a:cs typeface="Courier New" panose="02070309020205020404" pitchFamily="49" charset="0"/>
                <a:hlinkClick r:id="rId4"/>
              </a:rPr>
              <a:t>https://wootconference.org/papers/woot23-paper34.pdf</a:t>
            </a:r>
            <a:r>
              <a:rPr lang="en-US" sz="1400" b="1" dirty="0">
                <a:latin typeface="Courier New" panose="02070309020205020404" pitchFamily="49" charset="0"/>
                <a:ea typeface="Roboto" panose="02000000000000000000" pitchFamily="2" charset="0"/>
                <a:cs typeface="Courier New" panose="02070309020205020404" pitchFamily="49" charset="0"/>
              </a:rPr>
              <a:t> </a:t>
            </a:r>
          </a:p>
          <a:p>
            <a:pPr marL="0" indent="0">
              <a:spcBef>
                <a:spcPts val="0"/>
              </a:spcBef>
            </a:pPr>
            <a:endParaRPr lang="en-US" sz="1400"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688179681"/>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396711</TotalTime>
  <Words>6219</Words>
  <Application>Microsoft Macintosh PowerPoint</Application>
  <PresentationFormat>Custom</PresentationFormat>
  <Paragraphs>805</Paragraphs>
  <Slides>25</Slides>
  <Notes>25</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25</vt:i4>
      </vt:variant>
    </vt:vector>
  </HeadingPairs>
  <TitlesOfParts>
    <vt:vector size="33" baseType="lpstr">
      <vt:lpstr>Calibri</vt:lpstr>
      <vt:lpstr>Roboto Medium</vt:lpstr>
      <vt:lpstr>Roboto</vt:lpstr>
      <vt:lpstr>Courier New</vt:lpstr>
      <vt:lpstr>Arial</vt:lpstr>
      <vt:lpstr>Simple Light</vt:lpstr>
      <vt:lpstr>Motional Masters</vt:lpstr>
      <vt:lpstr>Motional Masters</vt:lpstr>
      <vt:lpstr>Dynamic Analysis – Instrument Element</vt:lpstr>
      <vt:lpstr>Training Path</vt:lpstr>
      <vt:lpstr>Introduction</vt:lpstr>
      <vt:lpstr>Dynamic Analysis Process</vt:lpstr>
      <vt:lpstr>Dynamic Analysis Process</vt:lpstr>
      <vt:lpstr>Instrument Element Activity</vt:lpstr>
      <vt:lpstr>Instrument Element Activity</vt:lpstr>
      <vt:lpstr>Approach</vt:lpstr>
      <vt:lpstr>Methodology</vt:lpstr>
      <vt:lpstr>Methodology</vt:lpstr>
      <vt:lpstr>Methodology</vt:lpstr>
      <vt:lpstr>Methodology</vt:lpstr>
      <vt:lpstr>Methodology</vt:lpstr>
      <vt:lpstr>Methodology</vt:lpstr>
      <vt:lpstr>Dynamic Analysis Best Practices</vt:lpstr>
      <vt:lpstr>Best Practices</vt:lpstr>
      <vt:lpstr>Runtime Considerations</vt:lpstr>
      <vt:lpstr>Considerations</vt:lpstr>
      <vt:lpstr>Recap</vt:lpstr>
      <vt:lpstr>Summary</vt:lpstr>
      <vt:lpstr>Further Reading</vt:lpstr>
      <vt:lpstr>AVCDL on GitHub</vt:lpstr>
      <vt:lpstr>AVCDL on YouTube</vt:lpstr>
      <vt:lpstr>Next Steps</vt:lpstr>
      <vt:lpstr>References</vt:lpstr>
    </vt:vector>
  </TitlesOfParts>
  <Manager/>
  <Company>Torc Robotics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Analysis - Instrument Element (training)</dc:title>
  <dc:subject>dynamic analysis element instrumentation</dc:subject>
  <dc:creator>Charles Wilson</dc:creator>
  <cp:keywords>cybersecurity, dynamic analysis</cp:keywords>
  <dc:description>This work was created by Torc Robotics and is licensed under the Creative Commons Attribution-Share Alike (CC BY-SA-4.0) License.
https://creativecommons.org/licenses/by/4.0/legalcode 
</dc:description>
  <cp:lastModifiedBy>Charles Wilson</cp:lastModifiedBy>
  <cp:revision>617</cp:revision>
  <cp:lastPrinted>2025-07-24T18:37:57Z</cp:lastPrinted>
  <dcterms:modified xsi:type="dcterms:W3CDTF">2025-10-30T13:42:15Z</dcterms:modified>
  <cp:category>dynamic analysis</cp:category>
</cp:coreProperties>
</file>