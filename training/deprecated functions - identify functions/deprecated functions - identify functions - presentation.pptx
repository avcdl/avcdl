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5"/>
  </p:notesMasterIdLst>
  <p:sldIdLst>
    <p:sldId id="256" r:id="rId4"/>
    <p:sldId id="306" r:id="rId5"/>
    <p:sldId id="648" r:id="rId6"/>
    <p:sldId id="607" r:id="rId7"/>
    <p:sldId id="673" r:id="rId8"/>
    <p:sldId id="639" r:id="rId9"/>
    <p:sldId id="646" r:id="rId10"/>
    <p:sldId id="674" r:id="rId11"/>
    <p:sldId id="587" r:id="rId12"/>
    <p:sldId id="599" r:id="rId13"/>
    <p:sldId id="651" r:id="rId14"/>
    <p:sldId id="675" r:id="rId15"/>
    <p:sldId id="652" r:id="rId16"/>
    <p:sldId id="603" r:id="rId17"/>
    <p:sldId id="488" r:id="rId18"/>
    <p:sldId id="604" r:id="rId19"/>
    <p:sldId id="343" r:id="rId20"/>
    <p:sldId id="606" r:id="rId21"/>
    <p:sldId id="461" r:id="rId22"/>
    <p:sldId id="420" r:id="rId23"/>
    <p:sldId id="368" r:id="rId24"/>
  </p:sldIdLst>
  <p:sldSz cx="12188825" cy="6858000"/>
  <p:notesSz cx="6858000" cy="9144000"/>
  <p:embeddedFontLst>
    <p:embeddedFont>
      <p:font typeface="Roboto" panose="02000000000000000000" pitchFamily="2" charset="0"/>
      <p:regular r:id="rId26"/>
      <p:bold r:id="rId27"/>
      <p:italic r:id="rId28"/>
      <p:boldItalic r:id="rId29"/>
    </p:embeddedFont>
    <p:embeddedFont>
      <p:font typeface="Roboto Medium"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E354"/>
    <a:srgbClr val="FFFAB2"/>
    <a:srgbClr val="E38194"/>
    <a:srgbClr val="A7E3B3"/>
    <a:srgbClr val="CCFFCC"/>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3"/>
    <p:restoredTop sz="72821"/>
  </p:normalViewPr>
  <p:slideViewPr>
    <p:cSldViewPr snapToGrid="0">
      <p:cViewPr varScale="1">
        <p:scale>
          <a:sx n="158" d="100"/>
          <a:sy n="158" d="100"/>
        </p:scale>
        <p:origin x="200" y="184"/>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1.fntdata"/><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Deprecated Functions – Identify Functions </a:t>
            </a:r>
            <a:r>
              <a:rPr lang="en-US" sz="1400" b="0" i="0" dirty="0">
                <a:solidFill>
                  <a:srgbClr val="000000"/>
                </a:solidFill>
                <a:effectLst/>
                <a:latin typeface="Calibri" panose="020F0502020204030204" pitchFamily="34" charset="0"/>
                <a:cs typeface="Calibri" panose="020F0502020204030204" pitchFamily="34" charset="0"/>
              </a:rPr>
              <a:t>activity.</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t>Deprecated Function Identification</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deprecated function identification, let's briefly review where it fits, in the overall deprecated functions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deprecated functions process which we previously covered in the </a:t>
            </a:r>
            <a:r>
              <a:rPr lang="en-US" sz="1400" b="1" dirty="0">
                <a:solidFill>
                  <a:srgbClr val="1D1C1D"/>
                </a:solidFill>
                <a:effectLst/>
                <a:latin typeface="Calibri" panose="020F0502020204030204" pitchFamily="34" charset="0"/>
                <a:cs typeface="Calibri" panose="020F0502020204030204" pitchFamily="34" charset="0"/>
              </a:rPr>
              <a:t>Deprecated Functions Overview</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function identification.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32C998A-C524-464C-38B8-F7CB81B2082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C985DD-9C05-5B40-8678-56B39D8B0E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E7C39CF-DBC2-AA9C-BE2E-6DEE096195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deprecated functions process which we previously covered in the </a:t>
            </a:r>
            <a:r>
              <a:rPr lang="en-US" sz="1400" b="1" strike="sngStrike" dirty="0">
                <a:solidFill>
                  <a:srgbClr val="1D1C1D"/>
                </a:solidFill>
                <a:effectLst/>
                <a:latin typeface="Calibri" panose="020F0502020204030204" pitchFamily="34" charset="0"/>
                <a:cs typeface="Calibri" panose="020F0502020204030204" pitchFamily="34" charset="0"/>
              </a:rPr>
              <a:t>Deprecated Functions Overview</a:t>
            </a:r>
            <a:r>
              <a:rPr lang="en-US" sz="1400" strike="sngStrike"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function identification.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6584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function identification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cybersecurity SME</a:t>
            </a:r>
            <a:r>
              <a:rPr lang="en-US" sz="1400" dirty="0">
                <a:solidFill>
                  <a:srgbClr val="1D1C1D"/>
                </a:solidFill>
                <a:effectLst/>
                <a:latin typeface="Calibri" panose="020F0502020204030204" pitchFamily="34" charset="0"/>
                <a:cs typeface="Calibri" panose="020F0502020204030204" pitchFamily="34" charset="0"/>
              </a:rPr>
              <a:t>, will review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authoritative sources</a:t>
            </a:r>
            <a:r>
              <a:rPr lang="en-US" sz="1400" dirty="0">
                <a:solidFill>
                  <a:srgbClr val="1D1C1D"/>
                </a:solidFill>
                <a:effectLst/>
                <a:latin typeface="Calibri" panose="020F0502020204030204" pitchFamily="34" charset="0"/>
                <a:cs typeface="Calibri" panose="020F0502020204030204" pitchFamily="34" charset="0"/>
              </a:rPr>
              <a:t>,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identifies the deprecated functions </a:t>
            </a:r>
            <a:r>
              <a:rPr lang="en-US" sz="1400" dirty="0">
                <a:solidFill>
                  <a:srgbClr val="1D1C1D"/>
                </a:solidFill>
                <a:effectLst/>
                <a:latin typeface="Calibri" panose="020F0502020204030204" pitchFamily="34" charset="0"/>
                <a:cs typeface="Calibri" panose="020F0502020204030204" pitchFamily="34" charset="0"/>
              </a:rPr>
              <a:t>called out in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will be compiled into a </a:t>
            </a:r>
            <a:r>
              <a:rPr lang="en-US" sz="1400" b="1" dirty="0">
                <a:solidFill>
                  <a:srgbClr val="1D1C1D"/>
                </a:solidFill>
                <a:effectLst/>
                <a:latin typeface="Calibri" panose="020F0502020204030204" pitchFamily="34" charset="0"/>
                <a:cs typeface="Calibri" panose="020F0502020204030204" pitchFamily="34" charset="0"/>
              </a:rPr>
              <a:t>deprecated functions </a:t>
            </a:r>
            <a:r>
              <a:rPr lang="en-US" sz="1400" dirty="0">
                <a:solidFill>
                  <a:srgbClr val="1D1C1D"/>
                </a:solidFill>
                <a:effectLst/>
                <a:latin typeface="Calibri" panose="020F0502020204030204" pitchFamily="34" charset="0"/>
                <a:cs typeface="Calibri" panose="020F0502020204030204" pitchFamily="34" charset="0"/>
              </a:rPr>
              <a:t>list.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From that list,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a:t>
            </a:r>
            <a:r>
              <a:rPr lang="en-US" sz="1400" b="1" dirty="0">
                <a:solidFill>
                  <a:srgbClr val="1D1C1D"/>
                </a:solidFill>
                <a:effectLst/>
                <a:latin typeface="Calibri" panose="020F0502020204030204" pitchFamily="34" charset="0"/>
                <a:cs typeface="Calibri" panose="020F0502020204030204" pitchFamily="34" charset="0"/>
              </a:rPr>
              <a:t>identified deprecated functions report </a:t>
            </a:r>
            <a:r>
              <a:rPr lang="en-US" sz="1400" dirty="0">
                <a:solidFill>
                  <a:srgbClr val="1D1C1D"/>
                </a:solidFill>
                <a:effectLst/>
                <a:latin typeface="Calibri" panose="020F0502020204030204" pitchFamily="34" charset="0"/>
                <a:cs typeface="Calibri" panose="020F0502020204030204" pitchFamily="34" charset="0"/>
              </a:rPr>
              <a:t>will be created.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BAC0813-9274-20AF-9044-D967E4BE7A8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9CF9A55-B611-409C-6725-8F044869E51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6CC4368-BAB2-4F58-A949-8723668A93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important aspect of dealing with deprecated, banned, unused, or functions which are otherwise inappropriate for use, is that of the authoritative sources used as the basis for identifying them.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fall broadly into three groups.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not to say that these are the only sources where we're going to look, however, it's important to have, as with all things that we do in cybersecurity, appropriate traceability.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although they may be interesting, ephemeral sources are not, all that useful.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want durable authoritative sources.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group we're going to consider is that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technical standards.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things which come from national and international bodies such as ISO, BSI, ANSI, or NIST.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 see ISO/IEC 9899.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standard for the C programming language.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Yes, there is a real written standard.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this standard is an annex which covers unsafe functions.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our next group is that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best practices.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our example here,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SDL List of Banned Functions from Intel for the C and C++ programming languages.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list conveniently provides us alternatives to use, and we'll talk about that shortly.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Most large organizations which produce development software will have some publicly available set of guidelines that they use for doing software development covering various languages.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group is that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industry recommendations.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typically associated with lifecycles, providing restrictions on what versions of languages and the functions not appropriate for use within specific context.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is MISRA C++:2023 Guideline for the use of C++17 in critical systems.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typical of recommendation for safety-critical systems.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From these sources we're going to extract the Information allows us to go from functions which are deprecated to ones which are more appropriate.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4633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393C692-952C-8517-B11D-7A0328AD8EB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3ABAB11-3179-66DE-4D81-F4B59268D2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CACD729-9D16-27CC-018A-A74E5DC707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6323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an example of deprecated function identification.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using the </a:t>
            </a:r>
            <a:r>
              <a:rPr lang="en-US" b="1" dirty="0"/>
              <a:t>AVCDL deprecated function catalog template </a:t>
            </a:r>
            <a:r>
              <a:rPr lang="en-US" dirty="0"/>
              <a:t>which is described in the accompanying tertiary document that goes along with this training.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here that this is just one mechanism for documenting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any number of ways this information could be documented.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 ideal world, you'd use a database to store this information across the various languages and platforms.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6CD35C-2507-7B50-9613-F89B1FAF7E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CEC82C-E4BD-8F9A-B732-804E6296E6F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F4EDA26-A262-7E7D-F125-FE7229595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this example, we're going to look 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 language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running on Linux.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Including the platform is important because there are going to be deprecated functions which may be operating system-specific.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no point calling out functions which don't have applicability to the operating system for the language that we're targeting.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especially true when we're looking at things like static analyzers, which may be able to take the deprecated function list, and scan for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if we're only targeting Linux, but looking for deprecated Windows function calls, all we're doing is consuming resources and time.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cybersecurity SME who has performed this activity.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date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revision, which (as a reminder) is a monotonically increasing number.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2553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3B19591-3F74-D1E7-FAF0-8D2098496C4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5167CEF-C6C0-F36A-E9E8-8E752159E7C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41280BA-617D-A284-BDC4-16911A642F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and arguably one of the most important things to document is the references that were used to compiler the authoritative sources and their replacements.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capture three pieces of information.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name of the source.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description.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included because the name isn’t always sufficiently clear.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location.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information points us back to why we may have to revise this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some sources, the location won’t be subject to change.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Other times, such as when pointing into repositories, things may move, and you need to update the location information.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three entries are authoritative sources.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Looking 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Microsoft banned functions, a page describing the banned Microsoft security development lifecycle functions and includes its location.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Intel banned functions.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last three entries are references to the replacements for those deprecated functions.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just as important to provide references to the replacements as to the authoritative sources, because you need to know where to look to find the pieces that you're going to be replacing things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not sufficient to just collect a list of what’s deprecated.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508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8452E04-81CF-9D4E-F5CC-6F1D5B352BE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F3267B2-A5C9-71A1-5090-286D7F90CE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09BD48F-2059-3640-32A5-0C3CE0232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move on to the deprecated functions themselves.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template that's provided is a category sheet.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intent is that you either rename it to deprecated functions and put all the functions there or create separate sheet grouping like functions into categories and renaming the sheet appropriately.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the example that we're using, within the context of C++, four categories were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formatting</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memory management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string handling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time-related functions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look at one of these in detail.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09051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145D979-1C5F-37E3-1D5C-814139BBE76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3790EAB-DFC1-3EFF-1474-701F638CD45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B157C44-40FD-E86B-4AEC-DDE7F3489E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formatting sheet of our example shows the typical way that we're going to be recording the deprecated function information.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going to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unique identifier for each of the functions identified.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deprecated function's name.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header that it is in.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reason for the deprecation, and this is really important.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 critical to provide why this needs to be replaced.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is the most critical column, and that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suggested replacement.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not enough to say that this function is bad for whatever reason, whether it's that the feature of the language has been removed, that the function is considered unsafe, whatever the rationale behind it is.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Having a means to replace it that's clear is really important.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notes column.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functions within this category fall into two buckets.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those related to input.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second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those related to output.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reason for deprecation for those related to input are all the same, and that's to be expected since the functions are in a family.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also have similar reasons for deprecation for the functions which are related to output.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Looking at the suggested replacements.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of the key things that we have here is that we're not just considering the latest and greatest version of the language that we're dealing with.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languages like C++, which have been around for decades, there's a lot of growth that has occurred and because of that, over time, limitations that were recognized have been addressed in different ways.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can see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 DFF-05, the vs-print-f issue,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suggested replacement when we're dealing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 C++20 and later, is standard format.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all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 C++11 or later, then we're going to recommend the format library that eventually became standard format.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otherwise,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recommending that an o-string-stream be used.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recognize that not all replacements are going to be equal, and that sometimes, as in the case of standard format versus streams, there is going to be a distinction in performance and other characteristics.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 trade-off that has to be made by the development teams based on the criticality of the code.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Sometimes there is no fast and safe alternative to a function that needs to be replaced.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look 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notes column.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see, they're just numerics.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we've done within this example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provide references to the authoritative sources, so that people can look them up.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can see here, these are sourced from multiple locations.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since they're provided in the references, you could provide notes that tells you which reference is used as a basis for the suggested replacement.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this example, the sources of the suggested replacements are unambiguous.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 the deprecated functions, we don't know where they’re being sourced from unless we include a reference.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same treatment was applied to the other three categories mentioned.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2437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deprecated function identification.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review some of the important points.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identifying deprecated functions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focus on a single language on a single platform.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Document the authoritative sources.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Provide clear reasoning as to why the function should be replaced.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Consider solution alternatives for variants of language and configuration.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Identify where the particular deprecated function is being sourced from.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generate a human-readable report when it's all done.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way you'll have a summary of all of the actions that you need to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workbook includes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Deprecated Functions Identify Functions Procedure </a:t>
            </a:r>
            <a:r>
              <a:rPr lang="en-US" sz="1400" dirty="0">
                <a:latin typeface="Calibri" panose="020F0502020204030204" pitchFamily="34" charset="0"/>
                <a:cs typeface="Calibri" panose="020F0502020204030204" pitchFamily="34" charset="0"/>
              </a:rPr>
              <a:t>tertiary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Deprecated Functions </a:t>
            </a:r>
            <a:r>
              <a:rPr lang="en-US" sz="1400" dirty="0"/>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Core Reuse</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commons.wikimedia.org/wiki/File:ISO-IEC-9899-1999-cover.png"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hyperlink" Target="https://github.com/intel/safestringlib/wiki/SDL-List-of-Banned-Functions" TargetMode="External"/><Relationship Id="rId4" Type="http://schemas.openxmlformats.org/officeDocument/2006/relationships/hyperlink" Target="https://misra.org.uk/app/uploads/2023/11/Misra_CPP-2023.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Deprecated Functions –</a:t>
            </a:r>
            <a:br>
              <a:rPr lang="en" sz="5400" dirty="0"/>
            </a:br>
            <a:r>
              <a:rPr lang="en" sz="5400" dirty="0"/>
              <a:t>Identify Functions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3</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2026-03-17</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AVCDL-Implementation-6.1.1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2" name="Picture 1">
            <a:extLst>
              <a:ext uri="{FF2B5EF4-FFF2-40B4-BE49-F238E27FC236}">
                <a16:creationId xmlns:a16="http://schemas.microsoft.com/office/drawing/2014/main" id="{4932FD12-A4A6-B467-F336-EC851866F9E1}"/>
              </a:ext>
            </a:extLst>
          </p:cNvPr>
          <p:cNvPicPr>
            <a:picLocks noChangeAspect="1"/>
          </p:cNvPicPr>
          <p:nvPr/>
        </p:nvPicPr>
        <p:blipFill>
          <a:blip r:embed="rId3"/>
          <a:srcRect/>
          <a:stretch/>
        </p:blipFill>
        <p:spPr>
          <a:xfrm>
            <a:off x="60422" y="1651221"/>
            <a:ext cx="12067979" cy="3555556"/>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95DE7A5-4449-18ED-B4F5-898B921629B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DAE258-C66F-8F78-C5F5-3CE566E93122}"/>
              </a:ext>
            </a:extLst>
          </p:cNvPr>
          <p:cNvPicPr>
            <a:picLocks noChangeAspect="1"/>
          </p:cNvPicPr>
          <p:nvPr/>
        </p:nvPicPr>
        <p:blipFill>
          <a:blip r:embed="rId3"/>
          <a:srcRect/>
          <a:stretch/>
        </p:blipFill>
        <p:spPr>
          <a:xfrm>
            <a:off x="60422" y="1651222"/>
            <a:ext cx="2997821" cy="3555556"/>
          </a:xfrm>
          <a:prstGeom prst="rect">
            <a:avLst/>
          </a:prstGeom>
        </p:spPr>
      </p:pic>
      <p:sp>
        <p:nvSpPr>
          <p:cNvPr id="1199" name="Google Shape;1199;p156">
            <a:extLst>
              <a:ext uri="{FF2B5EF4-FFF2-40B4-BE49-F238E27FC236}">
                <a16:creationId xmlns:a16="http://schemas.microsoft.com/office/drawing/2014/main" id="{5CCC116C-A69D-7344-1BC1-B6177181116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2" name="Picture 1">
            <a:extLst>
              <a:ext uri="{FF2B5EF4-FFF2-40B4-BE49-F238E27FC236}">
                <a16:creationId xmlns:a16="http://schemas.microsoft.com/office/drawing/2014/main" id="{FA6AF975-B401-7399-45CD-C96F9F8B51F5}"/>
              </a:ext>
            </a:extLst>
          </p:cNvPr>
          <p:cNvPicPr>
            <a:picLocks noChangeAspect="1"/>
          </p:cNvPicPr>
          <p:nvPr/>
        </p:nvPicPr>
        <p:blipFill>
          <a:blip r:embed="rId4">
            <a:alphaModFix amt="10000"/>
          </a:blip>
          <a:srcRect/>
          <a:stretch/>
        </p:blipFill>
        <p:spPr>
          <a:xfrm>
            <a:off x="60422" y="1651221"/>
            <a:ext cx="12067979" cy="3555556"/>
          </a:xfrm>
          <a:prstGeom prst="rect">
            <a:avLst/>
          </a:prstGeom>
        </p:spPr>
      </p:pic>
    </p:spTree>
    <p:extLst>
      <p:ext uri="{BB962C8B-B14F-4D97-AF65-F5344CB8AC3E}">
        <p14:creationId xmlns:p14="http://schemas.microsoft.com/office/powerpoint/2010/main" val="1681960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E25B66F-3E04-11B6-91F8-DBC217C3A620}"/>
              </a:ext>
            </a:extLst>
          </p:cNvPr>
          <p:cNvPicPr>
            <a:picLocks noChangeAspect="1"/>
          </p:cNvPicPr>
          <p:nvPr/>
        </p:nvPicPr>
        <p:blipFill>
          <a:blip r:embed="rId3"/>
          <a:srcRect/>
          <a:stretch/>
        </p:blipFill>
        <p:spPr>
          <a:xfrm>
            <a:off x="3843482" y="1057900"/>
            <a:ext cx="4501860" cy="5339416"/>
          </a:xfrm>
          <a:prstGeom prst="rect">
            <a:avLst/>
          </a:prstGeom>
        </p:spPr>
      </p:pic>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Identify Functions Activity</a:t>
            </a:r>
            <a:endParaRPr dirty="0"/>
          </a:p>
        </p:txBody>
      </p:sp>
    </p:spTree>
    <p:extLst>
      <p:ext uri="{BB962C8B-B14F-4D97-AF65-F5344CB8AC3E}">
        <p14:creationId xmlns:p14="http://schemas.microsoft.com/office/powerpoint/2010/main" val="258135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ED4F5BF-0A36-6497-E92C-9EFBAA47311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786B30F-0B10-746A-6474-C09E5CB8F61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Authoritative Sources</a:t>
            </a:r>
            <a:endParaRPr dirty="0"/>
          </a:p>
        </p:txBody>
      </p:sp>
      <p:sp>
        <p:nvSpPr>
          <p:cNvPr id="5" name="TextBox 4">
            <a:extLst>
              <a:ext uri="{FF2B5EF4-FFF2-40B4-BE49-F238E27FC236}">
                <a16:creationId xmlns:a16="http://schemas.microsoft.com/office/drawing/2014/main" id="{8997F66D-9EBC-0B13-5422-49B03B6328BE}"/>
              </a:ext>
            </a:extLst>
          </p:cNvPr>
          <p:cNvSpPr txBox="1"/>
          <p:nvPr/>
        </p:nvSpPr>
        <p:spPr>
          <a:xfrm>
            <a:off x="455618" y="1458577"/>
            <a:ext cx="4718279"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Technical standards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Best practices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Industry recommendations</a:t>
            </a:r>
          </a:p>
        </p:txBody>
      </p:sp>
      <p:pic>
        <p:nvPicPr>
          <p:cNvPr id="3" name="Picture 2" descr="A close-up of a document&#10;&#10;AI-generated content may be incorrect.">
            <a:extLst>
              <a:ext uri="{FF2B5EF4-FFF2-40B4-BE49-F238E27FC236}">
                <a16:creationId xmlns:a16="http://schemas.microsoft.com/office/drawing/2014/main" id="{80406877-44B5-EC2A-183D-7D3BBEB23743}"/>
              </a:ext>
            </a:extLst>
          </p:cNvPr>
          <p:cNvPicPr>
            <a:picLocks noChangeAspect="1"/>
          </p:cNvPicPr>
          <p:nvPr/>
        </p:nvPicPr>
        <p:blipFill>
          <a:blip r:embed="rId3"/>
          <a:stretch>
            <a:fillRect/>
          </a:stretch>
        </p:blipFill>
        <p:spPr>
          <a:xfrm>
            <a:off x="5285657" y="722882"/>
            <a:ext cx="3622387" cy="5129277"/>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63183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5A7A3DB-3D3D-5E9B-C27C-D62B90A17771}"/>
            </a:ext>
          </a:extLst>
        </p:cNvPr>
        <p:cNvGrpSpPr/>
        <p:nvPr/>
      </p:nvGrpSpPr>
      <p:grpSpPr>
        <a:xfrm>
          <a:off x="0" y="0"/>
          <a:ext cx="0" cy="0"/>
          <a:chOff x="0" y="0"/>
          <a:chExt cx="0" cy="0"/>
        </a:xfrm>
      </p:grpSpPr>
      <p:pic>
        <p:nvPicPr>
          <p:cNvPr id="6" name="Picture 5" descr="A blue and white background with text&#10;&#10;AI-generated content may be incorrect.">
            <a:extLst>
              <a:ext uri="{FF2B5EF4-FFF2-40B4-BE49-F238E27FC236}">
                <a16:creationId xmlns:a16="http://schemas.microsoft.com/office/drawing/2014/main" id="{9A8876E2-9279-48D4-1DCE-ACE1C65A1F06}"/>
              </a:ext>
            </a:extLst>
          </p:cNvPr>
          <p:cNvPicPr>
            <a:picLocks noChangeAspect="1"/>
          </p:cNvPicPr>
          <p:nvPr/>
        </p:nvPicPr>
        <p:blipFill>
          <a:blip r:embed="rId3"/>
          <a:stretch>
            <a:fillRect/>
          </a:stretch>
        </p:blipFill>
        <p:spPr>
          <a:xfrm>
            <a:off x="8130833" y="1381758"/>
            <a:ext cx="3602374" cy="5129277"/>
          </a:xfrm>
          <a:prstGeom prst="rect">
            <a:avLst/>
          </a:prstGeom>
          <a:ln>
            <a:solidFill>
              <a:schemeClr val="tx1"/>
            </a:solidFill>
          </a:ln>
          <a:effectLst>
            <a:outerShdw blurRad="50800" dist="38100" dir="2700000" algn="tl" rotWithShape="0">
              <a:prstClr val="black">
                <a:alpha val="40000"/>
              </a:prstClr>
            </a:outerShdw>
          </a:effectLst>
        </p:spPr>
      </p:pic>
      <p:pic>
        <p:nvPicPr>
          <p:cNvPr id="8" name="Picture 7" descr="A screenshot of a computer&#10;&#10;AI-generated content may be incorrect.">
            <a:extLst>
              <a:ext uri="{FF2B5EF4-FFF2-40B4-BE49-F238E27FC236}">
                <a16:creationId xmlns:a16="http://schemas.microsoft.com/office/drawing/2014/main" id="{47E745C5-9776-3CDE-4B61-EADD59298A8A}"/>
              </a:ext>
            </a:extLst>
          </p:cNvPr>
          <p:cNvPicPr>
            <a:picLocks noChangeAspect="1"/>
          </p:cNvPicPr>
          <p:nvPr/>
        </p:nvPicPr>
        <p:blipFill>
          <a:blip r:embed="rId4"/>
          <a:stretch>
            <a:fillRect/>
          </a:stretch>
        </p:blipFill>
        <p:spPr>
          <a:xfrm>
            <a:off x="455618" y="3331955"/>
            <a:ext cx="6093576" cy="317908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02138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25398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174DC1-3B34-550B-143F-3D26F356EDD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71AA15C-BE75-DD93-033B-C38B9C34F9D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Cover Sheet</a:t>
            </a:r>
            <a:endParaRPr dirty="0"/>
          </a:p>
        </p:txBody>
      </p:sp>
      <p:pic>
        <p:nvPicPr>
          <p:cNvPr id="5" name="Picture 4">
            <a:extLst>
              <a:ext uri="{FF2B5EF4-FFF2-40B4-BE49-F238E27FC236}">
                <a16:creationId xmlns:a16="http://schemas.microsoft.com/office/drawing/2014/main" id="{3EC8D5A6-6D03-B300-F957-F6FFF13BF0E6}"/>
              </a:ext>
            </a:extLst>
          </p:cNvPr>
          <p:cNvPicPr>
            <a:picLocks noChangeAspect="1"/>
          </p:cNvPicPr>
          <p:nvPr/>
        </p:nvPicPr>
        <p:blipFill>
          <a:blip r:embed="rId3"/>
          <a:srcRect/>
          <a:stretch/>
        </p:blipFill>
        <p:spPr>
          <a:xfrm>
            <a:off x="2208212" y="1848304"/>
            <a:ext cx="7772400" cy="3161392"/>
          </a:xfrm>
          <a:prstGeom prst="rect">
            <a:avLst/>
          </a:prstGeom>
        </p:spPr>
      </p:pic>
    </p:spTree>
    <p:extLst>
      <p:ext uri="{BB962C8B-B14F-4D97-AF65-F5344CB8AC3E}">
        <p14:creationId xmlns:p14="http://schemas.microsoft.com/office/powerpoint/2010/main" val="3821437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F91684C-E8E1-00E1-991A-BF75F90AF38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2DB84596-EC97-5C1B-2C0D-4936622BD51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References Sheet</a:t>
            </a:r>
            <a:endParaRPr dirty="0"/>
          </a:p>
        </p:txBody>
      </p:sp>
      <p:pic>
        <p:nvPicPr>
          <p:cNvPr id="4" name="Picture 3">
            <a:extLst>
              <a:ext uri="{FF2B5EF4-FFF2-40B4-BE49-F238E27FC236}">
                <a16:creationId xmlns:a16="http://schemas.microsoft.com/office/drawing/2014/main" id="{6824C405-E0FB-190E-AF2B-03405EC599FA}"/>
              </a:ext>
            </a:extLst>
          </p:cNvPr>
          <p:cNvPicPr>
            <a:picLocks noChangeAspect="1"/>
          </p:cNvPicPr>
          <p:nvPr/>
        </p:nvPicPr>
        <p:blipFill>
          <a:blip r:embed="rId3"/>
          <a:srcRect/>
          <a:stretch/>
        </p:blipFill>
        <p:spPr>
          <a:xfrm>
            <a:off x="455618" y="1531033"/>
            <a:ext cx="11292286" cy="1212166"/>
          </a:xfrm>
          <a:prstGeom prst="rect">
            <a:avLst/>
          </a:prstGeom>
        </p:spPr>
      </p:pic>
    </p:spTree>
    <p:extLst>
      <p:ext uri="{BB962C8B-B14F-4D97-AF65-F5344CB8AC3E}">
        <p14:creationId xmlns:p14="http://schemas.microsoft.com/office/powerpoint/2010/main" val="3976382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E2C8F77-C566-62C8-08F9-163F6A8AC3A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FA1FD8D-F69D-92FD-56D4-32E86C01C59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Deprecated Functions</a:t>
            </a:r>
            <a:endParaRPr dirty="0"/>
          </a:p>
        </p:txBody>
      </p:sp>
      <p:sp>
        <p:nvSpPr>
          <p:cNvPr id="2" name="TextBox 1">
            <a:extLst>
              <a:ext uri="{FF2B5EF4-FFF2-40B4-BE49-F238E27FC236}">
                <a16:creationId xmlns:a16="http://schemas.microsoft.com/office/drawing/2014/main" id="{96EFDF30-0D36-0367-007A-D91A3C1733C8}"/>
              </a:ext>
            </a:extLst>
          </p:cNvPr>
          <p:cNvSpPr txBox="1"/>
          <p:nvPr/>
        </p:nvSpPr>
        <p:spPr>
          <a:xfrm>
            <a:off x="714562" y="3774521"/>
            <a:ext cx="1739900"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Format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Strings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Time</a:t>
            </a:r>
          </a:p>
        </p:txBody>
      </p:sp>
      <p:pic>
        <p:nvPicPr>
          <p:cNvPr id="4" name="Picture 3" descr="A close-up of a list&#10;&#10;AI-generated content may be incorrect.">
            <a:extLst>
              <a:ext uri="{FF2B5EF4-FFF2-40B4-BE49-F238E27FC236}">
                <a16:creationId xmlns:a16="http://schemas.microsoft.com/office/drawing/2014/main" id="{98F0EAF7-722B-BFB8-44CC-B5F51DE9D993}"/>
              </a:ext>
            </a:extLst>
          </p:cNvPr>
          <p:cNvPicPr>
            <a:picLocks noChangeAspect="1"/>
          </p:cNvPicPr>
          <p:nvPr/>
        </p:nvPicPr>
        <p:blipFill>
          <a:blip r:embed="rId3"/>
          <a:stretch>
            <a:fillRect/>
          </a:stretch>
        </p:blipFill>
        <p:spPr>
          <a:xfrm>
            <a:off x="714562" y="1488562"/>
            <a:ext cx="10759699" cy="1782480"/>
          </a:xfrm>
          <a:prstGeom prst="rect">
            <a:avLst/>
          </a:prstGeom>
        </p:spPr>
      </p:pic>
    </p:spTree>
    <p:extLst>
      <p:ext uri="{BB962C8B-B14F-4D97-AF65-F5344CB8AC3E}">
        <p14:creationId xmlns:p14="http://schemas.microsoft.com/office/powerpoint/2010/main" val="2555685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5A84F33-F7D5-A806-906E-489C71C7FB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4DDA65-0196-202E-1552-7C0E439BD8E5}"/>
              </a:ext>
            </a:extLst>
          </p:cNvPr>
          <p:cNvPicPr>
            <a:picLocks noChangeAspect="1"/>
          </p:cNvPicPr>
          <p:nvPr/>
        </p:nvPicPr>
        <p:blipFill>
          <a:blip r:embed="rId3"/>
          <a:srcRect/>
          <a:stretch/>
        </p:blipFill>
        <p:spPr>
          <a:xfrm>
            <a:off x="486325" y="1571254"/>
            <a:ext cx="11216173" cy="2356509"/>
          </a:xfrm>
          <a:prstGeom prst="rect">
            <a:avLst/>
          </a:prstGeom>
        </p:spPr>
      </p:pic>
      <p:sp>
        <p:nvSpPr>
          <p:cNvPr id="1199" name="Google Shape;1199;p156">
            <a:extLst>
              <a:ext uri="{FF2B5EF4-FFF2-40B4-BE49-F238E27FC236}">
                <a16:creationId xmlns:a16="http://schemas.microsoft.com/office/drawing/2014/main" id="{E4B8C5E4-1191-5B2A-47C7-985EB97A14C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Deprecated Functions – Formatting Sheet</a:t>
            </a:r>
            <a:endParaRPr dirty="0"/>
          </a:p>
        </p:txBody>
      </p:sp>
      <p:pic>
        <p:nvPicPr>
          <p:cNvPr id="3" name="Picture 2" descr="A close-up of a sign&#10;&#10;AI-generated content may be incorrect.">
            <a:extLst>
              <a:ext uri="{FF2B5EF4-FFF2-40B4-BE49-F238E27FC236}">
                <a16:creationId xmlns:a16="http://schemas.microsoft.com/office/drawing/2014/main" id="{487E8635-38D0-CF0F-6A55-A311032CC28B}"/>
              </a:ext>
            </a:extLst>
          </p:cNvPr>
          <p:cNvPicPr>
            <a:picLocks noChangeAspect="1"/>
          </p:cNvPicPr>
          <p:nvPr/>
        </p:nvPicPr>
        <p:blipFill>
          <a:blip r:embed="rId4"/>
          <a:stretch>
            <a:fillRect/>
          </a:stretch>
        </p:blipFill>
        <p:spPr>
          <a:xfrm>
            <a:off x="486325" y="4701474"/>
            <a:ext cx="1876783" cy="728062"/>
          </a:xfrm>
          <a:prstGeom prst="rect">
            <a:avLst/>
          </a:prstGeom>
        </p:spPr>
      </p:pic>
      <p:pic>
        <p:nvPicPr>
          <p:cNvPr id="5" name="Picture 4">
            <a:extLst>
              <a:ext uri="{FF2B5EF4-FFF2-40B4-BE49-F238E27FC236}">
                <a16:creationId xmlns:a16="http://schemas.microsoft.com/office/drawing/2014/main" id="{2A115E3C-FFCF-6236-601F-116D29163A45}"/>
              </a:ext>
            </a:extLst>
          </p:cNvPr>
          <p:cNvPicPr>
            <a:picLocks noChangeAspect="1"/>
          </p:cNvPicPr>
          <p:nvPr/>
        </p:nvPicPr>
        <p:blipFill>
          <a:blip r:embed="rId3"/>
          <a:srcRect l="57792" t="35800" r="6339" b="46517"/>
          <a:stretch>
            <a:fillRect/>
          </a:stretch>
        </p:blipFill>
        <p:spPr>
          <a:xfrm>
            <a:off x="4287520" y="4701474"/>
            <a:ext cx="7063232" cy="731520"/>
          </a:xfrm>
          <a:prstGeom prst="rect">
            <a:avLst/>
          </a:prstGeom>
        </p:spPr>
      </p:pic>
    </p:spTree>
    <p:extLst>
      <p:ext uri="{BB962C8B-B14F-4D97-AF65-F5344CB8AC3E}">
        <p14:creationId xmlns:p14="http://schemas.microsoft.com/office/powerpoint/2010/main" val="3981764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5599931" cy="344709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Single language / platform</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Document authoritative sources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Provide clear reasoning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Consider solution alternatives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Identify references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Generate human-readable report</a:t>
            </a:r>
          </a:p>
        </p:txBody>
      </p:sp>
    </p:spTree>
    <p:extLst>
      <p:ext uri="{BB962C8B-B14F-4D97-AF65-F5344CB8AC3E}">
        <p14:creationId xmlns:p14="http://schemas.microsoft.com/office/powerpoint/2010/main" val="170359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1390018" cy="369332"/>
          </a:xfrm>
          <a:prstGeom prst="rect">
            <a:avLst/>
          </a:prstGeom>
          <a:noFill/>
        </p:spPr>
        <p:txBody>
          <a:bodyPr wrap="square">
            <a:spAutoFit/>
          </a:bodyPr>
          <a:lstStyle/>
          <a:p>
            <a:r>
              <a:rPr lang="en-US" sz="18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&lt;AVCDL&gt;/distribution/reference_documents/working_material/deprecated functions/</a:t>
            </a:r>
          </a:p>
        </p:txBody>
      </p:sp>
    </p:spTree>
    <p:extLst>
      <p:ext uri="{BB962C8B-B14F-4D97-AF65-F5344CB8AC3E}">
        <p14:creationId xmlns:p14="http://schemas.microsoft.com/office/powerpoint/2010/main" val="969977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7110" y="1240537"/>
            <a:ext cx="4074599" cy="5281295"/>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397031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Currently Used Deprecated Functions Document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deprecated functions catalog template </a:t>
            </a:r>
            <a:r>
              <a:rPr lang="en-US" dirty="0">
                <a:latin typeface="Roboto" panose="02000000000000000000" pitchFamily="2" charset="0"/>
                <a:ea typeface="Roboto" panose="02000000000000000000" pitchFamily="2" charset="0"/>
                <a:cs typeface="Courier New" panose="02070309020205020404" pitchFamily="49" charset="0"/>
              </a:rPr>
              <a:t>(AVCDL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Report Generation </a:t>
            </a:r>
            <a:r>
              <a:rPr lang="en-US" dirty="0">
                <a:latin typeface="Roboto" panose="02000000000000000000" pitchFamily="2" charset="0"/>
                <a:ea typeface="Roboto" panose="02000000000000000000" pitchFamily="2" charset="0"/>
                <a:cs typeface="Courier New" panose="02070309020205020404" pitchFamily="49" charset="0"/>
              </a:rPr>
              <a:t>(AVCDL elaboration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ISO/IEC 9899-1999 cover</a:t>
            </a:r>
            <a:r>
              <a:rPr lang="en-US" dirty="0">
                <a:latin typeface="Roboto" panose="02000000000000000000" pitchFamily="2" charset="0"/>
                <a:ea typeface="Roboto" panose="02000000000000000000" pitchFamily="2" charset="0"/>
                <a:cs typeface="Courier New" panose="02070309020205020404" pitchFamily="49" charset="0"/>
              </a:rPr>
              <a:t> (public domain)</a:t>
            </a:r>
          </a:p>
          <a:p>
            <a:pPr marL="0" indent="0">
              <a:spcBef>
                <a:spcPts val="0"/>
              </a:spcBef>
            </a:pPr>
            <a:r>
              <a:rPr lang="en-US" sz="1600" b="1" dirty="0">
                <a:latin typeface="Courier New" panose="02070309020205020404" pitchFamily="49" charset="0"/>
                <a:ea typeface="Roboto" panose="02000000000000000000" pitchFamily="2" charset="0"/>
                <a:cs typeface="Courier New" panose="02070309020205020404" pitchFamily="49" charset="0"/>
                <a:hlinkClick r:id="rId3"/>
              </a:rPr>
              <a:t>https://commons.wikimedia.org/wiki/File:ISO-IEC-9899-1999-cover.png</a:t>
            </a:r>
            <a:r>
              <a:rPr lang="en-US" sz="1600" b="1" dirty="0">
                <a:latin typeface="Courier New" panose="02070309020205020404" pitchFamily="49" charset="0"/>
                <a:ea typeface="Roboto" panose="02000000000000000000" pitchFamily="2" charset="0"/>
                <a:cs typeface="Courier New" panose="02070309020205020404" pitchFamily="49" charset="0"/>
              </a:rPr>
              <a:t> </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MISRA C++:2023 cover</a:t>
            </a:r>
            <a:endParaRPr lang="en-US"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pPr>
            <a:r>
              <a:rPr lang="en-US" sz="1400" b="1" dirty="0">
                <a:latin typeface="Courier New" panose="02070309020205020404" pitchFamily="49" charset="0"/>
                <a:ea typeface="Roboto" panose="02000000000000000000" pitchFamily="2" charset="0"/>
                <a:cs typeface="Courier New" panose="02070309020205020404" pitchFamily="49" charset="0"/>
                <a:hlinkClick r:id="rId4"/>
              </a:rPr>
              <a:t>https://misra.org.uk/app/uploads/2023/11/Misra_CPP-2023.png</a:t>
            </a:r>
            <a:r>
              <a:rPr lang="en-US" sz="1400" b="1" dirty="0">
                <a:latin typeface="Courier New" panose="02070309020205020404" pitchFamily="49" charset="0"/>
                <a:ea typeface="Roboto" panose="02000000000000000000" pitchFamily="2" charset="0"/>
                <a:cs typeface="Courier New" panose="02070309020205020404" pitchFamily="49" charset="0"/>
              </a:rPr>
              <a:t>  </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SDL List of Banned Functions</a:t>
            </a:r>
            <a:endParaRPr lang="en-US"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pPr>
            <a:r>
              <a:rPr lang="en-US" sz="1400" b="1" dirty="0">
                <a:latin typeface="Courier New" panose="02070309020205020404" pitchFamily="49" charset="0"/>
                <a:ea typeface="Roboto" panose="02000000000000000000" pitchFamily="2" charset="0"/>
                <a:cs typeface="Courier New" panose="02070309020205020404" pitchFamily="49" charset="0"/>
                <a:hlinkClick r:id="rId5"/>
              </a:rPr>
              <a:t>https://github.com/intel/safestringlib/wiki/SDL-List-of-Banned-Functions</a:t>
            </a:r>
            <a:r>
              <a:rPr lang="en-US" sz="1400" b="1" dirty="0">
                <a:latin typeface="Courier New" panose="02070309020205020404" pitchFamily="49" charset="0"/>
                <a:ea typeface="Roboto" panose="02000000000000000000" pitchFamily="2"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406475</TotalTime>
  <Words>2408</Words>
  <Application>Microsoft Macintosh PowerPoint</Application>
  <PresentationFormat>Custom</PresentationFormat>
  <Paragraphs>519</Paragraphs>
  <Slides>21</Slides>
  <Notes>21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21</vt:i4>
      </vt:variant>
    </vt:vector>
  </HeadingPairs>
  <TitlesOfParts>
    <vt:vector size="29" baseType="lpstr">
      <vt:lpstr>Roboto Medium</vt:lpstr>
      <vt:lpstr>Roboto</vt:lpstr>
      <vt:lpstr>Courier New</vt:lpstr>
      <vt:lpstr>Arial</vt:lpstr>
      <vt:lpstr>Calibri</vt:lpstr>
      <vt:lpstr>Simple Light</vt:lpstr>
      <vt:lpstr>Motional Masters</vt:lpstr>
      <vt:lpstr>Motional Masters</vt:lpstr>
      <vt:lpstr>Deprecated Functions – Identify Functions</vt:lpstr>
      <vt:lpstr>Training Path</vt:lpstr>
      <vt:lpstr>Workflow</vt:lpstr>
      <vt:lpstr>Process Workflow</vt:lpstr>
      <vt:lpstr>Process Workflow</vt:lpstr>
      <vt:lpstr>Identify Functions Activity</vt:lpstr>
      <vt:lpstr>Authoritative Sources</vt:lpstr>
      <vt:lpstr>PowerPoint Presentation</vt:lpstr>
      <vt:lpstr>Example</vt:lpstr>
      <vt:lpstr>Cover Sheet</vt:lpstr>
      <vt:lpstr>References Sheet</vt:lpstr>
      <vt:lpstr>Deprecated Functions</vt:lpstr>
      <vt:lpstr>Deprecated Functions – Formatting Sheet</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Deprecated Functions - Identify Functions (training)</dc:title>
  <dc:subject>deprecated functions - function identification</dc:subject>
  <dc:creator>Charles Wilson</dc:creator>
  <cp:keywords>cybersecurity, deprecated functions</cp:keywords>
  <dc:description>This work was created by Torc Robotics and is licensed under the Creative Commons Attribution-Share Alike (CC BY-SA-4.0) License.
https://creativecommons.org/licenses/by/4.0/legalcode 
</dc:description>
  <cp:lastModifiedBy>Charles Wilson</cp:lastModifiedBy>
  <cp:revision>629</cp:revision>
  <cp:lastPrinted>2025-07-24T18:37:57Z</cp:lastPrinted>
  <dcterms:modified xsi:type="dcterms:W3CDTF">2026-03-24T18:46:58Z</dcterms:modified>
  <cp:category>deprecated functions</cp:category>
</cp:coreProperties>
</file>