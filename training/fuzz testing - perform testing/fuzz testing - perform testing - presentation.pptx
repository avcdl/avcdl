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0"/>
  </p:notesMasterIdLst>
  <p:sldIdLst>
    <p:sldId id="256" r:id="rId4"/>
    <p:sldId id="674" r:id="rId5"/>
    <p:sldId id="648" r:id="rId6"/>
    <p:sldId id="607" r:id="rId7"/>
    <p:sldId id="637" r:id="rId8"/>
    <p:sldId id="641" r:id="rId9"/>
    <p:sldId id="664" r:id="rId10"/>
    <p:sldId id="667" r:id="rId11"/>
    <p:sldId id="673" r:id="rId12"/>
    <p:sldId id="603" r:id="rId13"/>
    <p:sldId id="488" r:id="rId14"/>
    <p:sldId id="343" r:id="rId15"/>
    <p:sldId id="606" r:id="rId16"/>
    <p:sldId id="461" r:id="rId17"/>
    <p:sldId id="675" r:id="rId18"/>
    <p:sldId id="368" r:id="rId19"/>
  </p:sldIdLst>
  <p:sldSz cx="12188825" cy="6858000"/>
  <p:notesSz cx="6858000" cy="9144000"/>
  <p:embeddedFontLst>
    <p:embeddedFont>
      <p:font typeface="Roboto" panose="02000000000000000000" pitchFamily="2" charset="0"/>
      <p:regular r:id="rId21"/>
      <p:bold r:id="rId22"/>
      <p:italic r:id="rId23"/>
      <p:boldItalic r:id="rId24"/>
    </p:embeddedFont>
    <p:embeddedFont>
      <p:font typeface="Roboto Medium" panose="02000000000000000000" pitchFamily="2"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E354"/>
    <a:srgbClr val="FFFAB2"/>
    <a:srgbClr val="E38194"/>
    <a:srgbClr val="A7E3B3"/>
    <a:srgbClr val="CCFFCC"/>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75"/>
    <p:restoredTop sz="64979"/>
  </p:normalViewPr>
  <p:slideViewPr>
    <p:cSldViewPr snapToGrid="0">
      <p:cViewPr varScale="1">
        <p:scale>
          <a:sx n="151" d="100"/>
          <a:sy n="151" d="100"/>
        </p:scale>
        <p:origin x="232" y="304"/>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6.fntdata"/><Relationship Id="rId3" Type="http://schemas.openxmlformats.org/officeDocument/2006/relationships/slideMaster" Target="slideMasters/slideMaster3.xml"/><Relationship Id="rId21" Type="http://schemas.openxmlformats.org/officeDocument/2006/relationships/font" Target="fonts/font1.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4.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Fuzz Testing – Perform Testing </a:t>
            </a:r>
            <a:r>
              <a:rPr lang="en-US" sz="1400" b="0" i="0" dirty="0">
                <a:solidFill>
                  <a:srgbClr val="000000"/>
                </a:solidFill>
                <a:effectLst/>
                <a:latin typeface="Calibri" panose="020F0502020204030204" pitchFamily="34" charset="0"/>
                <a:cs typeface="Calibri" panose="020F0502020204030204" pitchFamily="34" charset="0"/>
              </a:rPr>
              <a:t>activity.</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Fuzz Testing Overview</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Fuzz Testing – Establish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Fuzz Testing – Create Test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Fuzz Testing – Perform Testing </a:t>
            </a:r>
            <a:r>
              <a:rPr lang="en-US" sz="1400" b="0" dirty="0">
                <a:latin typeface="Calibri" panose="020F0502020204030204" pitchFamily="34" charset="0"/>
                <a:cs typeface="Calibri" panose="020F0502020204030204" pitchFamily="34" charset="0"/>
              </a:rPr>
              <a:t>activity</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how we handle the perform testing activity, let's briefly review where it fits in the overall fuzz testing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fuzz testing process which we previously covered in the </a:t>
            </a:r>
            <a:r>
              <a:rPr lang="en-US" sz="1400" b="1" dirty="0">
                <a:solidFill>
                  <a:srgbClr val="1D1C1D"/>
                </a:solidFill>
                <a:effectLst/>
                <a:latin typeface="Calibri" panose="020F0502020204030204" pitchFamily="34" charset="0"/>
                <a:cs typeface="Calibri" panose="020F0502020204030204" pitchFamily="34" charset="0"/>
              </a:rPr>
              <a:t>Fuzz Testing Overview </a:t>
            </a:r>
            <a:r>
              <a:rPr lang="en-US" sz="1400"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will be on the third activity, that of performing the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fuzz testing process which we previously covered in the </a:t>
            </a:r>
            <a:r>
              <a:rPr lang="en-US" sz="1400" b="1" strike="sngStrike" dirty="0">
                <a:solidFill>
                  <a:srgbClr val="1D1C1D"/>
                </a:solidFill>
                <a:effectLst/>
                <a:latin typeface="Calibri" panose="020F0502020204030204" pitchFamily="34" charset="0"/>
                <a:cs typeface="Calibri" panose="020F0502020204030204" pitchFamily="34" charset="0"/>
              </a:rPr>
              <a:t>Fuzz Testing Overview </a:t>
            </a:r>
            <a:r>
              <a:rPr lang="en-US" sz="1400" strike="sngStrike"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focus for this training will be on the third activity, that of performing the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perform testing activity, the build system invokes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t>
            </a:r>
            <a:r>
              <a:rPr lang="en-US" sz="1400" b="1" dirty="0">
                <a:solidFill>
                  <a:srgbClr val="1D1C1D"/>
                </a:solidFill>
                <a:effectLst/>
                <a:latin typeface="Calibri" panose="020F0502020204030204" pitchFamily="34" charset="0"/>
                <a:cs typeface="Calibri" panose="020F0502020204030204" pitchFamily="34" charset="0"/>
              </a:rPr>
              <a:t>element fuzz test</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which </a:t>
            </a:r>
            <a:r>
              <a:rPr lang="en-US" sz="1400" b="1" dirty="0">
                <a:solidFill>
                  <a:srgbClr val="1D1C1D"/>
                </a:solidFill>
                <a:effectLst/>
                <a:latin typeface="Calibri" panose="020F0502020204030204" pitchFamily="34" charset="0"/>
                <a:cs typeface="Calibri" panose="020F0502020204030204" pitchFamily="34" charset="0"/>
              </a:rPr>
              <a:t>performs the fuzz testing </a:t>
            </a:r>
            <a:r>
              <a:rPr lang="en-US" sz="1400" dirty="0">
                <a:solidFill>
                  <a:srgbClr val="1D1C1D"/>
                </a:solidFill>
                <a:effectLst/>
                <a:latin typeface="Calibri" panose="020F0502020204030204" pitchFamily="34" charset="0"/>
                <a:cs typeface="Calibri" panose="020F0502020204030204" pitchFamily="34" charset="0"/>
              </a:rPr>
              <a:t>and generates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a:t>
            </a:r>
            <a:r>
              <a:rPr lang="en-US" sz="1400" b="1" dirty="0">
                <a:solidFill>
                  <a:srgbClr val="1D1C1D"/>
                </a:solidFill>
                <a:effectLst/>
                <a:latin typeface="Calibri" panose="020F0502020204030204" pitchFamily="34" charset="0"/>
                <a:cs typeface="Calibri" panose="020F0502020204030204" pitchFamily="34" charset="0"/>
              </a:rPr>
              <a:t>fuzz testing output </a:t>
            </a:r>
            <a:r>
              <a:rPr lang="en-US" sz="1400" dirty="0">
                <a:solidFill>
                  <a:srgbClr val="1D1C1D"/>
                </a:solidFill>
                <a:effectLst/>
                <a:latin typeface="Calibri" panose="020F0502020204030204" pitchFamily="34" charset="0"/>
                <a:cs typeface="Calibri" panose="020F0502020204030204" pitchFamily="34" charset="0"/>
              </a:rPr>
              <a:t>file.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Ideally, this is done in the context of the CI/CD pipeline without the need for human intervention.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Even though this activity is shown without an explicit actor, that doesn't mean that it isn't possible for someone to invoke the tooling locally.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true with all automation.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shouldn’t automate an activity until we can perform the task manually.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as a reminder, the preferred form of the output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JSON-encoded SARIF</a:t>
            </a:r>
            <a:r>
              <a:rPr lang="en-US" sz="1400" dirty="0">
                <a:solidFill>
                  <a:srgbClr val="1D1C1D"/>
                </a:solidFill>
                <a:effectLst/>
                <a:latin typeface="Calibri" panose="020F0502020204030204" pitchFamily="34" charset="0"/>
                <a:cs typeface="Calibri" panose="020F0502020204030204" pitchFamily="34" charset="0"/>
              </a:rPr>
              <a:t>, which allows for uniform handling of cybersecurity relevant information as it passes through the CI/CD pipeline.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43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0A350E3-D49D-E10A-A906-568A5898925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F3882B-1C0B-ECDB-E09B-59AB69B7FFD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1ECD6CD-1ADC-8FCC-F4B9-1BA614FED4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3544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Given that we've stated that fuzz testing is a fully automated activity, one might wonder what possible considerations there may be.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Even given its automated nature, there are still concerns worth considering.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those.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82533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first consideration is that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termination on error</a:t>
            </a: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uncommon for this type of testing to cause an application to terminate.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has been mentioned multiple times within the fuzz testing materials but is worth repeating here.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can't just add a fuzz test, which is going to be generating random inputs, and assume that everything is going to go smoothly, especially when it's used in conjunction with dynamic analysis frameworks to detect anomalous behavior.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Regardless of whether a test terminates on error or not, it’s critical that you handle its behavior in a way that allows the CI/CD pipeline to continue to its next task.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includes cleaning up any residual state that remains after the test completes.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consideration is that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issue occlusion</a:t>
            </a: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an issue is detected, it's important to establish that it's not masking more fundamental issues.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Review the test results carefully and don’t just stop when you get the first failure.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it's important to remember that fuzz testing may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spillover effects </a:t>
            </a:r>
            <a:r>
              <a:rPr lang="en-US" sz="1400" dirty="0">
                <a:solidFill>
                  <a:srgbClr val="1D1C1D"/>
                </a:solidFill>
                <a:effectLst/>
                <a:latin typeface="Calibri" panose="020F0502020204030204" pitchFamily="34" charset="0"/>
                <a:cs typeface="Calibri" panose="020F0502020204030204" pitchFamily="34" charset="0"/>
              </a:rPr>
              <a:t>that trigger other cybersecurity tooling in use.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Make sure that within the context of fuzz testing that other cybersecurity tests that are not explicitly supporting fuzz testing are turned off or otherwise flagged so that they won't be generating false positives related to the element under consideration to which we're applying the fuzz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perform testing activity of the fuzz testing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two main points to keep in mind when you're performing fuzz testing.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always </a:t>
            </a:r>
            <a:r>
              <a:rPr lang="en-US" sz="1400" b="1" dirty="0">
                <a:solidFill>
                  <a:srgbClr val="1D1C1D"/>
                </a:solidFill>
                <a:effectLst/>
                <a:latin typeface="Calibri" panose="020F0502020204030204" pitchFamily="34" charset="0"/>
                <a:cs typeface="Calibri" panose="020F0502020204030204" pitchFamily="34" charset="0"/>
              </a:rPr>
              <a:t>consider the build system impact </a:t>
            </a:r>
            <a:r>
              <a:rPr lang="en-US" sz="1400" dirty="0">
                <a:solidFill>
                  <a:srgbClr val="1D1C1D"/>
                </a:solidFill>
                <a:effectLst/>
                <a:latin typeface="Calibri" panose="020F0502020204030204" pitchFamily="34" charset="0"/>
                <a:cs typeface="Calibri" panose="020F0502020204030204" pitchFamily="34" charset="0"/>
              </a:rPr>
              <a:t>of the 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can't be overstated that any disruption to the build system has a severe impact on the velocity of the development teams, so it should be a priority to ensure that there is sufficient resource headroom for fuzz testing to be performed without exceeding the allocated time and space budgets.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ensure that any negative impacts of the test are accounted for, whether these be termination or anomalous behavior.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Second,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b="1" dirty="0">
                <a:solidFill>
                  <a:srgbClr val="1D1C1D"/>
                </a:solidFill>
                <a:effectLst/>
                <a:latin typeface="Calibri" panose="020F0502020204030204" pitchFamily="34" charset="0"/>
                <a:cs typeface="Calibri" panose="020F0502020204030204" pitchFamily="34" charset="0"/>
              </a:rPr>
              <a:t>Use SARIF for output </a:t>
            </a:r>
            <a:r>
              <a:rPr lang="en-US" sz="1400" dirty="0">
                <a:solidFill>
                  <a:srgbClr val="1D1C1D"/>
                </a:solidFill>
                <a:effectLst/>
                <a:latin typeface="Calibri" panose="020F0502020204030204" pitchFamily="34" charset="0"/>
                <a:cs typeface="Calibri" panose="020F0502020204030204" pitchFamily="34" charset="0"/>
              </a:rPr>
              <a:t>when it's feasible.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because it’s both readily processed by Python, enabling easy intake by the issue tracking system, and can also be used as feedback directly into various IDEs to facilitate mitigation by the developers themselves.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Fuzz Testing – Perform Testing Procedure </a:t>
            </a:r>
            <a:r>
              <a:rPr lang="en-US" sz="1400" dirty="0">
                <a:latin typeface="Calibri" panose="020F0502020204030204" pitchFamily="34" charset="0"/>
                <a:cs typeface="Calibri" panose="020F0502020204030204" pitchFamily="34" charset="0"/>
              </a:rPr>
              <a:t>tertiary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Fuzz Testing </a:t>
            </a:r>
            <a:r>
              <a:rPr lang="en-US" sz="1400" dirty="0"/>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docs.oasis-open.org/sarif/sarif/v2.1.0/os/sarif-v2.1.0-os.pdf"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Fuzz Testing – </a:t>
            </a:r>
            <a:r>
              <a:rPr lang="en" sz="5400"/>
              <a:t>Perform Testing</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2026-06-22</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13292" y="139594"/>
            <a:ext cx="2255747"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AVCDL-Implementation-10.1.3</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186224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4DD5FF4-D58F-1BF9-8E1C-367DD4BEA5FB}"/>
              </a:ext>
            </a:extLst>
          </p:cNvPr>
          <p:cNvPicPr>
            <a:picLocks noChangeAspect="1"/>
          </p:cNvPicPr>
          <p:nvPr/>
        </p:nvPicPr>
        <p:blipFill>
          <a:blip r:embed="rId3"/>
          <a:srcRect/>
          <a:stretch/>
        </p:blipFill>
        <p:spPr>
          <a:xfrm>
            <a:off x="238268" y="1625725"/>
            <a:ext cx="11712288" cy="3606549"/>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8" name="Picture 7">
            <a:extLst>
              <a:ext uri="{FF2B5EF4-FFF2-40B4-BE49-F238E27FC236}">
                <a16:creationId xmlns:a16="http://schemas.microsoft.com/office/drawing/2014/main" id="{3EE13257-C19F-94C4-5416-24672D4E9893}"/>
              </a:ext>
            </a:extLst>
          </p:cNvPr>
          <p:cNvPicPr>
            <a:picLocks noChangeAspect="1"/>
          </p:cNvPicPr>
          <p:nvPr/>
        </p:nvPicPr>
        <p:blipFill>
          <a:blip r:embed="rId3"/>
          <a:srcRect/>
          <a:stretch/>
        </p:blipFill>
        <p:spPr>
          <a:xfrm>
            <a:off x="5566318" y="1625725"/>
            <a:ext cx="2958665" cy="3606549"/>
          </a:xfrm>
          <a:prstGeom prst="rect">
            <a:avLst/>
          </a:prstGeom>
        </p:spPr>
      </p:pic>
      <p:pic>
        <p:nvPicPr>
          <p:cNvPr id="3" name="Picture 2">
            <a:extLst>
              <a:ext uri="{FF2B5EF4-FFF2-40B4-BE49-F238E27FC236}">
                <a16:creationId xmlns:a16="http://schemas.microsoft.com/office/drawing/2014/main" id="{94BB5D3E-B650-7C3E-7356-29DC0590FA43}"/>
              </a:ext>
            </a:extLst>
          </p:cNvPr>
          <p:cNvPicPr>
            <a:picLocks noChangeAspect="1"/>
          </p:cNvPicPr>
          <p:nvPr/>
        </p:nvPicPr>
        <p:blipFill>
          <a:blip r:embed="rId4">
            <a:alphaModFix amt="10000"/>
          </a:blip>
          <a:srcRect/>
          <a:stretch/>
        </p:blipFill>
        <p:spPr>
          <a:xfrm>
            <a:off x="238268" y="1625725"/>
            <a:ext cx="11712288" cy="3606549"/>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68E23C8-A968-C328-D023-8AC961E7A180}"/>
              </a:ext>
            </a:extLst>
          </p:cNvPr>
          <p:cNvPicPr>
            <a:picLocks noChangeAspect="1"/>
          </p:cNvPicPr>
          <p:nvPr/>
        </p:nvPicPr>
        <p:blipFill>
          <a:blip r:embed="rId3"/>
          <a:srcRect/>
          <a:stretch/>
        </p:blipFill>
        <p:spPr>
          <a:xfrm>
            <a:off x="3904292" y="1057900"/>
            <a:ext cx="4380239" cy="5339416"/>
          </a:xfrm>
          <a:prstGeom prst="rect">
            <a:avLst/>
          </a:prstGeom>
        </p:spPr>
      </p:pic>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Testing Activity</a:t>
            </a:r>
            <a:endParaRPr dirty="0"/>
          </a:p>
        </p:txBody>
      </p:sp>
    </p:spTree>
    <p:extLst>
      <p:ext uri="{BB962C8B-B14F-4D97-AF65-F5344CB8AC3E}">
        <p14:creationId xmlns:p14="http://schemas.microsoft.com/office/powerpoint/2010/main" val="155858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55EE2EC-4718-873A-4FB5-CEFF0176741F}"/>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8CC638C-C8A4-E9F8-33EA-5B4D0E1992B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Testing Activity </a:t>
            </a:r>
            <a:r>
              <a:rPr lang="en-US" dirty="0">
                <a:solidFill>
                  <a:srgbClr val="FF0000"/>
                </a:solidFill>
              </a:rPr>
              <a:t>(overlay)</a:t>
            </a:r>
            <a:endParaRPr dirty="0">
              <a:solidFill>
                <a:srgbClr val="FF0000"/>
              </a:solidFill>
            </a:endParaRPr>
          </a:p>
        </p:txBody>
      </p:sp>
      <p:sp>
        <p:nvSpPr>
          <p:cNvPr id="2" name="TextBox 1">
            <a:extLst>
              <a:ext uri="{FF2B5EF4-FFF2-40B4-BE49-F238E27FC236}">
                <a16:creationId xmlns:a16="http://schemas.microsoft.com/office/drawing/2014/main" id="{133F6E55-8183-1130-F727-A54AF3DF0071}"/>
              </a:ext>
            </a:extLst>
          </p:cNvPr>
          <p:cNvSpPr txBox="1"/>
          <p:nvPr/>
        </p:nvSpPr>
        <p:spPr>
          <a:xfrm>
            <a:off x="8285561" y="5020229"/>
            <a:ext cx="2611867" cy="954107"/>
          </a:xfrm>
          <a:prstGeom prst="rect">
            <a:avLst/>
          </a:prstGeom>
          <a:noFill/>
        </p:spPr>
        <p:txBody>
          <a:bodyPr wrap="square" rtlCol="0">
            <a:spAutoFit/>
          </a:bodyPr>
          <a:lstStyle/>
          <a:p>
            <a:pPr algn="ct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JSON-encoded SARIF</a:t>
            </a:r>
          </a:p>
        </p:txBody>
      </p:sp>
      <p:cxnSp>
        <p:nvCxnSpPr>
          <p:cNvPr id="4" name="Straight Arrow Connector 3">
            <a:extLst>
              <a:ext uri="{FF2B5EF4-FFF2-40B4-BE49-F238E27FC236}">
                <a16:creationId xmlns:a16="http://schemas.microsoft.com/office/drawing/2014/main" id="{D4AA80E0-689F-5FF9-F28A-58583F0193CF}"/>
              </a:ext>
            </a:extLst>
          </p:cNvPr>
          <p:cNvCxnSpPr>
            <a:cxnSpLocks/>
            <a:stCxn id="2" idx="0"/>
          </p:cNvCxnSpPr>
          <p:nvPr/>
        </p:nvCxnSpPr>
        <p:spPr>
          <a:xfrm flipH="1" flipV="1">
            <a:off x="8041759" y="4137445"/>
            <a:ext cx="1549736" cy="882784"/>
          </a:xfrm>
          <a:prstGeom prst="straightConnector1">
            <a:avLst/>
          </a:prstGeom>
          <a:ln w="508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14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US" sz="5400" dirty="0"/>
              <a:t>Runtime </a:t>
            </a:r>
            <a:r>
              <a:rPr lang="en" sz="5400" dirty="0"/>
              <a:t>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4602863"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Termination on Error</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Issue Occlusion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Cybersecurity Side-effects</a:t>
            </a:r>
          </a:p>
        </p:txBody>
      </p:sp>
    </p:spTree>
    <p:extLst>
      <p:ext uri="{BB962C8B-B14F-4D97-AF65-F5344CB8AC3E}">
        <p14:creationId xmlns:p14="http://schemas.microsoft.com/office/powerpoint/2010/main" val="312111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5753819"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Consider the build system impact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SARIF for output</a:t>
            </a:r>
          </a:p>
        </p:txBody>
      </p:sp>
    </p:spTree>
    <p:extLst>
      <p:ext uri="{BB962C8B-B14F-4D97-AF65-F5344CB8AC3E}">
        <p14:creationId xmlns:p14="http://schemas.microsoft.com/office/powerpoint/2010/main" val="170359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7110" y="1240537"/>
            <a:ext cx="4074598" cy="528129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50291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212365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Fuzz Testing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Fuzz Testing – Perform Testing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Results Interchange Format (SARIF) Version 2.1.0</a:t>
            </a:r>
          </a:p>
          <a:p>
            <a:pPr marL="0" indent="0">
              <a:spcBef>
                <a:spcPts val="0"/>
              </a:spcBef>
            </a:pPr>
            <a:r>
              <a:rPr lang="en-US" sz="1400" b="1" dirty="0">
                <a:latin typeface="Courier New" panose="02070309020205020404" pitchFamily="49" charset="0"/>
                <a:ea typeface="Roboto" panose="02000000000000000000" pitchFamily="2" charset="0"/>
                <a:cs typeface="Courier New" panose="02070309020205020404" pitchFamily="49" charset="0"/>
                <a:hlinkClick r:id="rId3"/>
              </a:rPr>
              <a:t>https://docs.oasis-open.org/sarif/sarif/v2.1.0/os/sarif-v2.1.0-os.pdf</a:t>
            </a:r>
            <a:r>
              <a:rPr lang="en-US" sz="1400" b="1" dirty="0">
                <a:latin typeface="Courier New" panose="02070309020205020404" pitchFamily="49" charset="0"/>
                <a:ea typeface="Roboto" panose="02000000000000000000" pitchFamily="2"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414477</TotalTime>
  <Words>1205</Words>
  <Application>Microsoft Macintosh PowerPoint</Application>
  <PresentationFormat>Custom</PresentationFormat>
  <Paragraphs>235</Paragraphs>
  <Slides>16</Slides>
  <Notes>16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Calibri</vt:lpstr>
      <vt:lpstr>Roboto Medium</vt:lpstr>
      <vt:lpstr>Courier New</vt:lpstr>
      <vt:lpstr>Roboto</vt:lpstr>
      <vt:lpstr>Arial</vt:lpstr>
      <vt:lpstr>Simple Light</vt:lpstr>
      <vt:lpstr>Motional Masters</vt:lpstr>
      <vt:lpstr>Motional Masters</vt:lpstr>
      <vt:lpstr>Fuzz Testing – Perform Testing</vt:lpstr>
      <vt:lpstr>Training Path</vt:lpstr>
      <vt:lpstr>Workflow</vt:lpstr>
      <vt:lpstr>Process Workflow</vt:lpstr>
      <vt:lpstr>Process Workflow</vt:lpstr>
      <vt:lpstr>Perform Testing Activity</vt:lpstr>
      <vt:lpstr>Perform Testing Activity (overlay)</vt:lpstr>
      <vt:lpstr>Runtime Considerations</vt:lpstr>
      <vt:lpstr>Considerations</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 Testing - Perform Testing (training)</dc:title>
  <dc:subject>fuzz testing perform testing activity</dc:subject>
  <dc:creator>Charles Wilson</dc:creator>
  <cp:keywords>cybersecurity, fuzz testing</cp:keywords>
  <dc:description>This work was created by Torc Robotics and is licensed under the Creative Commons Attribution-Share Alike (CC BY-SA-4.0) License.
https://creativecommons.org/licenses/by/4.0/legalcode 
</dc:description>
  <cp:lastModifiedBy>Charles Wilson</cp:lastModifiedBy>
  <cp:revision>642</cp:revision>
  <cp:lastPrinted>2025-07-24T18:37:57Z</cp:lastPrinted>
  <dcterms:modified xsi:type="dcterms:W3CDTF">2026-06-25T14:25:18Z</dcterms:modified>
  <cp:category>fuzz testing</cp:category>
</cp:coreProperties>
</file>