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0"/>
  </p:notesMasterIdLst>
  <p:sldIdLst>
    <p:sldId id="256" r:id="rId4"/>
    <p:sldId id="306" r:id="rId5"/>
    <p:sldId id="648" r:id="rId6"/>
    <p:sldId id="670" r:id="rId7"/>
    <p:sldId id="671" r:id="rId8"/>
    <p:sldId id="658" r:id="rId9"/>
    <p:sldId id="667" r:id="rId10"/>
    <p:sldId id="673" r:id="rId11"/>
    <p:sldId id="672" r:id="rId12"/>
    <p:sldId id="603" r:id="rId13"/>
    <p:sldId id="488" r:id="rId14"/>
    <p:sldId id="343" r:id="rId15"/>
    <p:sldId id="606" r:id="rId16"/>
    <p:sldId id="461" r:id="rId17"/>
    <p:sldId id="420" r:id="rId18"/>
    <p:sldId id="368" r:id="rId19"/>
  </p:sldIdLst>
  <p:sldSz cx="12188825" cy="6858000"/>
  <p:notesSz cx="6858000" cy="9144000"/>
  <p:embeddedFontLst>
    <p:embeddedFont>
      <p:font typeface="Roboto" panose="02000000000000000000" pitchFamily="2" charset="0"/>
      <p:regular r:id="rId21"/>
      <p:bold r:id="rId22"/>
      <p:italic r:id="rId23"/>
      <p:boldItalic r:id="rId24"/>
    </p:embeddedFont>
    <p:embeddedFont>
      <p:font typeface="Roboto Medium"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FFFAB2"/>
    <a:srgbClr val="E38194"/>
    <a:srgbClr val="A7E3B3"/>
    <a:srgbClr val="CCFFCC"/>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34"/>
    <p:restoredTop sz="42708"/>
  </p:normalViewPr>
  <p:slideViewPr>
    <p:cSldViewPr snapToGrid="0">
      <p:cViewPr varScale="1">
        <p:scale>
          <a:sx n="71" d="100"/>
          <a:sy n="71" d="100"/>
        </p:scale>
        <p:origin x="3080" y="176"/>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Static Analysis Perform Analysis </a:t>
            </a:r>
            <a:r>
              <a:rPr lang="en-US" sz="1400" b="0" i="0" dirty="0">
                <a:solidFill>
                  <a:srgbClr val="000000"/>
                </a:solidFill>
                <a:effectLst/>
                <a:latin typeface="Calibri" panose="020F0502020204030204" pitchFamily="34" charset="0"/>
                <a:cs typeface="Calibri" panose="020F0502020204030204" pitchFamily="34" charset="0"/>
              </a:rPr>
              <a:t>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Static Analysis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Static Analysis – Establish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Static Analysis Perform Analysis</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how we perform the analysis, let's briefly review where it fits, in the overall static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static analysis process which we previously covered in the Static Analysis Overview training.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performing the analysis.</a:t>
            </a: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static analysis process which we previously covered in the Static Analysis Overview 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performing the analysis.</a:t>
            </a: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Drawing 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source code repository and using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settings specified in the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static analysis tool performs a cybersecurity-focused static analysis of the element under consideration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generates output to a static analysis output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as a note, it’s recommended that JSON-encoded SARIF be used for the output.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might wonder, given that we've stated on multiple occasions that the analysis performance activity is hands-free, what the possible considerations could be.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Even given its automated nature, there are some things worth considering when performing static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those. 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let’s consider the impact on results due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option interaction.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options don't always act in isolation.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are dealing with a strict, rules-based analysis where every rule operates independently, then you're probably fine.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are dealing with a static analysis tool where there’s the possibility for interaction, say for instance, a compiler, you may have to adjust the options so that you're not getting unexpected outcomes.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may be either a cascade of additional issues that you're not ready to address, or the absence of expected issues.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just the nature of using tools like compilers, which are intended to generate executable code, not be used for static analysis directly.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thing to consider is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impact on the build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static analysis is such a resource intensive activity, there is a high likelihood that it will perturb the build process’ timing or storage 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the static analysis SME should work with devops to ensure that the build environment has enough headroom to be able to perform the static analysis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true regardless of whether we're talking about a build on the developer’s machine or one on a dedicated build server.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keep in mind that because stand-alone static analysis tools backed by databases keep historical results so they can compare not only across the entire body of the source code, but also across time, these tools have large storage needs.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final aspect for consideration is the duality presented in the establish settings activity.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don't simply have static analysis running on the build machine against the integration branch.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have the case where we're using static analysis against the developer branch on the developer’s machine.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also be using two different static analysis tools,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or at least two different sets of settings.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need to ensure that as settings changes are made over time, that they don’t get out of sync.</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7F9B957-505E-5666-689B-429FE69EED9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BB7D0F-4972-5891-A5C7-5CEE257B594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8973047-FC30-A82D-1DA2-9BA2FBA89C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let’s consider the impact on results due to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option interaction.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As a reminder, options don't always act in isolation.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you are dealing with a strict, rules-based analysis where every rule operates independently, then you're probably fine.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you are dealing with a static analysis tool where there’s the possibility for interaction, say for instance, a compiler, you may have to adjust the options so that you're not getting unexpected outcomes.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may be either a cascade of additional issues that you're not ready to address, or the absence of expected issues.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just the nature of using tools like compilers, which are intended to generate executable code, not be used for static analysis directly.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second thing to consider is the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impact on the build process.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Because static analysis is such a resource intensive activity, there is a high likelihood that it will perturb the build process’ timing or storage use.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so, the static analysis SME should work with devops to ensure that the build environment has enough headroom to be able to perform the static analysis activity.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is true regardless of whether we're talking about a build on the developer’s machine or one on a dedicated build server.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Also, keep in mind that because stand-alone static analysis tools backed by databases keep historical results so they can compare not only across the entire body of the source code, but also across time, these tools have large storage needs.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aspect for consideration is the duality presented in the establish settings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simply have static analysis running on the build machine against the integration branch.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case where we're using static analysis against the developer branch on the developer’s machine.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also be using two different static analysis tools,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or at least two different sets of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to ensure that as settings changes are made over time, that they don’t get out of sync.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4477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perform analysis activity of the static analysis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and foremost, always consider the build system impact of static analysis.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can't be overstated, that any disruption to the build system has a severe impact on the velocity of the development teams.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 should be a priority to ensure that there is sufficient headroom for static analysis to perform.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if your organization is using multiple static analysis option sets, say one set of for the integration branch, another for the developer branch, or different tools for the build and developer machines,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you need to be sure that you're keeping these settings in sync.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use SARIF for output when it's feasible.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kind of a future proofing as JSON-encoded SARIF is easily processed by Python.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allows you to ingest it into issue tracking systems.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also can be used as feedback directly into various IDEs to facilitate mitigation by the developers themselves.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Static Analysis Perform Analysis Procedure </a:t>
            </a:r>
            <a:r>
              <a:rPr lang="en-US" sz="1400" dirty="0">
                <a:latin typeface="Calibri" panose="020F0502020204030204" pitchFamily="34" charset="0"/>
                <a:cs typeface="Calibri" panose="020F0502020204030204" pitchFamily="34" charset="0"/>
              </a:rPr>
              <a:t>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Static Analysis </a:t>
            </a:r>
            <a:r>
              <a:rPr lang="en-US" sz="1400" dirty="0"/>
              <a:t>process activities,  you can proceed to the other training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docs.oasis-open.org/sarif/sarif/v2.1.0/os/sarif-v2.1.0-os.pdf"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Static Analysis – Perform Analysis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2026-02-10</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AVCDL-Implementation-7.1.2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3" name="Picture 2" descr="A diagram of a data flow&#10;&#10;AI-generated content may be incorrect.">
            <a:extLst>
              <a:ext uri="{FF2B5EF4-FFF2-40B4-BE49-F238E27FC236}">
                <a16:creationId xmlns:a16="http://schemas.microsoft.com/office/drawing/2014/main" id="{4D716E9B-2EE7-6955-9950-F39B76AAFDA8}"/>
              </a:ext>
            </a:extLst>
          </p:cNvPr>
          <p:cNvPicPr>
            <a:picLocks noChangeAspect="1"/>
          </p:cNvPicPr>
          <p:nvPr/>
        </p:nvPicPr>
        <p:blipFill>
          <a:blip r:embed="rId3"/>
          <a:stretch>
            <a:fillRect/>
          </a:stretch>
        </p:blipFill>
        <p:spPr>
          <a:xfrm>
            <a:off x="1525315" y="1562354"/>
            <a:ext cx="9296627" cy="3733291"/>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3330940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4" name="Picture 3" descr="A diagram of a software development&#10;&#10;AI-generated content may be incorrect.">
            <a:extLst>
              <a:ext uri="{FF2B5EF4-FFF2-40B4-BE49-F238E27FC236}">
                <a16:creationId xmlns:a16="http://schemas.microsoft.com/office/drawing/2014/main" id="{92E0E775-F5ED-50AD-68C0-0DAF72ED7BBF}"/>
              </a:ext>
            </a:extLst>
          </p:cNvPr>
          <p:cNvPicPr>
            <a:picLocks noChangeAspect="1"/>
          </p:cNvPicPr>
          <p:nvPr/>
        </p:nvPicPr>
        <p:blipFill>
          <a:blip r:embed="rId3"/>
          <a:stretch>
            <a:fillRect/>
          </a:stretch>
        </p:blipFill>
        <p:spPr>
          <a:xfrm>
            <a:off x="3941000" y="1568249"/>
            <a:ext cx="3727396" cy="3727396"/>
          </a:xfrm>
          <a:prstGeom prst="rect">
            <a:avLst/>
          </a:prstGeom>
        </p:spPr>
      </p:pic>
      <p:pic>
        <p:nvPicPr>
          <p:cNvPr id="2" name="Picture 1" descr="A diagram of a data flow&#10;&#10;AI-generated content may be incorrect.">
            <a:extLst>
              <a:ext uri="{FF2B5EF4-FFF2-40B4-BE49-F238E27FC236}">
                <a16:creationId xmlns:a16="http://schemas.microsoft.com/office/drawing/2014/main" id="{CAF2505C-12FF-FD16-4572-E0DCD28CB4E4}"/>
              </a:ext>
            </a:extLst>
          </p:cNvPr>
          <p:cNvPicPr>
            <a:picLocks noChangeAspect="1"/>
          </p:cNvPicPr>
          <p:nvPr/>
        </p:nvPicPr>
        <p:blipFill>
          <a:blip r:embed="rId4">
            <a:alphaModFix amt="10000"/>
          </a:blip>
          <a:stretch>
            <a:fillRect/>
          </a:stretch>
        </p:blipFill>
        <p:spPr>
          <a:xfrm>
            <a:off x="1525315" y="1562354"/>
            <a:ext cx="9296627" cy="3733291"/>
          </a:xfrm>
          <a:prstGeom prst="rect">
            <a:avLst/>
          </a:prstGeom>
        </p:spPr>
      </p:pic>
    </p:spTree>
    <p:extLst>
      <p:ext uri="{BB962C8B-B14F-4D97-AF65-F5344CB8AC3E}">
        <p14:creationId xmlns:p14="http://schemas.microsoft.com/office/powerpoint/2010/main" val="3584777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4" name="Picture 3" descr="A diagram of a software development&#10;&#10;AI-generated content may be incorrect.">
            <a:extLst>
              <a:ext uri="{FF2B5EF4-FFF2-40B4-BE49-F238E27FC236}">
                <a16:creationId xmlns:a16="http://schemas.microsoft.com/office/drawing/2014/main" id="{4BE17CCB-E647-1F10-E450-CCD5B5F14091}"/>
              </a:ext>
            </a:extLst>
          </p:cNvPr>
          <p:cNvPicPr>
            <a:picLocks noChangeAspect="1"/>
          </p:cNvPicPr>
          <p:nvPr/>
        </p:nvPicPr>
        <p:blipFill>
          <a:blip r:embed="rId3"/>
          <a:stretch>
            <a:fillRect/>
          </a:stretch>
        </p:blipFill>
        <p:spPr>
          <a:xfrm>
            <a:off x="3429047" y="1174863"/>
            <a:ext cx="5330728" cy="5330728"/>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 Activity</a:t>
            </a:r>
            <a:endParaRPr dirty="0"/>
          </a:p>
        </p:txBody>
      </p:sp>
      <p:sp>
        <p:nvSpPr>
          <p:cNvPr id="2" name="TextBox 1">
            <a:extLst>
              <a:ext uri="{FF2B5EF4-FFF2-40B4-BE49-F238E27FC236}">
                <a16:creationId xmlns:a16="http://schemas.microsoft.com/office/drawing/2014/main" id="{EE22BF54-8FEB-1144-44CC-306C1D387117}"/>
              </a:ext>
            </a:extLst>
          </p:cNvPr>
          <p:cNvSpPr txBox="1"/>
          <p:nvPr/>
        </p:nvSpPr>
        <p:spPr>
          <a:xfrm>
            <a:off x="9121584" y="5443209"/>
            <a:ext cx="2611867" cy="954107"/>
          </a:xfrm>
          <a:prstGeom prst="rect">
            <a:avLst/>
          </a:prstGeom>
          <a:noFill/>
        </p:spPr>
        <p:txBody>
          <a:bodyPr wrap="square" rtlCol="0">
            <a:spAutoFit/>
          </a:bodyPr>
          <a:lstStyle/>
          <a:p>
            <a:pPr algn="ct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JSON-encoded SARIF</a:t>
            </a:r>
          </a:p>
        </p:txBody>
      </p:sp>
      <p:cxnSp>
        <p:nvCxnSpPr>
          <p:cNvPr id="5" name="Straight Arrow Connector 4">
            <a:extLst>
              <a:ext uri="{FF2B5EF4-FFF2-40B4-BE49-F238E27FC236}">
                <a16:creationId xmlns:a16="http://schemas.microsoft.com/office/drawing/2014/main" id="{C21BD538-10C1-EFE7-925A-1BBB8623AABD}"/>
              </a:ext>
            </a:extLst>
          </p:cNvPr>
          <p:cNvCxnSpPr>
            <a:cxnSpLocks/>
            <a:stCxn id="2" idx="0"/>
          </p:cNvCxnSpPr>
          <p:nvPr/>
        </p:nvCxnSpPr>
        <p:spPr>
          <a:xfrm flipH="1" flipV="1">
            <a:off x="8877782" y="4560425"/>
            <a:ext cx="1549736" cy="882784"/>
          </a:xfrm>
          <a:prstGeom prst="straightConnector1">
            <a:avLst/>
          </a:prstGeom>
          <a:ln w="508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0202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US" sz="5400" dirty="0"/>
              <a:t>Runtime </a:t>
            </a:r>
            <a:r>
              <a:rPr lang="en" sz="5400" dirty="0"/>
              <a:t>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3275577"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Option interaction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impact</a:t>
            </a:r>
          </a:p>
        </p:txBody>
      </p:sp>
    </p:spTree>
    <p:extLst>
      <p:ext uri="{BB962C8B-B14F-4D97-AF65-F5344CB8AC3E}">
        <p14:creationId xmlns:p14="http://schemas.microsoft.com/office/powerpoint/2010/main" val="3121116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665CC40-6620-9510-786C-58640383D4A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B842E-24E7-4DBE-B2C6-DE9BAD1117E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pic>
        <p:nvPicPr>
          <p:cNvPr id="5" name="Picture 4">
            <a:extLst>
              <a:ext uri="{FF2B5EF4-FFF2-40B4-BE49-F238E27FC236}">
                <a16:creationId xmlns:a16="http://schemas.microsoft.com/office/drawing/2014/main" id="{225A8CB0-41EE-6FA1-E319-EC69D6280623}"/>
              </a:ext>
            </a:extLst>
          </p:cNvPr>
          <p:cNvPicPr>
            <a:picLocks noChangeAspect="1"/>
          </p:cNvPicPr>
          <p:nvPr/>
        </p:nvPicPr>
        <p:blipFill>
          <a:blip r:embed="rId3"/>
          <a:srcRect/>
          <a:stretch/>
        </p:blipFill>
        <p:spPr>
          <a:xfrm>
            <a:off x="1271951" y="1106031"/>
            <a:ext cx="9644922" cy="5376960"/>
          </a:xfrm>
          <a:prstGeom prst="rect">
            <a:avLst/>
          </a:prstGeom>
        </p:spPr>
      </p:pic>
    </p:spTree>
    <p:extLst>
      <p:ext uri="{BB962C8B-B14F-4D97-AF65-F5344CB8AC3E}">
        <p14:creationId xmlns:p14="http://schemas.microsoft.com/office/powerpoint/2010/main" val="4168780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753819"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the build system 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the settings in sync</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 SARIF for output</a:t>
            </a:r>
          </a:p>
        </p:txBody>
      </p:sp>
    </p:spTree>
    <p:extLst>
      <p:ext uri="{BB962C8B-B14F-4D97-AF65-F5344CB8AC3E}">
        <p14:creationId xmlns:p14="http://schemas.microsoft.com/office/powerpoint/2010/main" val="170359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7110" y="1240537"/>
            <a:ext cx="4074599" cy="5281294"/>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258532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 Perform Analysis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3"/>
              </a:rPr>
              <a:t>https://docs.oasis-open.org/sarif/sarif/v2.1.0/os/sarif-v2.1.0-os.pdf</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393270</TotalTime>
  <Words>1664</Words>
  <Application>Microsoft Macintosh PowerPoint</Application>
  <PresentationFormat>Custom</PresentationFormat>
  <Paragraphs>285</Paragraphs>
  <Slides>16</Slides>
  <Notes>16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Roboto Medium</vt:lpstr>
      <vt:lpstr>Roboto</vt:lpstr>
      <vt:lpstr>Courier New</vt:lpstr>
      <vt:lpstr>Arial</vt:lpstr>
      <vt:lpstr>Calibri</vt:lpstr>
      <vt:lpstr>Simple Light</vt:lpstr>
      <vt:lpstr>Motional Masters</vt:lpstr>
      <vt:lpstr>Motional Masters</vt:lpstr>
      <vt:lpstr>Static Analysis – Perform Analysis</vt:lpstr>
      <vt:lpstr>Training Path</vt:lpstr>
      <vt:lpstr>Workflow</vt:lpstr>
      <vt:lpstr>Process Workflow</vt:lpstr>
      <vt:lpstr>Process Workflow</vt:lpstr>
      <vt:lpstr>Perform Analysis Activity</vt:lpstr>
      <vt:lpstr>Runtime Considerations</vt:lpstr>
      <vt:lpstr>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Analysis - Perform Analysis (training)</dc:title>
  <dc:subject>static analysis activity</dc:subject>
  <dc:creator>Charles Wilson</dc:creator>
  <cp:keywords>cybersecurity, static analysis</cp:keywords>
  <dc:description>This work was created by Torc Robotics and is licensed under the Creative Commons Attribution-Share Alike (CC BY-SA-4.0) License.
https://creativecommons.org/licenses/by/4.0/legalcode 
</dc:description>
  <cp:lastModifiedBy>Charles Wilson</cp:lastModifiedBy>
  <cp:revision>622</cp:revision>
  <cp:lastPrinted>2025-07-24T18:37:57Z</cp:lastPrinted>
  <dcterms:modified xsi:type="dcterms:W3CDTF">2026-02-12T14:49:45Z</dcterms:modified>
  <cp:category>static analysis</cp:category>
</cp:coreProperties>
</file>