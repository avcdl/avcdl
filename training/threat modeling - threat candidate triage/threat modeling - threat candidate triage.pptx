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1" r:id="rId1"/>
  </p:sldMasterIdLst>
  <p:notesMasterIdLst>
    <p:notesMasterId r:id="rId27"/>
  </p:notesMasterIdLst>
  <p:sldIdLst>
    <p:sldId id="256" r:id="rId2"/>
    <p:sldId id="306" r:id="rId3"/>
    <p:sldId id="585" r:id="rId4"/>
    <p:sldId id="308" r:id="rId5"/>
    <p:sldId id="589" r:id="rId6"/>
    <p:sldId id="584" r:id="rId7"/>
    <p:sldId id="583" r:id="rId8"/>
    <p:sldId id="624" r:id="rId9"/>
    <p:sldId id="577" r:id="rId10"/>
    <p:sldId id="611" r:id="rId11"/>
    <p:sldId id="575" r:id="rId12"/>
    <p:sldId id="626" r:id="rId13"/>
    <p:sldId id="628" r:id="rId14"/>
    <p:sldId id="627" r:id="rId15"/>
    <p:sldId id="629" r:id="rId16"/>
    <p:sldId id="630" r:id="rId17"/>
    <p:sldId id="623" r:id="rId18"/>
    <p:sldId id="622" r:id="rId19"/>
    <p:sldId id="613" r:id="rId20"/>
    <p:sldId id="619" r:id="rId21"/>
    <p:sldId id="614" r:id="rId22"/>
    <p:sldId id="606" r:id="rId23"/>
    <p:sldId id="461" r:id="rId24"/>
    <p:sldId id="420" r:id="rId25"/>
    <p:sldId id="368" r:id="rId26"/>
  </p:sldIdLst>
  <p:sldSz cx="12188825" cy="6858000"/>
  <p:notesSz cx="6858000" cy="9144000"/>
  <p:embeddedFontLst>
    <p:embeddedFont>
      <p:font typeface="Roboto" panose="02000000000000000000" pitchFamily="2" charset="0"/>
      <p:regular r:id="rId28"/>
      <p:bold r:id="rId29"/>
      <p:italic r:id="rId30"/>
      <p:boldItalic r:id="rId31"/>
    </p:embeddedFont>
    <p:embeddedFont>
      <p:font typeface="Roboto Medium" panose="020F050202020403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6275"/>
    <a:srgbClr val="FFFAB2"/>
    <a:srgbClr val="BA93DC"/>
    <a:srgbClr val="906FAC"/>
    <a:srgbClr val="A7E3B3"/>
    <a:srgbClr val="FFFFFF"/>
    <a:srgbClr val="4DE354"/>
    <a:srgbClr val="E38194"/>
    <a:srgbClr val="FFE6CC"/>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75"/>
    <p:restoredTop sz="81929"/>
  </p:normalViewPr>
  <p:slideViewPr>
    <p:cSldViewPr snapToGrid="0">
      <p:cViewPr varScale="1">
        <p:scale>
          <a:sx n="142" d="100"/>
          <a:sy n="142" d="100"/>
        </p:scale>
        <p:origin x="176" y="344"/>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threat modeling - threat candidate triage.</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AVCDL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that you’ve also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threat prioritization plan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you should have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threat modeling overview</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model creation</a:t>
            </a:r>
          </a:p>
          <a:p>
            <a:pPr marL="285750" lvl="0" indent="-285750" algn="l" rtl="0">
              <a:spcBef>
                <a:spcPts val="0"/>
              </a:spcBef>
              <a:spcAft>
                <a:spcPts val="0"/>
              </a:spcAft>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285750" lvl="0" indent="-285750" algn="l" rtl="0">
              <a:spcBef>
                <a:spcPts val="0"/>
              </a:spcBef>
              <a:spcAft>
                <a:spcPts val="0"/>
              </a:spcAft>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model analysis 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threat candidate triage.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6301617-5E10-8AC8-C2BD-037B2E5A1E9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A323960-849D-46A6-D2A8-DF3850020D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428C825-6727-09B7-3403-52A328181C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getting into threat candidate triage, let's review where it fits in the overall threat modeling process.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50761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Here’s the threat modeling process with its three individual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285750" lvl="0" indent="-285750" algn="l" rtl="0">
              <a:spcBef>
                <a:spcPts val="0"/>
              </a:spcBef>
              <a:spcAft>
                <a:spcPts val="0"/>
              </a:spcAft>
            </a:pPr>
            <a:r>
              <a:rPr lang="en-US" sz="1400" dirty="0">
                <a:solidFill>
                  <a:srgbClr val="1D1C1D"/>
                </a:solidFill>
                <a:effectLst/>
                <a:latin typeface="Arial" panose="020B0604020202020204" pitchFamily="34" charset="0"/>
              </a:rPr>
              <a:t>model creation</a:t>
            </a:r>
          </a:p>
          <a:p>
            <a:pPr marL="285750" lvl="0" indent="-285750" algn="l" rtl="0">
              <a:spcBef>
                <a:spcPts val="0"/>
              </a:spcBef>
              <a:spcAft>
                <a:spcPts val="0"/>
              </a:spcAft>
            </a:pPr>
            <a:r>
              <a:rPr lang="en-US" sz="1400" dirty="0">
                <a:solidFill>
                  <a:srgbClr val="1D1C1D"/>
                </a:solidFill>
                <a:effectLst/>
                <a:latin typeface="Arial" panose="020B0604020202020204" pitchFamily="34" charset="0"/>
              </a:rPr>
              <a:t>model analysis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285750" lvl="0" indent="-285750" algn="l" rtl="0">
              <a:spcBef>
                <a:spcPts val="0"/>
              </a:spcBef>
              <a:spcAft>
                <a:spcPts val="0"/>
              </a:spcAft>
            </a:pPr>
            <a:r>
              <a:rPr lang="en-US" sz="1400" dirty="0">
                <a:solidFill>
                  <a:srgbClr val="1D1C1D"/>
                </a:solidFill>
                <a:effectLst/>
                <a:latin typeface="Arial" panose="020B0604020202020204" pitchFamily="34" charset="0"/>
              </a:rPr>
              <a:t>threat candidate triage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Let’s consider the triage activity.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CC20AF3-C1CB-AEE4-5191-DDD85342A7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D6B43-4BAF-B20A-332A-A0BFDAA1AF0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7F34776-7E02-5371-8E77-43519DA63E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In the threat candidate triage activity,</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threat modeling SME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the development SME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take the list of threat candidates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review each to determine which are valid.</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This results in the creation of</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set of triaged threat candidates.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These are sent along to the threat ranking activity within the threat prioritization process.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Once again returning to the NIST threat modeling lifecycle, we see that threat candidate triage activity corresponds to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identification activity of the lifecycle.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some might argue that because we’re evaluating the candidates, this must mean that we're doing investigation.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That’s an interesting argument; however, we're not putting it through the formal threat prioritization process here.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a true triage where we're just eliminating those issues which are obviously not valid.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7463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CA37A3-59F2-8287-DAB5-F77B1E0B8E7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68C8B30-8BE6-250E-FD56-053AE7FECDB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DDA0FE-D68C-85C0-9ABF-E9821E6923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threat candidate triage activity,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threat modeling SME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the development SME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take the list of threat candidates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review each to determine which are valid.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results in the creation of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 set of triaged threat candidates.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sent along to the threat ranking activity within the threat prioritization process.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Once again returning to the NIST threat modeling lifecycle, we see that threat candidate triage activity corresponds to</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identification activity of the lifecycle.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Now, some might argue that because we’re evaluating the candidates, this must mean that we're doing investigation.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That’s an interesting argument; however, we're not putting it through the formal threat prioritization process here.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This is a true triage where we're just eliminating those issues which are obviously not valid.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4246691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247D57B-D3C1-FBD5-8470-DE43A9B8D22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6588DE-DE3F-E395-175A-E1C6C3AC09A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D67340F-6A34-1DFB-E1D9-1A1802235F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the same example used in previous threat model trainings to illustrate how threat candidate triage is undertaken.</a:t>
            </a:r>
          </a:p>
        </p:txBody>
      </p:sp>
    </p:spTree>
    <p:extLst>
      <p:ext uri="{BB962C8B-B14F-4D97-AF65-F5344CB8AC3E}">
        <p14:creationId xmlns:p14="http://schemas.microsoft.com/office/powerpoint/2010/main" val="2604393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5D9994C-C857-5914-0722-6C284EE4B28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D2AAD56-67A0-2FCD-91E9-2677E4221DB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3CE5B7C-0988-470D-3920-5A98C3293C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Recall that our example system is comprised of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 core service,</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 web server,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 console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connected to a web browser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terminal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eventually to an administrator who is interfacing with both.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Also recall that in the analysis of the threat model, it was recognized that the audit log, shown here, was left out.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this is the most up-to-date diagram for the system.</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what we did with it next. </a:t>
            </a:r>
          </a:p>
        </p:txBody>
      </p:sp>
    </p:spTree>
    <p:extLst>
      <p:ext uri="{BB962C8B-B14F-4D97-AF65-F5344CB8AC3E}">
        <p14:creationId xmlns:p14="http://schemas.microsoft.com/office/powerpoint/2010/main" val="946714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6F7E7AC-FE8F-420B-C383-98CDE8D4CF1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7CCD41B-C5A8-EBC6-0B46-581D7F72B5E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5450CBB-1E8E-F434-A216-54995C8C86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In the threat modeling activity, the system was taken and a series of DFDs were created.</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This is the highest level one.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Recall that during the analysis activity, it was determined that the audit log had been left out.</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Here we see it in place.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So, this is our most up to-date DFD for the example system.</a:t>
            </a:r>
          </a:p>
        </p:txBody>
      </p:sp>
    </p:spTree>
    <p:extLst>
      <p:ext uri="{BB962C8B-B14F-4D97-AF65-F5344CB8AC3E}">
        <p14:creationId xmlns:p14="http://schemas.microsoft.com/office/powerpoint/2010/main" val="20319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AE6D836-33F4-2649-09B8-616B3E17FF7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36F82BE-40FD-8A1F-C0F3-ADA85D86576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32029C6-EA7C-6121-A8F6-29B55F27A9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review the analysis process applied to this model and the resultant issues generated from it.</a:t>
            </a:r>
          </a:p>
        </p:txBody>
      </p:sp>
    </p:spTree>
    <p:extLst>
      <p:ext uri="{BB962C8B-B14F-4D97-AF65-F5344CB8AC3E}">
        <p14:creationId xmlns:p14="http://schemas.microsoft.com/office/powerpoint/2010/main" val="1382403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89866E9-38B7-6246-5C03-DA2C43737AA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666CB77-EFDA-34BB-0950-0A89A6EDA0A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623558A-7263-6644-F7F8-7BFB9501F7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discussion of threat model analysis it was brought up that one should focus on those areas where you have differentials in trust.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that training, the normal operation workflow, which we see here, was selected to illustrate the analysis methodology.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2410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3B25336-F651-BC3C-2849-15E457653E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6070B7B-13A7-C36E-B336-2CDB0AF1C12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4A34E3D-E75E-EFC1-F039-FD18C5781A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Within the normal operation flow, there are only three processes of interest.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the core service (which is a fully trusted entity)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the web server (a third-party entity and therefore at a lower level of trust)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the web browser (a process external to the system and therefore untrusted).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we have the two boundaries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core service boundary between the core service and the web server,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machine boundary between the web server and the web browser.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four data flows were then analyzed.</a:t>
            </a:r>
          </a:p>
        </p:txBody>
      </p:sp>
    </p:spTree>
    <p:extLst>
      <p:ext uri="{BB962C8B-B14F-4D97-AF65-F5344CB8AC3E}">
        <p14:creationId xmlns:p14="http://schemas.microsoft.com/office/powerpoint/2010/main" val="1447978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82EE0E4-2119-8DE5-6212-E489BCD299B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D568F1E-0C5E-7E25-71B5-59F3C18CE2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6183AC4-0EE6-7A45-4C85-62AE4C548D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analysis of these four data flows yielded ten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 were violations of three cybersecurity requirements.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identified issues are technically referred to as threat candidates.</a:t>
            </a:r>
          </a:p>
        </p:txBody>
      </p:sp>
    </p:spTree>
    <p:extLst>
      <p:ext uri="{BB962C8B-B14F-4D97-AF65-F5344CB8AC3E}">
        <p14:creationId xmlns:p14="http://schemas.microsoft.com/office/powerpoint/2010/main" val="863135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E815F01-7842-99E9-1653-ADA9F0BAF0E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D756332-9964-92E3-DE36-C9FCC9ED678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8B46389-9124-68B4-380B-E15C07F9A3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consider how we’re going to triage the results of the analysis.</a:t>
            </a:r>
          </a:p>
        </p:txBody>
      </p:sp>
    </p:spTree>
    <p:extLst>
      <p:ext uri="{BB962C8B-B14F-4D97-AF65-F5344CB8AC3E}">
        <p14:creationId xmlns:p14="http://schemas.microsoft.com/office/powerpoint/2010/main" val="3407371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70DF5-D480-C3BF-151D-CBE21FEEC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18344-C967-95D2-3C69-BD90E2E7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C0FE2-6358-3403-2190-FE6D02AB4C88}"/>
              </a:ext>
            </a:extLst>
          </p:cNvPr>
          <p:cNvSpPr>
            <a:spLocks noGrp="1"/>
          </p:cNvSpPr>
          <p:nvPr>
            <p:ph type="body" idx="1"/>
          </p:nvPr>
        </p:nvSpPr>
        <p:spPr/>
        <p:txBody>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 methodology that we're going to employ to do the triage is straightforward.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We’ll take each of the issues; those threat candidates identified in the analysis activity; and review each to determine whether it’s valid.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This determination is the goal of the triage activity.</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Once a determination has been made for a given threat candidate, then for valid cases, we may assign a preliminary severity.</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And if it’s not valid, we’ll provide a justification as to why the issue is not valid.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Additionally, we can provide notes for those will be working with this information later.</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Now let's look in detail at the values for the determination and severity fields.</a:t>
            </a:r>
          </a:p>
          <a:p>
            <a:pPr marL="158750" indent="0">
              <a:buNone/>
            </a:pPr>
            <a:endParaRPr lang="en-US" dirty="0"/>
          </a:p>
        </p:txBody>
      </p:sp>
    </p:spTree>
    <p:extLst>
      <p:ext uri="{BB962C8B-B14F-4D97-AF65-F5344CB8AC3E}">
        <p14:creationId xmlns:p14="http://schemas.microsoft.com/office/powerpoint/2010/main" val="2576453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2415D-D5F3-486D-31D0-599E8F131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7097B-7121-5A3F-C312-35BCB3ABD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36856-935F-B874-1796-FE8A68BA6317}"/>
              </a:ext>
            </a:extLst>
          </p:cNvPr>
          <p:cNvSpPr>
            <a:spLocks noGrp="1"/>
          </p:cNvSpPr>
          <p:nvPr>
            <p:ph type="body" idx="1"/>
          </p:nvPr>
        </p:nvSpPr>
        <p:spPr/>
        <p:txBody>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 first step in deciding whether the issue needs to be dealt with or not is to make a determination regarding the threat candidate’s validity.</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There are three different determinations that we can assign.</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 first is that the issue is valid.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 analysis properly identified that there is a violation of a cybersecurity requirement.</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If this is the case, we will assign a preliminary severity, if appropriate.</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 next case is that we determine there to be an insufficiency in the model itself.</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 analysis would not have yielded this issue had the model been correctly formed.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 model will need to be updated, and the analysis will need to be performed again.</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Finally, we have non-issues.</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These differ from valid and insufficient model because the issue itself, as stated, is valid.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 element model is correct and complete; however, it does not sufficiently capture the totality of the system.</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This is an abstraction-level limitation.</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Something else within the system renders this issue non-impactful.</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Keep in mind that if the vast majority of the threat candidates are being determined to be invalid,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then there's a problem in the execution of the analysis, the triage process, and possibly in the model creation activity</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And so, a cybersecurity SME should be very wary when a high number of either insufficient or non-issues show up during the triage process.</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158750" indent="0">
              <a:buNone/>
            </a:pPr>
            <a:endParaRPr lang="en-US" dirty="0"/>
          </a:p>
        </p:txBody>
      </p:sp>
    </p:spTree>
    <p:extLst>
      <p:ext uri="{BB962C8B-B14F-4D97-AF65-F5344CB8AC3E}">
        <p14:creationId xmlns:p14="http://schemas.microsoft.com/office/powerpoint/2010/main" val="2430426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63EFB42-F79C-63A4-1F26-7269BF3A870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7DC3E33-693C-A0F4-D447-81456E67116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D111660-D278-4B6E-7A20-C38D00C97F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issues that have been determined to be valid a preliminary severity may be assigned.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Keep in mind that this is an optional step.</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should only be done in cases where there is an issue of importance.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we're dealing with a run-of-the-mill issue that can go through the threat prioritization process without having to be pushed to the front of the queue because it's blatant that this needs to be corrected, then assignment of a preliminary severity may be skipped.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the template provided for threat modeling - threat candidate triage does not include a particular list of values that should be used for the preliminary severity.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reason for this is easy to illustrate if consider the following.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CVSS score.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has values ranging from 0 to 10.</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Alternately, we can look at the CVSS rating.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values are low, medium, high, and critical.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We've added it a true 0 (or none) here because that makes things easier when dealing with automation.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aren’t our only choices for the severity, also known as the rank.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look at what's specified in ISO/SAE 21434, for example, we have very low, low, medium, and high.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Unlike the CVSS ratings, ISO/SAE 21434 doesn’t specify what the values should be aligned to. The AVCDL chooses to align them to the CVSS rating ranges.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Your organization might use something completely different.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might have three-value severity: low, medium, and high.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Or simply a bug bar: bad or not bad.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very organizationally dependent things.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this is provided only as examples of what may be used.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Don't presume that this information is going to be consistent from organization to organization.</a:t>
            </a:r>
          </a:p>
        </p:txBody>
      </p:sp>
    </p:spTree>
    <p:extLst>
      <p:ext uri="{BB962C8B-B14F-4D97-AF65-F5344CB8AC3E}">
        <p14:creationId xmlns:p14="http://schemas.microsoft.com/office/powerpoint/2010/main" val="1347263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4BFA610-8FE2-FC19-2CC1-15C16E09D3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E3466F4-FDDC-16F9-B825-A872AEC8B3C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D48F5650-E453-3ACE-1574-0F34A9ACA1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go through the exercise of doing triage.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we'll start with the identified issues, the threat candidates.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We'll bring in the corresponding DFD.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reference, we'll also bring in the text of the cybersecurity requirements that are at play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now, let's look at the issues one at a time, and talk about the triage determination that we make on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first one, we're dealing with ESD-09, the data flow that goes from the web server to the core service.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requirement we're violating is that we don't have data integrity.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in fact, there is no integrity check stated in the model metadata.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 non-issue, because the IPC protocol used provides an integrity guarantee.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that takes that issue out of consideration.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issue is on the same data flow.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we're saying here is that we have unauthenticated end points, specifically the web server.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know that the core service is authenticated because it is the trusted part of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you can see in the notes, for ESP-03, which is the web server, authentication is unspecified and assumed no.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determination upon consultation with the development SME is that this is a model insufficiency issue.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know that the web server is authenticated.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it's not necessary to go into how it's authenticated or why it's authenticated.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 model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actual implementation is not the focus on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Suffice it to say that this is not an issue because we have a model insufficiency.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third issue we're dealing with data flow ESD-10, which is from the core service to the web server.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requirement that's violated here is again one of data integrity, and it's the same issue that we had with the first issue.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Since we have data integrity guarantees within the context of using the IPC, it's a non-issue.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Issue four rounds out the issues between the core service and web server.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one is again data flow ESD-10 from the core service to the web server, and it is the same issue as we had for issue two, we don't have authentication on both ends.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We've already established that the web server is authenticated, and so, like issue two, this one is a matter of an insufficient model.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next six issues, we're going to consider them collectively.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that is that they stem from the same fundamental problem.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issue five and eight, we have that the data going between the web server and web browser is not encrypted.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issues six and nine, we have that there's no integrity check again between the web server and web browser.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issues seven and ten, we have that the endpoints aren't authenticated.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web browser is an external unauthenticated entity.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underlying problem leading to all six of these issues is that we're using the HTTP protocol.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we’ve put in our notes a recommendation to use the HTTPS protocol.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doesn't mean that there isn't some other mitigation that could be put in, but using the HTTP protocol without any security whatsoever can easily be remedied by adopting HTTPS.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could have assigned a preliminary severity to this last set of six, because they're taken together, they would have the same level of severity.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But there's no real motivation to do so given the fact that the only issue is that that the communications protocol that's been chosen is inappropriate for what we want to accomplish in the context of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377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the basics of doing the threat modeling - threat candidate triage.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review some of the important points that we covered in this training.</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Address the invalid issues first.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Handling these is typically straightforward, as the development SME is probably going to be able to provide immediate rationale as to why things aren't valid.</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Next, cluster like issues, because, generally speaking, the like issues are going to have similar treatments.</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This is not always going to be the case, but in many cases it will.</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As we saw the issues between the web server and web browser all stemmed from the same fundamental problem.</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If you make a recommendation, do so based on best practices.</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And remember that this is just guidance because the threat prioritization process, as its </a:t>
            </a:r>
            <a:r>
              <a:rPr lang="en-US" sz="1100" b="0" i="0" u="none" strike="noStrike" cap="none" dirty="0">
                <a:solidFill>
                  <a:srgbClr val="000000"/>
                </a:solidFill>
                <a:effectLst/>
                <a:latin typeface="Arial"/>
                <a:ea typeface="Arial"/>
                <a:cs typeface="Arial"/>
                <a:sym typeface="Arial"/>
              </a:rPr>
              <a:t>mitigation</a:t>
            </a:r>
            <a:r>
              <a:rPr lang="en-US" sz="1100" dirty="0">
                <a:solidFill>
                  <a:srgbClr val="1D1C1D"/>
                </a:solidFill>
                <a:effectLst/>
                <a:latin typeface="Calibri" panose="020F0502020204030204" pitchFamily="34" charset="0"/>
                <a:cs typeface="Calibri" panose="020F0502020204030204" pitchFamily="34" charset="0"/>
              </a:rPr>
              <a:t> might be accomplished by several different treatments.</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Finally, if it's appropriate, assign a preliminary severity to the issue.</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Again, this is highly organizationally specific, and, it's going to be influenced by a number of factors, including the regulatory environment, where the issues are coming from, and who's going to be processing them.</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Also, we know that once this goes into the threat prioritization process, the issue will be much more formally addressed.</a:t>
            </a:r>
          </a:p>
        </p:txBody>
      </p:sp>
    </p:spTree>
    <p:extLst>
      <p:ext uri="{BB962C8B-B14F-4D97-AF65-F5344CB8AC3E}">
        <p14:creationId xmlns:p14="http://schemas.microsoft.com/office/powerpoint/2010/main" val="1190582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this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this includes the DFDs, as well as the threat model, model creation, issue tracking, and triage workbooks.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training is the last in the threat modeling sequence.</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you have completed all the trainings related to </a:t>
            </a:r>
            <a:r>
              <a:rPr lang="en-US" sz="1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threat modeling</a:t>
            </a:r>
            <a:r>
              <a:rPr lang="en-US" sz="1400" dirty="0"/>
              <a:t>, you can proceed to one of the other trainings at this level.</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These are: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Penetration Testing</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if you’ve completed </a:t>
            </a:r>
            <a:r>
              <a:rPr lang="en-US" sz="1400" b="1" dirty="0"/>
              <a:t>Secure Coding </a:t>
            </a:r>
            <a:r>
              <a:rPr lang="en-US" sz="1400" dirty="0"/>
              <a:t>and its prerequisites you can also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285750" marR="0" indent="-285750" algn="just">
              <a:spcBef>
                <a:spcPts val="0"/>
              </a:spcBef>
              <a:spcAft>
                <a:spcPts val="1200"/>
              </a:spcAft>
            </a:pPr>
            <a:r>
              <a:rPr lang="en-US" sz="1400" b="1" dirty="0"/>
              <a:t>Fuzz testing</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554515" y="6212114"/>
            <a:ext cx="9178884"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6" y="460684"/>
            <a:ext cx="11160121" cy="521207"/>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542" name="Google Shape;542;p98"/>
          <p:cNvSpPr txBox="1">
            <a:spLocks noGrp="1"/>
          </p:cNvSpPr>
          <p:nvPr>
            <p:ph type="body" idx="1"/>
          </p:nvPr>
        </p:nvSpPr>
        <p:spPr>
          <a:xfrm>
            <a:off x="455616" y="1071563"/>
            <a:ext cx="11160120" cy="5443537"/>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sz="2800"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dirty="0"/>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745EA7-AFDB-D704-3CDB-08F90106DA56}"/>
              </a:ext>
            </a:extLst>
          </p:cNvPr>
          <p:cNvSpPr>
            <a:spLocks noGrp="1"/>
          </p:cNvSpPr>
          <p:nvPr>
            <p:ph type="sldNum" idx="10"/>
          </p:nvPr>
        </p:nvSpPr>
        <p:spPr/>
        <p:txBody>
          <a:bodyPr/>
          <a:lstStyle/>
          <a:p>
            <a:fld id="{00000000-1234-1234-1234-123412341234}" type="slidenum">
              <a:rPr lang="en" smtClean="0"/>
              <a:pPr/>
              <a:t>‹#›</a:t>
            </a:fld>
            <a:endParaRPr lang="en"/>
          </a:p>
        </p:txBody>
      </p:sp>
      <p:sp>
        <p:nvSpPr>
          <p:cNvPr id="4" name="Google Shape;873;p146">
            <a:extLst>
              <a:ext uri="{FF2B5EF4-FFF2-40B4-BE49-F238E27FC236}">
                <a16:creationId xmlns:a16="http://schemas.microsoft.com/office/drawing/2014/main" id="{6008B77D-0DC8-122B-4ECB-27691B2279A8}"/>
              </a:ext>
            </a:extLst>
          </p:cNvPr>
          <p:cNvSpPr txBox="1">
            <a:spLocks noGrp="1"/>
          </p:cNvSpPr>
          <p:nvPr>
            <p:ph type="title" hasCustomPrompt="1"/>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Click to add title</a:t>
            </a:r>
            <a:endParaRPr sz="6600" dirty="0"/>
          </a:p>
        </p:txBody>
      </p:sp>
    </p:spTree>
    <p:extLst>
      <p:ext uri="{BB962C8B-B14F-4D97-AF65-F5344CB8AC3E}">
        <p14:creationId xmlns:p14="http://schemas.microsoft.com/office/powerpoint/2010/main" val="35722641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11152976" cy="524543"/>
          </a:xfrm>
          <a:prstGeom prst="rect">
            <a:avLst/>
          </a:prstGeom>
          <a:noFill/>
          <a:ln>
            <a:noFill/>
          </a:ln>
        </p:spPr>
        <p:txBody>
          <a:bodyPr spcFirstLastPara="1" wrap="square" lIns="0" tIns="0" rIns="0" bIns="0" anchor="ctr"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52" name="Google Shape;52;p13"/>
          <p:cNvSpPr txBox="1">
            <a:spLocks noGrp="1"/>
          </p:cNvSpPr>
          <p:nvPr>
            <p:ph type="body" idx="1"/>
          </p:nvPr>
        </p:nvSpPr>
        <p:spPr>
          <a:xfrm>
            <a:off x="457206" y="1178719"/>
            <a:ext cx="11151388" cy="5350669"/>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dirty="0"/>
          </a:p>
        </p:txBody>
      </p:sp>
    </p:spTree>
  </p:cSld>
  <p:clrMap bg1="lt1" tx1="dk1" bg2="dk2" tx2="lt2" accent1="accent1" accent2="accent2" accent3="accent3" accent4="accent4" accent5="accent5" accent6="accent6" hlink="hlink" folHlink="folHlink"/>
  <p:sldLayoutIdLst>
    <p:sldLayoutId id="2147483659" r:id="rId1"/>
    <p:sldLayoutId id="2147483742" r:id="rId2"/>
    <p:sldLayoutId id="2147483793" r:id="rId3"/>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nutonomy/AVCD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csrc.nist.gov/publications/detail/sp/800-154/draf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Threat Modeling -</a:t>
            </a:r>
            <a:br>
              <a:rPr lang="en" sz="5400" dirty="0"/>
            </a:br>
            <a:r>
              <a:rPr lang="en-US" sz="5400" dirty="0"/>
              <a:t>Threat Candidate Triage</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3</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2025-06-24</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325CF8B-3AEB-C8FB-3B39-B59C981CF1F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FEF81D3F-911E-5203-7C36-A9224AF4232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92577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8" name="Picture 7" descr="A diagram of a diagram&#10;&#10;AI-generated content may be incorrect.">
            <a:extLst>
              <a:ext uri="{FF2B5EF4-FFF2-40B4-BE49-F238E27FC236}">
                <a16:creationId xmlns:a16="http://schemas.microsoft.com/office/drawing/2014/main" id="{C713250B-755C-6D01-452E-FEB414F67DAA}"/>
              </a:ext>
            </a:extLst>
          </p:cNvPr>
          <p:cNvPicPr>
            <a:picLocks noChangeAspect="1"/>
          </p:cNvPicPr>
          <p:nvPr/>
        </p:nvPicPr>
        <p:blipFill>
          <a:blip r:embed="rId3"/>
          <a:stretch>
            <a:fillRect/>
          </a:stretch>
        </p:blipFill>
        <p:spPr>
          <a:xfrm>
            <a:off x="227820" y="1509482"/>
            <a:ext cx="11731433" cy="4317167"/>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Modeling Process</a:t>
            </a:r>
            <a:endParaRPr dirty="0"/>
          </a:p>
        </p:txBody>
      </p:sp>
    </p:spTree>
    <p:extLst>
      <p:ext uri="{BB962C8B-B14F-4D97-AF65-F5344CB8AC3E}">
        <p14:creationId xmlns:p14="http://schemas.microsoft.com/office/powerpoint/2010/main" val="387675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B301566-E791-0500-29C1-CD6133A46E5E}"/>
            </a:ext>
          </a:extLst>
        </p:cNvPr>
        <p:cNvGrpSpPr/>
        <p:nvPr/>
      </p:nvGrpSpPr>
      <p:grpSpPr>
        <a:xfrm>
          <a:off x="0" y="0"/>
          <a:ext cx="0" cy="0"/>
          <a:chOff x="0" y="0"/>
          <a:chExt cx="0" cy="0"/>
        </a:xfrm>
      </p:grpSpPr>
      <p:pic>
        <p:nvPicPr>
          <p:cNvPr id="8" name="Picture 7" descr="A diagram of a diagram&#10;&#10;AI-generated content may be incorrect.">
            <a:extLst>
              <a:ext uri="{FF2B5EF4-FFF2-40B4-BE49-F238E27FC236}">
                <a16:creationId xmlns:a16="http://schemas.microsoft.com/office/drawing/2014/main" id="{863D31E7-1EDB-6012-EA29-0360C8D10CF5}"/>
              </a:ext>
            </a:extLst>
          </p:cNvPr>
          <p:cNvPicPr>
            <a:picLocks noChangeAspect="1"/>
          </p:cNvPicPr>
          <p:nvPr/>
        </p:nvPicPr>
        <p:blipFill>
          <a:blip r:embed="rId3">
            <a:alphaModFix amt="10000"/>
          </a:blip>
          <a:stretch>
            <a:fillRect/>
          </a:stretch>
        </p:blipFill>
        <p:spPr>
          <a:xfrm>
            <a:off x="227820" y="1509482"/>
            <a:ext cx="11731433" cy="4317167"/>
          </a:xfrm>
          <a:prstGeom prst="rect">
            <a:avLst/>
          </a:prstGeom>
        </p:spPr>
      </p:pic>
      <p:sp>
        <p:nvSpPr>
          <p:cNvPr id="1199" name="Google Shape;1199;p156">
            <a:extLst>
              <a:ext uri="{FF2B5EF4-FFF2-40B4-BE49-F238E27FC236}">
                <a16:creationId xmlns:a16="http://schemas.microsoft.com/office/drawing/2014/main" id="{91855C93-68FA-717F-6239-B161A3029FA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Triage Activity</a:t>
            </a:r>
            <a:endParaRPr dirty="0"/>
          </a:p>
        </p:txBody>
      </p:sp>
      <p:pic>
        <p:nvPicPr>
          <p:cNvPr id="7" name="Picture 6" descr="A diagram of a threat model&#10;&#10;AI-generated content may be incorrect.">
            <a:extLst>
              <a:ext uri="{FF2B5EF4-FFF2-40B4-BE49-F238E27FC236}">
                <a16:creationId xmlns:a16="http://schemas.microsoft.com/office/drawing/2014/main" id="{F5F547E2-1F91-1C00-3AB2-B900973BE04D}"/>
              </a:ext>
            </a:extLst>
          </p:cNvPr>
          <p:cNvPicPr>
            <a:picLocks noChangeAspect="1"/>
          </p:cNvPicPr>
          <p:nvPr/>
        </p:nvPicPr>
        <p:blipFill>
          <a:blip r:embed="rId4"/>
          <a:stretch>
            <a:fillRect/>
          </a:stretch>
        </p:blipFill>
        <p:spPr>
          <a:xfrm>
            <a:off x="7076572" y="1509482"/>
            <a:ext cx="4889661" cy="4317167"/>
          </a:xfrm>
          <a:prstGeom prst="rect">
            <a:avLst/>
          </a:prstGeom>
        </p:spPr>
      </p:pic>
    </p:spTree>
    <p:extLst>
      <p:ext uri="{BB962C8B-B14F-4D97-AF65-F5344CB8AC3E}">
        <p14:creationId xmlns:p14="http://schemas.microsoft.com/office/powerpoint/2010/main" val="1712214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60D722D-5EBC-3199-33FB-3F6490A4DB9C}"/>
            </a:ext>
          </a:extLst>
        </p:cNvPr>
        <p:cNvGrpSpPr/>
        <p:nvPr/>
      </p:nvGrpSpPr>
      <p:grpSpPr>
        <a:xfrm>
          <a:off x="0" y="0"/>
          <a:ext cx="0" cy="0"/>
          <a:chOff x="0" y="0"/>
          <a:chExt cx="0" cy="0"/>
        </a:xfrm>
      </p:grpSpPr>
      <p:pic>
        <p:nvPicPr>
          <p:cNvPr id="3" name="Picture 2" descr="A diagram of a diagram&#10;&#10;AI-generated content may be incorrect.">
            <a:extLst>
              <a:ext uri="{FF2B5EF4-FFF2-40B4-BE49-F238E27FC236}">
                <a16:creationId xmlns:a16="http://schemas.microsoft.com/office/drawing/2014/main" id="{9CEF2FF7-0040-D13F-7E96-53B38BDE8C8E}"/>
              </a:ext>
            </a:extLst>
          </p:cNvPr>
          <p:cNvPicPr>
            <a:picLocks noChangeAspect="1"/>
          </p:cNvPicPr>
          <p:nvPr/>
        </p:nvPicPr>
        <p:blipFill>
          <a:blip r:embed="rId3">
            <a:alphaModFix amt="10000"/>
          </a:blip>
          <a:stretch>
            <a:fillRect/>
          </a:stretch>
        </p:blipFill>
        <p:spPr>
          <a:xfrm>
            <a:off x="227820" y="1509482"/>
            <a:ext cx="11731433" cy="4317167"/>
          </a:xfrm>
          <a:prstGeom prst="rect">
            <a:avLst/>
          </a:prstGeom>
        </p:spPr>
      </p:pic>
      <p:sp>
        <p:nvSpPr>
          <p:cNvPr id="1199" name="Google Shape;1199;p156">
            <a:extLst>
              <a:ext uri="{FF2B5EF4-FFF2-40B4-BE49-F238E27FC236}">
                <a16:creationId xmlns:a16="http://schemas.microsoft.com/office/drawing/2014/main" id="{FB544F1F-EE48-DCF6-7A48-802847F97C1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Triage Activity</a:t>
            </a:r>
            <a:endParaRPr dirty="0"/>
          </a:p>
        </p:txBody>
      </p:sp>
      <p:pic>
        <p:nvPicPr>
          <p:cNvPr id="2" name="Picture 1">
            <a:extLst>
              <a:ext uri="{FF2B5EF4-FFF2-40B4-BE49-F238E27FC236}">
                <a16:creationId xmlns:a16="http://schemas.microsoft.com/office/drawing/2014/main" id="{16E7EBAC-C4B6-58AD-84A9-4B3AF3B46A43}"/>
              </a:ext>
            </a:extLst>
          </p:cNvPr>
          <p:cNvPicPr>
            <a:picLocks noChangeAspect="1"/>
          </p:cNvPicPr>
          <p:nvPr/>
        </p:nvPicPr>
        <p:blipFill>
          <a:blip r:embed="rId4"/>
          <a:stretch>
            <a:fillRect/>
          </a:stretch>
        </p:blipFill>
        <p:spPr>
          <a:xfrm>
            <a:off x="2034277" y="2060369"/>
            <a:ext cx="3251341" cy="3288149"/>
          </a:xfrm>
          <a:prstGeom prst="rect">
            <a:avLst/>
          </a:prstGeom>
        </p:spPr>
      </p:pic>
      <p:pic>
        <p:nvPicPr>
          <p:cNvPr id="7" name="Picture 6" descr="A diagram of a threat model&#10;&#10;AI-generated content may be incorrect.">
            <a:extLst>
              <a:ext uri="{FF2B5EF4-FFF2-40B4-BE49-F238E27FC236}">
                <a16:creationId xmlns:a16="http://schemas.microsoft.com/office/drawing/2014/main" id="{768FA5B2-E2A7-9F02-ADE5-302D98C7A51B}"/>
              </a:ext>
            </a:extLst>
          </p:cNvPr>
          <p:cNvPicPr>
            <a:picLocks noChangeAspect="1"/>
          </p:cNvPicPr>
          <p:nvPr/>
        </p:nvPicPr>
        <p:blipFill>
          <a:blip r:embed="rId5"/>
          <a:stretch>
            <a:fillRect/>
          </a:stretch>
        </p:blipFill>
        <p:spPr>
          <a:xfrm>
            <a:off x="7076572" y="1509482"/>
            <a:ext cx="4889661" cy="4317167"/>
          </a:xfrm>
          <a:prstGeom prst="rect">
            <a:avLst/>
          </a:prstGeom>
        </p:spPr>
      </p:pic>
    </p:spTree>
    <p:extLst>
      <p:ext uri="{BB962C8B-B14F-4D97-AF65-F5344CB8AC3E}">
        <p14:creationId xmlns:p14="http://schemas.microsoft.com/office/powerpoint/2010/main" val="934930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8F13723-17E7-33FC-25C7-8AB956DD08E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79490EA9-EC37-D30B-39BD-4FE1D8EFA3CC}"/>
              </a:ext>
            </a:extLst>
          </p:cNvPr>
          <p:cNvSpPr txBox="1">
            <a:spLocks noGrp="1"/>
          </p:cNvSpPr>
          <p:nvPr>
            <p:ph type="title"/>
          </p:nvPr>
        </p:nvSpPr>
        <p:spPr>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3668521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D55EA73-628B-F214-F206-D771D407D4C0}"/>
            </a:ext>
          </a:extLst>
        </p:cNvPr>
        <p:cNvGrpSpPr/>
        <p:nvPr/>
      </p:nvGrpSpPr>
      <p:grpSpPr>
        <a:xfrm>
          <a:off x="0" y="0"/>
          <a:ext cx="0" cy="0"/>
          <a:chOff x="0" y="0"/>
          <a:chExt cx="0" cy="0"/>
        </a:xfrm>
      </p:grpSpPr>
      <p:pic>
        <p:nvPicPr>
          <p:cNvPr id="3" name="Picture 2" descr="A diagram of a software process&#10;&#10;AI-generated content may be incorrect.">
            <a:extLst>
              <a:ext uri="{FF2B5EF4-FFF2-40B4-BE49-F238E27FC236}">
                <a16:creationId xmlns:a16="http://schemas.microsoft.com/office/drawing/2014/main" id="{E613D367-0F25-99BC-70AE-3A334F12EB7E}"/>
              </a:ext>
            </a:extLst>
          </p:cNvPr>
          <p:cNvPicPr>
            <a:picLocks noChangeAspect="1"/>
          </p:cNvPicPr>
          <p:nvPr/>
        </p:nvPicPr>
        <p:blipFill>
          <a:blip r:embed="rId3"/>
          <a:stretch>
            <a:fillRect/>
          </a:stretch>
        </p:blipFill>
        <p:spPr>
          <a:xfrm>
            <a:off x="4411457" y="575436"/>
            <a:ext cx="6080630" cy="5707127"/>
          </a:xfrm>
          <a:prstGeom prst="rect">
            <a:avLst/>
          </a:prstGeom>
        </p:spPr>
      </p:pic>
      <p:sp>
        <p:nvSpPr>
          <p:cNvPr id="1199" name="Google Shape;1199;p156">
            <a:extLst>
              <a:ext uri="{FF2B5EF4-FFF2-40B4-BE49-F238E27FC236}">
                <a16:creationId xmlns:a16="http://schemas.microsoft.com/office/drawing/2014/main" id="{523B1EBF-80BD-295B-0703-4CE7434B791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Block Diagram</a:t>
            </a:r>
            <a:endParaRPr dirty="0"/>
          </a:p>
        </p:txBody>
      </p:sp>
    </p:spTree>
    <p:extLst>
      <p:ext uri="{BB962C8B-B14F-4D97-AF65-F5344CB8AC3E}">
        <p14:creationId xmlns:p14="http://schemas.microsoft.com/office/powerpoint/2010/main" val="551923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AA20FA8-A30F-7F69-A4D5-3767F9BE1DAE}"/>
            </a:ext>
          </a:extLst>
        </p:cNvPr>
        <p:cNvGrpSpPr/>
        <p:nvPr/>
      </p:nvGrpSpPr>
      <p:grpSpPr>
        <a:xfrm>
          <a:off x="0" y="0"/>
          <a:ext cx="0" cy="0"/>
          <a:chOff x="0" y="0"/>
          <a:chExt cx="0" cy="0"/>
        </a:xfrm>
      </p:grpSpPr>
      <p:pic>
        <p:nvPicPr>
          <p:cNvPr id="8" name="Picture 7" descr="A diagram of a computer&#10;&#10;AI-generated content may be incorrect.">
            <a:extLst>
              <a:ext uri="{FF2B5EF4-FFF2-40B4-BE49-F238E27FC236}">
                <a16:creationId xmlns:a16="http://schemas.microsoft.com/office/drawing/2014/main" id="{9927E141-DE23-32E6-4E46-1E095557839B}"/>
              </a:ext>
            </a:extLst>
          </p:cNvPr>
          <p:cNvPicPr>
            <a:picLocks noChangeAspect="1"/>
          </p:cNvPicPr>
          <p:nvPr/>
        </p:nvPicPr>
        <p:blipFill>
          <a:blip r:embed="rId3"/>
          <a:stretch>
            <a:fillRect/>
          </a:stretch>
        </p:blipFill>
        <p:spPr>
          <a:xfrm>
            <a:off x="2713565" y="375332"/>
            <a:ext cx="6761693" cy="6107336"/>
          </a:xfrm>
          <a:prstGeom prst="rect">
            <a:avLst/>
          </a:prstGeom>
        </p:spPr>
      </p:pic>
      <p:sp>
        <p:nvSpPr>
          <p:cNvPr id="1199" name="Google Shape;1199;p156">
            <a:extLst>
              <a:ext uri="{FF2B5EF4-FFF2-40B4-BE49-F238E27FC236}">
                <a16:creationId xmlns:a16="http://schemas.microsoft.com/office/drawing/2014/main" id="{8C2C1E4F-DEFF-F5AF-2F5F-7F540AEC1D2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1 DFD</a:t>
            </a:r>
            <a:endParaRPr dirty="0"/>
          </a:p>
        </p:txBody>
      </p:sp>
    </p:spTree>
    <p:extLst>
      <p:ext uri="{BB962C8B-B14F-4D97-AF65-F5344CB8AC3E}">
        <p14:creationId xmlns:p14="http://schemas.microsoft.com/office/powerpoint/2010/main" val="2571450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9D0E8D7-4614-B156-003B-2B0B11EBD83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48A33A7D-1839-F02D-FA3A-444B05CC0D80}"/>
              </a:ext>
            </a:extLst>
          </p:cNvPr>
          <p:cNvSpPr txBox="1">
            <a:spLocks noGrp="1"/>
          </p:cNvSpPr>
          <p:nvPr>
            <p:ph type="title"/>
          </p:nvPr>
        </p:nvSpPr>
        <p:spPr>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Analysis</a:t>
            </a:r>
            <a:endParaRPr sz="6600" dirty="0"/>
          </a:p>
        </p:txBody>
      </p:sp>
    </p:spTree>
    <p:extLst>
      <p:ext uri="{BB962C8B-B14F-4D97-AF65-F5344CB8AC3E}">
        <p14:creationId xmlns:p14="http://schemas.microsoft.com/office/powerpoint/2010/main" val="2718865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A7B8A2B-2A75-E813-C7D1-8904BED53A18}"/>
            </a:ext>
          </a:extLst>
        </p:cNvPr>
        <p:cNvGrpSpPr/>
        <p:nvPr/>
      </p:nvGrpSpPr>
      <p:grpSpPr>
        <a:xfrm>
          <a:off x="0" y="0"/>
          <a:ext cx="0" cy="0"/>
          <a:chOff x="0" y="0"/>
          <a:chExt cx="0" cy="0"/>
        </a:xfrm>
      </p:grpSpPr>
      <p:pic>
        <p:nvPicPr>
          <p:cNvPr id="4" name="Picture 3" descr="A diagram of a service&#10;&#10;AI-generated content may be incorrect.">
            <a:extLst>
              <a:ext uri="{FF2B5EF4-FFF2-40B4-BE49-F238E27FC236}">
                <a16:creationId xmlns:a16="http://schemas.microsoft.com/office/drawing/2014/main" id="{CD12DFF9-EAA9-35D3-F4C9-DC32EB256707}"/>
              </a:ext>
            </a:extLst>
          </p:cNvPr>
          <p:cNvPicPr>
            <a:picLocks noChangeAspect="1"/>
          </p:cNvPicPr>
          <p:nvPr/>
        </p:nvPicPr>
        <p:blipFill>
          <a:blip r:embed="rId3"/>
          <a:stretch>
            <a:fillRect/>
          </a:stretch>
        </p:blipFill>
        <p:spPr>
          <a:xfrm>
            <a:off x="2388226" y="1702596"/>
            <a:ext cx="7412371" cy="3452807"/>
          </a:xfrm>
          <a:prstGeom prst="rect">
            <a:avLst/>
          </a:prstGeom>
        </p:spPr>
      </p:pic>
      <p:sp>
        <p:nvSpPr>
          <p:cNvPr id="1199" name="Google Shape;1199;p156">
            <a:extLst>
              <a:ext uri="{FF2B5EF4-FFF2-40B4-BE49-F238E27FC236}">
                <a16:creationId xmlns:a16="http://schemas.microsoft.com/office/drawing/2014/main" id="{A6CDC77C-1E1D-5A83-A3FC-F6F8B65E448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Normal Operation</a:t>
            </a:r>
            <a:endParaRPr dirty="0"/>
          </a:p>
        </p:txBody>
      </p:sp>
    </p:spTree>
    <p:extLst>
      <p:ext uri="{BB962C8B-B14F-4D97-AF65-F5344CB8AC3E}">
        <p14:creationId xmlns:p14="http://schemas.microsoft.com/office/powerpoint/2010/main" val="1398225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CFD7195-5C64-D820-D5D8-0FA04D9F0A98}"/>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54819C24-1618-B984-9B31-62B127A2E8B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Focus on Trust Differential</a:t>
            </a:r>
            <a:endParaRPr dirty="0"/>
          </a:p>
        </p:txBody>
      </p:sp>
      <p:pic>
        <p:nvPicPr>
          <p:cNvPr id="3" name="Picture 2" descr="A diagram of a web server&#10;&#10;AI-generated content may be incorrect.">
            <a:extLst>
              <a:ext uri="{FF2B5EF4-FFF2-40B4-BE49-F238E27FC236}">
                <a16:creationId xmlns:a16="http://schemas.microsoft.com/office/drawing/2014/main" id="{C09A4773-AFFD-F64D-55A9-CB42A0BBFC90}"/>
              </a:ext>
            </a:extLst>
          </p:cNvPr>
          <p:cNvPicPr>
            <a:picLocks noChangeAspect="1"/>
          </p:cNvPicPr>
          <p:nvPr/>
        </p:nvPicPr>
        <p:blipFill>
          <a:blip r:embed="rId3"/>
          <a:stretch>
            <a:fillRect/>
          </a:stretch>
        </p:blipFill>
        <p:spPr>
          <a:xfrm>
            <a:off x="4816305" y="2023683"/>
            <a:ext cx="4984292" cy="2482449"/>
          </a:xfrm>
          <a:prstGeom prst="rect">
            <a:avLst/>
          </a:prstGeom>
        </p:spPr>
      </p:pic>
    </p:spTree>
    <p:extLst>
      <p:ext uri="{BB962C8B-B14F-4D97-AF65-F5344CB8AC3E}">
        <p14:creationId xmlns:p14="http://schemas.microsoft.com/office/powerpoint/2010/main" val="757417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FA138C4-2AD3-EBFA-C6E6-F579FB481B0D}"/>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A4F4F95F-57EA-EF69-7DA4-9D1F505A37E0}"/>
              </a:ext>
            </a:extLst>
          </p:cNvPr>
          <p:cNvPicPr>
            <a:picLocks noChangeAspect="1"/>
          </p:cNvPicPr>
          <p:nvPr/>
        </p:nvPicPr>
        <p:blipFill>
          <a:blip r:embed="rId3"/>
          <a:srcRect l="-3" r="66485"/>
          <a:stretch>
            <a:fillRect/>
          </a:stretch>
        </p:blipFill>
        <p:spPr>
          <a:xfrm>
            <a:off x="455618" y="4165117"/>
            <a:ext cx="3840480" cy="1178561"/>
          </a:xfrm>
          <a:prstGeom prst="rect">
            <a:avLst/>
          </a:prstGeom>
        </p:spPr>
      </p:pic>
      <p:pic>
        <p:nvPicPr>
          <p:cNvPr id="19" name="Picture 18">
            <a:extLst>
              <a:ext uri="{FF2B5EF4-FFF2-40B4-BE49-F238E27FC236}">
                <a16:creationId xmlns:a16="http://schemas.microsoft.com/office/drawing/2014/main" id="{E4D46478-1094-9626-BE33-2DB61C703B81}"/>
              </a:ext>
            </a:extLst>
          </p:cNvPr>
          <p:cNvPicPr>
            <a:picLocks noChangeAspect="1"/>
          </p:cNvPicPr>
          <p:nvPr/>
        </p:nvPicPr>
        <p:blipFill>
          <a:blip r:embed="rId3"/>
          <a:srcRect l="35815" r="-450"/>
          <a:stretch>
            <a:fillRect/>
          </a:stretch>
        </p:blipFill>
        <p:spPr>
          <a:xfrm>
            <a:off x="4389120" y="4165117"/>
            <a:ext cx="7406640" cy="1178561"/>
          </a:xfrm>
          <a:prstGeom prst="rect">
            <a:avLst/>
          </a:prstGeom>
        </p:spPr>
      </p:pic>
      <p:sp>
        <p:nvSpPr>
          <p:cNvPr id="1199" name="Google Shape;1199;p156">
            <a:extLst>
              <a:ext uri="{FF2B5EF4-FFF2-40B4-BE49-F238E27FC236}">
                <a16:creationId xmlns:a16="http://schemas.microsoft.com/office/drawing/2014/main" id="{A18F26E1-944A-4C54-D768-04A5E597468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Analysis Results</a:t>
            </a:r>
            <a:endParaRPr dirty="0"/>
          </a:p>
        </p:txBody>
      </p:sp>
      <p:pic>
        <p:nvPicPr>
          <p:cNvPr id="5" name="Picture 4" descr="A close-up of a document&#10;&#10;AI-generated content may be incorrect.">
            <a:extLst>
              <a:ext uri="{FF2B5EF4-FFF2-40B4-BE49-F238E27FC236}">
                <a16:creationId xmlns:a16="http://schemas.microsoft.com/office/drawing/2014/main" id="{1DF98A31-6484-8AE4-CEDF-8BC25A24C4D0}"/>
              </a:ext>
            </a:extLst>
          </p:cNvPr>
          <p:cNvPicPr>
            <a:picLocks noChangeAspect="1"/>
          </p:cNvPicPr>
          <p:nvPr/>
        </p:nvPicPr>
        <p:blipFill>
          <a:blip r:embed="rId4"/>
          <a:stretch>
            <a:fillRect/>
          </a:stretch>
        </p:blipFill>
        <p:spPr>
          <a:xfrm>
            <a:off x="455618" y="1344367"/>
            <a:ext cx="6100763" cy="2378991"/>
          </a:xfrm>
          <a:prstGeom prst="rect">
            <a:avLst/>
          </a:prstGeom>
        </p:spPr>
      </p:pic>
      <p:pic>
        <p:nvPicPr>
          <p:cNvPr id="12" name="Picture 11" descr="A diagram of a web server&#10;&#10;AI-generated content may be incorrect.">
            <a:extLst>
              <a:ext uri="{FF2B5EF4-FFF2-40B4-BE49-F238E27FC236}">
                <a16:creationId xmlns:a16="http://schemas.microsoft.com/office/drawing/2014/main" id="{82A1F1FC-1DF9-8374-AE5E-BD5973B17C07}"/>
              </a:ext>
            </a:extLst>
          </p:cNvPr>
          <p:cNvPicPr>
            <a:picLocks noChangeAspect="1"/>
          </p:cNvPicPr>
          <p:nvPr/>
        </p:nvPicPr>
        <p:blipFill>
          <a:blip r:embed="rId5"/>
          <a:stretch>
            <a:fillRect/>
          </a:stretch>
        </p:blipFill>
        <p:spPr>
          <a:xfrm>
            <a:off x="6748915" y="1442660"/>
            <a:ext cx="4984292" cy="2482449"/>
          </a:xfrm>
          <a:prstGeom prst="rect">
            <a:avLst/>
          </a:prstGeom>
        </p:spPr>
      </p:pic>
      <p:grpSp>
        <p:nvGrpSpPr>
          <p:cNvPr id="13" name="Group 12">
            <a:extLst>
              <a:ext uri="{FF2B5EF4-FFF2-40B4-BE49-F238E27FC236}">
                <a16:creationId xmlns:a16="http://schemas.microsoft.com/office/drawing/2014/main" id="{CD6AF4F4-E33B-7691-D7EE-50D1FFD11CE9}"/>
              </a:ext>
            </a:extLst>
          </p:cNvPr>
          <p:cNvGrpSpPr/>
          <p:nvPr/>
        </p:nvGrpSpPr>
        <p:grpSpPr>
          <a:xfrm>
            <a:off x="455618" y="5765421"/>
            <a:ext cx="3840797" cy="631895"/>
            <a:chOff x="2731870" y="1328492"/>
            <a:chExt cx="6725084" cy="1106424"/>
          </a:xfrm>
        </p:grpSpPr>
        <p:pic>
          <p:nvPicPr>
            <p:cNvPr id="14" name="Picture 13" descr="A screenshot of a document&#10;&#10;AI-generated content may be incorrect.">
              <a:extLst>
                <a:ext uri="{FF2B5EF4-FFF2-40B4-BE49-F238E27FC236}">
                  <a16:creationId xmlns:a16="http://schemas.microsoft.com/office/drawing/2014/main" id="{74E90E42-5CC3-5E4F-2DCD-8404277436BB}"/>
                </a:ext>
              </a:extLst>
            </p:cNvPr>
            <p:cNvPicPr>
              <a:picLocks noChangeAspect="1"/>
            </p:cNvPicPr>
            <p:nvPr/>
          </p:nvPicPr>
          <p:blipFill>
            <a:blip r:embed="rId6"/>
            <a:srcRect t="3" b="94404"/>
            <a:stretch>
              <a:fillRect/>
            </a:stretch>
          </p:blipFill>
          <p:spPr>
            <a:xfrm>
              <a:off x="2731870" y="1328492"/>
              <a:ext cx="6725084" cy="283464"/>
            </a:xfrm>
            <a:prstGeom prst="rect">
              <a:avLst/>
            </a:prstGeom>
          </p:spPr>
        </p:pic>
        <p:pic>
          <p:nvPicPr>
            <p:cNvPr id="15" name="Picture 14" descr="A screenshot of a document&#10;&#10;AI-generated content may be incorrect.">
              <a:extLst>
                <a:ext uri="{FF2B5EF4-FFF2-40B4-BE49-F238E27FC236}">
                  <a16:creationId xmlns:a16="http://schemas.microsoft.com/office/drawing/2014/main" id="{0D36BE3F-C71D-2DAD-4922-2D249BA3A326}"/>
                </a:ext>
              </a:extLst>
            </p:cNvPr>
            <p:cNvPicPr>
              <a:picLocks noChangeAspect="1"/>
            </p:cNvPicPr>
            <p:nvPr/>
          </p:nvPicPr>
          <p:blipFill>
            <a:blip r:embed="rId6"/>
            <a:srcRect t="84635" b="-869"/>
            <a:stretch>
              <a:fillRect/>
            </a:stretch>
          </p:blipFill>
          <p:spPr>
            <a:xfrm>
              <a:off x="2731870" y="1611956"/>
              <a:ext cx="6725084" cy="822960"/>
            </a:xfrm>
            <a:prstGeom prst="rect">
              <a:avLst/>
            </a:prstGeom>
          </p:spPr>
        </p:pic>
      </p:grpSp>
    </p:spTree>
    <p:extLst>
      <p:ext uri="{BB962C8B-B14F-4D97-AF65-F5344CB8AC3E}">
        <p14:creationId xmlns:p14="http://schemas.microsoft.com/office/powerpoint/2010/main" val="2377108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ED8D4DE-8678-41A3-EAB2-1929FFDD3DD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79871B24-D553-1AF8-5A5A-7E895BD3DD36}"/>
              </a:ext>
            </a:extLst>
          </p:cNvPr>
          <p:cNvSpPr txBox="1">
            <a:spLocks noGrp="1"/>
          </p:cNvSpPr>
          <p:nvPr>
            <p:ph type="title"/>
          </p:nvPr>
        </p:nvSpPr>
        <p:spPr>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Triage</a:t>
            </a:r>
            <a:endParaRPr sz="6600" dirty="0"/>
          </a:p>
        </p:txBody>
      </p:sp>
    </p:spTree>
    <p:extLst>
      <p:ext uri="{BB962C8B-B14F-4D97-AF65-F5344CB8AC3E}">
        <p14:creationId xmlns:p14="http://schemas.microsoft.com/office/powerpoint/2010/main" val="521153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7A2C2-97FD-78A1-4432-5CA11BCED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1B814-0493-4F67-6167-B0D3F84F1BE3}"/>
              </a:ext>
            </a:extLst>
          </p:cNvPr>
          <p:cNvSpPr>
            <a:spLocks noGrp="1"/>
          </p:cNvSpPr>
          <p:nvPr>
            <p:ph type="title"/>
          </p:nvPr>
        </p:nvSpPr>
        <p:spPr/>
        <p:txBody>
          <a:bodyPr/>
          <a:lstStyle/>
          <a:p>
            <a:pPr>
              <a:lnSpc>
                <a:spcPct val="100000"/>
              </a:lnSpc>
            </a:pPr>
            <a:r>
              <a:rPr lang="en-US" dirty="0"/>
              <a:t>Methodology</a:t>
            </a:r>
          </a:p>
        </p:txBody>
      </p:sp>
      <p:sp>
        <p:nvSpPr>
          <p:cNvPr id="3" name="Text Placeholder 2">
            <a:extLst>
              <a:ext uri="{FF2B5EF4-FFF2-40B4-BE49-F238E27FC236}">
                <a16:creationId xmlns:a16="http://schemas.microsoft.com/office/drawing/2014/main" id="{68AE30F0-C86B-5CC6-35F3-F5030E41B3DB}"/>
              </a:ext>
            </a:extLst>
          </p:cNvPr>
          <p:cNvSpPr>
            <a:spLocks noGrp="1"/>
          </p:cNvSpPr>
          <p:nvPr>
            <p:ph type="body" idx="1"/>
          </p:nvPr>
        </p:nvSpPr>
        <p:spPr>
          <a:xfrm>
            <a:off x="1173162" y="3856008"/>
            <a:ext cx="10442574" cy="2659092"/>
          </a:xfrm>
        </p:spPr>
        <p:txBody>
          <a:bodyPr/>
          <a:lstStyle/>
          <a:p>
            <a:pPr marL="571503" indent="-342900">
              <a:lnSpc>
                <a:spcPct val="150000"/>
              </a:lnSpc>
              <a:spcBef>
                <a:spcPts val="0"/>
              </a:spcBef>
              <a:buFont typeface="Arial" panose="020B0604020202020204" pitchFamily="34" charset="0"/>
              <a:buChar char="•"/>
            </a:pPr>
            <a:r>
              <a:rPr lang="en-US" dirty="0"/>
              <a:t>Determination</a:t>
            </a:r>
          </a:p>
          <a:p>
            <a:pPr marL="571503" indent="-342900">
              <a:lnSpc>
                <a:spcPct val="150000"/>
              </a:lnSpc>
              <a:spcBef>
                <a:spcPts val="0"/>
              </a:spcBef>
              <a:buFont typeface="Arial" panose="020B0604020202020204" pitchFamily="34" charset="0"/>
              <a:buChar char="•"/>
            </a:pPr>
            <a:r>
              <a:rPr lang="en-US" dirty="0"/>
              <a:t>Preliminary severity</a:t>
            </a:r>
          </a:p>
          <a:p>
            <a:pPr marL="571503" indent="-342900">
              <a:lnSpc>
                <a:spcPct val="150000"/>
              </a:lnSpc>
              <a:spcBef>
                <a:spcPts val="0"/>
              </a:spcBef>
              <a:buFont typeface="Arial" panose="020B0604020202020204" pitchFamily="34" charset="0"/>
              <a:buChar char="•"/>
            </a:pPr>
            <a:r>
              <a:rPr lang="en-US" dirty="0"/>
              <a:t>Justification</a:t>
            </a:r>
          </a:p>
          <a:p>
            <a:pPr marL="571503" indent="-342900">
              <a:spcBef>
                <a:spcPts val="0"/>
              </a:spcBef>
              <a:buFont typeface="Arial" panose="020B0604020202020204" pitchFamily="34" charset="0"/>
              <a:buChar char="•"/>
            </a:pPr>
            <a:endParaRPr lang="en-US" dirty="0"/>
          </a:p>
        </p:txBody>
      </p:sp>
      <p:pic>
        <p:nvPicPr>
          <p:cNvPr id="6" name="Picture 5" descr="A close-up of a computer screen&#10;&#10;AI-generated content may be incorrect.">
            <a:extLst>
              <a:ext uri="{FF2B5EF4-FFF2-40B4-BE49-F238E27FC236}">
                <a16:creationId xmlns:a16="http://schemas.microsoft.com/office/drawing/2014/main" id="{15304A00-B517-D84A-331D-BBB2DF2FDDC6}"/>
              </a:ext>
            </a:extLst>
          </p:cNvPr>
          <p:cNvPicPr>
            <a:picLocks noChangeAspect="1"/>
          </p:cNvPicPr>
          <p:nvPr/>
        </p:nvPicPr>
        <p:blipFill>
          <a:blip r:embed="rId3"/>
          <a:stretch>
            <a:fillRect/>
          </a:stretch>
        </p:blipFill>
        <p:spPr>
          <a:xfrm>
            <a:off x="1173162" y="1346200"/>
            <a:ext cx="9842500" cy="2082800"/>
          </a:xfrm>
          <a:prstGeom prst="rect">
            <a:avLst/>
          </a:prstGeom>
        </p:spPr>
      </p:pic>
    </p:spTree>
    <p:extLst>
      <p:ext uri="{BB962C8B-B14F-4D97-AF65-F5344CB8AC3E}">
        <p14:creationId xmlns:p14="http://schemas.microsoft.com/office/powerpoint/2010/main" val="12833454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F7B94-D85F-9726-BFE3-7BC0D86BA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91B83-17F9-799F-24B3-CB7B8FBE08CA}"/>
              </a:ext>
            </a:extLst>
          </p:cNvPr>
          <p:cNvSpPr>
            <a:spLocks noGrp="1"/>
          </p:cNvSpPr>
          <p:nvPr>
            <p:ph type="title"/>
          </p:nvPr>
        </p:nvSpPr>
        <p:spPr/>
        <p:txBody>
          <a:bodyPr/>
          <a:lstStyle/>
          <a:p>
            <a:pPr>
              <a:lnSpc>
                <a:spcPct val="100000"/>
              </a:lnSpc>
            </a:pPr>
            <a:r>
              <a:rPr lang="en-US" dirty="0"/>
              <a:t>Determination</a:t>
            </a:r>
          </a:p>
        </p:txBody>
      </p:sp>
      <p:sp>
        <p:nvSpPr>
          <p:cNvPr id="3" name="Text Placeholder 2">
            <a:extLst>
              <a:ext uri="{FF2B5EF4-FFF2-40B4-BE49-F238E27FC236}">
                <a16:creationId xmlns:a16="http://schemas.microsoft.com/office/drawing/2014/main" id="{0223176A-76BB-6CC6-94FC-8851831889B9}"/>
              </a:ext>
            </a:extLst>
          </p:cNvPr>
          <p:cNvSpPr>
            <a:spLocks noGrp="1"/>
          </p:cNvSpPr>
          <p:nvPr>
            <p:ph type="body" idx="1"/>
          </p:nvPr>
        </p:nvSpPr>
        <p:spPr/>
        <p:txBody>
          <a:bodyPr/>
          <a:lstStyle/>
          <a:p>
            <a:pPr marL="571503" indent="-342900">
              <a:lnSpc>
                <a:spcPct val="150000"/>
              </a:lnSpc>
              <a:spcBef>
                <a:spcPts val="0"/>
              </a:spcBef>
              <a:buFont typeface="Arial" panose="020B0604020202020204" pitchFamily="34" charset="0"/>
              <a:buChar char="•"/>
            </a:pPr>
            <a:r>
              <a:rPr lang="en-US" dirty="0"/>
              <a:t>Valid</a:t>
            </a:r>
          </a:p>
          <a:p>
            <a:pPr marL="571503" indent="-342900">
              <a:lnSpc>
                <a:spcPct val="150000"/>
              </a:lnSpc>
              <a:spcBef>
                <a:spcPts val="0"/>
              </a:spcBef>
              <a:buFont typeface="Arial" panose="020B0604020202020204" pitchFamily="34" charset="0"/>
              <a:buChar char="•"/>
            </a:pPr>
            <a:r>
              <a:rPr lang="en-US" dirty="0"/>
              <a:t>Insufficient model</a:t>
            </a:r>
          </a:p>
          <a:p>
            <a:pPr marL="571503" indent="-342900">
              <a:lnSpc>
                <a:spcPct val="150000"/>
              </a:lnSpc>
              <a:spcBef>
                <a:spcPts val="0"/>
              </a:spcBef>
              <a:buFont typeface="Arial" panose="020B0604020202020204" pitchFamily="34" charset="0"/>
              <a:buChar char="•"/>
            </a:pPr>
            <a:r>
              <a:rPr lang="en-US" dirty="0"/>
              <a:t>Non-issue</a:t>
            </a:r>
          </a:p>
          <a:p>
            <a:pPr marL="571503" indent="-342900">
              <a:spcBef>
                <a:spcPts val="0"/>
              </a:spcBef>
              <a:buFont typeface="Arial" panose="020B0604020202020204" pitchFamily="34" charset="0"/>
              <a:buChar char="•"/>
            </a:pPr>
            <a:endParaRPr lang="en-US" dirty="0"/>
          </a:p>
        </p:txBody>
      </p:sp>
      <p:pic>
        <p:nvPicPr>
          <p:cNvPr id="6" name="Picture 5" descr="A close-up of a computer screen&#10;&#10;AI-generated content may be incorrect.">
            <a:extLst>
              <a:ext uri="{FF2B5EF4-FFF2-40B4-BE49-F238E27FC236}">
                <a16:creationId xmlns:a16="http://schemas.microsoft.com/office/drawing/2014/main" id="{F15ABBDB-DFE9-1F6B-123A-E511C5A99A42}"/>
              </a:ext>
            </a:extLst>
          </p:cNvPr>
          <p:cNvPicPr>
            <a:picLocks noChangeAspect="1"/>
          </p:cNvPicPr>
          <p:nvPr/>
        </p:nvPicPr>
        <p:blipFill>
          <a:blip r:embed="rId3"/>
          <a:stretch>
            <a:fillRect/>
          </a:stretch>
        </p:blipFill>
        <p:spPr>
          <a:xfrm>
            <a:off x="7348909" y="460684"/>
            <a:ext cx="4384298" cy="927774"/>
          </a:xfrm>
          <a:prstGeom prst="rect">
            <a:avLst/>
          </a:prstGeom>
        </p:spPr>
      </p:pic>
      <p:sp>
        <p:nvSpPr>
          <p:cNvPr id="7" name="Rectangle 6">
            <a:extLst>
              <a:ext uri="{FF2B5EF4-FFF2-40B4-BE49-F238E27FC236}">
                <a16:creationId xmlns:a16="http://schemas.microsoft.com/office/drawing/2014/main" id="{3C96874D-446F-A76E-7D76-D7CA0ED5DCCD}"/>
              </a:ext>
            </a:extLst>
          </p:cNvPr>
          <p:cNvSpPr/>
          <p:nvPr/>
        </p:nvSpPr>
        <p:spPr>
          <a:xfrm>
            <a:off x="7671188" y="921380"/>
            <a:ext cx="481630" cy="446138"/>
          </a:xfrm>
          <a:prstGeom prst="rect">
            <a:avLst/>
          </a:prstGeom>
          <a:solidFill>
            <a:srgbClr val="E36275">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0167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D464975-482D-FBC9-2910-5F25C76DC72F}"/>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61FCC6E3-AA18-CDE5-FB40-160D9F4FDEF4}"/>
              </a:ext>
            </a:extLst>
          </p:cNvPr>
          <p:cNvSpPr txBox="1">
            <a:spLocks noGrp="1"/>
          </p:cNvSpPr>
          <p:nvPr>
            <p:ph type="title"/>
          </p:nvPr>
        </p:nvSpPr>
        <p:spPr>
          <a:prstGeom prst="rect">
            <a:avLst/>
          </a:prstGeom>
        </p:spPr>
        <p:txBody>
          <a:bodyPr spcFirstLastPara="1" wrap="square" lIns="0" tIns="0" rIns="0" bIns="0" anchor="ctr" anchorCtr="0">
            <a:noAutofit/>
          </a:bodyPr>
          <a:lstStyle/>
          <a:p>
            <a:pPr>
              <a:lnSpc>
                <a:spcPct val="100000"/>
              </a:lnSpc>
            </a:pPr>
            <a:r>
              <a:rPr lang="en" dirty="0"/>
              <a:t>Preliminary Severity</a:t>
            </a:r>
            <a:endParaRPr dirty="0"/>
          </a:p>
        </p:txBody>
      </p:sp>
      <p:pic>
        <p:nvPicPr>
          <p:cNvPr id="17" name="Picture 16" descr="A yellow and green squares with black numbers&#10;&#10;AI-generated content may be incorrect.">
            <a:extLst>
              <a:ext uri="{FF2B5EF4-FFF2-40B4-BE49-F238E27FC236}">
                <a16:creationId xmlns:a16="http://schemas.microsoft.com/office/drawing/2014/main" id="{3D46BDEC-9C7F-6F7F-A411-A024B9790AA4}"/>
              </a:ext>
            </a:extLst>
          </p:cNvPr>
          <p:cNvPicPr>
            <a:picLocks noChangeAspect="1"/>
          </p:cNvPicPr>
          <p:nvPr/>
        </p:nvPicPr>
        <p:blipFill>
          <a:blip r:embed="rId3"/>
          <a:stretch>
            <a:fillRect/>
          </a:stretch>
        </p:blipFill>
        <p:spPr>
          <a:xfrm>
            <a:off x="2208212" y="2856614"/>
            <a:ext cx="7772400" cy="1144771"/>
          </a:xfrm>
          <a:prstGeom prst="rect">
            <a:avLst/>
          </a:prstGeom>
        </p:spPr>
      </p:pic>
      <p:pic>
        <p:nvPicPr>
          <p:cNvPr id="20" name="Picture 19" descr="A close-up of a computer screen&#10;&#10;AI-generated content may be incorrect.">
            <a:extLst>
              <a:ext uri="{FF2B5EF4-FFF2-40B4-BE49-F238E27FC236}">
                <a16:creationId xmlns:a16="http://schemas.microsoft.com/office/drawing/2014/main" id="{45CE9D75-65B0-888E-F54D-BE8DB996B0C9}"/>
              </a:ext>
            </a:extLst>
          </p:cNvPr>
          <p:cNvPicPr>
            <a:picLocks noChangeAspect="1"/>
          </p:cNvPicPr>
          <p:nvPr/>
        </p:nvPicPr>
        <p:blipFill>
          <a:blip r:embed="rId4"/>
          <a:stretch>
            <a:fillRect/>
          </a:stretch>
        </p:blipFill>
        <p:spPr>
          <a:xfrm>
            <a:off x="7348909" y="460684"/>
            <a:ext cx="4384298" cy="927774"/>
          </a:xfrm>
          <a:prstGeom prst="rect">
            <a:avLst/>
          </a:prstGeom>
        </p:spPr>
      </p:pic>
      <p:sp>
        <p:nvSpPr>
          <p:cNvPr id="21" name="Rectangle 20">
            <a:extLst>
              <a:ext uri="{FF2B5EF4-FFF2-40B4-BE49-F238E27FC236}">
                <a16:creationId xmlns:a16="http://schemas.microsoft.com/office/drawing/2014/main" id="{70EF162A-0B31-1B79-67BB-6D64041A2D72}"/>
              </a:ext>
            </a:extLst>
          </p:cNvPr>
          <p:cNvSpPr/>
          <p:nvPr/>
        </p:nvSpPr>
        <p:spPr>
          <a:xfrm>
            <a:off x="8145837" y="914400"/>
            <a:ext cx="698015" cy="446138"/>
          </a:xfrm>
          <a:prstGeom prst="rect">
            <a:avLst/>
          </a:prstGeom>
          <a:solidFill>
            <a:srgbClr val="E36275">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2613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B93FEC1-C25F-261A-B547-F68AEF82DAA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75A9E4B-15A4-82BA-A107-BD8D79BF716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Triage</a:t>
            </a:r>
            <a:endParaRPr dirty="0"/>
          </a:p>
        </p:txBody>
      </p:sp>
      <p:pic>
        <p:nvPicPr>
          <p:cNvPr id="7" name="Picture 6">
            <a:extLst>
              <a:ext uri="{FF2B5EF4-FFF2-40B4-BE49-F238E27FC236}">
                <a16:creationId xmlns:a16="http://schemas.microsoft.com/office/drawing/2014/main" id="{4D975143-73CA-F1C3-891B-EE38F2A64DF2}"/>
              </a:ext>
            </a:extLst>
          </p:cNvPr>
          <p:cNvPicPr>
            <a:picLocks noChangeAspect="1"/>
          </p:cNvPicPr>
          <p:nvPr/>
        </p:nvPicPr>
        <p:blipFill>
          <a:blip r:embed="rId3"/>
          <a:srcRect/>
          <a:stretch/>
        </p:blipFill>
        <p:spPr>
          <a:xfrm>
            <a:off x="455618" y="4095875"/>
            <a:ext cx="7291776" cy="2349437"/>
          </a:xfrm>
          <a:prstGeom prst="rect">
            <a:avLst/>
          </a:prstGeom>
        </p:spPr>
      </p:pic>
      <p:grpSp>
        <p:nvGrpSpPr>
          <p:cNvPr id="8" name="Group 7">
            <a:extLst>
              <a:ext uri="{FF2B5EF4-FFF2-40B4-BE49-F238E27FC236}">
                <a16:creationId xmlns:a16="http://schemas.microsoft.com/office/drawing/2014/main" id="{57831BA8-AF48-DD1B-B535-D051BC89BB2D}"/>
              </a:ext>
            </a:extLst>
          </p:cNvPr>
          <p:cNvGrpSpPr/>
          <p:nvPr/>
        </p:nvGrpSpPr>
        <p:grpSpPr>
          <a:xfrm>
            <a:off x="7892410" y="5581320"/>
            <a:ext cx="3840797" cy="631895"/>
            <a:chOff x="2731870" y="1328492"/>
            <a:chExt cx="6725084" cy="1106424"/>
          </a:xfrm>
        </p:grpSpPr>
        <p:pic>
          <p:nvPicPr>
            <p:cNvPr id="9" name="Picture 8" descr="A screenshot of a document&#10;&#10;AI-generated content may be incorrect.">
              <a:extLst>
                <a:ext uri="{FF2B5EF4-FFF2-40B4-BE49-F238E27FC236}">
                  <a16:creationId xmlns:a16="http://schemas.microsoft.com/office/drawing/2014/main" id="{03FBE883-EA15-6C1E-2760-8A6CBFD00D7E}"/>
                </a:ext>
              </a:extLst>
            </p:cNvPr>
            <p:cNvPicPr>
              <a:picLocks noChangeAspect="1"/>
            </p:cNvPicPr>
            <p:nvPr/>
          </p:nvPicPr>
          <p:blipFill>
            <a:blip r:embed="rId4"/>
            <a:srcRect t="3" b="94404"/>
            <a:stretch>
              <a:fillRect/>
            </a:stretch>
          </p:blipFill>
          <p:spPr>
            <a:xfrm>
              <a:off x="2731870" y="1328492"/>
              <a:ext cx="6725084" cy="283464"/>
            </a:xfrm>
            <a:prstGeom prst="rect">
              <a:avLst/>
            </a:prstGeom>
          </p:spPr>
        </p:pic>
        <p:pic>
          <p:nvPicPr>
            <p:cNvPr id="10" name="Picture 9" descr="A screenshot of a document&#10;&#10;AI-generated content may be incorrect.">
              <a:extLst>
                <a:ext uri="{FF2B5EF4-FFF2-40B4-BE49-F238E27FC236}">
                  <a16:creationId xmlns:a16="http://schemas.microsoft.com/office/drawing/2014/main" id="{E8A5D6FC-05FF-72B7-B25B-514A454E1981}"/>
                </a:ext>
              </a:extLst>
            </p:cNvPr>
            <p:cNvPicPr>
              <a:picLocks noChangeAspect="1"/>
            </p:cNvPicPr>
            <p:nvPr/>
          </p:nvPicPr>
          <p:blipFill>
            <a:blip r:embed="rId4"/>
            <a:srcRect t="84635" b="-869"/>
            <a:stretch>
              <a:fillRect/>
            </a:stretch>
          </p:blipFill>
          <p:spPr>
            <a:xfrm>
              <a:off x="2731870" y="1611956"/>
              <a:ext cx="6725084" cy="822960"/>
            </a:xfrm>
            <a:prstGeom prst="rect">
              <a:avLst/>
            </a:prstGeom>
          </p:spPr>
        </p:pic>
      </p:grpSp>
      <p:pic>
        <p:nvPicPr>
          <p:cNvPr id="13" name="Picture 12" descr="A close-up of a document&#10;&#10;AI-generated content may be incorrect.">
            <a:extLst>
              <a:ext uri="{FF2B5EF4-FFF2-40B4-BE49-F238E27FC236}">
                <a16:creationId xmlns:a16="http://schemas.microsoft.com/office/drawing/2014/main" id="{2C381240-00EA-A154-714B-0DC42DD564D8}"/>
              </a:ext>
            </a:extLst>
          </p:cNvPr>
          <p:cNvPicPr>
            <a:picLocks noChangeAspect="1"/>
          </p:cNvPicPr>
          <p:nvPr/>
        </p:nvPicPr>
        <p:blipFill>
          <a:blip r:embed="rId5"/>
          <a:stretch>
            <a:fillRect/>
          </a:stretch>
        </p:blipFill>
        <p:spPr>
          <a:xfrm>
            <a:off x="455618" y="1344367"/>
            <a:ext cx="6100763" cy="2378991"/>
          </a:xfrm>
          <a:prstGeom prst="rect">
            <a:avLst/>
          </a:prstGeom>
        </p:spPr>
      </p:pic>
      <p:pic>
        <p:nvPicPr>
          <p:cNvPr id="14" name="Picture 13" descr="A diagram of a web server&#10;&#10;AI-generated content may be incorrect.">
            <a:extLst>
              <a:ext uri="{FF2B5EF4-FFF2-40B4-BE49-F238E27FC236}">
                <a16:creationId xmlns:a16="http://schemas.microsoft.com/office/drawing/2014/main" id="{8DFC7E66-0663-F39C-6C22-E1F5B5079F4B}"/>
              </a:ext>
            </a:extLst>
          </p:cNvPr>
          <p:cNvPicPr>
            <a:picLocks noChangeAspect="1"/>
          </p:cNvPicPr>
          <p:nvPr/>
        </p:nvPicPr>
        <p:blipFill>
          <a:blip r:embed="rId6"/>
          <a:stretch>
            <a:fillRect/>
          </a:stretch>
        </p:blipFill>
        <p:spPr>
          <a:xfrm>
            <a:off x="6748915" y="1442660"/>
            <a:ext cx="4984292" cy="2482449"/>
          </a:xfrm>
          <a:prstGeom prst="rect">
            <a:avLst/>
          </a:prstGeom>
        </p:spPr>
      </p:pic>
    </p:spTree>
    <p:extLst>
      <p:ext uri="{BB962C8B-B14F-4D97-AF65-F5344CB8AC3E}">
        <p14:creationId xmlns:p14="http://schemas.microsoft.com/office/powerpoint/2010/main" val="2211026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ED0EA-7D7C-7963-11D9-60FD08358C11}"/>
              </a:ext>
            </a:extLst>
          </p:cNvPr>
          <p:cNvSpPr>
            <a:spLocks noGrp="1"/>
          </p:cNvSpPr>
          <p:nvPr>
            <p:ph type="title"/>
          </p:nvPr>
        </p:nvSpPr>
        <p:spPr/>
        <p:txBody>
          <a:bodyPr/>
          <a:lstStyle/>
          <a:p>
            <a:pPr>
              <a:lnSpc>
                <a:spcPct val="100000"/>
              </a:lnSpc>
            </a:pPr>
            <a:r>
              <a:rPr lang="en-US" dirty="0"/>
              <a:t>Summary</a:t>
            </a:r>
          </a:p>
        </p:txBody>
      </p:sp>
      <p:sp>
        <p:nvSpPr>
          <p:cNvPr id="3" name="Text Placeholder 2">
            <a:extLst>
              <a:ext uri="{FF2B5EF4-FFF2-40B4-BE49-F238E27FC236}">
                <a16:creationId xmlns:a16="http://schemas.microsoft.com/office/drawing/2014/main" id="{1FF2AFBE-2FA7-F4A4-1DFD-C1718A5E5615}"/>
              </a:ext>
            </a:extLst>
          </p:cNvPr>
          <p:cNvSpPr>
            <a:spLocks noGrp="1"/>
          </p:cNvSpPr>
          <p:nvPr>
            <p:ph type="body" idx="1"/>
          </p:nvPr>
        </p:nvSpPr>
        <p:spPr/>
        <p:txBody>
          <a:bodyPr/>
          <a:lstStyle/>
          <a:p>
            <a:pPr marL="571503" indent="-342900">
              <a:lnSpc>
                <a:spcPct val="150000"/>
              </a:lnSpc>
              <a:spcBef>
                <a:spcPts val="0"/>
              </a:spcBef>
              <a:buFont typeface="Arial" panose="020B0604020202020204" pitchFamily="34" charset="0"/>
              <a:buChar char="•"/>
            </a:pPr>
            <a:r>
              <a:rPr lang="en-US" dirty="0"/>
              <a:t>Address invalid issues first</a:t>
            </a:r>
          </a:p>
          <a:p>
            <a:pPr marL="571503" indent="-342900">
              <a:lnSpc>
                <a:spcPct val="150000"/>
              </a:lnSpc>
              <a:spcBef>
                <a:spcPts val="0"/>
              </a:spcBef>
              <a:buFont typeface="Arial" panose="020B0604020202020204" pitchFamily="34" charset="0"/>
              <a:buChar char="•"/>
            </a:pPr>
            <a:r>
              <a:rPr lang="en-US" dirty="0"/>
              <a:t>Cluster like issues</a:t>
            </a:r>
          </a:p>
          <a:p>
            <a:pPr marL="571503" indent="-342900">
              <a:lnSpc>
                <a:spcPct val="150000"/>
              </a:lnSpc>
              <a:spcBef>
                <a:spcPts val="0"/>
              </a:spcBef>
              <a:buFont typeface="Arial" panose="020B0604020202020204" pitchFamily="34" charset="0"/>
              <a:buChar char="•"/>
            </a:pPr>
            <a:r>
              <a:rPr lang="en-US" dirty="0"/>
              <a:t>Recommend best practice mitigation</a:t>
            </a:r>
          </a:p>
          <a:p>
            <a:pPr marL="571503" indent="-342900">
              <a:lnSpc>
                <a:spcPct val="150000"/>
              </a:lnSpc>
              <a:spcBef>
                <a:spcPts val="0"/>
              </a:spcBef>
              <a:buFont typeface="Arial" panose="020B0604020202020204" pitchFamily="34" charset="0"/>
              <a:buChar char="•"/>
            </a:pPr>
            <a:r>
              <a:rPr lang="en-US" dirty="0"/>
              <a:t>Assign a preliminary severity if appropriate</a:t>
            </a:r>
          </a:p>
          <a:p>
            <a:pPr marL="571503" indent="-342900">
              <a:spcBef>
                <a:spcPts val="0"/>
              </a:spcBef>
              <a:buFont typeface="Arial" panose="020B0604020202020204" pitchFamily="34" charset="0"/>
              <a:buChar char="•"/>
            </a:pPr>
            <a:endParaRPr lang="en-US" dirty="0"/>
          </a:p>
        </p:txBody>
      </p:sp>
    </p:spTree>
    <p:extLst>
      <p:ext uri="{BB962C8B-B14F-4D97-AF65-F5344CB8AC3E}">
        <p14:creationId xmlns:p14="http://schemas.microsoft.com/office/powerpoint/2010/main" val="25935461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452446"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&lt;AVCDL&gt;/source/reference_documents/working_material/example system/</a:t>
            </a:r>
          </a:p>
        </p:txBody>
      </p:sp>
    </p:spTree>
    <p:extLst>
      <p:ext uri="{BB962C8B-B14F-4D97-AF65-F5344CB8AC3E}">
        <p14:creationId xmlns:p14="http://schemas.microsoft.com/office/powerpoint/2010/main" val="969977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38779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(GitHub)</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https://github.com/AVCDL/AVCDL</a:t>
            </a:r>
            <a:r>
              <a:rPr lang="en-US" sz="1400" b="1" dirty="0">
                <a:latin typeface="Courier New" panose="02070309020205020404" pitchFamily="49" charset="0"/>
                <a:cs typeface="Courier New" panose="02070309020205020404" pitchFamily="49" charset="0"/>
              </a:rPr>
              <a:t> </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Modeling – Triage Procedure (AVCDL tertiary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Ranked / Risked Threat Report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modeling model template (AVCDL template)</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modeling analysis template (AVCDL template)</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modeling triage template (AVCDL template)</a:t>
            </a:r>
          </a:p>
          <a:p>
            <a:pPr marL="0" indent="0">
              <a:spcBef>
                <a:spcPts val="0"/>
              </a:spcBef>
            </a:pPr>
            <a:r>
              <a:rPr lang="en-US" b="1" dirty="0">
                <a:latin typeface="Roboto" panose="02000000000000000000" pitchFamily="2" charset="0"/>
                <a:ea typeface="Roboto" panose="02000000000000000000" pitchFamily="2" charset="0"/>
              </a:rPr>
              <a:t>Guide to Data-Centric System Threat Modeling</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https://csrc.nist.gov/publications/detail/sp/800-154/draft</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259369</TotalTime>
  <Words>3002</Words>
  <Application>Microsoft Macintosh PowerPoint</Application>
  <PresentationFormat>Custom</PresentationFormat>
  <Paragraphs>515</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Courier New</vt:lpstr>
      <vt:lpstr>Roboto Medium</vt:lpstr>
      <vt:lpstr>Roboto</vt:lpstr>
      <vt:lpstr>Arial</vt:lpstr>
      <vt:lpstr>Motional Masters</vt:lpstr>
      <vt:lpstr>Threat Modeling - Threat Candidate Triage</vt:lpstr>
      <vt:lpstr>Training Path</vt:lpstr>
      <vt:lpstr>Introduction</vt:lpstr>
      <vt:lpstr>Threat Modeling Process</vt:lpstr>
      <vt:lpstr>Threat Candidate Triage Activity</vt:lpstr>
      <vt:lpstr>Threat Candidate Triage Activity</vt:lpstr>
      <vt:lpstr>Example</vt:lpstr>
      <vt:lpstr>Block Diagram</vt:lpstr>
      <vt:lpstr>Level 1 DFD</vt:lpstr>
      <vt:lpstr>Analysis</vt:lpstr>
      <vt:lpstr>Normal Operation</vt:lpstr>
      <vt:lpstr>Focus on Trust Differential</vt:lpstr>
      <vt:lpstr>Analysis Results</vt:lpstr>
      <vt:lpstr>Triage</vt:lpstr>
      <vt:lpstr>Methodology</vt:lpstr>
      <vt:lpstr>Determination</vt:lpstr>
      <vt:lpstr>Preliminary Severity</vt:lpstr>
      <vt:lpstr>Example Triage</vt:lpstr>
      <vt:lpstr>Recap</vt:lpstr>
      <vt:lpstr>Summary</vt:lpstr>
      <vt:lpstr>Example Materials</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Model Threat Candidate Triage (training)</dc:title>
  <dc:subject>threat modeling - threat candidate triage</dc:subject>
  <dc:creator>Charles Wilson</dc:creator>
  <cp:keywords>cybersecurity, threat modeling</cp:keywords>
  <dc:description>This work was created by Torc Robotics and is licensed under the Creative Commons Attribution-Share Alike (CC BY-SA-4.0) License.
https://creativecommons.org/licenses/by/4.0/legalcode
</dc:description>
  <cp:lastModifiedBy>Charles Wilson</cp:lastModifiedBy>
  <cp:revision>467</cp:revision>
  <cp:lastPrinted>2023-05-08T17:44:42Z</cp:lastPrinted>
  <dcterms:modified xsi:type="dcterms:W3CDTF">2025-06-30T18:17:12Z</dcterms:modified>
  <cp:category>cybersecurity</cp:category>
</cp:coreProperties>
</file>